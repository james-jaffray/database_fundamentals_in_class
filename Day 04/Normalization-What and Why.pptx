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71" r:id="rId5"/>
    <p:sldId id="369" r:id="rId6"/>
    <p:sldId id="370" r:id="rId7"/>
    <p:sldId id="371" r:id="rId8"/>
    <p:sldId id="427" r:id="rId9"/>
    <p:sldId id="372" r:id="rId10"/>
    <p:sldId id="373" r:id="rId11"/>
    <p:sldId id="374" r:id="rId12"/>
    <p:sldId id="375" r:id="rId13"/>
    <p:sldId id="395" r:id="rId14"/>
    <p:sldId id="428" r:id="rId15"/>
    <p:sldId id="429" r:id="rId16"/>
    <p:sldId id="376" r:id="rId17"/>
    <p:sldId id="396" r:id="rId18"/>
    <p:sldId id="378" r:id="rId19"/>
    <p:sldId id="398" r:id="rId20"/>
    <p:sldId id="284" r:id="rId21"/>
    <p:sldId id="380" r:id="rId22"/>
    <p:sldId id="381" r:id="rId23"/>
    <p:sldId id="382" r:id="rId24"/>
    <p:sldId id="383" r:id="rId25"/>
    <p:sldId id="384" r:id="rId26"/>
    <p:sldId id="385" r:id="rId27"/>
    <p:sldId id="399" r:id="rId28"/>
    <p:sldId id="386" r:id="rId29"/>
    <p:sldId id="388" r:id="rId30"/>
    <p:sldId id="389" r:id="rId31"/>
    <p:sldId id="401" r:id="rId32"/>
    <p:sldId id="390" r:id="rId33"/>
    <p:sldId id="402" r:id="rId34"/>
    <p:sldId id="391" r:id="rId35"/>
    <p:sldId id="39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3" autoAdjust="0"/>
    <p:restoredTop sz="89935" autoAdjust="0"/>
  </p:normalViewPr>
  <p:slideViewPr>
    <p:cSldViewPr snapToGrid="0" snapToObjects="1" showGuides="1">
      <p:cViewPr varScale="1">
        <p:scale>
          <a:sx n="53" d="100"/>
          <a:sy n="53" d="100"/>
        </p:scale>
        <p:origin x="72" y="4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2709-1847-4F53-98E0-E379346D49D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A85F0-2AA3-412D-B482-1445E370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8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Insert: What if I add a new employee, but I enter the wrong </a:t>
            </a:r>
            <a:r>
              <a:rPr lang="en-US" dirty="0" err="1"/>
              <a:t>DeptMgrSSN</a:t>
            </a:r>
            <a:r>
              <a:rPr lang="en-US" dirty="0"/>
              <a:t> for their Department?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Update: What if I update an employee's department but not their </a:t>
            </a:r>
            <a:r>
              <a:rPr lang="en-US" dirty="0" err="1"/>
              <a:t>DeptMgrSSN</a:t>
            </a:r>
            <a:r>
              <a:rPr lang="en-US" dirty="0"/>
              <a:t> or </a:t>
            </a:r>
            <a:r>
              <a:rPr lang="en-US" dirty="0" err="1"/>
              <a:t>DeptName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Delete: If I delete Jennifer, how do we know who manages the Marketing department?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03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Insert: Now, adding a new employee means all I need to enter is the Dept #. Anomaly is avoided.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Update: If I update an employee's department number, no need to update any other department fields. Anomaly is avoided.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Delete: If I delete Jennifer, there is still Marketing info in the Department table… anomaly is avoided!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15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116db96f5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116db96f5_2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830438" y="2624442"/>
            <a:ext cx="8531123" cy="147161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0DFF8B-0CA2-444E-B3B8-516B41CBE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7231" y="745523"/>
            <a:ext cx="1168573" cy="14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5C5819-15D5-134D-9ACE-EB35435DDD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3914" y="4598843"/>
            <a:ext cx="6337921" cy="536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498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223" y="335242"/>
            <a:ext cx="10630647" cy="106967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224" y="1795742"/>
            <a:ext cx="10654552" cy="351136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83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39781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3858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044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9937" y="3045791"/>
            <a:ext cx="6365875" cy="9286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52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697788" y="2603500"/>
            <a:ext cx="4214812" cy="187325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INSERT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178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32" y="5791200"/>
            <a:ext cx="3552445" cy="74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09866" y="5780616"/>
            <a:ext cx="607785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92-B9CD-7AF8-2531-D88D3E9D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3C0C-F99B-8C9C-5380-BAC668129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13D1-0C16-8026-7BD4-926A5162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FE-D9D4-D649-9D1F-5FA64CDC0CC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5B1-A151-0420-61EC-F4B8FC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DDD1-36BF-D966-84CD-8EE8543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199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76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4" y="1795742"/>
            <a:ext cx="10515600" cy="35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BFFFE-D9D4-D649-9D1F-5FA64CDC0CC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pt screen_Header_6-9_1920x1080 Wide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3171"/>
            <a:ext cx="12196659" cy="13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6" y="5780616"/>
            <a:ext cx="3553126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7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2" r:id="rId3"/>
    <p:sldLayoutId id="2147483654" r:id="rId4"/>
    <p:sldLayoutId id="2147483655" r:id="rId5"/>
    <p:sldLayoutId id="2147483663" r:id="rId6"/>
    <p:sldLayoutId id="2147483660" r:id="rId7"/>
    <p:sldLayoutId id="2147483662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30438" y="3429000"/>
            <a:ext cx="8531123" cy="1471612"/>
          </a:xfrm>
        </p:spPr>
        <p:txBody>
          <a:bodyPr>
            <a:normAutofit/>
          </a:bodyPr>
          <a:lstStyle/>
          <a:p>
            <a:r>
              <a:rPr lang="en-US" b="1" dirty="0"/>
              <a:t>Normalization: What and Why</a:t>
            </a:r>
          </a:p>
        </p:txBody>
      </p:sp>
    </p:spTree>
    <p:extLst>
      <p:ext uri="{BB962C8B-B14F-4D97-AF65-F5344CB8AC3E}">
        <p14:creationId xmlns:p14="http://schemas.microsoft.com/office/powerpoint/2010/main" val="2569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8E3B-953D-C5A8-A98C-995692E0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Normalization: What and Why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45B57-F3B5-2AE5-358F-36F986A8F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419" y="1710603"/>
            <a:ext cx="7542648" cy="3436793"/>
          </a:xfrm>
        </p:spPr>
        <p:txBody>
          <a:bodyPr>
            <a:normAutofit/>
          </a:bodyPr>
          <a:lstStyle/>
          <a:p>
            <a:pPr marL="152396" indent="0">
              <a:lnSpc>
                <a:spcPct val="150000"/>
              </a:lnSpc>
              <a:buNone/>
            </a:pPr>
            <a:r>
              <a:rPr lang="en-CA" sz="2000" dirty="0"/>
              <a:t>When using a relational database management system, the database is a </a:t>
            </a:r>
            <a:r>
              <a:rPr lang="en-CA" sz="2000" b="1" dirty="0"/>
              <a:t>collection of tables</a:t>
            </a:r>
            <a:r>
              <a:rPr lang="en-CA" sz="2000" dirty="0"/>
              <a:t>.</a:t>
            </a:r>
          </a:p>
          <a:p>
            <a:pPr marL="152396" indent="0">
              <a:lnSpc>
                <a:spcPct val="150000"/>
              </a:lnSpc>
              <a:buNone/>
            </a:pPr>
            <a:r>
              <a:rPr lang="en-CA" sz="2000" dirty="0"/>
              <a:t>A critical step in the database design process is deciding:</a:t>
            </a:r>
          </a:p>
          <a:p>
            <a:pPr lvl="0">
              <a:lnSpc>
                <a:spcPct val="150000"/>
              </a:lnSpc>
            </a:pPr>
            <a:r>
              <a:rPr lang="en-CA" sz="2000" dirty="0"/>
              <a:t>How many tables do we need to store the data for an application? </a:t>
            </a:r>
          </a:p>
          <a:p>
            <a:pPr lvl="0">
              <a:lnSpc>
                <a:spcPct val="150000"/>
              </a:lnSpc>
            </a:pPr>
            <a:r>
              <a:rPr lang="en-CA" sz="2000" dirty="0"/>
              <a:t>What data belongs in which table?</a:t>
            </a:r>
          </a:p>
        </p:txBody>
      </p:sp>
    </p:spTree>
    <p:extLst>
      <p:ext uri="{BB962C8B-B14F-4D97-AF65-F5344CB8AC3E}">
        <p14:creationId xmlns:p14="http://schemas.microsoft.com/office/powerpoint/2010/main" val="11448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40B9-76EB-B760-A548-E90BF3D1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633" y="616923"/>
            <a:ext cx="8428800" cy="847200"/>
          </a:xfrm>
        </p:spPr>
        <p:txBody>
          <a:bodyPr/>
          <a:lstStyle/>
          <a:p>
            <a:r>
              <a:rPr lang="en-US" b="1" dirty="0"/>
              <a:t>How Did We Decide Before?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81FEA-11D8-25B7-A1CD-80B2BD931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822" y="1739680"/>
            <a:ext cx="9644863" cy="2991978"/>
          </a:xfrm>
        </p:spPr>
        <p:txBody>
          <a:bodyPr>
            <a:normAutofit/>
          </a:bodyPr>
          <a:lstStyle/>
          <a:p>
            <a:pPr marL="0" marR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 questions have plagued database designers for many years.</a:t>
            </a:r>
          </a:p>
          <a:p>
            <a:pPr marL="0" marR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Initially we used intuition as our guide. We tended to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group similar data items together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a table because it seemed to make sense to do so.</a:t>
            </a:r>
          </a:p>
          <a:p>
            <a:pPr marL="0" marR="0">
              <a:lnSpc>
                <a:spcPct val="150000"/>
              </a:lnSpc>
              <a:buNone/>
            </a:pPr>
            <a:endParaRPr lang="en-US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buNone/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Example</a:t>
            </a: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all the data items describing an employee would be put in the employee table. </a:t>
            </a:r>
          </a:p>
        </p:txBody>
      </p:sp>
    </p:spTree>
    <p:extLst>
      <p:ext uri="{BB962C8B-B14F-4D97-AF65-F5344CB8AC3E}">
        <p14:creationId xmlns:p14="http://schemas.microsoft.com/office/powerpoint/2010/main" val="4225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EA3-E419-4E2D-C59B-5DECDA4D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7933"/>
            <a:ext cx="10613133" cy="847200"/>
          </a:xfrm>
        </p:spPr>
        <p:txBody>
          <a:bodyPr/>
          <a:lstStyle/>
          <a:p>
            <a:r>
              <a:rPr lang="en-US" b="1" dirty="0"/>
              <a:t>The Problem with Intuition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2837-333B-06E3-3E52-892921C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909491"/>
            <a:ext cx="10258697" cy="354304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CA" b="1" dirty="0"/>
              <a:t>Some designers seemed to have good intuition.</a:t>
            </a:r>
          </a:p>
          <a:p>
            <a:pPr>
              <a:buNone/>
            </a:pPr>
            <a:r>
              <a:rPr lang="en-CA" b="1" dirty="0"/>
              <a:t>They produced </a:t>
            </a:r>
            <a:r>
              <a:rPr lang="en-CA" dirty="0"/>
              <a:t>database designs that: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Worked well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Supported successful applications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Satisfied users </a:t>
            </a:r>
          </a:p>
          <a:p>
            <a:pPr>
              <a:buNone/>
            </a:pPr>
            <a:r>
              <a:rPr lang="en-CA" b="1" dirty="0"/>
              <a:t>Other designers did not have good intuition.</a:t>
            </a:r>
          </a:p>
          <a:p>
            <a:pPr>
              <a:buNone/>
            </a:pPr>
            <a:r>
              <a:rPr lang="en-CA" b="1" dirty="0"/>
              <a:t>They produced: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Poor database designs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Applications that did not work well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Unsatisfied users</a:t>
            </a:r>
          </a:p>
        </p:txBody>
      </p:sp>
    </p:spTree>
    <p:extLst>
      <p:ext uri="{BB962C8B-B14F-4D97-AF65-F5344CB8AC3E}">
        <p14:creationId xmlns:p14="http://schemas.microsoft.com/office/powerpoint/2010/main" val="122271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2A21-FB6D-743D-D8DC-0F343694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5C64-E6DF-E306-7D62-F7C69190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7933"/>
            <a:ext cx="10613133" cy="847200"/>
          </a:xfrm>
        </p:spPr>
        <p:txBody>
          <a:bodyPr/>
          <a:lstStyle/>
          <a:p>
            <a:r>
              <a:rPr lang="en-US" b="1" dirty="0"/>
              <a:t>The Problem with Intuition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C3D03-94D2-6535-ED58-604B210C5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909491"/>
            <a:ext cx="10258697" cy="354304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b="1" dirty="0"/>
              <a:t>The problem:</a:t>
            </a:r>
          </a:p>
          <a:p>
            <a:pPr>
              <a:buNone/>
            </a:pPr>
            <a:r>
              <a:rPr lang="en-CA" dirty="0"/>
              <a:t>There was </a:t>
            </a:r>
            <a:r>
              <a:rPr lang="en-CA" b="1" dirty="0"/>
              <a:t>no systematic method</a:t>
            </a:r>
            <a:r>
              <a:rPr lang="en-CA" dirty="0"/>
              <a:t> to help designers decide: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How many tables there should be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What data items should be in each table</a:t>
            </a:r>
          </a:p>
        </p:txBody>
      </p:sp>
    </p:spTree>
    <p:extLst>
      <p:ext uri="{BB962C8B-B14F-4D97-AF65-F5344CB8AC3E}">
        <p14:creationId xmlns:p14="http://schemas.microsoft.com/office/powerpoint/2010/main" val="329832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71D4-EEC2-64AF-F09A-4EAE6197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 Systematic Approach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5549-60DB-C842-493E-AEAA7B49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120" y="1843733"/>
            <a:ext cx="11062966" cy="32507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CA" b="1" dirty="0"/>
              <a:t>Edgar F. Codd</a:t>
            </a:r>
            <a:r>
              <a:rPr lang="en-CA" dirty="0"/>
              <a:t> developed a set of rules called the:</a:t>
            </a:r>
          </a:p>
          <a:p>
            <a:pPr>
              <a:lnSpc>
                <a:spcPct val="100000"/>
              </a:lnSpc>
              <a:buNone/>
            </a:pPr>
            <a:r>
              <a:rPr lang="en-CA" b="1" dirty="0"/>
              <a:t>Rules of Normalization</a:t>
            </a:r>
          </a:p>
          <a:p>
            <a:pPr>
              <a:lnSpc>
                <a:spcPct val="100000"/>
              </a:lnSpc>
              <a:buNone/>
            </a:pPr>
            <a:r>
              <a:rPr lang="en-CA" dirty="0"/>
              <a:t>These rules can be applied when designing a </a:t>
            </a:r>
            <a:r>
              <a:rPr lang="en-CA" b="1" dirty="0"/>
              <a:t>relational database</a:t>
            </a:r>
            <a:r>
              <a:rPr lang="en-CA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CA" dirty="0"/>
              <a:t>They guide us in deciding: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The number of tables there should be in a database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The assignment of data items (</a:t>
            </a:r>
            <a:r>
              <a:rPr lang="en-CA" b="1" dirty="0"/>
              <a:t>attributes</a:t>
            </a:r>
            <a:r>
              <a:rPr lang="en-CA" dirty="0"/>
              <a:t>) to the various tables</a:t>
            </a:r>
          </a:p>
        </p:txBody>
      </p:sp>
    </p:spTree>
    <p:extLst>
      <p:ext uri="{BB962C8B-B14F-4D97-AF65-F5344CB8AC3E}">
        <p14:creationId xmlns:p14="http://schemas.microsoft.com/office/powerpoint/2010/main" val="114282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067-4A89-57E6-0B84-6FBE0D39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67" y="539333"/>
            <a:ext cx="10775539" cy="847200"/>
          </a:xfrm>
        </p:spPr>
        <p:txBody>
          <a:bodyPr/>
          <a:lstStyle/>
          <a:p>
            <a:r>
              <a:rPr lang="en-CA" b="1" dirty="0"/>
              <a:t>Normalization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5A01B-A00C-8780-A303-76BEDD5F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615134"/>
            <a:ext cx="10956483" cy="36322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dirty="0"/>
              <a:t>The rules of normalization have changed somewhat since Codd's initial version.</a:t>
            </a:r>
          </a:p>
          <a:p>
            <a:pPr>
              <a:buNone/>
            </a:pPr>
            <a:r>
              <a:rPr lang="en-CA" dirty="0"/>
              <a:t>However:</a:t>
            </a:r>
          </a:p>
          <a:p>
            <a:pPr>
              <a:buNone/>
            </a:pPr>
            <a:r>
              <a:rPr lang="en-CA" b="1" dirty="0"/>
              <a:t>The normalization process remains the industry standard for designing a relational database.</a:t>
            </a:r>
            <a:endParaRPr lang="en-CA" dirty="0"/>
          </a:p>
          <a:p>
            <a:pPr marL="152396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440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A670-E6EB-CEC1-6A57-D7EECDC0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24" y="612070"/>
            <a:ext cx="8428800" cy="847200"/>
          </a:xfrm>
        </p:spPr>
        <p:txBody>
          <a:bodyPr/>
          <a:lstStyle/>
          <a:p>
            <a:r>
              <a:rPr lang="en-CA" b="1" dirty="0"/>
              <a:t>Evaluating a Database Design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86E46-D25A-4B04-F58A-92B1D253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71" y="1920886"/>
            <a:ext cx="10166215" cy="30430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CA" sz="2400" dirty="0"/>
              <a:t>A database design can be evaluated based on two important criteria:</a:t>
            </a:r>
          </a:p>
          <a:p>
            <a:pPr>
              <a:lnSpc>
                <a:spcPct val="150000"/>
              </a:lnSpc>
              <a:buNone/>
            </a:pPr>
            <a:r>
              <a:rPr lang="en-CA" sz="2400" b="1" dirty="0"/>
              <a:t>1. Does the design minimize redundant data?</a:t>
            </a:r>
          </a:p>
          <a:p>
            <a:pPr>
              <a:lnSpc>
                <a:spcPct val="150000"/>
              </a:lnSpc>
              <a:buNone/>
            </a:pPr>
            <a:r>
              <a:rPr lang="en-CA" sz="2400" b="1" dirty="0"/>
              <a:t>2. Does the design minimize the occurrence of anomalies within the data?</a:t>
            </a:r>
          </a:p>
          <a:p>
            <a:pPr>
              <a:lnSpc>
                <a:spcPct val="150000"/>
              </a:lnSpc>
              <a:buNone/>
            </a:pPr>
            <a:r>
              <a:rPr lang="en-CA" sz="2400" dirty="0"/>
              <a:t>Today we will look at how normalization helps us meet these criteria.</a:t>
            </a:r>
          </a:p>
          <a:p>
            <a:pPr marL="152396" indent="0">
              <a:buNone/>
            </a:pPr>
            <a:endParaRPr lang="en-US" sz="1800" dirty="0"/>
          </a:p>
          <a:p>
            <a:pPr marL="152396" indent="0">
              <a:buNone/>
            </a:pP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2404960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ECE-867E-CD3F-20C5-C7F70DB2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What Is an Anomaly?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6686E-3BF2-28E2-111A-BC3A989E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488007"/>
            <a:ext cx="10468110" cy="331622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CA" sz="2400" b="1" dirty="0"/>
              <a:t>An anomaly is an inconsistency in the data stored in a database.</a:t>
            </a:r>
            <a:endParaRPr lang="en-CA" sz="2400" dirty="0"/>
          </a:p>
          <a:p>
            <a:pPr>
              <a:lnSpc>
                <a:spcPct val="150000"/>
              </a:lnSpc>
              <a:buNone/>
            </a:pPr>
            <a:r>
              <a:rPr lang="en-CA" sz="2400" dirty="0"/>
              <a:t>There are three major types of anomalies:</a:t>
            </a:r>
          </a:p>
          <a:p>
            <a:pPr>
              <a:lnSpc>
                <a:spcPct val="150000"/>
              </a:lnSpc>
            </a:pPr>
            <a:r>
              <a:rPr lang="en-CA" sz="2400" b="1" dirty="0"/>
              <a:t>Update</a:t>
            </a:r>
          </a:p>
          <a:p>
            <a:pPr>
              <a:lnSpc>
                <a:spcPct val="150000"/>
              </a:lnSpc>
            </a:pPr>
            <a:r>
              <a:rPr lang="en-CA" sz="2400" b="1" dirty="0"/>
              <a:t>Insert</a:t>
            </a:r>
          </a:p>
          <a:p>
            <a:pPr>
              <a:lnSpc>
                <a:spcPct val="150000"/>
              </a:lnSpc>
            </a:pPr>
            <a:r>
              <a:rPr lang="en-CA" sz="2400" b="1" dirty="0"/>
              <a:t>Delete</a:t>
            </a:r>
          </a:p>
          <a:p>
            <a:pPr>
              <a:lnSpc>
                <a:spcPct val="150000"/>
              </a:lnSpc>
              <a:buNone/>
            </a:pPr>
            <a:r>
              <a:rPr lang="en-CA" sz="2400" dirty="0"/>
              <a:t>We will examine each one.</a:t>
            </a:r>
          </a:p>
        </p:txBody>
      </p:sp>
    </p:spTree>
    <p:extLst>
      <p:ext uri="{BB962C8B-B14F-4D97-AF65-F5344CB8AC3E}">
        <p14:creationId xmlns:p14="http://schemas.microsoft.com/office/powerpoint/2010/main" val="216594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BAAA-C8C1-C7A9-EC5F-63BEF41E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A1BA-082B-7468-A348-792D7156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Minimizing Redundant Data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E4C55-CF56-00EB-5279-64FF1189B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488007"/>
            <a:ext cx="10468110" cy="2663079"/>
          </a:xfrm>
        </p:spPr>
        <p:txBody>
          <a:bodyPr>
            <a:normAutofit fontScale="92500" lnSpcReduction="10000"/>
          </a:bodyPr>
          <a:lstStyle/>
          <a:p>
            <a:pPr marL="152396" indent="0">
              <a:lnSpc>
                <a:spcPct val="150000"/>
              </a:lnSpc>
              <a:buNone/>
            </a:pPr>
            <a:r>
              <a:rPr lang="en-CA" sz="2400" dirty="0"/>
              <a:t>One criterion for a good database design is that the design </a:t>
            </a:r>
            <a:r>
              <a:rPr lang="en-CA" sz="2400" b="1" dirty="0"/>
              <a:t>minimizes redundant data</a:t>
            </a:r>
            <a:r>
              <a:rPr lang="en-CA" sz="2400" dirty="0"/>
              <a:t>.</a:t>
            </a:r>
          </a:p>
          <a:p>
            <a:pPr marL="152396" indent="0">
              <a:lnSpc>
                <a:spcPct val="150000"/>
              </a:lnSpc>
              <a:buNone/>
            </a:pPr>
            <a:r>
              <a:rPr lang="en-CA" sz="2400" dirty="0"/>
              <a:t>Consider the following</a:t>
            </a:r>
            <a:r>
              <a:rPr lang="en-CA" sz="2400" b="1" dirty="0"/>
              <a:t> example</a:t>
            </a:r>
            <a:r>
              <a:rPr lang="en-CA" sz="2400" dirty="0"/>
              <a:t>.</a:t>
            </a:r>
          </a:p>
          <a:p>
            <a:pPr marL="152396" indent="0">
              <a:lnSpc>
                <a:spcPct val="150000"/>
              </a:lnSpc>
              <a:buNone/>
            </a:pPr>
            <a:r>
              <a:rPr lang="en-CA" sz="2400" dirty="0"/>
              <a:t>Suppose we use intuition and decide to create </a:t>
            </a:r>
            <a:r>
              <a:rPr lang="en-CA" sz="2400" b="1" dirty="0"/>
              <a:t>one table</a:t>
            </a:r>
            <a:r>
              <a:rPr lang="en-CA" sz="2400" dirty="0"/>
              <a:t> to store both employee and department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8826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1BF7-FBFC-8DF9-CD87-2760E3C5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9274-F3BF-CFC8-E482-16D89CD2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Minimizing Redundant Data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36B87-CD16-4FFA-9F1F-750F36794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024583"/>
            <a:ext cx="10468110" cy="847200"/>
          </a:xfrm>
        </p:spPr>
        <p:txBody>
          <a:bodyPr>
            <a:normAutofit/>
          </a:bodyPr>
          <a:lstStyle/>
          <a:p>
            <a:pPr marL="152396" indent="0">
              <a:lnSpc>
                <a:spcPct val="150000"/>
              </a:lnSpc>
              <a:buNone/>
            </a:pPr>
            <a:r>
              <a:rPr lang="en-CA" sz="2400" b="1" dirty="0"/>
              <a:t>Employee Department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4820D-7704-2BCB-4EB0-D35EBB4C5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26" y="1752600"/>
            <a:ext cx="8001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5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9355-F30E-2B00-5F7D-EDCA31C4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9CF0-3350-28A0-A2C5-623F0E2F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Minimizing Redundant Data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0E837-12D7-9A62-51BC-0683D2CBD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521787"/>
            <a:ext cx="10468110" cy="3819470"/>
          </a:xfrm>
        </p:spPr>
        <p:txBody>
          <a:bodyPr>
            <a:normAutofit fontScale="92500" lnSpcReduction="10000"/>
          </a:bodyPr>
          <a:lstStyle/>
          <a:p>
            <a:pPr marL="152396" indent="0">
              <a:lnSpc>
                <a:spcPct val="110000"/>
              </a:lnSpc>
              <a:buNone/>
            </a:pPr>
            <a:r>
              <a:rPr lang="en-CA" sz="2400" b="1" dirty="0"/>
              <a:t>What Is Repeated?</a:t>
            </a:r>
          </a:p>
          <a:p>
            <a:pPr marL="152396" indent="0">
              <a:lnSpc>
                <a:spcPct val="110000"/>
              </a:lnSpc>
              <a:buNone/>
            </a:pPr>
            <a:r>
              <a:rPr lang="en-CA" sz="2400" dirty="0"/>
              <a:t>Under this design:</a:t>
            </a:r>
          </a:p>
          <a:p>
            <a:pPr>
              <a:lnSpc>
                <a:spcPct val="110000"/>
              </a:lnSpc>
            </a:pPr>
            <a:r>
              <a:rPr lang="en-CA" sz="2400" b="1" dirty="0"/>
              <a:t>Department Name</a:t>
            </a:r>
          </a:p>
          <a:p>
            <a:pPr lvl="1">
              <a:lnSpc>
                <a:spcPct val="110000"/>
              </a:lnSpc>
            </a:pPr>
            <a:r>
              <a:rPr lang="en-CA" sz="2000" b="1" dirty="0"/>
              <a:t>Research</a:t>
            </a:r>
            <a:r>
              <a:rPr lang="en-CA" sz="2000" dirty="0"/>
              <a:t> is repeated several times.</a:t>
            </a:r>
          </a:p>
          <a:p>
            <a:pPr lvl="1">
              <a:lnSpc>
                <a:spcPct val="110000"/>
              </a:lnSpc>
            </a:pPr>
            <a:r>
              <a:rPr lang="en-CA" sz="2000" b="1" dirty="0"/>
              <a:t>Admin</a:t>
            </a:r>
            <a:r>
              <a:rPr lang="en-CA" sz="2000" dirty="0"/>
              <a:t> is repeated several times.</a:t>
            </a:r>
          </a:p>
          <a:p>
            <a:pPr>
              <a:lnSpc>
                <a:spcPct val="110000"/>
              </a:lnSpc>
            </a:pPr>
            <a:r>
              <a:rPr lang="en-CA" sz="2400" b="1" dirty="0"/>
              <a:t>Department Manager</a:t>
            </a:r>
          </a:p>
          <a:p>
            <a:pPr lvl="1">
              <a:lnSpc>
                <a:spcPct val="110000"/>
              </a:lnSpc>
            </a:pPr>
            <a:r>
              <a:rPr lang="en-CA" sz="2000" dirty="0"/>
              <a:t>The manager's SIN is also repeated several times. </a:t>
            </a:r>
            <a:r>
              <a:rPr lang="en-CA" sz="2400" b="1" dirty="0"/>
              <a:t>For example: 334455667 </a:t>
            </a:r>
            <a:r>
              <a:rPr lang="en-CA" sz="2400" dirty="0"/>
              <a:t>appears for every Research employee.</a:t>
            </a:r>
          </a:p>
        </p:txBody>
      </p:sp>
    </p:spTree>
    <p:extLst>
      <p:ext uri="{BB962C8B-B14F-4D97-AF65-F5344CB8AC3E}">
        <p14:creationId xmlns:p14="http://schemas.microsoft.com/office/powerpoint/2010/main" val="311910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1854-E7DA-BB45-5AAC-E16790CB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CA" b="1" dirty="0"/>
              <a:t>The Problem: Redundancy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111-ECB2-92CE-9E29-05C8B578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7" y="1615133"/>
            <a:ext cx="10153483" cy="36825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CA" dirty="0"/>
              <a:t>We are storing the same department information repeatedly.</a:t>
            </a:r>
          </a:p>
          <a:p>
            <a:pPr>
              <a:lnSpc>
                <a:spcPct val="150000"/>
              </a:lnSpc>
              <a:buNone/>
            </a:pPr>
            <a:r>
              <a:rPr lang="en-CA" dirty="0"/>
              <a:t>But the department itself has not changed.</a:t>
            </a:r>
          </a:p>
          <a:p>
            <a:pPr>
              <a:lnSpc>
                <a:spcPct val="150000"/>
              </a:lnSpc>
            </a:pPr>
            <a:r>
              <a:rPr lang="en-CA" b="1" dirty="0"/>
              <a:t>Research </a:t>
            </a:r>
            <a:r>
              <a:rPr lang="en-CA" dirty="0"/>
              <a:t>is still one department.</a:t>
            </a:r>
          </a:p>
          <a:p>
            <a:pPr>
              <a:lnSpc>
                <a:spcPct val="150000"/>
              </a:lnSpc>
            </a:pPr>
            <a:r>
              <a:rPr lang="en-CA" b="1" dirty="0"/>
              <a:t>Its manager </a:t>
            </a:r>
            <a:r>
              <a:rPr lang="en-CA" dirty="0"/>
              <a:t>is still one person.</a:t>
            </a:r>
          </a:p>
          <a:p>
            <a:pPr>
              <a:lnSpc>
                <a:spcPct val="150000"/>
              </a:lnSpc>
              <a:buNone/>
            </a:pPr>
            <a:r>
              <a:rPr lang="en-CA" dirty="0"/>
              <a:t>Yet that information appears in multiple employee records. </a:t>
            </a:r>
            <a:r>
              <a:rPr lang="en-CA" b="1" dirty="0"/>
              <a:t>This is redundant data.</a:t>
            </a:r>
          </a:p>
          <a:p>
            <a:pPr marL="152396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588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5FD8-2D94-5A1B-8F60-81796522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696C-28C4-ADCD-5A2F-8640C07D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CA" b="1" dirty="0"/>
              <a:t>A Different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C0F-0811-E6EC-2E95-BBEAA1575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8" y="1615133"/>
            <a:ext cx="3283524" cy="318909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CA" sz="2300" dirty="0"/>
              <a:t>Applying the rules of normalization leads to the creation of:</a:t>
            </a:r>
          </a:p>
          <a:p>
            <a:pPr>
              <a:buNone/>
            </a:pPr>
            <a:r>
              <a:rPr lang="en-CA" sz="2300" b="1" dirty="0"/>
              <a:t>Two tables</a:t>
            </a:r>
          </a:p>
          <a:p>
            <a:pPr>
              <a:buNone/>
            </a:pPr>
            <a:endParaRPr lang="en-CA" sz="2300" b="1" dirty="0"/>
          </a:p>
          <a:p>
            <a:pPr>
              <a:buNone/>
            </a:pPr>
            <a:r>
              <a:rPr lang="en-CA" sz="2300" b="1" dirty="0"/>
              <a:t>EMPLOYEE </a:t>
            </a:r>
            <a:r>
              <a:rPr lang="en-CA" sz="2300" dirty="0"/>
              <a:t>for employee information and</a:t>
            </a:r>
          </a:p>
          <a:p>
            <a:pPr>
              <a:buNone/>
            </a:pPr>
            <a:r>
              <a:rPr lang="en-CA" sz="2300" b="1" dirty="0"/>
              <a:t>DEPARTMENT </a:t>
            </a:r>
            <a:r>
              <a:rPr lang="en-CA" sz="2300" dirty="0"/>
              <a:t>for department information.</a:t>
            </a:r>
          </a:p>
          <a:p>
            <a:pPr marL="0" lv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781C9-3BAB-ECC6-8DCE-1882DFB73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29" y="1599086"/>
            <a:ext cx="83439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76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4D5E-1F69-C2D7-47D8-F7E023EA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15" y="601679"/>
            <a:ext cx="8428800" cy="847200"/>
          </a:xfrm>
        </p:spPr>
        <p:txBody>
          <a:bodyPr/>
          <a:lstStyle/>
          <a:p>
            <a:r>
              <a:rPr lang="en-CA" b="1" dirty="0"/>
              <a:t>Redundancy Is Reduced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20DB2-8B40-0BA0-9A5F-4EC4043B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392" y="1576982"/>
            <a:ext cx="8428800" cy="34885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b="1" dirty="0"/>
              <a:t>Applying normalization:</a:t>
            </a:r>
          </a:p>
          <a:p>
            <a:pPr>
              <a:buNone/>
            </a:pPr>
            <a:r>
              <a:rPr lang="en-CA" b="1" dirty="0"/>
              <a:t>Data redundancy is reduced — not eliminated — in the normalized design.</a:t>
            </a:r>
            <a:endParaRPr lang="en-CA" dirty="0"/>
          </a:p>
          <a:p>
            <a:pPr>
              <a:buNone/>
            </a:pPr>
            <a:r>
              <a:rPr lang="en-CA" dirty="0"/>
              <a:t>Some repeated information may still be necessary.</a:t>
            </a:r>
          </a:p>
          <a:p>
            <a:pPr>
              <a:buNone/>
            </a:pPr>
            <a:r>
              <a:rPr lang="en-CA" b="1" dirty="0"/>
              <a:t>For example:</a:t>
            </a:r>
          </a:p>
          <a:p>
            <a:pPr>
              <a:buNone/>
            </a:pPr>
            <a:r>
              <a:rPr lang="en-CA" b="1" dirty="0" err="1"/>
              <a:t>DeptNo</a:t>
            </a:r>
            <a:r>
              <a:rPr lang="en-CA" b="1" dirty="0"/>
              <a:t> </a:t>
            </a:r>
            <a:r>
              <a:rPr lang="en-CA" dirty="0"/>
              <a:t>appears in both tables because it is used to relate employees to departments.</a:t>
            </a:r>
          </a:p>
          <a:p>
            <a:pPr marL="152396" indent="0">
              <a:lnSpc>
                <a:spcPct val="110000"/>
              </a:lnSpc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445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A59C-491E-2FD0-2A48-FC948047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529C-63E2-C267-BBE7-78D99A32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15" y="601679"/>
            <a:ext cx="8428800" cy="847200"/>
          </a:xfrm>
        </p:spPr>
        <p:txBody>
          <a:bodyPr/>
          <a:lstStyle/>
          <a:p>
            <a:r>
              <a:rPr lang="en-CA" b="1" dirty="0"/>
              <a:t>Update Anomaly: The Problem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99CE0-A98B-F141-8664-D6EF670E9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122" y="1497088"/>
            <a:ext cx="3843131" cy="320898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CA" dirty="0"/>
              <a:t>Under the intuitive design:</a:t>
            </a:r>
          </a:p>
          <a:p>
            <a:pPr>
              <a:buNone/>
            </a:pPr>
            <a:r>
              <a:rPr lang="en-CA" b="1" dirty="0"/>
              <a:t>Research appears in four rows.</a:t>
            </a:r>
            <a:endParaRPr lang="en-CA" dirty="0"/>
          </a:p>
          <a:p>
            <a:pPr>
              <a:buNone/>
            </a:pPr>
            <a:r>
              <a:rPr lang="en-CA" dirty="0"/>
              <a:t>Therefore, we must update the manager information in </a:t>
            </a:r>
            <a:r>
              <a:rPr lang="en-CA" b="1" dirty="0"/>
              <a:t>four rows</a:t>
            </a:r>
            <a:r>
              <a:rPr lang="en-CA" dirty="0"/>
              <a:t>.</a:t>
            </a:r>
          </a:p>
          <a:p>
            <a:pPr>
              <a:buNone/>
            </a:pPr>
            <a:r>
              <a:rPr lang="en-CA" b="1" dirty="0"/>
              <a:t>What happens if: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Three rows are updated correctly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One row is forgotten? </a:t>
            </a:r>
          </a:p>
          <a:p>
            <a:pPr>
              <a:buNone/>
            </a:pPr>
            <a:r>
              <a:rPr lang="en-CA" dirty="0"/>
              <a:t>We now have inconsistent information.</a:t>
            </a:r>
          </a:p>
          <a:p>
            <a:pPr marL="152396" indent="0">
              <a:lnSpc>
                <a:spcPct val="110000"/>
              </a:lnSpc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0CF8F-753F-6C43-E453-78C18EB8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253" y="1497088"/>
            <a:ext cx="80486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5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title"/>
          </p:nvPr>
        </p:nvSpPr>
        <p:spPr>
          <a:xfrm>
            <a:off x="404400" y="548767"/>
            <a:ext cx="11360800" cy="8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Update Anomaly: The Normalized Design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FD3E8-5D1D-C59A-22E7-C8ED76CCA68B}"/>
              </a:ext>
            </a:extLst>
          </p:cNvPr>
          <p:cNvSpPr txBox="1"/>
          <p:nvPr/>
        </p:nvSpPr>
        <p:spPr>
          <a:xfrm>
            <a:off x="827000" y="1685850"/>
            <a:ext cx="28514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With the normalized design, we only need to update:</a:t>
            </a:r>
          </a:p>
          <a:p>
            <a:pPr>
              <a:buNone/>
            </a:pPr>
            <a:r>
              <a:rPr lang="en-CA" b="1" dirty="0"/>
              <a:t>ONE ROW </a:t>
            </a:r>
            <a:r>
              <a:rPr lang="en-CA" dirty="0"/>
              <a:t>in the Department table.</a:t>
            </a:r>
          </a:p>
          <a:p>
            <a:pPr>
              <a:buNone/>
            </a:pPr>
            <a:r>
              <a:rPr lang="en-CA" dirty="0"/>
              <a:t>Because the department is described by </a:t>
            </a:r>
            <a:r>
              <a:rPr lang="en-CA" b="1" dirty="0"/>
              <a:t>one row</a:t>
            </a:r>
            <a:r>
              <a:rPr lang="en-CA" dirty="0"/>
              <a:t>, all Research employees are associated with the same department record.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0FBD6F-8F94-16C5-3A5C-B9D9B7DDD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475" y="1462965"/>
            <a:ext cx="8086725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47B3-3129-17F9-C4F0-1A78AFB4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 dirty="0">
                <a:latin typeface="+mj-lt"/>
                <a:ea typeface="+mj-ea"/>
                <a:cs typeface="+mj-cs"/>
              </a:rPr>
              <a:t>Minimizing Insert Anomalies</a:t>
            </a:r>
            <a:br>
              <a:rPr lang="en-US" sz="3400" b="1" kern="1200" dirty="0">
                <a:latin typeface="+mj-lt"/>
                <a:ea typeface="+mj-ea"/>
                <a:cs typeface="+mj-cs"/>
              </a:rPr>
            </a:b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920C4-8CA5-110B-1C7B-1AE5073DAB97}"/>
              </a:ext>
            </a:extLst>
          </p:cNvPr>
          <p:cNvSpPr txBox="1"/>
          <p:nvPr/>
        </p:nvSpPr>
        <p:spPr>
          <a:xfrm>
            <a:off x="324224" y="1404921"/>
            <a:ext cx="3694411" cy="3818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 dirty="0"/>
              <a:t>An </a:t>
            </a:r>
            <a:r>
              <a:rPr lang="en-US" sz="2200" b="1" dirty="0"/>
              <a:t>insert anomaly</a:t>
            </a:r>
            <a:r>
              <a:rPr lang="en-US" sz="2200" dirty="0"/>
              <a:t> occurs when we add new data to the database and cause an inconsistency in the data.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 b="1" dirty="0"/>
              <a:t>Scenario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 dirty="0"/>
              <a:t>We hire a new employee: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 b="1" dirty="0"/>
              <a:t>John Doe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 dirty="0"/>
              <a:t>What information do we need to add John to the database?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3AB1B-13C3-BD64-8899-2FABEA478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635" y="1404921"/>
            <a:ext cx="7849141" cy="36498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1495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94AD-ABB3-CD22-406F-85E32022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8" y="375873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Insert Anomaly: The Problem</a:t>
            </a:r>
            <a:endParaRPr lang="en-CA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84940-8B3E-1501-C144-672396C23065}"/>
              </a:ext>
            </a:extLst>
          </p:cNvPr>
          <p:cNvSpPr txBox="1"/>
          <p:nvPr/>
        </p:nvSpPr>
        <p:spPr>
          <a:xfrm>
            <a:off x="571498" y="1432043"/>
            <a:ext cx="1096010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 dirty="0"/>
              <a:t>Under the intuitive design, we must know </a:t>
            </a:r>
            <a:r>
              <a:rPr lang="en-CA" sz="2000" b="1" dirty="0"/>
              <a:t>all the information about John's department</a:t>
            </a:r>
            <a:r>
              <a:rPr lang="en-CA" sz="2000" dirty="0"/>
              <a:t> in order to add John.</a:t>
            </a:r>
          </a:p>
          <a:p>
            <a:pPr>
              <a:buNone/>
            </a:pPr>
            <a:r>
              <a:rPr lang="en-CA" sz="2000" dirty="0"/>
              <a:t>Suppose John works in Research.</a:t>
            </a:r>
          </a:p>
          <a:p>
            <a:pPr>
              <a:buNone/>
            </a:pPr>
            <a:r>
              <a:rPr lang="en-CA" sz="2000" b="1" dirty="0"/>
              <a:t>We must enter: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Department number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Department 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Department manager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John's employee information.</a:t>
            </a:r>
          </a:p>
          <a:p>
            <a:pPr>
              <a:buNone/>
            </a:pPr>
            <a:r>
              <a:rPr lang="en-CA" sz="2000" b="1" dirty="0"/>
              <a:t>What if the department information is entered incorrectly?</a:t>
            </a:r>
          </a:p>
          <a:p>
            <a:pPr>
              <a:buNone/>
            </a:pPr>
            <a:r>
              <a:rPr lang="en-CA" sz="2000" dirty="0"/>
              <a:t>We have created an </a:t>
            </a:r>
            <a:r>
              <a:rPr lang="en-CA" sz="2000" b="1" dirty="0"/>
              <a:t>insert anomaly</a:t>
            </a:r>
            <a:r>
              <a:rPr lang="en-CA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681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1C53-A409-EC4E-E517-33F7F824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Insert Anomaly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AC848-4D09-F8B5-663A-5A10BFDD50CF}"/>
              </a:ext>
            </a:extLst>
          </p:cNvPr>
          <p:cNvSpPr txBox="1"/>
          <p:nvPr/>
        </p:nvSpPr>
        <p:spPr>
          <a:xfrm>
            <a:off x="324224" y="1404921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CA" dirty="0"/>
              <a:t>Suppose we enter:</a:t>
            </a:r>
            <a:endParaRPr lang="en-CA" sz="18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19826A-9EB6-4850-4C66-9094F3341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400788"/>
              </p:ext>
            </p:extLst>
          </p:nvPr>
        </p:nvGraphicFramePr>
        <p:xfrm>
          <a:off x="324224" y="1995306"/>
          <a:ext cx="105156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3830588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145249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610076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1644463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4901483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70849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Birthdate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b="1"/>
                        <a:t>Dept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Dept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 err="1"/>
                        <a:t>DMgrSIN</a:t>
                      </a:r>
                      <a:endParaRPr lang="en-CA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073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111111111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Doe, 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17-May-70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334455667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7078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CDF7DD-4F1F-571D-76EC-988E43E568E8}"/>
              </a:ext>
            </a:extLst>
          </p:cNvPr>
          <p:cNvSpPr txBox="1"/>
          <p:nvPr/>
        </p:nvSpPr>
        <p:spPr>
          <a:xfrm>
            <a:off x="435429" y="2964572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400" dirty="0"/>
              <a:t>But Department 5 is actually: </a:t>
            </a:r>
            <a:r>
              <a:rPr lang="en-CA" sz="2400" b="1" dirty="0"/>
              <a:t>Research</a:t>
            </a:r>
            <a:endParaRPr lang="en-CA" sz="2400" dirty="0"/>
          </a:p>
          <a:p>
            <a:pPr>
              <a:buNone/>
            </a:pPr>
            <a:r>
              <a:rPr lang="en-CA" sz="2400" b="1" dirty="0"/>
              <a:t>The employee was inserted... </a:t>
            </a:r>
            <a:r>
              <a:rPr lang="en-CA" sz="2400" dirty="0"/>
              <a:t>but incorrect department information was also inserted.</a:t>
            </a:r>
          </a:p>
        </p:txBody>
      </p:sp>
    </p:spTree>
    <p:extLst>
      <p:ext uri="{BB962C8B-B14F-4D97-AF65-F5344CB8AC3E}">
        <p14:creationId xmlns:p14="http://schemas.microsoft.com/office/powerpoint/2010/main" val="1543400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CE82E-E4F4-D5D7-0D5C-8A52D3DE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37" y="628572"/>
            <a:ext cx="10515600" cy="7763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 Anomaly: The Normalized Design</a:t>
            </a:r>
            <a:br>
              <a:rPr lang="en-CA" b="1" dirty="0"/>
            </a:b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07260-3391-C734-F961-566EAFAAB224}"/>
              </a:ext>
            </a:extLst>
          </p:cNvPr>
          <p:cNvSpPr txBox="1"/>
          <p:nvPr/>
        </p:nvSpPr>
        <p:spPr>
          <a:xfrm>
            <a:off x="476437" y="1404921"/>
            <a:ext cx="29428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With the normalized design, we do </a:t>
            </a:r>
            <a:r>
              <a:rPr lang="en-CA" b="1" dirty="0"/>
              <a:t>not</a:t>
            </a:r>
            <a:r>
              <a:rPr lang="en-CA" dirty="0"/>
              <a:t> need to enter all the department information when adding a new employee.</a:t>
            </a:r>
          </a:p>
          <a:p>
            <a:pPr>
              <a:buNone/>
            </a:pPr>
            <a:r>
              <a:rPr lang="en-CA" b="1" dirty="0"/>
              <a:t>We only need: </a:t>
            </a:r>
            <a:r>
              <a:rPr lang="en-CA" dirty="0"/>
              <a:t>The department information is already stored in the Department table.</a:t>
            </a:r>
          </a:p>
          <a:p>
            <a:pPr>
              <a:buNone/>
            </a:pPr>
            <a:r>
              <a:rPr lang="en-CA" b="1" dirty="0"/>
              <a:t>Result: </a:t>
            </a:r>
            <a:r>
              <a:rPr lang="en-CA" dirty="0"/>
              <a:t>This minimizes the likelihood that inserting an employee will create an anomaly.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E502B6-4348-63BD-E974-B3CCAD56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289" y="1254401"/>
            <a:ext cx="8448488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04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B10E-CD5D-BA16-D6BB-F8B8AE1D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554" y="653603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Adding a New Department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338AF-DE60-9235-ED5C-51E1DBBF0A03}"/>
              </a:ext>
            </a:extLst>
          </p:cNvPr>
          <p:cNvSpPr txBox="1"/>
          <p:nvPr/>
        </p:nvSpPr>
        <p:spPr>
          <a:xfrm>
            <a:off x="574554" y="1725970"/>
            <a:ext cx="10014939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/>
              <a:t>Suppose the company expands and creates a new department.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Under the intuitive design: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The new department information cannot be recorded until the first employee is hired.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Why? </a:t>
            </a:r>
            <a:r>
              <a:rPr lang="en-US" sz="2400" dirty="0"/>
              <a:t>Because the employee's SIN is the primary key for the </a:t>
            </a:r>
            <a:r>
              <a:rPr lang="en-US" sz="2400" dirty="0" err="1"/>
              <a:t>EmployeeDepartment</a:t>
            </a:r>
            <a:r>
              <a:rPr lang="en-US" sz="2400" dirty="0"/>
              <a:t> table.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419394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114F2-DB4B-8292-8041-C80DCBF0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Minimizing Delete Anomalies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FA31C-1794-8771-EEE8-405F5FA4097F}"/>
              </a:ext>
            </a:extLst>
          </p:cNvPr>
          <p:cNvSpPr txBox="1"/>
          <p:nvPr/>
        </p:nvSpPr>
        <p:spPr>
          <a:xfrm>
            <a:off x="324224" y="1266806"/>
            <a:ext cx="9394371" cy="15211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CA" dirty="0"/>
              <a:t>A </a:t>
            </a:r>
            <a:r>
              <a:rPr lang="en-CA" b="1" dirty="0"/>
              <a:t>delete anomaly</a:t>
            </a:r>
            <a:r>
              <a:rPr lang="en-CA" dirty="0"/>
              <a:t> occurs when we delete data from the database and cause an inconsistency in the data.</a:t>
            </a:r>
          </a:p>
          <a:p>
            <a:pPr>
              <a:buNone/>
            </a:pPr>
            <a:r>
              <a:rPr lang="en-US" b="1" dirty="0"/>
              <a:t>Scenario:</a:t>
            </a:r>
          </a:p>
          <a:p>
            <a:pPr>
              <a:buNone/>
            </a:pPr>
            <a:r>
              <a:rPr lang="en-US" dirty="0"/>
              <a:t>All employees in the Marketing department transfer to other departments</a:t>
            </a:r>
            <a:r>
              <a:rPr lang="en-US" b="1" dirty="0"/>
              <a:t>. If we delete Jennifer Wallace (the last Marketing employee):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 lose the information about the Marketing department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Deleting employee information should not cause a loss of department information.</a:t>
            </a:r>
          </a:p>
          <a:p>
            <a:pPr>
              <a:buNone/>
            </a:pPr>
            <a:r>
              <a:rPr lang="en-US" b="1" dirty="0"/>
              <a:t>Result: </a:t>
            </a:r>
            <a:r>
              <a:rPr lang="en-US" dirty="0"/>
              <a:t>The Marketing department no longer exists in the database — even though the department still exists!</a:t>
            </a:r>
          </a:p>
          <a:p>
            <a:pPr>
              <a:buNone/>
            </a:pPr>
            <a:r>
              <a:rPr lang="en-US" b="1" dirty="0"/>
              <a:t>Unnormalized Design:</a:t>
            </a:r>
            <a:endParaRPr lang="en-CA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567AE1-95AA-94E9-BD86-62B5A08BF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148442"/>
              </p:ext>
            </p:extLst>
          </p:nvPr>
        </p:nvGraphicFramePr>
        <p:xfrm>
          <a:off x="324224" y="4234435"/>
          <a:ext cx="10515600" cy="9939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8236">
                  <a:extLst>
                    <a:ext uri="{9D8B030D-6E8A-4147-A177-3AD203B41FA5}">
                      <a16:colId xmlns:a16="http://schemas.microsoft.com/office/drawing/2014/main" val="2743177242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2779222127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3842281923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4287046471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1586814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SSN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Name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Dept No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Dept Name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Dept </a:t>
                      </a:r>
                      <a:r>
                        <a:rPr lang="en-CA" sz="1800" b="1" dirty="0" err="1">
                          <a:effectLst/>
                        </a:rPr>
                        <a:t>Mgr</a:t>
                      </a:r>
                      <a:r>
                        <a:rPr lang="en-CA" sz="1800" b="1" dirty="0">
                          <a:effectLst/>
                        </a:rPr>
                        <a:t> SSN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4853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890123456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Wallace, Jennifer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1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Marketing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445566778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38461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569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A1AB-87CD-8A51-C1FE-D14C39B6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E50C-8834-18A6-FAD2-7281BA87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660416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Delete Anomaly: The Problem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3B606-0636-25FD-E965-76EA1C7131C9}"/>
              </a:ext>
            </a:extLst>
          </p:cNvPr>
          <p:cNvSpPr txBox="1"/>
          <p:nvPr/>
        </p:nvSpPr>
        <p:spPr>
          <a:xfrm>
            <a:off x="511628" y="1730095"/>
            <a:ext cx="9394371" cy="15211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CA" sz="2400" b="1" dirty="0"/>
              <a:t>Under the intuitive design:</a:t>
            </a:r>
          </a:p>
          <a:p>
            <a:endParaRPr lang="en-CA" sz="2400" b="1" dirty="0"/>
          </a:p>
          <a:p>
            <a:r>
              <a:rPr lang="en-CA" sz="2400" dirty="0"/>
              <a:t>When the last employee in Marketing is deleted...</a:t>
            </a:r>
          </a:p>
          <a:p>
            <a:r>
              <a:rPr lang="en-CA" sz="2400" b="1" dirty="0"/>
              <a:t>We lose the information about Marketing itself.</a:t>
            </a:r>
          </a:p>
          <a:p>
            <a:endParaRPr lang="en-CA" sz="2400" b="1" dirty="0"/>
          </a:p>
          <a:p>
            <a:r>
              <a:rPr lang="en-CA" sz="2400" dirty="0"/>
              <a:t>But: </a:t>
            </a:r>
            <a:r>
              <a:rPr lang="en-CA" sz="2400" b="1" dirty="0"/>
              <a:t>Deleting employee information should not cause a loss of information about a department.</a:t>
            </a:r>
            <a:endParaRPr lang="en-CA" sz="2400" dirty="0"/>
          </a:p>
          <a:p>
            <a:r>
              <a:rPr lang="en-CA" sz="2400" dirty="0"/>
              <a:t>The department and employee are two different things</a:t>
            </a:r>
          </a:p>
        </p:txBody>
      </p:sp>
    </p:spTree>
    <p:extLst>
      <p:ext uri="{BB962C8B-B14F-4D97-AF65-F5344CB8AC3E}">
        <p14:creationId xmlns:p14="http://schemas.microsoft.com/office/powerpoint/2010/main" val="1275609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89FE-0654-1028-3B0C-65DAD8EF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5" y="231333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Delete Anomaly: The Normalized Design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669E-2196-4F9A-262F-C3C5448E3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735" y="1560819"/>
            <a:ext cx="2797465" cy="35046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CA" sz="2400" b="1" dirty="0"/>
              <a:t>With the normalized design:</a:t>
            </a:r>
          </a:p>
          <a:p>
            <a:pPr marL="0" indent="0">
              <a:buNone/>
            </a:pPr>
            <a:r>
              <a:rPr lang="en-CA" sz="2400" dirty="0"/>
              <a:t>We can delete employee information without losing department information.</a:t>
            </a:r>
          </a:p>
          <a:p>
            <a:pPr marL="0" indent="0">
              <a:buNone/>
            </a:pPr>
            <a:r>
              <a:rPr lang="en-CA" sz="2400" b="1" dirty="0"/>
              <a:t>Why? </a:t>
            </a:r>
            <a:r>
              <a:rPr lang="en-CA" sz="2400" dirty="0"/>
              <a:t>Because:</a:t>
            </a:r>
          </a:p>
          <a:p>
            <a:r>
              <a:rPr lang="en-CA" sz="2400" b="1" dirty="0"/>
              <a:t>Employee information </a:t>
            </a:r>
            <a:r>
              <a:rPr lang="en-CA" sz="2400" dirty="0"/>
              <a:t>is stored in the </a:t>
            </a:r>
            <a:r>
              <a:rPr lang="en-CA" sz="2400" b="1" dirty="0"/>
              <a:t>Employee</a:t>
            </a:r>
            <a:r>
              <a:rPr lang="en-CA" sz="2400" dirty="0"/>
              <a:t> table.</a:t>
            </a:r>
          </a:p>
          <a:p>
            <a:r>
              <a:rPr lang="en-CA" sz="2400" b="1" dirty="0"/>
              <a:t>Department information </a:t>
            </a:r>
            <a:r>
              <a:rPr lang="en-CA" sz="2400" dirty="0"/>
              <a:t>is stored in the </a:t>
            </a:r>
            <a:r>
              <a:rPr lang="en-CA" sz="2400" b="1" dirty="0"/>
              <a:t>Department</a:t>
            </a:r>
            <a:r>
              <a:rPr lang="en-CA" sz="2400" dirty="0"/>
              <a:t> table.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9B0FDC7-65F5-B166-48C2-1C70BCDF7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159965"/>
              </p:ext>
            </p:extLst>
          </p:nvPr>
        </p:nvGraphicFramePr>
        <p:xfrm>
          <a:off x="3398702" y="1290955"/>
          <a:ext cx="4743813" cy="33095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271">
                  <a:extLst>
                    <a:ext uri="{9D8B030D-6E8A-4147-A177-3AD203B41FA5}">
                      <a16:colId xmlns:a16="http://schemas.microsoft.com/office/drawing/2014/main" val="3188462553"/>
                    </a:ext>
                  </a:extLst>
                </a:gridCol>
                <a:gridCol w="1581271">
                  <a:extLst>
                    <a:ext uri="{9D8B030D-6E8A-4147-A177-3AD203B41FA5}">
                      <a16:colId xmlns:a16="http://schemas.microsoft.com/office/drawing/2014/main" val="3913459422"/>
                    </a:ext>
                  </a:extLst>
                </a:gridCol>
                <a:gridCol w="1581271">
                  <a:extLst>
                    <a:ext uri="{9D8B030D-6E8A-4147-A177-3AD203B41FA5}">
                      <a16:colId xmlns:a16="http://schemas.microsoft.com/office/drawing/2014/main" val="401008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 b="1">
                          <a:effectLst/>
                        </a:rPr>
                        <a:t>SSN</a:t>
                      </a:r>
                      <a:endParaRPr lang="en-CA" sz="1125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 b="1">
                          <a:effectLst/>
                        </a:rPr>
                        <a:t>Name</a:t>
                      </a:r>
                      <a:endParaRPr lang="en-CA" sz="1125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 b="1" dirty="0">
                          <a:effectLst/>
                        </a:rPr>
                        <a:t>Dept No (FK)</a:t>
                      </a:r>
                      <a:endParaRPr lang="en-CA" sz="1125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82345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111111111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Doe, John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4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6206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123456789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Smith, John B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5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9335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234567890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Wong, Franklin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 dirty="0">
                          <a:effectLst/>
                        </a:rPr>
                        <a:t>5</a:t>
                      </a:r>
                      <a:endParaRPr lang="en-CA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61560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345678901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Zelaya, Alicia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4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6784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456789012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Narayan, Remesh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4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81901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567890123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English, Joyce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5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53339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678901234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Borg, James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5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4552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789012345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Jabbar, Ahmad</a:t>
                      </a:r>
                      <a:endParaRPr lang="en-CA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 dirty="0">
                          <a:effectLst/>
                        </a:rPr>
                        <a:t>4</a:t>
                      </a:r>
                      <a:endParaRPr lang="en-CA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6287227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CAC30D7-F82A-4A0A-E378-F4D83252A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063699"/>
              </p:ext>
            </p:extLst>
          </p:nvPr>
        </p:nvGraphicFramePr>
        <p:xfrm>
          <a:off x="8290017" y="2257925"/>
          <a:ext cx="3713298" cy="1470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7766">
                  <a:extLst>
                    <a:ext uri="{9D8B030D-6E8A-4147-A177-3AD203B41FA5}">
                      <a16:colId xmlns:a16="http://schemas.microsoft.com/office/drawing/2014/main" val="2572729828"/>
                    </a:ext>
                  </a:extLst>
                </a:gridCol>
                <a:gridCol w="1237766">
                  <a:extLst>
                    <a:ext uri="{9D8B030D-6E8A-4147-A177-3AD203B41FA5}">
                      <a16:colId xmlns:a16="http://schemas.microsoft.com/office/drawing/2014/main" val="938152911"/>
                    </a:ext>
                  </a:extLst>
                </a:gridCol>
                <a:gridCol w="1237766">
                  <a:extLst>
                    <a:ext uri="{9D8B030D-6E8A-4147-A177-3AD203B41FA5}">
                      <a16:colId xmlns:a16="http://schemas.microsoft.com/office/drawing/2014/main" val="1759709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Dept No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 dirty="0">
                          <a:effectLst/>
                        </a:rPr>
                        <a:t>Dept Name</a:t>
                      </a:r>
                      <a:endParaRPr lang="en-CA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Dept Mgr SSN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1221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5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Research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222222222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400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 dirty="0">
                          <a:effectLst/>
                        </a:rPr>
                        <a:t>4</a:t>
                      </a:r>
                      <a:endParaRPr lang="en-CA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Administration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223344556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4632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1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>
                          <a:effectLst/>
                        </a:rPr>
                        <a:t>Marketing</a:t>
                      </a:r>
                      <a:endParaRPr lang="en-CA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125" dirty="0">
                          <a:effectLst/>
                        </a:rPr>
                        <a:t>445566778</a:t>
                      </a:r>
                      <a:endParaRPr lang="en-CA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6605353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2FE4799F-9AA7-34A8-50D2-C7618EC17CFB}"/>
              </a:ext>
            </a:extLst>
          </p:cNvPr>
          <p:cNvSpPr txBox="1"/>
          <p:nvPr/>
        </p:nvSpPr>
        <p:spPr>
          <a:xfrm>
            <a:off x="653143" y="46789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800" b="1" dirty="0"/>
              <a:t>Marketing still exists.</a:t>
            </a:r>
          </a:p>
          <a:p>
            <a:pPr>
              <a:buNone/>
            </a:pPr>
            <a:r>
              <a:rPr lang="en-CA" sz="1800" dirty="0"/>
              <a:t>Even if there are currently no employees assigned to it.</a:t>
            </a:r>
          </a:p>
        </p:txBody>
      </p:sp>
    </p:spTree>
    <p:extLst>
      <p:ext uri="{BB962C8B-B14F-4D97-AF65-F5344CB8AC3E}">
        <p14:creationId xmlns:p14="http://schemas.microsoft.com/office/powerpoint/2010/main" val="1868935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81DA-E96A-330A-BF77-2D46CCAB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76" y="337975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The Three Anomalies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F456-D0B9-9F3F-0273-785DAEC72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6472" y="1348571"/>
            <a:ext cx="11058351" cy="37652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b="1" dirty="0"/>
              <a:t>UPDATE</a:t>
            </a:r>
          </a:p>
          <a:p>
            <a:pPr>
              <a:buNone/>
            </a:pPr>
            <a:r>
              <a:rPr lang="en-CA" dirty="0"/>
              <a:t>Changing repeated information can create inconsistencies.</a:t>
            </a:r>
          </a:p>
          <a:p>
            <a:pPr>
              <a:buNone/>
            </a:pPr>
            <a:r>
              <a:rPr lang="en-CA" b="1" dirty="0"/>
              <a:t>INSERT</a:t>
            </a:r>
          </a:p>
          <a:p>
            <a:pPr>
              <a:buNone/>
            </a:pPr>
            <a:r>
              <a:rPr lang="en-CA" dirty="0"/>
              <a:t>Adding information may require unrelated information to be entered.</a:t>
            </a:r>
          </a:p>
          <a:p>
            <a:pPr>
              <a:buNone/>
            </a:pPr>
            <a:r>
              <a:rPr lang="en-CA" b="1" dirty="0"/>
              <a:t>DELETE</a:t>
            </a:r>
          </a:p>
          <a:p>
            <a:pPr>
              <a:buNone/>
            </a:pPr>
            <a:r>
              <a:rPr lang="en-CA" dirty="0"/>
              <a:t>Deleting one type of information may accidentally remove another type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43395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E714-FECD-7D55-4669-DC60A8A9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What Caused These Problems?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B15F-081B-57E6-35F6-AFC5A1183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80" y="1639459"/>
            <a:ext cx="8197306" cy="319379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dirty="0"/>
              <a:t>The problems came from putting </a:t>
            </a:r>
            <a:r>
              <a:rPr lang="en-CA" b="1" dirty="0"/>
              <a:t>different kinds of information together in one table</a:t>
            </a:r>
            <a:r>
              <a:rPr lang="en-CA" dirty="0"/>
              <a:t>.</a:t>
            </a:r>
          </a:p>
          <a:p>
            <a:pPr>
              <a:buNone/>
            </a:pPr>
            <a:r>
              <a:rPr lang="en-CA" dirty="0"/>
              <a:t>Our original table contained information about:</a:t>
            </a:r>
          </a:p>
          <a:p>
            <a:pPr>
              <a:buNone/>
            </a:pPr>
            <a:r>
              <a:rPr lang="en-CA" b="1" dirty="0"/>
              <a:t>Employees </a:t>
            </a:r>
            <a:r>
              <a:rPr lang="en-CA" dirty="0"/>
              <a:t>and </a:t>
            </a:r>
            <a:r>
              <a:rPr lang="en-CA" b="1" dirty="0"/>
              <a:t>Departments</a:t>
            </a:r>
          </a:p>
          <a:p>
            <a:pPr>
              <a:buNone/>
            </a:pPr>
            <a:r>
              <a:rPr lang="en-CA" dirty="0"/>
              <a:t>The department information was repeated for every employee.</a:t>
            </a:r>
          </a:p>
        </p:txBody>
      </p:sp>
    </p:spTree>
    <p:extLst>
      <p:ext uri="{BB962C8B-B14F-4D97-AF65-F5344CB8AC3E}">
        <p14:creationId xmlns:p14="http://schemas.microsoft.com/office/powerpoint/2010/main" val="494475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06EE-42B4-6850-E1AC-C83639FF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7200-5451-B380-DC58-1EACF4A8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494899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What Did Normalization Do?</a:t>
            </a:r>
            <a:br>
              <a:rPr lang="en-CA" b="1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595D4-9703-EC7B-2F83-4EDE8F461FB6}"/>
              </a:ext>
            </a:extLst>
          </p:cNvPr>
          <p:cNvSpPr txBox="1"/>
          <p:nvPr/>
        </p:nvSpPr>
        <p:spPr>
          <a:xfrm>
            <a:off x="525780" y="1405976"/>
            <a:ext cx="7703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400" b="1" dirty="0"/>
              <a:t>Normalization led us from:</a:t>
            </a:r>
          </a:p>
          <a:p>
            <a:pPr>
              <a:buNone/>
            </a:pPr>
            <a:r>
              <a:rPr lang="en-CA" sz="2400" b="1" dirty="0"/>
              <a:t>One table: </a:t>
            </a:r>
            <a:r>
              <a:rPr lang="en-CA" sz="2400" b="1" dirty="0" err="1"/>
              <a:t>EmployeeDepartment</a:t>
            </a:r>
            <a:r>
              <a:rPr lang="en-CA" sz="2400" b="1" dirty="0"/>
              <a:t> t</a:t>
            </a:r>
            <a:r>
              <a:rPr lang="en-CA" sz="2400" dirty="0"/>
              <a:t>o:</a:t>
            </a:r>
          </a:p>
          <a:p>
            <a:pPr>
              <a:buNone/>
            </a:pPr>
            <a:r>
              <a:rPr lang="en-CA" sz="2400" b="1" dirty="0"/>
              <a:t>Separate tables: Employee </a:t>
            </a:r>
            <a:r>
              <a:rPr lang="en-CA" sz="2400" dirty="0"/>
              <a:t>And </a:t>
            </a:r>
            <a:r>
              <a:rPr lang="en-CA" sz="2400" b="1" dirty="0"/>
              <a:t>Department</a:t>
            </a:r>
            <a:endParaRPr lang="en-CA" sz="2400" dirty="0"/>
          </a:p>
          <a:p>
            <a:pPr>
              <a:buNone/>
            </a:pPr>
            <a:r>
              <a:rPr lang="en-CA" sz="2400" b="1" dirty="0"/>
              <a:t>This: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400" dirty="0"/>
              <a:t>Reduces redundant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400" dirty="0"/>
              <a:t>Reduces the likelihood of anomalies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400" dirty="0"/>
              <a:t>Makes updates safer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400" dirty="0"/>
              <a:t>Allows information to be inserted independently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400" dirty="0"/>
              <a:t>Allows information to be deleted independently</a:t>
            </a:r>
          </a:p>
        </p:txBody>
      </p:sp>
    </p:spTree>
    <p:extLst>
      <p:ext uri="{BB962C8B-B14F-4D97-AF65-F5344CB8AC3E}">
        <p14:creationId xmlns:p14="http://schemas.microsoft.com/office/powerpoint/2010/main" val="3497925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645A-98ED-3F07-6025-9B9545C3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The Big Picture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9635F-1C5D-F573-248F-77D67564F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736" y="1496291"/>
            <a:ext cx="9314377" cy="37271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dirty="0"/>
              <a:t>By applying the rules of normalization to design a relational database, we create a design that:</a:t>
            </a:r>
          </a:p>
          <a:p>
            <a:pPr>
              <a:buNone/>
            </a:pPr>
            <a:r>
              <a:rPr lang="en-CA" b="1" dirty="0"/>
              <a:t>Minimizes the amount of redundant data</a:t>
            </a:r>
          </a:p>
          <a:p>
            <a:pPr>
              <a:buNone/>
            </a:pPr>
            <a:r>
              <a:rPr lang="en-CA" dirty="0"/>
              <a:t>and</a:t>
            </a:r>
          </a:p>
          <a:p>
            <a:pPr>
              <a:buNone/>
            </a:pPr>
            <a:r>
              <a:rPr lang="en-CA" b="1" dirty="0"/>
              <a:t>Minimizes the likelihood of creating inconsistencies</a:t>
            </a:r>
          </a:p>
          <a:p>
            <a:pPr>
              <a:buNone/>
            </a:pPr>
            <a:r>
              <a:rPr lang="en-CA" dirty="0"/>
              <a:t>within the database during the life of the application.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5786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1B4B-FD92-B3C1-6E15-05D6BBFE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90A3-3377-985B-C9F4-4BB0E2FC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71" y="516290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Key Questions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7BFB-BD1D-140C-A6DF-480E2B24D250}"/>
              </a:ext>
            </a:extLst>
          </p:cNvPr>
          <p:cNvSpPr txBox="1"/>
          <p:nvPr/>
        </p:nvSpPr>
        <p:spPr>
          <a:xfrm>
            <a:off x="580571" y="1585969"/>
            <a:ext cx="8563429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sz="2000" dirty="0"/>
              <a:t>When evaluating a database design, ask:</a:t>
            </a:r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1. Does the design minimize redundant data?</a:t>
            </a:r>
            <a:endParaRPr lang="en-CA" sz="2000" dirty="0"/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2. Does the design minimize the occurrence of anomalies?</a:t>
            </a:r>
            <a:endParaRPr lang="en-CA" sz="2000" dirty="0"/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3. Can information be updated safely?</a:t>
            </a:r>
            <a:endParaRPr lang="en-CA" sz="2000" dirty="0"/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4. Can information be inserted independently?</a:t>
            </a:r>
            <a:endParaRPr lang="en-CA" sz="2000" dirty="0"/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5. Can information be deleted without losing unrelated information?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001617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9CDBB-3131-A85D-C797-F340E6EA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4" y="162260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What We've Learned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C306-BAC0-08E8-CAA9-AD902929A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424" y="1184564"/>
            <a:ext cx="11391152" cy="392457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CA" b="1" dirty="0"/>
              <a:t>Normalization</a:t>
            </a:r>
          </a:p>
          <a:p>
            <a:pPr>
              <a:buNone/>
            </a:pPr>
            <a:r>
              <a:rPr lang="en-CA" dirty="0"/>
              <a:t>Provides a systematic method for deciding: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How many tables we need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What attributes belong in each table </a:t>
            </a:r>
          </a:p>
          <a:p>
            <a:pPr>
              <a:buNone/>
            </a:pPr>
            <a:r>
              <a:rPr lang="en-CA" b="1" dirty="0"/>
              <a:t>A good design should: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Minimize redundant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Minimize anomalies </a:t>
            </a:r>
          </a:p>
          <a:p>
            <a:pPr>
              <a:buNone/>
            </a:pPr>
            <a:r>
              <a:rPr lang="en-CA" b="1" dirty="0"/>
              <a:t>Three anomalies:</a:t>
            </a:r>
          </a:p>
          <a:p>
            <a:r>
              <a:rPr lang="en-CA" b="1" dirty="0"/>
              <a:t>Update</a:t>
            </a:r>
            <a:endParaRPr lang="en-CA" dirty="0"/>
          </a:p>
          <a:p>
            <a:r>
              <a:rPr lang="en-CA" b="1" dirty="0"/>
              <a:t>Insert</a:t>
            </a:r>
            <a:endParaRPr lang="en-CA" dirty="0"/>
          </a:p>
          <a:p>
            <a:r>
              <a:rPr lang="en-CA" b="1" dirty="0"/>
              <a:t>Delete</a:t>
            </a:r>
            <a:endParaRPr lang="en-CA" dirty="0"/>
          </a:p>
          <a:p>
            <a:pPr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1460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40F5-A4F6-C82E-FF84-5980448D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67" y="581984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One Important Point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D3DA2-5BDC-7F64-57E3-EDFA7188D717}"/>
              </a:ext>
            </a:extLst>
          </p:cNvPr>
          <p:cNvSpPr txBox="1"/>
          <p:nvPr/>
        </p:nvSpPr>
        <p:spPr>
          <a:xfrm>
            <a:off x="469367" y="1965963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400" b="1" dirty="0"/>
              <a:t>Normalization:</a:t>
            </a:r>
          </a:p>
          <a:p>
            <a:pPr>
              <a:buNone/>
            </a:pPr>
            <a:r>
              <a:rPr lang="en-CA" sz="2400" b="1" dirty="0"/>
              <a:t>Reduces redundancy — it does not eliminate all redundancy.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And normalization:</a:t>
            </a:r>
          </a:p>
          <a:p>
            <a:pPr>
              <a:buNone/>
            </a:pPr>
            <a:r>
              <a:rPr lang="en-CA" sz="2400" b="1" dirty="0"/>
              <a:t>Minimizes the likelihood of anomalies — it does not mean that a database can never contain an error.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The goal is a </a:t>
            </a:r>
            <a:r>
              <a:rPr lang="en-CA" sz="2400" b="1" dirty="0"/>
              <a:t>better relational design</a:t>
            </a:r>
            <a:r>
              <a:rPr lang="en-CA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239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Blues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00498D"/>
      </a:accent2>
      <a:accent3>
        <a:srgbClr val="8CC63F"/>
      </a:accent3>
      <a:accent4>
        <a:srgbClr val="482F91"/>
      </a:accent4>
      <a:accent5>
        <a:srgbClr val="F26E23"/>
      </a:accent5>
      <a:accent6>
        <a:srgbClr val="A9A9A9"/>
      </a:accent6>
      <a:hlink>
        <a:srgbClr val="00ACED"/>
      </a:hlink>
      <a:folHlink>
        <a:srgbClr val="00ACE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Standard Powerpoint Presentation Template for NAIT Screens" id="{3BD04EBB-4171-4583-A98E-91711106D317}" vid="{263152E8-5872-4D90-B5D5-232AD3B8B3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636a0e-6a5d-4f3a-8cec-2ed9d7e96064">
      <Terms xmlns="http://schemas.microsoft.com/office/infopath/2007/PartnerControls"/>
    </lcf76f155ced4ddcb4097134ff3c332f>
    <TaxCatchAll xmlns="28175f85-aaa6-450f-8e62-bb2d8657c111" xsi:nil="true"/>
    <DocumentType xmlns="c0636a0e-6a5d-4f3a-8cec-2ed9d7e96064" xsi:nil="true"/>
  </documentManagement>
</p:properties>
</file>

<file path=customXml/itemProps1.xml><?xml version="1.0" encoding="utf-8"?>
<ds:datastoreItem xmlns:ds="http://schemas.openxmlformats.org/officeDocument/2006/customXml" ds:itemID="{0540F518-E7A2-492A-A586-FD4E5E7500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BA5B65-9C6D-442F-9E03-5588B1ABE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087D08-9B7A-464C-90FA-EA923D7CBBB6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52bb52fc-fb4a-47ec-96af-1ca16eda3341"/>
    <ds:schemaRef ds:uri="http://purl.org/dc/elements/1.1/"/>
    <ds:schemaRef ds:uri="http://schemas.microsoft.com/office/infopath/2007/PartnerControls"/>
    <ds:schemaRef ds:uri="0fa82ce2-b671-45ef-b5fe-18516deeba49"/>
    <ds:schemaRef ds:uri="f60468bc-9de1-4bbe-b533-c963951abe47"/>
    <ds:schemaRef ds:uri="c0636a0e-6a5d-4f3a-8cec-2ed9d7e96064"/>
    <ds:schemaRef ds:uri="28175f85-aaa6-450f-8e62-bb2d8657c11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 Standard Powerpoint Presentation Template for NAIT Screens</Template>
  <TotalTime>9908</TotalTime>
  <Words>1650</Words>
  <Application>Microsoft Office PowerPoint</Application>
  <PresentationFormat>Widescreen</PresentationFormat>
  <Paragraphs>272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quote-cjk-patch</vt:lpstr>
      <vt:lpstr>Office Theme</vt:lpstr>
      <vt:lpstr>PowerPoint Presentation</vt:lpstr>
      <vt:lpstr>Normalization: What and Why </vt:lpstr>
      <vt:lpstr>How Did We Decide Before?</vt:lpstr>
      <vt:lpstr>The Problem with Intuition </vt:lpstr>
      <vt:lpstr>The Problem with Intuition </vt:lpstr>
      <vt:lpstr>A Systematic Approach </vt:lpstr>
      <vt:lpstr>Normalization </vt:lpstr>
      <vt:lpstr>Evaluating a Database Design </vt:lpstr>
      <vt:lpstr>What Is an Anomaly? </vt:lpstr>
      <vt:lpstr>Minimizing Redundant Data </vt:lpstr>
      <vt:lpstr>Minimizing Redundant Data </vt:lpstr>
      <vt:lpstr>Minimizing Redundant Data </vt:lpstr>
      <vt:lpstr>The Problem: Redundancy</vt:lpstr>
      <vt:lpstr>A Different Design</vt:lpstr>
      <vt:lpstr>Redundancy Is Reduced </vt:lpstr>
      <vt:lpstr>Update Anomaly: The Problem </vt:lpstr>
      <vt:lpstr>Update Anomaly: The Normalized Design</vt:lpstr>
      <vt:lpstr>Minimizing Insert Anomalies </vt:lpstr>
      <vt:lpstr>Insert Anomaly: The Problem</vt:lpstr>
      <vt:lpstr>Insert Anomaly</vt:lpstr>
      <vt:lpstr>Insert Anomaly: The Normalized Design </vt:lpstr>
      <vt:lpstr>Adding a New Department</vt:lpstr>
      <vt:lpstr>Minimizing Delete Anomalies</vt:lpstr>
      <vt:lpstr>Delete Anomaly: The Problem</vt:lpstr>
      <vt:lpstr>Delete Anomaly: The Normalized Design</vt:lpstr>
      <vt:lpstr>The Three Anomalies</vt:lpstr>
      <vt:lpstr>What Caused These Problems? </vt:lpstr>
      <vt:lpstr>What Did Normalization Do? </vt:lpstr>
      <vt:lpstr>The Big Picture</vt:lpstr>
      <vt:lpstr>Key Questions</vt:lpstr>
      <vt:lpstr>What We've Learned</vt:lpstr>
      <vt:lpstr>One Important 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Larisa Pitchko</dc:creator>
  <cp:lastModifiedBy>Larisa Pitchko</cp:lastModifiedBy>
  <cp:revision>238</cp:revision>
  <dcterms:created xsi:type="dcterms:W3CDTF">2019-08-28T18:27:45Z</dcterms:created>
  <dcterms:modified xsi:type="dcterms:W3CDTF">2026-09-10T19:29:08Z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>114;#NAIT Brand|56c3f36a-7bf3-46f3-a4b0-bb3df19b2675</vt:lpwstr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fb17ffeb-f9e3-4da5-8986-98ba4c89698a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ediaServiceImageTags">
    <vt:lpwstr/>
  </property>
  <property fmtid="{D5CDD505-2E9C-101B-9397-08002B2CF9AE}" pid="11" name="MSIP_Label_10877899-02b0-462c-b2a9-b7d15c4f96fe_Enabled">
    <vt:lpwstr>true</vt:lpwstr>
  </property>
  <property fmtid="{D5CDD505-2E9C-101B-9397-08002B2CF9AE}" pid="12" name="MSIP_Label_10877899-02b0-462c-b2a9-b7d15c4f96fe_SetDate">
    <vt:lpwstr>2025-04-25T04:19:52Z</vt:lpwstr>
  </property>
  <property fmtid="{D5CDD505-2E9C-101B-9397-08002B2CF9AE}" pid="13" name="MSIP_Label_10877899-02b0-462c-b2a9-b7d15c4f96fe_Method">
    <vt:lpwstr>Standard</vt:lpwstr>
  </property>
  <property fmtid="{D5CDD505-2E9C-101B-9397-08002B2CF9AE}" pid="14" name="MSIP_Label_10877899-02b0-462c-b2a9-b7d15c4f96fe_Name">
    <vt:lpwstr>Protected [Protected A]</vt:lpwstr>
  </property>
  <property fmtid="{D5CDD505-2E9C-101B-9397-08002B2CF9AE}" pid="15" name="MSIP_Label_10877899-02b0-462c-b2a9-b7d15c4f96fe_SiteId">
    <vt:lpwstr>5c98fb47-d3b9-4649-9d94-f88cbdd9729c</vt:lpwstr>
  </property>
  <property fmtid="{D5CDD505-2E9C-101B-9397-08002B2CF9AE}" pid="16" name="MSIP_Label_10877899-02b0-462c-b2a9-b7d15c4f96fe_ActionId">
    <vt:lpwstr>162fc8a6-e960-4808-9911-9227cb246ce1</vt:lpwstr>
  </property>
  <property fmtid="{D5CDD505-2E9C-101B-9397-08002B2CF9AE}" pid="17" name="MSIP_Label_10877899-02b0-462c-b2a9-b7d15c4f96fe_ContentBits">
    <vt:lpwstr>0</vt:lpwstr>
  </property>
  <property fmtid="{D5CDD505-2E9C-101B-9397-08002B2CF9AE}" pid="18" name="MSIP_Label_10877899-02b0-462c-b2a9-b7d15c4f96fe_Tag">
    <vt:lpwstr>10, 3, 0, 1</vt:lpwstr>
  </property>
</Properties>
</file>