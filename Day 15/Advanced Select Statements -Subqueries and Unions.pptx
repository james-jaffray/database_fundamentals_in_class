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1" r:id="rId5"/>
    <p:sldId id="369" r:id="rId6"/>
    <p:sldId id="371" r:id="rId7"/>
    <p:sldId id="395" r:id="rId8"/>
    <p:sldId id="396" r:id="rId9"/>
    <p:sldId id="397" r:id="rId10"/>
    <p:sldId id="372" r:id="rId11"/>
    <p:sldId id="373" r:id="rId12"/>
    <p:sldId id="374" r:id="rId13"/>
    <p:sldId id="375" r:id="rId14"/>
    <p:sldId id="376" r:id="rId15"/>
    <p:sldId id="428" r:id="rId16"/>
    <p:sldId id="429" r:id="rId17"/>
    <p:sldId id="43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3" autoAdjust="0"/>
    <p:restoredTop sz="89935" autoAdjust="0"/>
  </p:normalViewPr>
  <p:slideViewPr>
    <p:cSldViewPr snapToGrid="0" snapToObjects="1" showGuides="1">
      <p:cViewPr varScale="1">
        <p:scale>
          <a:sx n="99" d="100"/>
          <a:sy n="99" d="100"/>
        </p:scale>
        <p:origin x="68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2709-1847-4F53-98E0-E379346D49D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A85F0-2AA3-412D-B482-1445E370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familiar example</a:t>
            </a:r>
          </a:p>
          <a:p>
            <a:r>
              <a:rPr lang="en-CA" dirty="0"/>
              <a:t>“Let's say I have a list of 10,000 customers.”</a:t>
            </a:r>
          </a:p>
          <a:p>
            <a:r>
              <a:rPr lang="en-CA" dirty="0"/>
              <a:t>“For each customer, I might have their customer number, first name, last name, address, phone number, email, and maybe their order history.”</a:t>
            </a:r>
          </a:p>
          <a:p>
            <a:r>
              <a:rPr lang="en-CA" dirty="0"/>
              <a:t>“That information is data. If I organize and store it so that I can efficiently work with it, I have a database.”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830438" y="2624442"/>
            <a:ext cx="8531123" cy="147161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0DFF8B-0CA2-444E-B3B8-516B41CBE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7231" y="745523"/>
            <a:ext cx="1168573" cy="14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5C5819-15D5-134D-9ACE-EB35435DDD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3914" y="4598843"/>
            <a:ext cx="6337921" cy="536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498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223" y="335242"/>
            <a:ext cx="10630647" cy="106967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224" y="1795742"/>
            <a:ext cx="10654552" cy="351136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83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39781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3858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044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9937" y="3045791"/>
            <a:ext cx="6365875" cy="9286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52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697788" y="2603500"/>
            <a:ext cx="4214812" cy="187325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INSERT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178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32" y="5791200"/>
            <a:ext cx="3552445" cy="74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09866" y="5780616"/>
            <a:ext cx="607785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92-B9CD-7AF8-2531-D88D3E9D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3C0C-F99B-8C9C-5380-BAC668129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13D1-0C16-8026-7BD4-926A5162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FE-D9D4-D649-9D1F-5FA64CDC0C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5B1-A151-0420-61EC-F4B8FC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DDD1-36BF-D966-84CD-8EE8543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199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76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4" y="1795742"/>
            <a:ext cx="10515600" cy="35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BFFFE-D9D4-D649-9D1F-5FA64CDC0CC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pt screen_Header_6-9_1920x1080 Wide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3171"/>
            <a:ext cx="12196659" cy="13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6" y="5780616"/>
            <a:ext cx="3553126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7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2" r:id="rId3"/>
    <p:sldLayoutId id="2147483654" r:id="rId4"/>
    <p:sldLayoutId id="2147483655" r:id="rId5"/>
    <p:sldLayoutId id="2147483663" r:id="rId6"/>
    <p:sldLayoutId id="2147483660" r:id="rId7"/>
    <p:sldLayoutId id="2147483662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30438" y="3429000"/>
            <a:ext cx="8531123" cy="1471612"/>
          </a:xfrm>
        </p:spPr>
        <p:txBody>
          <a:bodyPr>
            <a:normAutofit/>
          </a:bodyPr>
          <a:lstStyle/>
          <a:p>
            <a:r>
              <a:rPr lang="en-US" b="1" dirty="0"/>
              <a:t>Subquery, Union</a:t>
            </a:r>
          </a:p>
        </p:txBody>
      </p:sp>
    </p:spTree>
    <p:extLst>
      <p:ext uri="{BB962C8B-B14F-4D97-AF65-F5344CB8AC3E}">
        <p14:creationId xmlns:p14="http://schemas.microsoft.com/office/powerpoint/2010/main" val="2569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8E3B-953D-C5A8-A98C-995692E0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555" y="767933"/>
            <a:ext cx="9844578" cy="847200"/>
          </a:xfrm>
        </p:spPr>
        <p:txBody>
          <a:bodyPr>
            <a:normAutofit/>
          </a:bodyPr>
          <a:lstStyle/>
          <a:p>
            <a:r>
              <a:rPr lang="en-US" b="1" dirty="0"/>
              <a:t>What Is a Subquery?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2DCA6-959A-EC24-0680-C3627496B46A}"/>
              </a:ext>
            </a:extLst>
          </p:cNvPr>
          <p:cNvSpPr txBox="1"/>
          <p:nvPr/>
        </p:nvSpPr>
        <p:spPr>
          <a:xfrm>
            <a:off x="1050252" y="1621599"/>
            <a:ext cx="7484148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A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subquery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is a SELECT statement nested inside another statement.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Inner Query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— the subquery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Outer Query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— the SELECT around it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Used in 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WHERE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 or 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HAVING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 clauses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to provide criteria.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Two types: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Nested and Correlated.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This course focuses on Nested.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448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EA3-E419-4E2D-C59B-5DECDA4D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0" y="767933"/>
            <a:ext cx="9292333" cy="847200"/>
          </a:xfrm>
        </p:spPr>
        <p:txBody>
          <a:bodyPr>
            <a:normAutofit/>
          </a:bodyPr>
          <a:lstStyle/>
          <a:p>
            <a:r>
              <a:rPr lang="en-US" b="1" dirty="0"/>
              <a:t>Nested Subquery —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2837-333B-06E3-3E52-892921C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87" y="1736912"/>
            <a:ext cx="9292333" cy="3384175"/>
          </a:xfrm>
        </p:spPr>
        <p:txBody>
          <a:bodyPr>
            <a:noAutofit/>
          </a:bodyPr>
          <a:lstStyle/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</a:p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Position</a:t>
            </a:r>
          </a:p>
          <a:p>
            <a:pPr marL="0" marR="0" indent="0" algn="l" latinLnBrk="1">
              <a:lnSpc>
                <a:spcPct val="100000"/>
              </a:lnSpc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           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PositionDescription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50A14F"/>
                </a:solidFill>
                <a:effectLst/>
                <a:latin typeface="Menlo"/>
              </a:rPr>
              <a:t>'Dean'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How it runs: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Inner query first: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returns 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1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(the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quote-cjk-patch"/>
              </a:rPr>
              <a:t>PositionID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for 'Dean')</a:t>
            </a:r>
          </a:p>
          <a:p>
            <a:pPr marL="0" marR="0" lvl="0" indent="-342900" algn="l">
              <a:lnSpc>
                <a:spcPct val="1000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Outer query runs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with that result: staff where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= 1</a:t>
            </a:r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Result: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Hugh Guy</a:t>
            </a:r>
          </a:p>
        </p:txBody>
      </p:sp>
    </p:spTree>
    <p:extLst>
      <p:ext uri="{BB962C8B-B14F-4D97-AF65-F5344CB8AC3E}">
        <p14:creationId xmlns:p14="http://schemas.microsoft.com/office/powerpoint/2010/main" val="122271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A29A-1577-DBB8-37C3-4B363943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8086-3088-56A7-72E3-CAD67426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11" y="767933"/>
            <a:ext cx="11180456" cy="847200"/>
          </a:xfrm>
        </p:spPr>
        <p:txBody>
          <a:bodyPr/>
          <a:lstStyle/>
          <a:p>
            <a:r>
              <a:rPr lang="en-US" b="1" dirty="0"/>
              <a:t>The = Rule with Subqueries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6998-8D3E-6843-5999-E76A6A4DC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872" y="1615133"/>
            <a:ext cx="9840161" cy="4366310"/>
          </a:xfrm>
        </p:spPr>
        <p:txBody>
          <a:bodyPr>
            <a:normAutofit fontScale="47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You can only use 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=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 when the subquery returns exactly one value.</a:t>
            </a:r>
            <a:endParaRPr lang="en-US" sz="5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Payment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ERROR: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more than one row returned by a subquery used as an expression</a:t>
            </a:r>
            <a:endParaRPr lang="en-US" sz="5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Fix: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Use 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IN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when the subquery might return many values.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70048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272A-C626-0D54-C129-9D51946E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B09F-EF02-9E4E-8CCE-27B167EA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59" y="682733"/>
            <a:ext cx="11864741" cy="847200"/>
          </a:xfrm>
        </p:spPr>
        <p:txBody>
          <a:bodyPr>
            <a:normAutofit/>
          </a:bodyPr>
          <a:lstStyle/>
          <a:p>
            <a:r>
              <a:rPr lang="en-US" b="1" dirty="0"/>
              <a:t>Subquery with 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1845F-1145-B076-EFF9-2F84C44CD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80" y="1645024"/>
            <a:ext cx="10657840" cy="3756709"/>
          </a:xfrm>
        </p:spPr>
        <p:txBody>
          <a:bodyPr>
            <a:normAutofit/>
          </a:bodyPr>
          <a:lstStyle/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Payment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How it runs: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Inner query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returns all </a:t>
            </a:r>
            <a:r>
              <a:rPr lang="en-US" sz="1800" b="0" i="0" dirty="0" err="1">
                <a:solidFill>
                  <a:srgbClr val="0F1115"/>
                </a:solidFill>
                <a:effectLst/>
                <a:latin typeface="quote-cjk-patch"/>
              </a:rPr>
              <a:t>StudentIDs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that have made payments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Outer query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returns students whose ID is in that list</a:t>
            </a:r>
          </a:p>
        </p:txBody>
      </p:sp>
    </p:spTree>
    <p:extLst>
      <p:ext uri="{BB962C8B-B14F-4D97-AF65-F5344CB8AC3E}">
        <p14:creationId xmlns:p14="http://schemas.microsoft.com/office/powerpoint/2010/main" val="230540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D284-9C4C-7C08-84D8-AD735A9C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A2E0-DF1C-EBEE-3A15-6A060816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2" y="648866"/>
            <a:ext cx="10307320" cy="847200"/>
          </a:xfrm>
        </p:spPr>
        <p:txBody>
          <a:bodyPr/>
          <a:lstStyle/>
          <a:p>
            <a:r>
              <a:rPr lang="en-US" b="1" dirty="0"/>
              <a:t>Subquery with NOT 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C2A64-9005-1717-56DF-CDB4EA11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79" y="1915958"/>
            <a:ext cx="11052387" cy="3892176"/>
          </a:xfrm>
        </p:spPr>
        <p:txBody>
          <a:bodyPr>
            <a:normAutofit fontScale="77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Find students who have 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never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made a payment: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4078F2"/>
                </a:solidFill>
                <a:effectLst/>
                <a:latin typeface="Menlo"/>
              </a:rPr>
              <a:t>Not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Payment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57288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71D4-EEC2-64AF-F09A-4EAE6197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95" y="756933"/>
            <a:ext cx="11669238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Should You Use DISTINCT in the Subquery?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5549-60DB-C842-493E-AEAA7B49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987" y="1655963"/>
            <a:ext cx="9909080" cy="3590712"/>
          </a:xfrm>
        </p:spPr>
        <p:txBody>
          <a:bodyPr>
            <a:norm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You could write: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Distinct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Payment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But it's actually slower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— the overhead of removing duplicates costs more than it saves.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Stick with: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4078F2"/>
                </a:solidFill>
                <a:effectLst/>
                <a:latin typeface="Menlo"/>
              </a:rPr>
              <a:t>In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Menlo"/>
              </a:rPr>
              <a:t> Payment</a:t>
            </a:r>
            <a:r>
              <a:rPr lang="en-US" sz="12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12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14282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067-4A89-57E6-0B84-6FBE0D39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62" y="539333"/>
            <a:ext cx="10417444" cy="847200"/>
          </a:xfrm>
        </p:spPr>
        <p:txBody>
          <a:bodyPr/>
          <a:lstStyle/>
          <a:p>
            <a:r>
              <a:rPr lang="en-US" b="1" dirty="0"/>
              <a:t>ANY / SOME and 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5A01B-A00C-8780-A303-76BEDD5F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615134"/>
            <a:ext cx="10913532" cy="3632276"/>
          </a:xfrm>
        </p:spPr>
        <p:txBody>
          <a:bodyPr>
            <a:normAutofit fontScale="62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So far, subqueries return values for 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exact match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IN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For 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other comparisons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&gt;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&lt;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&gt;=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&lt;=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&lt;&gt;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ANY / SOME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— compares against 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any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value from the subquery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ALL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— compares against 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all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values from the subquery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Example:</a:t>
            </a:r>
            <a:endParaRPr lang="en-US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8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 Grade </a:t>
            </a:r>
            <a:r>
              <a:rPr lang="en-US" sz="1800" b="0" i="0" dirty="0">
                <a:solidFill>
                  <a:srgbClr val="4078F2"/>
                </a:solidFill>
                <a:effectLst/>
                <a:latin typeface="Menlo"/>
              </a:rPr>
              <a:t>&gt;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800" b="0" i="0" dirty="0">
                <a:solidFill>
                  <a:srgbClr val="A626A4"/>
                </a:solidFill>
                <a:effectLst/>
                <a:latin typeface="Menlo"/>
              </a:rPr>
              <a:t>ANY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8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8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 Grade </a:t>
            </a:r>
            <a:r>
              <a:rPr lang="en-US" sz="18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800" b="0" i="0" dirty="0">
                <a:solidFill>
                  <a:srgbClr val="383A42"/>
                </a:solidFill>
                <a:effectLst/>
                <a:latin typeface="Menlo"/>
              </a:rPr>
              <a:t>...);</a:t>
            </a:r>
            <a:endParaRPr lang="en-US" sz="1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If the outer grade is greater than </a:t>
            </a: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any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 of the subquery's grades → record is returned.</a:t>
            </a:r>
          </a:p>
          <a:p>
            <a:pPr marL="152396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440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A670-E6EB-CEC1-6A57-D7EECDC0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392" y="612070"/>
            <a:ext cx="9838432" cy="847200"/>
          </a:xfrm>
        </p:spPr>
        <p:txBody>
          <a:bodyPr/>
          <a:lstStyle/>
          <a:p>
            <a:r>
              <a:rPr lang="en-US" b="1" dirty="0"/>
              <a:t>Subquery with ALL — City with Most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6D1FA-6470-B4C1-15E6-835D7648659E}"/>
              </a:ext>
            </a:extLst>
          </p:cNvPr>
          <p:cNvSpPr txBox="1"/>
          <p:nvPr/>
        </p:nvSpPr>
        <p:spPr>
          <a:xfrm>
            <a:off x="1710813" y="1984470"/>
            <a:ext cx="8996516" cy="268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City</a:t>
            </a:r>
          </a:p>
          <a:p>
            <a:pPr marL="0" marR="0" indent="0"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City</a:t>
            </a:r>
          </a:p>
          <a:p>
            <a:pPr marL="0" marR="0" indent="0" algn="l" latinLnBrk="1"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Having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Menlo"/>
              </a:rPr>
              <a:t>Count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                      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buNone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                      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Group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City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How it runs:</a:t>
            </a:r>
            <a:endParaRPr lang="en-U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buFont typeface="+mj-lt"/>
              <a:buAutoNum type="arabicPeriod"/>
            </a:pPr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Inner query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 returns counts for every city</a:t>
            </a:r>
          </a:p>
          <a:p>
            <a:pPr marL="0" marR="0" lvl="0" indent="-342900" algn="l">
              <a:spcBef>
                <a:spcPts val="450"/>
              </a:spcBef>
              <a:buFont typeface="+mj-lt"/>
              <a:buAutoNum type="arabicPeriod"/>
            </a:pPr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Outer query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quote-cjk-patch"/>
              </a:rPr>
              <a:t> finds the city whose count equals all of them — i.e., the 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quote-cjk-patch"/>
              </a:rPr>
              <a:t>highest</a:t>
            </a:r>
            <a:endParaRPr lang="en-US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40496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ECE-867E-CD3F-20C5-C7F70DB2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22461"/>
            <a:ext cx="9793405" cy="847200"/>
          </a:xfrm>
        </p:spPr>
        <p:txBody>
          <a:bodyPr>
            <a:normAutofit/>
          </a:bodyPr>
          <a:lstStyle/>
          <a:p>
            <a:r>
              <a:rPr lang="en-US" b="1" dirty="0"/>
              <a:t>UNION — Combining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6686E-3BF2-28E2-111A-BC3A989E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302109"/>
            <a:ext cx="8291508" cy="3255453"/>
          </a:xfrm>
        </p:spPr>
        <p:txBody>
          <a:bodyPr>
            <a:normAutofit fontScale="85000" lnSpcReduction="20000"/>
          </a:bodyPr>
          <a:lstStyle/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UNION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combines the results of multiple SELECT statements into </a:t>
            </a: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one result table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Syntax: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100" b="0" i="0" dirty="0">
                <a:solidFill>
                  <a:srgbClr val="383A42"/>
                </a:solidFill>
                <a:effectLst/>
                <a:latin typeface="Menlo"/>
              </a:rPr>
              <a:t>...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100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ALL</a:t>
            </a:r>
            <a:r>
              <a:rPr lang="en-US" sz="1100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100" b="0" i="0" dirty="0">
                <a:solidFill>
                  <a:srgbClr val="383A42"/>
                </a:solidFill>
                <a:effectLst/>
                <a:latin typeface="Menlo"/>
              </a:rPr>
              <a:t>...;</a:t>
            </a:r>
            <a:endParaRPr lang="en-US" sz="11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Example — all student and staff names: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11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sz="11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11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11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  <a:r>
              <a:rPr lang="en-US" sz="11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1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-342900" algn="l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16 students + 10 staff = 26 rows</a:t>
            </a:r>
          </a:p>
          <a:p>
            <a:pPr marL="0" marR="0" lvl="0" indent="-342900" algn="l">
              <a:lnSpc>
                <a:spcPct val="12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Result: 25 records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— UNION removes duplicates by default</a:t>
            </a:r>
          </a:p>
          <a:p>
            <a:pPr marL="0" marR="0" lvl="0" indent="-342900" algn="l">
              <a:lnSpc>
                <a:spcPct val="12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Use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UNION ALL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to keep duplicates</a:t>
            </a:r>
          </a:p>
        </p:txBody>
      </p:sp>
    </p:spTree>
    <p:extLst>
      <p:ext uri="{BB962C8B-B14F-4D97-AF65-F5344CB8AC3E}">
        <p14:creationId xmlns:p14="http://schemas.microsoft.com/office/powerpoint/2010/main" val="2165949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1854-E7DA-BB45-5AAC-E16790CB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2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UNION —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111-ECB2-92CE-9E29-05C8B578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47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 Same number of columns</a:t>
            </a:r>
            <a:endParaRPr lang="en-US" sz="5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City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4000" b="0" i="1" dirty="0">
                <a:solidFill>
                  <a:srgbClr val="A0A1A7"/>
                </a:solidFill>
                <a:effectLst/>
                <a:latin typeface="Menlo"/>
              </a:rPr>
              <a:t>-- ERROR: each UNION query must have the same number of columns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97588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ED93-391B-B9C2-0749-DFA46257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9786-C569-98CE-DB1F-539E74B9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2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UNION —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20732-B007-3639-62D2-F5F9D1234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325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7200" b="1" i="0" dirty="0">
                <a:solidFill>
                  <a:srgbClr val="0F1115"/>
                </a:solidFill>
                <a:effectLst/>
                <a:latin typeface="quote-cjk-patch"/>
              </a:rPr>
              <a:t>2. Similar datatypes</a:t>
            </a:r>
            <a:endParaRPr lang="en-US" sz="7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Birthdate </a:t>
            </a: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sz="5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5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  <a:r>
              <a:rPr lang="en-US" sz="54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5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5400" b="0" i="1" dirty="0">
                <a:solidFill>
                  <a:srgbClr val="A0A1A7"/>
                </a:solidFill>
                <a:effectLst/>
                <a:latin typeface="Menlo"/>
              </a:rPr>
              <a:t>-- ERROR: UNION types date and character varying cannot be matched</a:t>
            </a:r>
            <a:endParaRPr lang="en-US" sz="54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879845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037D-D139-6175-C66D-DF10A9E6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5070-8CC4-02B1-A067-C7FAD44E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2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 dirty="0"/>
              <a:t>UNION —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0892E-9EEF-0887-DD68-3C449F40A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3. ORDER BY goes at the very end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Union</a:t>
            </a:r>
            <a:endParaRPr lang="en-US" sz="7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Order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By</a:t>
            </a:r>
            <a:r>
              <a:rPr lang="en-US" sz="7200" b="0" i="0" dirty="0">
                <a:solidFill>
                  <a:srgbClr val="0F1115"/>
                </a:solidFill>
                <a:effectLst/>
                <a:latin typeface="Menlo"/>
              </a:rPr>
              <a:t> LastName </a:t>
            </a:r>
            <a:r>
              <a:rPr lang="en-US" sz="7200" b="0" i="0" dirty="0">
                <a:solidFill>
                  <a:srgbClr val="A626A4"/>
                </a:solidFill>
                <a:effectLst/>
                <a:latin typeface="Menlo"/>
              </a:rPr>
              <a:t>ASC</a:t>
            </a:r>
            <a:r>
              <a:rPr lang="en-US" sz="72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72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9600" b="1" i="0" dirty="0">
                <a:solidFill>
                  <a:srgbClr val="0F1115"/>
                </a:solidFill>
                <a:effectLst/>
                <a:latin typeface="quote-cjk-patch"/>
              </a:rPr>
              <a:t>4. Column names come from the FIRST query</a:t>
            </a:r>
            <a:endParaRPr lang="en-US" sz="9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47463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72DA-0E19-F35F-0381-9FCF0309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E6CB-087E-9F9A-C5AB-F5EAA6F4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2" y="767933"/>
            <a:ext cx="10278532" cy="847200"/>
          </a:xfrm>
        </p:spPr>
        <p:txBody>
          <a:bodyPr>
            <a:normAutofit/>
          </a:bodyPr>
          <a:lstStyle/>
          <a:p>
            <a:r>
              <a:rPr lang="en-US" b="1"/>
              <a:t>Clause Order — Quick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621C0-F868-6E05-7464-79B8F270C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/>
          </a:bodyPr>
          <a:lstStyle/>
          <a:p>
            <a:pPr latinLnBrk="1"/>
            <a:r>
              <a:rPr lang="en-US" dirty="0"/>
              <a:t>1. SELECT</a:t>
            </a:r>
          </a:p>
          <a:p>
            <a:pPr latinLnBrk="1"/>
            <a:r>
              <a:rPr lang="en-US" dirty="0"/>
              <a:t>2. FROM</a:t>
            </a:r>
          </a:p>
          <a:p>
            <a:pPr latinLnBrk="1"/>
            <a:r>
              <a:rPr lang="en-US" dirty="0"/>
              <a:t>3. JOIN</a:t>
            </a:r>
          </a:p>
          <a:p>
            <a:pPr latinLnBrk="1"/>
            <a:r>
              <a:rPr lang="en-US" dirty="0"/>
              <a:t>4. WHERE</a:t>
            </a:r>
          </a:p>
          <a:p>
            <a:pPr latinLnBrk="1"/>
            <a:r>
              <a:rPr lang="en-US" dirty="0"/>
              <a:t>5. GROUP BY</a:t>
            </a:r>
          </a:p>
          <a:p>
            <a:pPr latinLnBrk="1"/>
            <a:r>
              <a:rPr lang="en-US" dirty="0"/>
              <a:t>6. HAVING</a:t>
            </a:r>
          </a:p>
          <a:p>
            <a:pPr latinLnBrk="1"/>
            <a:r>
              <a:rPr lang="en-US" dirty="0"/>
              <a:t>7. ORDER BY  ← only after the LAST query in a union</a:t>
            </a:r>
          </a:p>
          <a:p>
            <a:pPr latinLnBrk="1"/>
            <a:r>
              <a:rPr lang="en-US" dirty="0"/>
              <a:t>8. UNION / UNION ALL  ← between queries</a:t>
            </a:r>
          </a:p>
        </p:txBody>
      </p:sp>
    </p:spTree>
    <p:extLst>
      <p:ext uri="{BB962C8B-B14F-4D97-AF65-F5344CB8AC3E}">
        <p14:creationId xmlns:p14="http://schemas.microsoft.com/office/powerpoint/2010/main" val="2667283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Blues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00498D"/>
      </a:accent2>
      <a:accent3>
        <a:srgbClr val="8CC63F"/>
      </a:accent3>
      <a:accent4>
        <a:srgbClr val="482F91"/>
      </a:accent4>
      <a:accent5>
        <a:srgbClr val="F26E23"/>
      </a:accent5>
      <a:accent6>
        <a:srgbClr val="A9A9A9"/>
      </a:accent6>
      <a:hlink>
        <a:srgbClr val="00ACED"/>
      </a:hlink>
      <a:folHlink>
        <a:srgbClr val="00ACE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Standard Powerpoint Presentation Template for NAIT Screens" id="{3BD04EBB-4171-4583-A98E-91711106D317}" vid="{263152E8-5872-4D90-B5D5-232AD3B8B3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636a0e-6a5d-4f3a-8cec-2ed9d7e96064">
      <Terms xmlns="http://schemas.microsoft.com/office/infopath/2007/PartnerControls"/>
    </lcf76f155ced4ddcb4097134ff3c332f>
    <TaxCatchAll xmlns="28175f85-aaa6-450f-8e62-bb2d8657c111" xsi:nil="true"/>
    <DocumentType xmlns="c0636a0e-6a5d-4f3a-8cec-2ed9d7e9606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BA5B65-9C6D-442F-9E03-5588B1ABE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087D08-9B7A-464C-90FA-EA923D7CBBB6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52bb52fc-fb4a-47ec-96af-1ca16eda3341"/>
    <ds:schemaRef ds:uri="http://purl.org/dc/elements/1.1/"/>
    <ds:schemaRef ds:uri="http://schemas.microsoft.com/office/infopath/2007/PartnerControls"/>
    <ds:schemaRef ds:uri="0fa82ce2-b671-45ef-b5fe-18516deeba49"/>
    <ds:schemaRef ds:uri="f60468bc-9de1-4bbe-b533-c963951abe47"/>
    <ds:schemaRef ds:uri="c0636a0e-6a5d-4f3a-8cec-2ed9d7e96064"/>
    <ds:schemaRef ds:uri="28175f85-aaa6-450f-8e62-bb2d8657c111"/>
  </ds:schemaRefs>
</ds:datastoreItem>
</file>

<file path=customXml/itemProps3.xml><?xml version="1.0" encoding="utf-8"?>
<ds:datastoreItem xmlns:ds="http://schemas.openxmlformats.org/officeDocument/2006/customXml" ds:itemID="{0540F518-E7A2-492A-A586-FD4E5E7500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 Standard Powerpoint Presentation Template for NAIT Screens</Template>
  <TotalTime>2313</TotalTime>
  <Words>730</Words>
  <Application>Microsoft Office PowerPoint</Application>
  <PresentationFormat>Widescreen</PresentationFormat>
  <Paragraphs>105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Menlo</vt:lpstr>
      <vt:lpstr>quote-cjk-patch</vt:lpstr>
      <vt:lpstr>Office Theme</vt:lpstr>
      <vt:lpstr>PowerPoint Presentation</vt:lpstr>
      <vt:lpstr>What Is a Subquery?</vt:lpstr>
      <vt:lpstr>Nested Subquery — Example</vt:lpstr>
      <vt:lpstr>The = Rule with Subqueries</vt:lpstr>
      <vt:lpstr>Subquery with IN</vt:lpstr>
      <vt:lpstr>Subquery with NOT IN</vt:lpstr>
      <vt:lpstr> Should You Use DISTINCT in the Subquery? </vt:lpstr>
      <vt:lpstr>ANY / SOME and ALL</vt:lpstr>
      <vt:lpstr>Subquery with ALL — City with Most Students</vt:lpstr>
      <vt:lpstr>UNION — Combining Results</vt:lpstr>
      <vt:lpstr>UNION — Rules</vt:lpstr>
      <vt:lpstr>UNION — Rules</vt:lpstr>
      <vt:lpstr>UNION — Rules</vt:lpstr>
      <vt:lpstr>Clause Order — Quick 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Larisa Pitchko</dc:creator>
  <cp:lastModifiedBy>Larisa Pitchko</cp:lastModifiedBy>
  <cp:revision>240</cp:revision>
  <dcterms:created xsi:type="dcterms:W3CDTF">2019-08-28T18:27:45Z</dcterms:created>
  <dcterms:modified xsi:type="dcterms:W3CDTF">2026-10-16T16:40:46Z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>114;#NAIT Brand|56c3f36a-7bf3-46f3-a4b0-bb3df19b2675</vt:lpwstr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fb17ffeb-f9e3-4da5-8986-98ba4c89698a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ediaServiceImageTags">
    <vt:lpwstr/>
  </property>
  <property fmtid="{D5CDD505-2E9C-101B-9397-08002B2CF9AE}" pid="11" name="MSIP_Label_10877899-02b0-462c-b2a9-b7d15c4f96fe_Enabled">
    <vt:lpwstr>true</vt:lpwstr>
  </property>
  <property fmtid="{D5CDD505-2E9C-101B-9397-08002B2CF9AE}" pid="12" name="MSIP_Label_10877899-02b0-462c-b2a9-b7d15c4f96fe_SetDate">
    <vt:lpwstr>2025-04-25T04:19:52Z</vt:lpwstr>
  </property>
  <property fmtid="{D5CDD505-2E9C-101B-9397-08002B2CF9AE}" pid="13" name="MSIP_Label_10877899-02b0-462c-b2a9-b7d15c4f96fe_Method">
    <vt:lpwstr>Standard</vt:lpwstr>
  </property>
  <property fmtid="{D5CDD505-2E9C-101B-9397-08002B2CF9AE}" pid="14" name="MSIP_Label_10877899-02b0-462c-b2a9-b7d15c4f96fe_Name">
    <vt:lpwstr>Protected [Protected A]</vt:lpwstr>
  </property>
  <property fmtid="{D5CDD505-2E9C-101B-9397-08002B2CF9AE}" pid="15" name="MSIP_Label_10877899-02b0-462c-b2a9-b7d15c4f96fe_SiteId">
    <vt:lpwstr>5c98fb47-d3b9-4649-9d94-f88cbdd9729c</vt:lpwstr>
  </property>
  <property fmtid="{D5CDD505-2E9C-101B-9397-08002B2CF9AE}" pid="16" name="MSIP_Label_10877899-02b0-462c-b2a9-b7d15c4f96fe_ActionId">
    <vt:lpwstr>162fc8a6-e960-4808-9911-9227cb246ce1</vt:lpwstr>
  </property>
  <property fmtid="{D5CDD505-2E9C-101B-9397-08002B2CF9AE}" pid="17" name="MSIP_Label_10877899-02b0-462c-b2a9-b7d15c4f96fe_ContentBits">
    <vt:lpwstr>0</vt:lpwstr>
  </property>
  <property fmtid="{D5CDD505-2E9C-101B-9397-08002B2CF9AE}" pid="18" name="MSIP_Label_10877899-02b0-462c-b2a9-b7d15c4f96fe_Tag">
    <vt:lpwstr>10, 3, 0, 1</vt:lpwstr>
  </property>
</Properties>
</file>