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8"/>
  </p:notesMasterIdLst>
  <p:sldIdLst>
    <p:sldId id="271" r:id="rId5"/>
    <p:sldId id="369" r:id="rId6"/>
    <p:sldId id="370" r:id="rId7"/>
    <p:sldId id="371" r:id="rId8"/>
    <p:sldId id="427" r:id="rId9"/>
    <p:sldId id="435" r:id="rId10"/>
    <p:sldId id="372" r:id="rId11"/>
    <p:sldId id="436" r:id="rId12"/>
    <p:sldId id="373" r:id="rId13"/>
    <p:sldId id="437" r:id="rId14"/>
    <p:sldId id="374" r:id="rId15"/>
    <p:sldId id="438" r:id="rId16"/>
    <p:sldId id="375" r:id="rId17"/>
    <p:sldId id="439" r:id="rId18"/>
    <p:sldId id="395" r:id="rId19"/>
    <p:sldId id="428" r:id="rId20"/>
    <p:sldId id="440" r:id="rId21"/>
    <p:sldId id="429" r:id="rId22"/>
    <p:sldId id="441" r:id="rId23"/>
    <p:sldId id="376" r:id="rId24"/>
    <p:sldId id="442" r:id="rId25"/>
    <p:sldId id="396" r:id="rId26"/>
    <p:sldId id="378" r:id="rId27"/>
    <p:sldId id="398" r:id="rId28"/>
    <p:sldId id="443" r:id="rId29"/>
    <p:sldId id="444" r:id="rId30"/>
    <p:sldId id="284" r:id="rId31"/>
    <p:sldId id="453" r:id="rId32"/>
    <p:sldId id="454" r:id="rId33"/>
    <p:sldId id="447" r:id="rId34"/>
    <p:sldId id="448" r:id="rId35"/>
    <p:sldId id="449" r:id="rId36"/>
    <p:sldId id="450" r:id="rId37"/>
    <p:sldId id="451" r:id="rId38"/>
    <p:sldId id="452" r:id="rId39"/>
    <p:sldId id="445" r:id="rId40"/>
    <p:sldId id="446" r:id="rId41"/>
    <p:sldId id="455" r:id="rId42"/>
    <p:sldId id="456" r:id="rId43"/>
    <p:sldId id="457" r:id="rId44"/>
    <p:sldId id="458" r:id="rId45"/>
    <p:sldId id="459" r:id="rId46"/>
    <p:sldId id="46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3" autoAdjust="0"/>
    <p:restoredTop sz="89935" autoAdjust="0"/>
  </p:normalViewPr>
  <p:slideViewPr>
    <p:cSldViewPr snapToGrid="0" snapToObjects="1" showGuides="1">
      <p:cViewPr>
        <p:scale>
          <a:sx n="33" d="100"/>
          <a:sy n="33" d="100"/>
        </p:scale>
        <p:origin x="912" y="9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F78B-F087-CE85-B0D7-B120E21F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C26D1-125B-3E31-E93C-BB177C2BC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A59BF-448F-F730-7FFC-16BA7539F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9130F-BE9A-1698-779D-961AE6AB5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78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03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3868-07CE-7794-816D-64EF062A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2308E-DDB3-5262-D937-32887ECDA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D6C3D-E75F-3229-5722-A9EE4A3C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A1D29-EF28-28AC-B904-D661E8159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46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15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116db96f5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116db96f5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Normalization: Aurora 1 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Today's Objectives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45B57-F3B5-2AE5-358F-36F986A8F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418" y="1615133"/>
            <a:ext cx="10164895" cy="4006734"/>
          </a:xfrm>
        </p:spPr>
        <p:txBody>
          <a:bodyPr>
            <a:normAutofit fontScale="62500" lnSpcReduction="20000"/>
          </a:bodyPr>
          <a:lstStyle/>
          <a:p>
            <a:pPr marL="152396" indent="0">
              <a:lnSpc>
                <a:spcPct val="170000"/>
              </a:lnSpc>
              <a:buNone/>
            </a:pPr>
            <a:r>
              <a:rPr lang="en-CA" dirty="0"/>
              <a:t>By the end of this lesson, you will be able to: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Explain</a:t>
            </a:r>
            <a:r>
              <a:rPr lang="en-CA" dirty="0"/>
              <a:t> the purpose of database normalization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Describe</a:t>
            </a:r>
            <a:r>
              <a:rPr lang="en-CA" dirty="0"/>
              <a:t> the characteristics of First, Second, and Third Normal Form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Identify</a:t>
            </a:r>
            <a:r>
              <a:rPr lang="en-CA" dirty="0"/>
              <a:t> repeating groups, partial dependencies, and transitive dependencies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Apply</a:t>
            </a:r>
            <a:r>
              <a:rPr lang="en-CA" dirty="0"/>
              <a:t> normalization rules to transform unnormalized data into 3NF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Explain</a:t>
            </a:r>
            <a:r>
              <a:rPr lang="en-CA" dirty="0"/>
              <a:t> how business rules affect database design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Create</a:t>
            </a:r>
            <a:r>
              <a:rPr lang="en-CA" dirty="0"/>
              <a:t> normalized database schemas from business scenarios</a:t>
            </a:r>
          </a:p>
          <a:p>
            <a:pPr lvl="0">
              <a:lnSpc>
                <a:spcPct val="170000"/>
              </a:lnSpc>
            </a:pPr>
            <a:r>
              <a:rPr lang="en-CA" b="1" dirty="0"/>
              <a:t>Evaluate</a:t>
            </a:r>
            <a:r>
              <a:rPr lang="en-CA" dirty="0"/>
              <a:t> normalization and denormalization </a:t>
            </a:r>
            <a:r>
              <a:rPr lang="en-CA" dirty="0" err="1"/>
              <a:t>tradeoffs</a:t>
            </a:r>
            <a:endParaRPr lang="en-CA" dirty="0"/>
          </a:p>
          <a:p>
            <a:pPr lvl="0">
              <a:lnSpc>
                <a:spcPct val="170000"/>
              </a:lnSpc>
            </a:pPr>
            <a:r>
              <a:rPr lang="en-CA" b="1" dirty="0"/>
              <a:t>Merge</a:t>
            </a:r>
            <a:r>
              <a:rPr lang="en-CA" dirty="0"/>
              <a:t> multiple views into a consolidated ERD</a:t>
            </a:r>
          </a:p>
        </p:txBody>
      </p:sp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40B9-76EB-B760-A548-E90BF3D1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633" y="616923"/>
            <a:ext cx="8428800" cy="847200"/>
          </a:xfrm>
        </p:spPr>
        <p:txBody>
          <a:bodyPr/>
          <a:lstStyle/>
          <a:p>
            <a:r>
              <a:rPr lang="en-US" b="1" dirty="0"/>
              <a:t>Where Are We in the Course?</a:t>
            </a:r>
            <a:endParaRPr lang="en-C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68ECB-6427-9EBE-5D4E-E057D5761736}"/>
              </a:ext>
            </a:extLst>
          </p:cNvPr>
          <p:cNvSpPr txBox="1"/>
          <p:nvPr/>
        </p:nvSpPr>
        <p:spPr>
          <a:xfrm>
            <a:off x="532466" y="1626029"/>
            <a:ext cx="2975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Review from Day 5 </a:t>
            </a: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  <a:sym typeface="Wingdings" panose="05000000000000000000" pitchFamily="2" charset="2"/>
              </a:rPr>
              <a:t></a:t>
            </a:r>
            <a:endParaRPr lang="en-CA" sz="24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ECBF38-EC28-8EB4-63A6-29F3F1962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54024"/>
              </p:ext>
            </p:extLst>
          </p:nvPr>
        </p:nvGraphicFramePr>
        <p:xfrm>
          <a:off x="542924" y="2268615"/>
          <a:ext cx="11106151" cy="2872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3927">
                  <a:extLst>
                    <a:ext uri="{9D8B030D-6E8A-4147-A177-3AD203B41FA5}">
                      <a16:colId xmlns:a16="http://schemas.microsoft.com/office/drawing/2014/main" val="2627180083"/>
                    </a:ext>
                  </a:extLst>
                </a:gridCol>
                <a:gridCol w="2857408">
                  <a:extLst>
                    <a:ext uri="{9D8B030D-6E8A-4147-A177-3AD203B41FA5}">
                      <a16:colId xmlns:a16="http://schemas.microsoft.com/office/drawing/2014/main" val="2794237022"/>
                    </a:ext>
                  </a:extLst>
                </a:gridCol>
                <a:gridCol w="2857408">
                  <a:extLst>
                    <a:ext uri="{9D8B030D-6E8A-4147-A177-3AD203B41FA5}">
                      <a16:colId xmlns:a16="http://schemas.microsoft.com/office/drawing/2014/main" val="696321871"/>
                    </a:ext>
                  </a:extLst>
                </a:gridCol>
                <a:gridCol w="2857408">
                  <a:extLst>
                    <a:ext uri="{9D8B030D-6E8A-4147-A177-3AD203B41FA5}">
                      <a16:colId xmlns:a16="http://schemas.microsoft.com/office/drawing/2014/main" val="2055468450"/>
                    </a:ext>
                  </a:extLst>
                </a:gridCol>
              </a:tblGrid>
              <a:tr h="501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Normal Form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Rule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Violation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Fix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111398960"/>
                  </a:ext>
                </a:extLst>
              </a:tr>
              <a:tr h="501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1NF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Atomic attributes, no repeating groups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Repeating group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Move to new table, copy PK as FK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95196858"/>
                  </a:ext>
                </a:extLst>
              </a:tr>
              <a:tr h="82675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2NF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All non-key attributes fully depend on entire PK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Partial dependency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Move to new table, copy PK part as FK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77523921"/>
                  </a:ext>
                </a:extLst>
              </a:tr>
              <a:tr h="82675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3NF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 non-key attribute depends on another non-key attribute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Transitive dependency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Move to new table, copy non-key attribute as PK/FK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10320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4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7933"/>
            <a:ext cx="10613133" cy="847200"/>
          </a:xfrm>
        </p:spPr>
        <p:txBody>
          <a:bodyPr/>
          <a:lstStyle/>
          <a:p>
            <a:r>
              <a:rPr lang="en-US" b="1" dirty="0"/>
              <a:t>The Normalization Process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15133"/>
            <a:ext cx="11826239" cy="3837400"/>
          </a:xfrm>
        </p:spPr>
        <p:txBody>
          <a:bodyPr>
            <a:normAutofit lnSpcReduction="10000"/>
          </a:bodyPr>
          <a:lstStyle/>
          <a:p>
            <a:pPr marL="152396" indent="0">
              <a:buNone/>
            </a:pPr>
            <a:r>
              <a:rPr lang="en-CA" b="1" dirty="0"/>
              <a:t>How do we normalize a database?</a:t>
            </a:r>
            <a:endParaRPr lang="en-CA" dirty="0"/>
          </a:p>
          <a:p>
            <a:pPr lvl="0"/>
            <a:r>
              <a:rPr lang="en-CA" b="1" dirty="0"/>
              <a:t>Collect views</a:t>
            </a:r>
            <a:r>
              <a:rPr lang="en-CA" dirty="0"/>
              <a:t> (subsets of data) using source documents and business rules.</a:t>
            </a:r>
          </a:p>
          <a:p>
            <a:pPr lvl="0"/>
            <a:r>
              <a:rPr lang="en-CA" b="1" dirty="0"/>
              <a:t>Apply the rules</a:t>
            </a:r>
            <a:r>
              <a:rPr lang="en-CA" dirty="0"/>
              <a:t> of 1NF, 2NF, and 3NF to produce a schema.</a:t>
            </a:r>
          </a:p>
          <a:p>
            <a:pPr lvl="0"/>
            <a:r>
              <a:rPr lang="en-CA" b="1" dirty="0"/>
              <a:t>Repeat</a:t>
            </a:r>
            <a:r>
              <a:rPr lang="en-CA" dirty="0"/>
              <a:t> for each view.</a:t>
            </a:r>
          </a:p>
          <a:p>
            <a:pPr lvl="0"/>
            <a:r>
              <a:rPr lang="en-CA" b="1" dirty="0"/>
              <a:t>Merge</a:t>
            </a:r>
            <a:r>
              <a:rPr lang="en-CA" dirty="0"/>
              <a:t> all schemas into a single logical design.</a:t>
            </a:r>
          </a:p>
          <a:p>
            <a:pPr lvl="1"/>
            <a:r>
              <a:rPr lang="en-CA" dirty="0"/>
              <a:t>Tables with the same PK can be merged.</a:t>
            </a:r>
          </a:p>
          <a:p>
            <a:pPr lvl="1"/>
            <a:r>
              <a:rPr lang="en-CA" dirty="0"/>
              <a:t>All entities, attributes, and relationships must be preserved.</a:t>
            </a:r>
          </a:p>
          <a:p>
            <a:pPr marL="152396" indent="0">
              <a:buNone/>
            </a:pPr>
            <a:r>
              <a:rPr lang="en-CA" b="1" dirty="0"/>
              <a:t>Today we will work through Aurora Views 1 and 2, then merge them.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2A21-FB6D-743D-D8DC-0F343694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5C64-E6DF-E306-7D62-F7C69190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543891"/>
            <a:ext cx="10630647" cy="824831"/>
          </a:xfrm>
        </p:spPr>
        <p:txBody>
          <a:bodyPr anchor="ctr">
            <a:normAutofit fontScale="90000"/>
          </a:bodyPr>
          <a:lstStyle/>
          <a:p>
            <a:r>
              <a:rPr lang="en-US" sz="4900" b="1" dirty="0"/>
              <a:t>Aurora — A New Scenario</a:t>
            </a:r>
            <a:br>
              <a:rPr lang="en-CA" sz="3400" b="1" dirty="0"/>
            </a:br>
            <a:endParaRPr lang="en-CA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C3D03-94D2-6535-ED58-604B210C5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24" y="1380106"/>
            <a:ext cx="7094885" cy="2048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b="1" dirty="0"/>
              <a:t>Meet Aurora — a company that needs a database.</a:t>
            </a:r>
            <a:endParaRPr lang="en-CA" sz="2400" dirty="0"/>
          </a:p>
          <a:p>
            <a:pPr marL="0" indent="0">
              <a:buNone/>
            </a:pPr>
            <a:r>
              <a:rPr lang="en-CA" sz="2400" b="1" dirty="0"/>
              <a:t>Today we will work with two views:</a:t>
            </a:r>
            <a:endParaRPr lang="en-CA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FACF98-D603-CCC4-8735-967F42C38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018437"/>
              </p:ext>
            </p:extLst>
          </p:nvPr>
        </p:nvGraphicFramePr>
        <p:xfrm>
          <a:off x="324224" y="2718069"/>
          <a:ext cx="9422450" cy="2446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11225">
                  <a:extLst>
                    <a:ext uri="{9D8B030D-6E8A-4147-A177-3AD203B41FA5}">
                      <a16:colId xmlns:a16="http://schemas.microsoft.com/office/drawing/2014/main" val="141521875"/>
                    </a:ext>
                  </a:extLst>
                </a:gridCol>
                <a:gridCol w="4711225">
                  <a:extLst>
                    <a:ext uri="{9D8B030D-6E8A-4147-A177-3AD203B41FA5}">
                      <a16:colId xmlns:a16="http://schemas.microsoft.com/office/drawing/2014/main" val="1708326932"/>
                    </a:ext>
                  </a:extLst>
                </a:gridCol>
              </a:tblGrid>
              <a:tr h="54643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View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Description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10279030"/>
                  </a:ext>
                </a:extLst>
              </a:tr>
              <a:tr h="9502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Aurora View 1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Employee and Department information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91316177"/>
                  </a:ext>
                </a:extLst>
              </a:tr>
              <a:tr h="95026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Aurora View 2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Project and Assignment information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7870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32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48DE-9F0B-5C39-CD8A-2DC054B7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F551-0D25-2286-E066-A7771A22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543891"/>
            <a:ext cx="10630647" cy="824831"/>
          </a:xfrm>
        </p:spPr>
        <p:txBody>
          <a:bodyPr anchor="ctr">
            <a:normAutofit fontScale="90000"/>
          </a:bodyPr>
          <a:lstStyle/>
          <a:p>
            <a:r>
              <a:rPr lang="en-US" sz="4900" b="1" dirty="0"/>
              <a:t>Aurora — A New Scenario</a:t>
            </a:r>
            <a:br>
              <a:rPr lang="en-CA" sz="3400" b="1" dirty="0"/>
            </a:br>
            <a:endParaRPr lang="en-CA" sz="3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458B6-955D-B113-95E5-F296D371BAD7}"/>
              </a:ext>
            </a:extLst>
          </p:cNvPr>
          <p:cNvSpPr txBox="1"/>
          <p:nvPr/>
        </p:nvSpPr>
        <p:spPr>
          <a:xfrm>
            <a:off x="324224" y="2035497"/>
            <a:ext cx="3956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Our Goal:</a:t>
            </a:r>
            <a:endParaRPr lang="en-CA" sz="2400" dirty="0"/>
          </a:p>
          <a:p>
            <a:r>
              <a:rPr lang="en-CA" sz="2400" dirty="0"/>
              <a:t>Normalize each view to 3NF, then merge them into a single ERD.</a:t>
            </a:r>
          </a:p>
          <a:p>
            <a:r>
              <a:rPr lang="en-CA" sz="2400" b="1" dirty="0"/>
              <a:t>Before we start, let's identify</a:t>
            </a:r>
            <a:r>
              <a:rPr lang="en-CA" sz="2400" b="1" dirty="0">
                <a:sym typeface="Wingdings" panose="05000000000000000000" pitchFamily="2" charset="2"/>
              </a:rPr>
              <a:t></a:t>
            </a:r>
            <a:endParaRPr lang="en-CA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1C5C0B-36B8-D6C3-9AC2-0B2292F0C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197005"/>
              </p:ext>
            </p:extLst>
          </p:nvPr>
        </p:nvGraphicFramePr>
        <p:xfrm>
          <a:off x="4397090" y="1158293"/>
          <a:ext cx="7470686" cy="40627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5343">
                  <a:extLst>
                    <a:ext uri="{9D8B030D-6E8A-4147-A177-3AD203B41FA5}">
                      <a16:colId xmlns:a16="http://schemas.microsoft.com/office/drawing/2014/main" val="1922296403"/>
                    </a:ext>
                  </a:extLst>
                </a:gridCol>
                <a:gridCol w="3735343">
                  <a:extLst>
                    <a:ext uri="{9D8B030D-6E8A-4147-A177-3AD203B41FA5}">
                      <a16:colId xmlns:a16="http://schemas.microsoft.com/office/drawing/2014/main" val="3179523344"/>
                    </a:ext>
                  </a:extLst>
                </a:gridCol>
              </a:tblGrid>
              <a:tr h="38095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 b="1" dirty="0">
                          <a:effectLst/>
                        </a:rPr>
                        <a:t>Concept</a:t>
                      </a:r>
                      <a:endParaRPr lang="en-CA" sz="20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 b="1" dirty="0">
                          <a:effectLst/>
                        </a:rPr>
                        <a:t>Details</a:t>
                      </a:r>
                      <a:endParaRPr lang="en-CA" sz="20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40147930"/>
                  </a:ext>
                </a:extLst>
              </a:tr>
              <a:tr h="66249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>
                          <a:effectLst/>
                        </a:rPr>
                        <a:t>Entities</a:t>
                      </a:r>
                      <a:endParaRPr lang="en-CA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 dirty="0">
                          <a:effectLst/>
                        </a:rPr>
                        <a:t>Employee, Department, Project</a:t>
                      </a:r>
                      <a:endParaRPr lang="en-CA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21403745"/>
                  </a:ext>
                </a:extLst>
              </a:tr>
              <a:tr h="38095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>
                          <a:effectLst/>
                        </a:rPr>
                        <a:t>Relationships</a:t>
                      </a:r>
                      <a:endParaRPr lang="en-CA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>
                          <a:effectLst/>
                        </a:rPr>
                        <a:t>Employee : Department (N:1)</a:t>
                      </a:r>
                      <a:endParaRPr lang="en-CA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01994226"/>
                  </a:ext>
                </a:extLst>
              </a:tr>
              <a:tr h="38227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en-CA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 dirty="0">
                          <a:effectLst/>
                        </a:rPr>
                        <a:t>Department : Project (1:N)</a:t>
                      </a:r>
                      <a:endParaRPr lang="en-CA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54854818"/>
                  </a:ext>
                </a:extLst>
              </a:tr>
              <a:tr h="38227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en-CA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>
                          <a:effectLst/>
                        </a:rPr>
                        <a:t>Employee : Project (N:M)</a:t>
                      </a:r>
                      <a:endParaRPr lang="en-CA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5706209"/>
                  </a:ext>
                </a:extLst>
              </a:tr>
              <a:tr h="66249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 dirty="0">
                          <a:effectLst/>
                        </a:rPr>
                        <a:t>Candidate Keys</a:t>
                      </a:r>
                      <a:endParaRPr lang="en-CA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2000" dirty="0">
                          <a:effectLst/>
                        </a:rPr>
                        <a:t>Employee ID, Department Number, Project Number</a:t>
                      </a:r>
                      <a:endParaRPr lang="en-CA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37318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89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US" b="1" dirty="0"/>
              <a:t>Aurora View 1 — Business Rules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556" y="1659472"/>
            <a:ext cx="11062966" cy="3847710"/>
          </a:xfrm>
        </p:spPr>
        <p:txBody>
          <a:bodyPr>
            <a:normAutofit fontScale="62500" lnSpcReduction="20000"/>
          </a:bodyPr>
          <a:lstStyle/>
          <a:p>
            <a:pPr marL="152396" indent="0">
              <a:lnSpc>
                <a:spcPct val="160000"/>
              </a:lnSpc>
              <a:buNone/>
            </a:pPr>
            <a:r>
              <a:rPr lang="en-CA" b="1" dirty="0"/>
              <a:t>Business Rules:</a:t>
            </a:r>
            <a:endParaRPr lang="en-CA" dirty="0"/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An employee works for a single department.</a:t>
            </a:r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A department can have many employees working for it simultaneously.</a:t>
            </a:r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A single department develops a project.</a:t>
            </a:r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A department can develop many projects simultaneously.</a:t>
            </a:r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An employee can be assigned to a maximum of 4 projects simultaneously.</a:t>
            </a:r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A project can have many employees working on it simultaneously.</a:t>
            </a:r>
          </a:p>
          <a:p>
            <a:pPr marL="666746" lvl="0" indent="-514350">
              <a:lnSpc>
                <a:spcPct val="160000"/>
              </a:lnSpc>
              <a:buFont typeface="+mj-lt"/>
              <a:buAutoNum type="arabicPeriod"/>
            </a:pPr>
            <a:r>
              <a:rPr lang="en-CA" dirty="0"/>
              <a:t>Employee ID, Department Number, and Project Number uniquely identify employees, departments, and projects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A195-37D5-A51C-7DA5-520A2926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CD9F-5AEE-1214-6EF0-46533E17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US" b="1" dirty="0"/>
              <a:t>Aurora View 1 — Business Rules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FEA52-FB0F-D50C-FCB0-9F1D4C2D6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556" y="1659472"/>
            <a:ext cx="11062966" cy="3847710"/>
          </a:xfrm>
        </p:spPr>
        <p:txBody>
          <a:bodyPr>
            <a:norm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What are the entities?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Employee, Department, Project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What are the relationships?</a:t>
            </a: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Employee : Department (N:1)</a:t>
            </a:r>
            <a:b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Department : Project (1:N)</a:t>
            </a:r>
            <a:b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CA" sz="2800" b="0" i="0" dirty="0">
                <a:solidFill>
                  <a:srgbClr val="0F1115"/>
                </a:solidFill>
                <a:effectLst/>
                <a:latin typeface="quote-cjk-patch"/>
              </a:rPr>
              <a:t>Employee : Project (N:M)</a:t>
            </a:r>
          </a:p>
        </p:txBody>
      </p:sp>
    </p:spTree>
    <p:extLst>
      <p:ext uri="{BB962C8B-B14F-4D97-AF65-F5344CB8AC3E}">
        <p14:creationId xmlns:p14="http://schemas.microsoft.com/office/powerpoint/2010/main" val="1093829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7" y="539333"/>
            <a:ext cx="10775539" cy="847200"/>
          </a:xfrm>
        </p:spPr>
        <p:txBody>
          <a:bodyPr/>
          <a:lstStyle/>
          <a:p>
            <a:r>
              <a:rPr lang="en-US" b="1" dirty="0"/>
              <a:t>Aurora View 1 — Initial Table (0NF)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1615134"/>
            <a:ext cx="3761507" cy="3632276"/>
          </a:xfrm>
        </p:spPr>
        <p:txBody>
          <a:bodyPr>
            <a:normAutofit fontScale="47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4000" b="1" i="0" dirty="0">
                <a:solidFill>
                  <a:srgbClr val="0F1115"/>
                </a:solidFill>
                <a:effectLst/>
                <a:latin typeface="quote-cjk-patch"/>
              </a:rPr>
              <a:t>Step 0: Create the Initial Table</a:t>
            </a:r>
            <a:endParaRPr lang="en-CA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4000" b="0" i="0" dirty="0">
                <a:solidFill>
                  <a:srgbClr val="0F1115"/>
                </a:solidFill>
                <a:effectLst/>
                <a:latin typeface="quote-cjk-patch"/>
              </a:rPr>
              <a:t>List all data items. Identify the PK. Mark repeating groups in parentheses.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4000" b="1" i="0" dirty="0">
                <a:solidFill>
                  <a:srgbClr val="0F1115"/>
                </a:solidFill>
                <a:effectLst/>
                <a:latin typeface="quote-cjk-patch"/>
              </a:rPr>
              <a:t>Initial Table:</a:t>
            </a:r>
            <a:endParaRPr lang="en-CA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Menlo"/>
              </a:rPr>
              <a:t>Employee(Employee ID, Name, Department Number, Department Name,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CA" sz="2800" b="0" i="0" dirty="0">
                <a:solidFill>
                  <a:srgbClr val="0F1115"/>
                </a:solidFill>
                <a:effectLst/>
                <a:latin typeface="Menlo"/>
              </a:rPr>
              <a:t>         (Project Number, Project Name, Sponsoring Department Name, Weekly Hours))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7F7082-D9CA-DAD5-E06A-AAB830EF6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26842"/>
              </p:ext>
            </p:extLst>
          </p:nvPr>
        </p:nvGraphicFramePr>
        <p:xfrm>
          <a:off x="5917623" y="2446336"/>
          <a:ext cx="4754880" cy="1490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1556189657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951395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Symbol</a:t>
                      </a:r>
                      <a:endParaRPr lang="en-CA" sz="18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Meaning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787239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Underline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Primary Key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4559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( )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Repeating Group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748919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B80DA6-BA80-622F-B9B0-9F049050EB29}"/>
              </a:ext>
            </a:extLst>
          </p:cNvPr>
          <p:cNvSpPr txBox="1"/>
          <p:nvPr/>
        </p:nvSpPr>
        <p:spPr>
          <a:xfrm>
            <a:off x="5917623" y="2007565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Notation: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0B94-B6BC-BE06-8BD7-36F7206C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34ED-0517-D436-2517-338AF95B9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230" y="763390"/>
            <a:ext cx="10775539" cy="847200"/>
          </a:xfrm>
        </p:spPr>
        <p:txBody>
          <a:bodyPr/>
          <a:lstStyle/>
          <a:p>
            <a:r>
              <a:rPr lang="en-US" b="1" dirty="0"/>
              <a:t>Aurora View 1 — Initial Table (0NF)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36D38-F2EA-3E00-D3E2-7C576BDB6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2" y="1615134"/>
            <a:ext cx="7876307" cy="3632276"/>
          </a:xfrm>
        </p:spPr>
        <p:txBody>
          <a:bodyPr>
            <a:normAutofit fontScale="70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4000" b="1" i="0" dirty="0">
                <a:solidFill>
                  <a:srgbClr val="0F1115"/>
                </a:solidFill>
                <a:effectLst/>
                <a:latin typeface="quote-cjk-patch"/>
              </a:rPr>
              <a:t>Which is the PK?</a:t>
            </a:r>
            <a:endParaRPr lang="en-CA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4000" b="0" i="0" dirty="0">
                <a:solidFill>
                  <a:srgbClr val="0F1115"/>
                </a:solidFill>
                <a:effectLst/>
                <a:latin typeface="quote-cjk-patch"/>
              </a:rPr>
              <a:t>Employee ID — because each row describes one employee.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4000" b="1" i="0" dirty="0">
                <a:solidFill>
                  <a:srgbClr val="0F1115"/>
                </a:solidFill>
                <a:effectLst/>
                <a:latin typeface="quote-cjk-patch"/>
              </a:rPr>
              <a:t>Why not Department Number or Project Number?</a:t>
            </a:r>
            <a:endParaRPr lang="en-CA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4000" b="0" i="0" dirty="0">
                <a:solidFill>
                  <a:srgbClr val="0F1115"/>
                </a:solidFill>
                <a:effectLst/>
                <a:latin typeface="quote-cjk-patch"/>
              </a:rPr>
              <a:t>A department can have many employees, so it doesn't uniquely identify a row.</a:t>
            </a:r>
            <a:br>
              <a:rPr lang="en-CA" sz="4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CA" sz="4000" b="0" i="0" dirty="0">
                <a:solidFill>
                  <a:srgbClr val="0F1115"/>
                </a:solidFill>
                <a:effectLst/>
                <a:latin typeface="quote-cjk-patch"/>
              </a:rPr>
              <a:t>A project can have many employees, so it doesn't uniquely identify a row.</a:t>
            </a:r>
          </a:p>
        </p:txBody>
      </p:sp>
    </p:spTree>
    <p:extLst>
      <p:ext uri="{BB962C8B-B14F-4D97-AF65-F5344CB8AC3E}">
        <p14:creationId xmlns:p14="http://schemas.microsoft.com/office/powerpoint/2010/main" val="3516267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24" y="612070"/>
            <a:ext cx="8428800" cy="847200"/>
          </a:xfrm>
        </p:spPr>
        <p:txBody>
          <a:bodyPr/>
          <a:lstStyle/>
          <a:p>
            <a:r>
              <a:rPr lang="en-CA" b="1" dirty="0"/>
              <a:t>Aurora View 1 — 1NF Rules</a:t>
            </a:r>
            <a:br>
              <a:rPr lang="en-CA" b="1" dirty="0"/>
            </a:br>
            <a:br>
              <a:rPr lang="en-CA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2BEA2-A894-6998-4D77-7AA3A98DED0F}"/>
              </a:ext>
            </a:extLst>
          </p:cNvPr>
          <p:cNvSpPr txBox="1"/>
          <p:nvPr/>
        </p:nvSpPr>
        <p:spPr>
          <a:xfrm>
            <a:off x="635881" y="1459270"/>
            <a:ext cx="3965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</a:rPr>
              <a:t>1NF has two rules:</a:t>
            </a:r>
            <a:endParaRPr lang="en-CA" sz="2400" b="0" i="0" dirty="0">
              <a:solidFill>
                <a:srgbClr val="0F1115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616C1-8642-18DA-A464-82233E794372}"/>
              </a:ext>
            </a:extLst>
          </p:cNvPr>
          <p:cNvSpPr txBox="1"/>
          <p:nvPr/>
        </p:nvSpPr>
        <p:spPr>
          <a:xfrm>
            <a:off x="6570865" y="1550058"/>
            <a:ext cx="6099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Violations in Aurora View 1:</a:t>
            </a:r>
            <a:endParaRPr lang="en-CA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29EB5E-C756-A7E3-7EA0-822EBC91F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96781"/>
              </p:ext>
            </p:extLst>
          </p:nvPr>
        </p:nvGraphicFramePr>
        <p:xfrm>
          <a:off x="635881" y="2102512"/>
          <a:ext cx="5162246" cy="2883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1123">
                  <a:extLst>
                    <a:ext uri="{9D8B030D-6E8A-4147-A177-3AD203B41FA5}">
                      <a16:colId xmlns:a16="http://schemas.microsoft.com/office/drawing/2014/main" val="4154544924"/>
                    </a:ext>
                  </a:extLst>
                </a:gridCol>
                <a:gridCol w="2581123">
                  <a:extLst>
                    <a:ext uri="{9D8B030D-6E8A-4147-A177-3AD203B41FA5}">
                      <a16:colId xmlns:a16="http://schemas.microsoft.com/office/drawing/2014/main" val="1248339742"/>
                    </a:ext>
                  </a:extLst>
                </a:gridCol>
              </a:tblGrid>
              <a:tr h="6597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Rule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Description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573840356"/>
                  </a:ext>
                </a:extLst>
              </a:tr>
              <a:tr h="10873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1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 table MUST contain atomic attributes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90991610"/>
                  </a:ext>
                </a:extLst>
              </a:tr>
              <a:tr h="10873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2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A table cannot contain any repeating groups of attributes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4425669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AB37E5-45AC-5C28-4309-D58B6089C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335861"/>
              </p:ext>
            </p:extLst>
          </p:nvPr>
        </p:nvGraphicFramePr>
        <p:xfrm>
          <a:off x="6570865" y="2169297"/>
          <a:ext cx="5162246" cy="3059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1123">
                  <a:extLst>
                    <a:ext uri="{9D8B030D-6E8A-4147-A177-3AD203B41FA5}">
                      <a16:colId xmlns:a16="http://schemas.microsoft.com/office/drawing/2014/main" val="3293965730"/>
                    </a:ext>
                  </a:extLst>
                </a:gridCol>
                <a:gridCol w="2581123">
                  <a:extLst>
                    <a:ext uri="{9D8B030D-6E8A-4147-A177-3AD203B41FA5}">
                      <a16:colId xmlns:a16="http://schemas.microsoft.com/office/drawing/2014/main" val="608090345"/>
                    </a:ext>
                  </a:extLst>
                </a:gridCol>
              </a:tblGrid>
              <a:tr h="5832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Violation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Type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33361665"/>
                  </a:ext>
                </a:extLst>
              </a:tr>
              <a:tr h="96125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Composite attribute (should be FirstName, LastName)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04464717"/>
                  </a:ext>
                </a:extLst>
              </a:tr>
              <a:tr h="13392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Project Number, Project Name, Sponsoring Dept Name, Weekly Hours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Repeating group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17767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470D-7089-34A3-26A7-DC4572ED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719A-B6A2-9D0E-30DA-3F21B42D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24" y="612070"/>
            <a:ext cx="8428800" cy="847200"/>
          </a:xfrm>
        </p:spPr>
        <p:txBody>
          <a:bodyPr/>
          <a:lstStyle/>
          <a:p>
            <a:r>
              <a:rPr lang="en-CA" b="1" dirty="0"/>
              <a:t>Aurora View 1 — 1NF Rules</a:t>
            </a:r>
            <a:br>
              <a:rPr lang="en-CA" b="1" dirty="0"/>
            </a:br>
            <a:br>
              <a:rPr lang="en-CA" b="1" dirty="0"/>
            </a:b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2DDAB-645D-90FF-F375-4C82C1099955}"/>
              </a:ext>
            </a:extLst>
          </p:cNvPr>
          <p:cNvSpPr txBox="1"/>
          <p:nvPr/>
        </p:nvSpPr>
        <p:spPr>
          <a:xfrm>
            <a:off x="710392" y="1974702"/>
            <a:ext cx="110434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/>
              <a:t>How to fix:</a:t>
            </a:r>
            <a:endParaRPr lang="en-CA" sz="2000" dirty="0"/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If a repeating group exists: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2000" dirty="0"/>
              <a:t>Remove the repeating group from the original table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2000" dirty="0"/>
              <a:t>Place them in a new table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2000" dirty="0"/>
              <a:t>Duplicate the primary key of the original table and place in the new table as a foreign key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2000" dirty="0"/>
              <a:t>Designate the cardinality of the relationship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sz="2000" dirty="0"/>
              <a:t>Designate a primary key for the new table</a:t>
            </a:r>
          </a:p>
          <a:p>
            <a:r>
              <a:rPr lang="en-CA" sz="2000" dirty="0"/>
              <a:t>If composite attributes exist: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2000" dirty="0"/>
              <a:t>Replace with two or more atomic attributes</a:t>
            </a:r>
          </a:p>
        </p:txBody>
      </p:sp>
    </p:spTree>
    <p:extLst>
      <p:ext uri="{BB962C8B-B14F-4D97-AF65-F5344CB8AC3E}">
        <p14:creationId xmlns:p14="http://schemas.microsoft.com/office/powerpoint/2010/main" val="337527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Aurora View 1 — 1NF Result</a:t>
            </a:r>
            <a:br>
              <a:rPr lang="en-CA" b="1" dirty="0"/>
            </a:b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B6CF2-EC79-952B-C5A3-A5A010936F02}"/>
              </a:ext>
            </a:extLst>
          </p:cNvPr>
          <p:cNvSpPr txBox="1"/>
          <p:nvPr/>
        </p:nvSpPr>
        <p:spPr>
          <a:xfrm>
            <a:off x="841829" y="1668611"/>
            <a:ext cx="35450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800" b="1" i="0" dirty="0">
                <a:solidFill>
                  <a:srgbClr val="0F1115"/>
                </a:solidFill>
                <a:effectLst/>
                <a:latin typeface="quote-cjk-patch"/>
              </a:rPr>
              <a:t>Fixes applied:</a:t>
            </a:r>
            <a:br>
              <a:rPr lang="en-CA" sz="2800" dirty="0"/>
            </a:br>
            <a:endParaRPr lang="en-CA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45603-8DB1-2AAB-7FE7-87E788990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415690"/>
              </p:ext>
            </p:extLst>
          </p:nvPr>
        </p:nvGraphicFramePr>
        <p:xfrm>
          <a:off x="841829" y="2360863"/>
          <a:ext cx="4603008" cy="25212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1504">
                  <a:extLst>
                    <a:ext uri="{9D8B030D-6E8A-4147-A177-3AD203B41FA5}">
                      <a16:colId xmlns:a16="http://schemas.microsoft.com/office/drawing/2014/main" val="1385326265"/>
                    </a:ext>
                  </a:extLst>
                </a:gridCol>
                <a:gridCol w="2301504">
                  <a:extLst>
                    <a:ext uri="{9D8B030D-6E8A-4147-A177-3AD203B41FA5}">
                      <a16:colId xmlns:a16="http://schemas.microsoft.com/office/drawing/2014/main" val="52998746"/>
                    </a:ext>
                  </a:extLst>
                </a:gridCol>
              </a:tblGrid>
              <a:tr h="7647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Original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Fixed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103643926"/>
                  </a:ext>
                </a:extLst>
              </a:tr>
              <a:tr h="7647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Name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LastName, FirstName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07588303"/>
                  </a:ext>
                </a:extLst>
              </a:tr>
              <a:tr h="7647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Repeating Group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New table: </a:t>
                      </a:r>
                      <a:r>
                        <a:rPr lang="en-CA" sz="1800" dirty="0" err="1">
                          <a:effectLst/>
                        </a:rPr>
                        <a:t>WorksOn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62941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D1F27-FDF9-3EA2-7D9E-17A1F6A4DC60}"/>
              </a:ext>
            </a:extLst>
          </p:cNvPr>
          <p:cNvSpPr txBox="1"/>
          <p:nvPr/>
        </p:nvSpPr>
        <p:spPr>
          <a:xfrm>
            <a:off x="6099463" y="1690495"/>
            <a:ext cx="6099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i="0" dirty="0">
                <a:solidFill>
                  <a:schemeClr val="tx1"/>
                </a:solidFill>
                <a:effectLst/>
                <a:latin typeface="+mn-lt"/>
              </a:rPr>
              <a:t>1NF Tables:</a:t>
            </a:r>
            <a:endParaRPr lang="en-CA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CF764-54C7-AE92-CC22-F4B3599FD70C}"/>
              </a:ext>
            </a:extLst>
          </p:cNvPr>
          <p:cNvSpPr txBox="1"/>
          <p:nvPr/>
        </p:nvSpPr>
        <p:spPr>
          <a:xfrm>
            <a:off x="6099463" y="2606145"/>
            <a:ext cx="52507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Employee(Employee ID, LastName, FirstName, Department Number, Department Name)</a:t>
            </a:r>
          </a:p>
          <a:p>
            <a:endParaRPr lang="en-US" dirty="0"/>
          </a:p>
          <a:p>
            <a:r>
              <a:rPr lang="en-US" dirty="0" err="1"/>
              <a:t>WorksOn</a:t>
            </a:r>
            <a:r>
              <a:rPr lang="en-US" dirty="0"/>
              <a:t>(Employee ID (FK), Project Number, Project Name, Sponsoring Department Name, Weekly Hours)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7244-7AD9-C920-1DB8-48EFE0C7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5EFE-968E-549F-124F-684368F2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Aurora View 1 — 1NF Result</a:t>
            </a:r>
            <a:br>
              <a:rPr lang="en-CA" b="1" dirty="0"/>
            </a:b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96D4A-E612-952A-4E31-DC95ABB4A56A}"/>
              </a:ext>
            </a:extLst>
          </p:cNvPr>
          <p:cNvSpPr txBox="1"/>
          <p:nvPr/>
        </p:nvSpPr>
        <p:spPr>
          <a:xfrm>
            <a:off x="841828" y="1668611"/>
            <a:ext cx="5254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CA" sz="2400" b="1" dirty="0"/>
              <a:t>Determining the PK for </a:t>
            </a:r>
            <a:r>
              <a:rPr lang="en-CA" sz="2400" b="1" dirty="0" err="1"/>
              <a:t>WorksOn</a:t>
            </a:r>
            <a:r>
              <a:rPr lang="en-CA" sz="2400" b="1" dirty="0"/>
              <a:t>:</a:t>
            </a:r>
            <a:endParaRPr lang="en-CA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A29E4D-7F4E-014F-C9C0-60EAFBAC8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79631"/>
              </p:ext>
            </p:extLst>
          </p:nvPr>
        </p:nvGraphicFramePr>
        <p:xfrm>
          <a:off x="968364" y="2329226"/>
          <a:ext cx="10806240" cy="251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2080">
                  <a:extLst>
                    <a:ext uri="{9D8B030D-6E8A-4147-A177-3AD203B41FA5}">
                      <a16:colId xmlns:a16="http://schemas.microsoft.com/office/drawing/2014/main" val="2087174599"/>
                    </a:ext>
                  </a:extLst>
                </a:gridCol>
                <a:gridCol w="3602080">
                  <a:extLst>
                    <a:ext uri="{9D8B030D-6E8A-4147-A177-3AD203B41FA5}">
                      <a16:colId xmlns:a16="http://schemas.microsoft.com/office/drawing/2014/main" val="3982043846"/>
                    </a:ext>
                  </a:extLst>
                </a:gridCol>
                <a:gridCol w="3602080">
                  <a:extLst>
                    <a:ext uri="{9D8B030D-6E8A-4147-A177-3AD203B41FA5}">
                      <a16:colId xmlns:a16="http://schemas.microsoft.com/office/drawing/2014/main" val="3412056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Candidate Key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Can It Uniquely Identify a Row?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Why?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315182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No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One employee can work on multiple projects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2771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 Number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One project can have multiple employees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8916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 + Project Number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The combination is unique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326567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2970836-4E7A-0A75-AA7A-E0733A3D454A}"/>
              </a:ext>
            </a:extLst>
          </p:cNvPr>
          <p:cNvSpPr txBox="1"/>
          <p:nvPr/>
        </p:nvSpPr>
        <p:spPr>
          <a:xfrm>
            <a:off x="871381" y="5040746"/>
            <a:ext cx="837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Primary Key for </a:t>
            </a:r>
            <a:r>
              <a:rPr lang="en-US" dirty="0" err="1"/>
              <a:t>WorksOn</a:t>
            </a:r>
            <a:r>
              <a:rPr lang="en-US" dirty="0"/>
              <a:t>: Employee ID + Project Number (Composite Key)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8470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BAAA-C8C1-C7A9-EC5F-63BEF41E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A1BA-082B-7468-A348-792D7156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anchor="ctr">
            <a:normAutofit/>
          </a:bodyPr>
          <a:lstStyle/>
          <a:p>
            <a:r>
              <a:rPr lang="en-US" sz="3400" b="1"/>
              <a:t>Aurora View 1 — 1NF ERD</a:t>
            </a:r>
            <a:br>
              <a:rPr lang="en-CA" sz="3400" b="1"/>
            </a:br>
            <a:endParaRPr lang="en-CA" sz="3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E4C55-CF56-00EB-5279-64FF1189B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7255" y="2075007"/>
            <a:ext cx="5181600" cy="3397810"/>
          </a:xfrm>
        </p:spPr>
        <p:txBody>
          <a:bodyPr>
            <a:normAutofit/>
          </a:bodyPr>
          <a:lstStyle/>
          <a:p>
            <a:pPr marL="0" marR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b="1" i="0" dirty="0">
                <a:effectLst/>
              </a:rPr>
              <a:t>Relationship:</a:t>
            </a:r>
            <a:r>
              <a:rPr lang="en-CA" b="0" i="0" dirty="0">
                <a:effectLst/>
              </a:rPr>
              <a:t> Employee (1) → </a:t>
            </a:r>
            <a:r>
              <a:rPr lang="en-CA" b="0" i="0" dirty="0" err="1">
                <a:effectLst/>
              </a:rPr>
              <a:t>WorksOn</a:t>
            </a:r>
            <a:r>
              <a:rPr lang="en-CA" b="0" i="0" dirty="0">
                <a:effectLst/>
              </a:rPr>
              <a:t> (M)</a:t>
            </a:r>
          </a:p>
          <a:p>
            <a:pPr marL="0" marR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b="1" i="0" dirty="0">
                <a:effectLst/>
              </a:rPr>
              <a:t>The schema is now in First Normal Form (1NF).</a:t>
            </a:r>
            <a:endParaRPr lang="en-CA" b="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2BA6-C885-58FE-06BC-0E9285238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99" y="1504269"/>
            <a:ext cx="6867138" cy="27468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262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1BF7-FBFC-8DF9-CD87-2760E3C5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9274-F3BF-CFC8-E482-16D89CD2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/>
          </a:bodyPr>
          <a:lstStyle/>
          <a:p>
            <a:r>
              <a:rPr lang="en-CA" b="1" dirty="0"/>
              <a:t>Aurora View 1 — 2NF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36B87-CD16-4FFA-9F1F-750F36794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164" y="1597234"/>
            <a:ext cx="5876636" cy="3663531"/>
          </a:xfrm>
        </p:spPr>
        <p:txBody>
          <a:bodyPr>
            <a:normAutofit fontScale="925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2NF has one rule: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All non-key attributes in a table must fully depend on the entire primary key of the table.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Key Point: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CA" sz="2400" b="0" i="0" dirty="0">
                <a:solidFill>
                  <a:srgbClr val="0F1115"/>
                </a:solidFill>
                <a:effectLst/>
                <a:latin typeface="quote-cjk-patch"/>
              </a:rPr>
              <a:t>A violation to 2NF can ONLY occur in a table with a composite primary key.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</a:rPr>
              <a:t>Our tables</a:t>
            </a:r>
            <a:r>
              <a:rPr lang="en-CA" sz="2400" b="1" i="0" dirty="0">
                <a:solidFill>
                  <a:srgbClr val="0F1115"/>
                </a:solidFill>
                <a:effectLst/>
                <a:latin typeface="quote-cjk-patch"/>
                <a:sym typeface="Wingdings" panose="05000000000000000000" pitchFamily="2" charset="2"/>
              </a:rPr>
              <a:t>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56107C-9CEC-9095-2CCC-11EB041D8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12571"/>
              </p:ext>
            </p:extLst>
          </p:nvPr>
        </p:nvGraphicFramePr>
        <p:xfrm>
          <a:off x="6546273" y="1594268"/>
          <a:ext cx="5424054" cy="3406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8018">
                  <a:extLst>
                    <a:ext uri="{9D8B030D-6E8A-4147-A177-3AD203B41FA5}">
                      <a16:colId xmlns:a16="http://schemas.microsoft.com/office/drawing/2014/main" val="1560203196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2357126788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91288668"/>
                    </a:ext>
                  </a:extLst>
                </a:gridCol>
              </a:tblGrid>
              <a:tr h="94860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Table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Primary Key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Can 2NF Be Violated?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0120590"/>
                  </a:ext>
                </a:extLst>
              </a:tr>
              <a:tr h="94860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Employee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 (single)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 — automatically in 2NF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66947937"/>
                  </a:ext>
                </a:extLst>
              </a:tr>
              <a:tr h="132162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WorksOn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 + Project Number (composite)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Yes — must evaluate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05313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159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EE7B-0F96-998E-C764-3BE53EFA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97A1-E6CE-C904-52FB-C0D118754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/>
          </a:bodyPr>
          <a:lstStyle/>
          <a:p>
            <a:r>
              <a:rPr lang="en-CA" b="1" dirty="0"/>
              <a:t>Aurora View 1 — 2NF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BEB4D-F57C-A3EC-D51B-0DB311686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164" y="1597234"/>
            <a:ext cx="5876636" cy="3663531"/>
          </a:xfrm>
        </p:spPr>
        <p:txBody>
          <a:bodyPr>
            <a:normAutofit fontScale="62500" lnSpcReduction="20000"/>
          </a:bodyPr>
          <a:lstStyle/>
          <a:p>
            <a:pPr marL="152396" indent="0">
              <a:lnSpc>
                <a:spcPct val="170000"/>
              </a:lnSpc>
              <a:buNone/>
            </a:pPr>
            <a:r>
              <a:rPr lang="en-CA" b="1" dirty="0"/>
              <a:t>What does "fully depend" mean?</a:t>
            </a:r>
            <a:endParaRPr lang="en-CA" dirty="0"/>
          </a:p>
          <a:p>
            <a:pPr>
              <a:lnSpc>
                <a:spcPct val="170000"/>
              </a:lnSpc>
            </a:pPr>
            <a:r>
              <a:rPr lang="en-CA" dirty="0"/>
              <a:t>A non-key attribute is fully dependent on a primary key attribute if: For each value of the key attribute, there can be only one value for the non-key attribute.</a:t>
            </a:r>
          </a:p>
          <a:p>
            <a:pPr>
              <a:lnSpc>
                <a:spcPct val="170000"/>
              </a:lnSpc>
            </a:pPr>
            <a:r>
              <a:rPr lang="en-CA" dirty="0"/>
              <a:t>In other words: If you know the value of the key attribute, you know the value of the non-key attribute.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533E5E-3F2D-7DC3-6450-AB6CF7A72BBA}"/>
              </a:ext>
            </a:extLst>
          </p:cNvPr>
          <p:cNvGraphicFramePr>
            <a:graphicFrameLocks noGrp="1"/>
          </p:cNvGraphicFramePr>
          <p:nvPr/>
        </p:nvGraphicFramePr>
        <p:xfrm>
          <a:off x="6546273" y="1594268"/>
          <a:ext cx="5424054" cy="3406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8018">
                  <a:extLst>
                    <a:ext uri="{9D8B030D-6E8A-4147-A177-3AD203B41FA5}">
                      <a16:colId xmlns:a16="http://schemas.microsoft.com/office/drawing/2014/main" val="1560203196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2357126788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91288668"/>
                    </a:ext>
                  </a:extLst>
                </a:gridCol>
              </a:tblGrid>
              <a:tr h="94860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Table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Primary Key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Can 2NF Be Violated?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0120590"/>
                  </a:ext>
                </a:extLst>
              </a:tr>
              <a:tr h="94860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Employee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 (single)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 — automatically in 2NF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66947937"/>
                  </a:ext>
                </a:extLst>
              </a:tr>
              <a:tr h="132162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WorksOn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 + Project Number (composite)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Yes — must evaluate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05313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470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9355-F30E-2B00-5F7D-EDCA31C4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9CF0-3350-28A0-A2C5-623F0E2F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Aurora View 1 — 2NF Violations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E837-12D7-9A62-51BC-0683D2CBD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395" y="1864639"/>
            <a:ext cx="8428800" cy="109210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CA" b="1" dirty="0"/>
              <a:t>Evaluate </a:t>
            </a:r>
            <a:r>
              <a:rPr lang="en-CA" b="1" dirty="0" err="1"/>
              <a:t>WorksOn</a:t>
            </a:r>
            <a:r>
              <a:rPr lang="en-CA" b="1" dirty="0"/>
              <a:t> for partial dependencies: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45A9F5-1005-CFFE-313F-C50B5B253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126623"/>
              </p:ext>
            </p:extLst>
          </p:nvPr>
        </p:nvGraphicFramePr>
        <p:xfrm>
          <a:off x="417395" y="2576869"/>
          <a:ext cx="11074949" cy="26487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6809">
                  <a:extLst>
                    <a:ext uri="{9D8B030D-6E8A-4147-A177-3AD203B41FA5}">
                      <a16:colId xmlns:a16="http://schemas.microsoft.com/office/drawing/2014/main" val="2667872213"/>
                    </a:ext>
                  </a:extLst>
                </a:gridCol>
                <a:gridCol w="2849380">
                  <a:extLst>
                    <a:ext uri="{9D8B030D-6E8A-4147-A177-3AD203B41FA5}">
                      <a16:colId xmlns:a16="http://schemas.microsoft.com/office/drawing/2014/main" val="3307257776"/>
                    </a:ext>
                  </a:extLst>
                </a:gridCol>
                <a:gridCol w="2849380">
                  <a:extLst>
                    <a:ext uri="{9D8B030D-6E8A-4147-A177-3AD203B41FA5}">
                      <a16:colId xmlns:a16="http://schemas.microsoft.com/office/drawing/2014/main" val="1097862089"/>
                    </a:ext>
                  </a:extLst>
                </a:gridCol>
                <a:gridCol w="2849380">
                  <a:extLst>
                    <a:ext uri="{9D8B030D-6E8A-4147-A177-3AD203B41FA5}">
                      <a16:colId xmlns:a16="http://schemas.microsoft.com/office/drawing/2014/main" val="3045405450"/>
                    </a:ext>
                  </a:extLst>
                </a:gridCol>
              </a:tblGrid>
              <a:tr h="52676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Attribute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Fully Dependent on Employee ID?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Fully Dependent on Project Number?</a:t>
                      </a:r>
                      <a:endParaRPr lang="en-CA" sz="16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Fully Dependent on Both?</a:t>
                      </a:r>
                      <a:endParaRPr lang="en-CA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57252757"/>
                  </a:ext>
                </a:extLst>
              </a:tr>
              <a:tr h="52676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Project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—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81365352"/>
                  </a:ext>
                </a:extLst>
              </a:tr>
              <a:tr h="52676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Sponsoring Department Name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Yes</a:t>
                      </a:r>
                      <a:endParaRPr lang="en-CA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—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74460744"/>
                  </a:ext>
                </a:extLst>
              </a:tr>
              <a:tr h="52676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Weekly Hours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51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10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6460D-A700-FFB2-8D2D-473801C1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0426-0D07-3C42-0F2E-406836631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Aurora View 1 — 2NF Violations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302BE-426C-B787-71D2-0ECD3700E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395" y="1864639"/>
            <a:ext cx="8428800" cy="109210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CA" b="1" dirty="0"/>
              <a:t>Violations Found:</a:t>
            </a:r>
            <a:endParaRPr lang="en-CA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32E5B1-6319-B989-033C-C6A429FB3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735989"/>
              </p:ext>
            </p:extLst>
          </p:nvPr>
        </p:nvGraphicFramePr>
        <p:xfrm>
          <a:off x="417395" y="2492914"/>
          <a:ext cx="7810155" cy="18721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3385">
                  <a:extLst>
                    <a:ext uri="{9D8B030D-6E8A-4147-A177-3AD203B41FA5}">
                      <a16:colId xmlns:a16="http://schemas.microsoft.com/office/drawing/2014/main" val="1771954811"/>
                    </a:ext>
                  </a:extLst>
                </a:gridCol>
                <a:gridCol w="2603385">
                  <a:extLst>
                    <a:ext uri="{9D8B030D-6E8A-4147-A177-3AD203B41FA5}">
                      <a16:colId xmlns:a16="http://schemas.microsoft.com/office/drawing/2014/main" val="2324044040"/>
                    </a:ext>
                  </a:extLst>
                </a:gridCol>
                <a:gridCol w="2603385">
                  <a:extLst>
                    <a:ext uri="{9D8B030D-6E8A-4147-A177-3AD203B41FA5}">
                      <a16:colId xmlns:a16="http://schemas.microsoft.com/office/drawing/2014/main" val="1765228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Attribute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Violation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Depends On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8127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Partial Dependency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Project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9627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Sponsoring 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Partial Dependency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Project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123461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2112742-CFA0-7272-88B0-6726CB795F62}"/>
              </a:ext>
            </a:extLst>
          </p:cNvPr>
          <p:cNvSpPr txBox="1"/>
          <p:nvPr/>
        </p:nvSpPr>
        <p:spPr>
          <a:xfrm>
            <a:off x="417395" y="4716361"/>
            <a:ext cx="1090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Weekly Hours is fully dependent on both Employee ID and Project Number — it complies with 2NF.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30862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US" b="1" dirty="0"/>
              <a:t>Aurora View 1 — 2NF Result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7" y="1615133"/>
            <a:ext cx="10461913" cy="3682581"/>
          </a:xfrm>
        </p:spPr>
        <p:txBody>
          <a:bodyPr>
            <a:noAutofit/>
          </a:bodyPr>
          <a:lstStyle/>
          <a:p>
            <a:pPr marL="152396" indent="0">
              <a:lnSpc>
                <a:spcPct val="170000"/>
              </a:lnSpc>
              <a:buNone/>
            </a:pPr>
            <a:r>
              <a:rPr lang="en-CA" sz="1800" b="1" dirty="0"/>
              <a:t>How to fix a partial dependency:</a:t>
            </a:r>
            <a:endParaRPr lang="en-CA" sz="1800" dirty="0"/>
          </a:p>
          <a:p>
            <a:pPr marL="666746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CA" sz="1800" dirty="0"/>
              <a:t>Remove the partially dependent attribute(s) from the original table</a:t>
            </a:r>
          </a:p>
          <a:p>
            <a:pPr marL="666746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CA" sz="1800" dirty="0"/>
              <a:t>Place in a new table</a:t>
            </a:r>
          </a:p>
          <a:p>
            <a:pPr marL="666746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CA" sz="1800" dirty="0"/>
              <a:t>Duplicate the primary key attribute(s) they are dependent on and place in the new table</a:t>
            </a:r>
          </a:p>
          <a:p>
            <a:pPr marL="666746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CA" sz="1800" dirty="0"/>
              <a:t>The duplicated attribute(s) become foreign keys in the original table</a:t>
            </a:r>
          </a:p>
          <a:p>
            <a:pPr marL="666746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CA" sz="1800" dirty="0"/>
              <a:t>Designate the cardinality of the relationship</a:t>
            </a:r>
          </a:p>
          <a:p>
            <a:pPr marL="666746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CA" sz="1800" dirty="0"/>
              <a:t>Designate a primary key for the new table</a:t>
            </a:r>
          </a:p>
        </p:txBody>
      </p:sp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72F1-0648-38A1-3089-A1D489FD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4134-DCA4-D92C-BCB3-B43DD92E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US" b="1" dirty="0"/>
              <a:t>Aurora View 1 — 2NF Result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1AFDD-932B-784B-1CED-633B0A84A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7" y="1498439"/>
            <a:ext cx="10461913" cy="906580"/>
          </a:xfrm>
        </p:spPr>
        <p:txBody>
          <a:bodyPr>
            <a:noAutofit/>
          </a:bodyPr>
          <a:lstStyle/>
          <a:p>
            <a:pPr marL="152396" indent="0">
              <a:lnSpc>
                <a:spcPct val="170000"/>
              </a:lnSpc>
              <a:buNone/>
            </a:pPr>
            <a:r>
              <a:rPr lang="en-CA" sz="1800" b="1" dirty="0"/>
              <a:t>Fixes applied:</a:t>
            </a:r>
            <a:endParaRPr lang="en-CA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29B393-C9CC-E9C3-1AAB-F84078E31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707304"/>
              </p:ext>
            </p:extLst>
          </p:nvPr>
        </p:nvGraphicFramePr>
        <p:xfrm>
          <a:off x="544136" y="2249460"/>
          <a:ext cx="6334644" cy="2306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1548">
                  <a:extLst>
                    <a:ext uri="{9D8B030D-6E8A-4147-A177-3AD203B41FA5}">
                      <a16:colId xmlns:a16="http://schemas.microsoft.com/office/drawing/2014/main" val="527823851"/>
                    </a:ext>
                  </a:extLst>
                </a:gridCol>
                <a:gridCol w="2111548">
                  <a:extLst>
                    <a:ext uri="{9D8B030D-6E8A-4147-A177-3AD203B41FA5}">
                      <a16:colId xmlns:a16="http://schemas.microsoft.com/office/drawing/2014/main" val="1297045941"/>
                    </a:ext>
                  </a:extLst>
                </a:gridCol>
                <a:gridCol w="2111548">
                  <a:extLst>
                    <a:ext uri="{9D8B030D-6E8A-4147-A177-3AD203B41FA5}">
                      <a16:colId xmlns:a16="http://schemas.microsoft.com/office/drawing/2014/main" val="3960172182"/>
                    </a:ext>
                  </a:extLst>
                </a:gridCol>
              </a:tblGrid>
              <a:tr h="63228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Attribute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New Table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New PK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205056135"/>
                  </a:ext>
                </a:extLst>
              </a:tr>
              <a:tr h="63228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 Number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87688478"/>
                  </a:ext>
                </a:extLst>
              </a:tr>
              <a:tr h="104204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Sponsoring 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Project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047891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B0F27B-4130-A329-58EB-58CA09BC4080}"/>
              </a:ext>
            </a:extLst>
          </p:cNvPr>
          <p:cNvSpPr txBox="1"/>
          <p:nvPr/>
        </p:nvSpPr>
        <p:spPr>
          <a:xfrm>
            <a:off x="7268441" y="1746391"/>
            <a:ext cx="6099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2NF Tables: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B7B8B-068A-6E3E-DE43-C606D488C7C3}"/>
              </a:ext>
            </a:extLst>
          </p:cNvPr>
          <p:cNvSpPr txBox="1"/>
          <p:nvPr/>
        </p:nvSpPr>
        <p:spPr>
          <a:xfrm>
            <a:off x="7195359" y="2130706"/>
            <a:ext cx="44525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Employee(Employee ID, LastName, FirstName, Department Number, Department Name)</a:t>
            </a:r>
          </a:p>
          <a:p>
            <a:endParaRPr lang="en-US" dirty="0"/>
          </a:p>
          <a:p>
            <a:r>
              <a:rPr lang="en-US" dirty="0" err="1"/>
              <a:t>WorksOn</a:t>
            </a:r>
            <a:r>
              <a:rPr lang="en-US" dirty="0"/>
              <a:t>(Employee ID (FK), Project Number (FK), Weekly Hours)</a:t>
            </a:r>
          </a:p>
          <a:p>
            <a:endParaRPr lang="en-US" dirty="0"/>
          </a:p>
          <a:p>
            <a:r>
              <a:rPr lang="en-US" dirty="0"/>
              <a:t>Project(Project Number, Project Name, Sponsoring Department Name)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30B21-B9A6-C2B1-3B1C-52FF4B73AFEA}"/>
              </a:ext>
            </a:extLst>
          </p:cNvPr>
          <p:cNvSpPr txBox="1"/>
          <p:nvPr/>
        </p:nvSpPr>
        <p:spPr>
          <a:xfrm>
            <a:off x="455813" y="4823345"/>
            <a:ext cx="11249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Note: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CA" sz="1800" b="0" i="0" dirty="0" err="1">
                <a:solidFill>
                  <a:schemeClr val="tx1"/>
                </a:solidFill>
                <a:effectLst/>
                <a:latin typeface="+mn-lt"/>
              </a:rPr>
              <a:t>WorksOn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 is now an associative entity — the M:N relationship between Employee and Project is fully implemented as two 1:M relationships.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29688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5FD8-2D94-5A1B-8F60-81796522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96C-28C4-ADCD-5A2F-8640C07D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870081"/>
            <a:ext cx="3665885" cy="1069679"/>
          </a:xfrm>
        </p:spPr>
        <p:txBody>
          <a:bodyPr anchor="ctr">
            <a:normAutofit fontScale="90000"/>
          </a:bodyPr>
          <a:lstStyle/>
          <a:p>
            <a:pPr marL="0" marR="0" indent="0" algn="l">
              <a:lnSpc>
                <a:spcPct val="125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CA" sz="4400" b="1" dirty="0">
                <a:solidFill>
                  <a:srgbClr val="0F1115"/>
                </a:solidFill>
                <a:effectLst/>
                <a:latin typeface="quote-cjk-patch"/>
              </a:rPr>
              <a:t>Aurora View 1 2NF ERD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223BB2-EA3F-6220-0579-6DD6115A7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09" y="706582"/>
            <a:ext cx="6452754" cy="430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76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4D5E-1F69-C2D7-47D8-F7E023EA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914" y="601679"/>
            <a:ext cx="10014857" cy="847200"/>
          </a:xfrm>
        </p:spPr>
        <p:txBody>
          <a:bodyPr/>
          <a:lstStyle/>
          <a:p>
            <a:r>
              <a:rPr lang="en-CA" b="1" dirty="0"/>
              <a:t>Aurora View 1 — 3NF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20DB2-8B40-0BA0-9A5F-4EC4043B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476" y="1370382"/>
            <a:ext cx="3947885" cy="4117236"/>
          </a:xfrm>
        </p:spPr>
        <p:txBody>
          <a:bodyPr>
            <a:normAutofit fontScale="77500" lnSpcReduction="20000"/>
          </a:bodyPr>
          <a:lstStyle/>
          <a:p>
            <a:pPr marL="152396" indent="0">
              <a:buNone/>
            </a:pPr>
            <a:r>
              <a:rPr lang="en-CA" b="1" dirty="0"/>
              <a:t>3NF has one rule:</a:t>
            </a:r>
            <a:endParaRPr lang="en-CA" dirty="0"/>
          </a:p>
          <a:p>
            <a:r>
              <a:rPr lang="en-CA" dirty="0"/>
              <a:t>A non-key attribute cannot be fully dependent on another non-key attribute.</a:t>
            </a:r>
          </a:p>
          <a:p>
            <a:pPr marL="152396" indent="0">
              <a:buNone/>
            </a:pPr>
            <a:r>
              <a:rPr lang="en-CA" b="1" dirty="0"/>
              <a:t>Key Point:</a:t>
            </a:r>
            <a:endParaRPr lang="en-CA" dirty="0"/>
          </a:p>
          <a:p>
            <a:r>
              <a:rPr lang="en-CA" dirty="0"/>
              <a:t>A table must have two or more non-key attributes for a violation to 3NF to occur.</a:t>
            </a:r>
          </a:p>
          <a:p>
            <a:pPr marL="152396" indent="0">
              <a:buNone/>
            </a:pPr>
            <a:r>
              <a:rPr lang="en-CA" b="1" dirty="0"/>
              <a:t>A non-key attribute that is fully dependent on another non-key attribute is called a TRANSITIVE DEPENDENCY.</a:t>
            </a:r>
            <a:endParaRPr lang="en-CA" dirty="0"/>
          </a:p>
          <a:p>
            <a:pPr marL="152396" indent="0">
              <a:buNone/>
            </a:pPr>
            <a:r>
              <a:rPr lang="en-CA" b="1" dirty="0"/>
              <a:t>Our tables</a:t>
            </a:r>
            <a:r>
              <a:rPr lang="en-CA" b="1" dirty="0">
                <a:sym typeface="Wingdings" panose="05000000000000000000" pitchFamily="2" charset="2"/>
              </a:rPr>
              <a:t></a:t>
            </a:r>
            <a:endParaRPr lang="en-CA" dirty="0"/>
          </a:p>
          <a:p>
            <a:pPr>
              <a:buNone/>
            </a:pP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552C3A-A8AF-60BB-E1F2-FB6D6B967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195803"/>
              </p:ext>
            </p:extLst>
          </p:nvPr>
        </p:nvGraphicFramePr>
        <p:xfrm>
          <a:off x="4149361" y="1291145"/>
          <a:ext cx="7841163" cy="4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3721">
                  <a:extLst>
                    <a:ext uri="{9D8B030D-6E8A-4147-A177-3AD203B41FA5}">
                      <a16:colId xmlns:a16="http://schemas.microsoft.com/office/drawing/2014/main" val="4115949500"/>
                    </a:ext>
                  </a:extLst>
                </a:gridCol>
                <a:gridCol w="2613721">
                  <a:extLst>
                    <a:ext uri="{9D8B030D-6E8A-4147-A177-3AD203B41FA5}">
                      <a16:colId xmlns:a16="http://schemas.microsoft.com/office/drawing/2014/main" val="4237570677"/>
                    </a:ext>
                  </a:extLst>
                </a:gridCol>
                <a:gridCol w="2613721">
                  <a:extLst>
                    <a:ext uri="{9D8B030D-6E8A-4147-A177-3AD203B41FA5}">
                      <a16:colId xmlns:a16="http://schemas.microsoft.com/office/drawing/2014/main" val="2434826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Table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Non-Key Attributes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Can 3NF Be Violated?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68190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Employee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LastName, FirstName, Department Number, 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Yes — Department Name depends on Department Number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726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WorksOn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Weekly Hours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— only one non-key attribute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0109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Project Name, Sponsoring Department Name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No — no dependency between them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11285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455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A59C-491E-2FD0-2A48-FC948047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529C-63E2-C267-BBE7-78D99A32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Aurora View 1 — 3NF Violation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99CE0-A98B-F141-8664-D6EF670E9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550" y="1990574"/>
            <a:ext cx="7124505" cy="565590"/>
          </a:xfrm>
        </p:spPr>
        <p:txBody>
          <a:bodyPr>
            <a:normAutofit/>
          </a:bodyPr>
          <a:lstStyle/>
          <a:p>
            <a:pPr marL="0" marR="0" indent="0" algn="l">
              <a:buNone/>
            </a:pPr>
            <a:r>
              <a:rPr lang="en-CA" sz="1800" b="1" i="0" dirty="0">
                <a:solidFill>
                  <a:srgbClr val="0F1115"/>
                </a:solidFill>
                <a:effectLst/>
                <a:latin typeface="quote-cjk-patch"/>
              </a:rPr>
              <a:t>Evaluate Employee for transitive dependencies:</a:t>
            </a:r>
            <a:endParaRPr lang="en-CA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05D3CD-26D1-6FDF-86FA-C22A5ABED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04841"/>
              </p:ext>
            </p:extLst>
          </p:nvPr>
        </p:nvGraphicFramePr>
        <p:xfrm>
          <a:off x="585550" y="2509900"/>
          <a:ext cx="9722232" cy="24847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744">
                  <a:extLst>
                    <a:ext uri="{9D8B030D-6E8A-4147-A177-3AD203B41FA5}">
                      <a16:colId xmlns:a16="http://schemas.microsoft.com/office/drawing/2014/main" val="2848298904"/>
                    </a:ext>
                  </a:extLst>
                </a:gridCol>
                <a:gridCol w="3240744">
                  <a:extLst>
                    <a:ext uri="{9D8B030D-6E8A-4147-A177-3AD203B41FA5}">
                      <a16:colId xmlns:a16="http://schemas.microsoft.com/office/drawing/2014/main" val="3745393258"/>
                    </a:ext>
                  </a:extLst>
                </a:gridCol>
                <a:gridCol w="3240744">
                  <a:extLst>
                    <a:ext uri="{9D8B030D-6E8A-4147-A177-3AD203B41FA5}">
                      <a16:colId xmlns:a16="http://schemas.microsoft.com/office/drawing/2014/main" val="69547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Non-Key Attribute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Depends On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Is This a Violation?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3786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LastName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(depends on PK)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7806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FirstName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(depends on PK)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56021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 Number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(depends on PK)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96387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 Number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Yes — transitive dependency!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99816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850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A7BD-4333-952F-CC14-A0FFF9AF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A606-512F-7F49-D8B1-D755FB66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Aurora View 1 — 3NF Violation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C2170-7259-518E-EC37-323529E75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6038" y="1448879"/>
            <a:ext cx="4298177" cy="4175793"/>
          </a:xfrm>
        </p:spPr>
        <p:txBody>
          <a:bodyPr>
            <a:normAutofit fontScale="62500" lnSpcReduction="20000"/>
          </a:bodyPr>
          <a:lstStyle/>
          <a:p>
            <a:pPr marL="152396" indent="0">
              <a:lnSpc>
                <a:spcPct val="170000"/>
              </a:lnSpc>
              <a:buNone/>
            </a:pPr>
            <a:r>
              <a:rPr lang="en-CA" b="1" dirty="0"/>
              <a:t>Why is this a violation?</a:t>
            </a:r>
            <a:endParaRPr lang="en-CA" dirty="0"/>
          </a:p>
          <a:p>
            <a:pPr>
              <a:lnSpc>
                <a:spcPct val="170000"/>
              </a:lnSpc>
            </a:pPr>
            <a:r>
              <a:rPr lang="en-CA" dirty="0"/>
              <a:t>Department Name is fully dependent on Department Number, which is a non-key attribute.</a:t>
            </a:r>
          </a:p>
          <a:p>
            <a:pPr>
              <a:lnSpc>
                <a:spcPct val="170000"/>
              </a:lnSpc>
            </a:pPr>
            <a:r>
              <a:rPr lang="en-CA" dirty="0"/>
              <a:t>If you know the Department Number, you know the Department Name — without needing to know the Employee ID.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52EBFB-CFEC-5C8A-70A3-C4E8DCA67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33862"/>
              </p:ext>
            </p:extLst>
          </p:nvPr>
        </p:nvGraphicFramePr>
        <p:xfrm>
          <a:off x="449943" y="1614600"/>
          <a:ext cx="6438705" cy="4391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235">
                  <a:extLst>
                    <a:ext uri="{9D8B030D-6E8A-4147-A177-3AD203B41FA5}">
                      <a16:colId xmlns:a16="http://schemas.microsoft.com/office/drawing/2014/main" val="2848298904"/>
                    </a:ext>
                  </a:extLst>
                </a:gridCol>
                <a:gridCol w="2146235">
                  <a:extLst>
                    <a:ext uri="{9D8B030D-6E8A-4147-A177-3AD203B41FA5}">
                      <a16:colId xmlns:a16="http://schemas.microsoft.com/office/drawing/2014/main" val="3745393258"/>
                    </a:ext>
                  </a:extLst>
                </a:gridCol>
                <a:gridCol w="2146235">
                  <a:extLst>
                    <a:ext uri="{9D8B030D-6E8A-4147-A177-3AD203B41FA5}">
                      <a16:colId xmlns:a16="http://schemas.microsoft.com/office/drawing/2014/main" val="69547712"/>
                    </a:ext>
                  </a:extLst>
                </a:gridCol>
              </a:tblGrid>
              <a:tr h="7918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Non-Key Attribute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Depends On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Is This a Violation?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33786694"/>
                  </a:ext>
                </a:extLst>
              </a:tr>
              <a:tr h="7918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LastName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(depends on PK)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7806638"/>
                  </a:ext>
                </a:extLst>
              </a:tr>
              <a:tr h="7918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FirstName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(depends on PK)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56021428"/>
                  </a:ext>
                </a:extLst>
              </a:tr>
              <a:tr h="7918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 Number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No (depends on PK)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96387508"/>
                  </a:ext>
                </a:extLst>
              </a:tr>
              <a:tr h="7918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Department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Yes — transitive dependency!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99816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592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9560-8507-4737-548A-5CF7AFB5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82C2-CB11-FE95-2E8A-F8A2EC02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Aurora View 1 — 3NF Result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7AA8-26DB-DA00-2CB4-A7253081C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8648" y="1448879"/>
            <a:ext cx="5303352" cy="629303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CA" b="1" dirty="0"/>
              <a:t>Fixes applied:</a:t>
            </a: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31FFE2-5BA6-EAF7-673F-254FC7F42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12006"/>
              </p:ext>
            </p:extLst>
          </p:nvPr>
        </p:nvGraphicFramePr>
        <p:xfrm>
          <a:off x="7009335" y="2205087"/>
          <a:ext cx="4754880" cy="1375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58506038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48165050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174630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Attribute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New Table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New PK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208080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 Name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Department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8372267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EBFC1B-4E56-DBF3-8B92-528202CE3EF6}"/>
              </a:ext>
            </a:extLst>
          </p:cNvPr>
          <p:cNvSpPr txBox="1"/>
          <p:nvPr/>
        </p:nvSpPr>
        <p:spPr>
          <a:xfrm>
            <a:off x="449943" y="1397167"/>
            <a:ext cx="6438705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3NF Tables:</a:t>
            </a: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Employee(Employee ID, LastName, FirstName, Department Number (FK))</a:t>
            </a: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Department(Department Number, Department Name)</a:t>
            </a: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CA" sz="1800" b="0" i="0" dirty="0" err="1">
                <a:solidFill>
                  <a:schemeClr val="tx1"/>
                </a:solidFill>
                <a:effectLst/>
                <a:latin typeface="+mn-lt"/>
              </a:rPr>
              <a:t>WorksOn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(Employee ID (FK), Project Number (FK), Weekly Hours)</a:t>
            </a: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Project(Project Number, Project Name, Sponsoring Department Name)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The schema is now in Third Normal Form (3NF).</a:t>
            </a:r>
            <a:endParaRPr lang="en-CA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85323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title"/>
          </p:nvPr>
        </p:nvSpPr>
        <p:spPr>
          <a:xfrm>
            <a:off x="324223" y="335242"/>
            <a:ext cx="10630647" cy="1069679"/>
          </a:xfrm>
        </p:spPr>
        <p:txBody>
          <a:bodyPr spcFirstLastPara="1" vert="horz" lIns="121900" tIns="121900" rIns="121900" bIns="121900" rtlCol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Aurora View 1 — 3NF ERD</a:t>
            </a:r>
            <a:endParaRPr lang="en-CA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6EA4D6-C718-3E72-1AE4-4009D93D2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136" y="1795742"/>
            <a:ext cx="7022728" cy="3511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0FDA-372F-BB6E-E272-FAE56DE9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FF75-4F46-771F-0ACE-66CA639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Source Document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4A8EC-F4AE-D606-143A-EB307F4DE8A2}"/>
              </a:ext>
            </a:extLst>
          </p:cNvPr>
          <p:cNvSpPr txBox="1"/>
          <p:nvPr/>
        </p:nvSpPr>
        <p:spPr>
          <a:xfrm>
            <a:off x="6107079" y="1511965"/>
            <a:ext cx="6099462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Business Rules:</a:t>
            </a:r>
            <a:endParaRPr lang="en-CA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A project is developed by one department.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A department can develop many projects.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A project can have many employees assigned.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An employee can be assigned to many projects.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CA" dirty="0"/>
              <a:t>Each assignment has a weekly hours value.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91AA9-E158-3E74-7600-DC971D1B1AA0}"/>
              </a:ext>
            </a:extLst>
          </p:cNvPr>
          <p:cNvSpPr txBox="1"/>
          <p:nvPr/>
        </p:nvSpPr>
        <p:spPr>
          <a:xfrm>
            <a:off x="517118" y="1663288"/>
            <a:ext cx="558996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Aurora View 2: Project Details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A manager needs to see: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Project information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Which department sponsors each project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Which employees are assigned to each project</a:t>
            </a:r>
          </a:p>
        </p:txBody>
      </p:sp>
    </p:spTree>
    <p:extLst>
      <p:ext uri="{BB962C8B-B14F-4D97-AF65-F5344CB8AC3E}">
        <p14:creationId xmlns:p14="http://schemas.microsoft.com/office/powerpoint/2010/main" val="3617071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1ADC-91C2-B1CC-E667-9AFDDAD6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ACC2-35E0-4EB6-ED56-5B377755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</a:t>
            </a:r>
            <a:r>
              <a:rPr lang="en-US" b="1" dirty="0" err="1"/>
              <a:t>urora</a:t>
            </a:r>
            <a:r>
              <a:rPr lang="en-US" b="1" dirty="0"/>
              <a:t> View 2 — Initial Table (0NF)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7CC85-2B53-962E-892A-BB17798C1EB9}"/>
              </a:ext>
            </a:extLst>
          </p:cNvPr>
          <p:cNvSpPr txBox="1"/>
          <p:nvPr/>
        </p:nvSpPr>
        <p:spPr>
          <a:xfrm>
            <a:off x="517118" y="1663288"/>
            <a:ext cx="89593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/>
              <a:t>Step 0: Create the Initial Table</a:t>
            </a:r>
            <a:endParaRPr lang="en-CA" sz="2000" dirty="0"/>
          </a:p>
          <a:p>
            <a:r>
              <a:rPr lang="en-CA" sz="2000" b="1" dirty="0"/>
              <a:t>Initial Table:</a:t>
            </a:r>
            <a:endParaRPr lang="en-CA" sz="2000" dirty="0"/>
          </a:p>
          <a:p>
            <a:pPr latinLnBrk="1"/>
            <a:r>
              <a:rPr lang="en-CA" sz="2000" dirty="0"/>
              <a:t>Project(Project Number, Project Name, Department Number, Department Name,</a:t>
            </a:r>
          </a:p>
          <a:p>
            <a:pPr latinLnBrk="1"/>
            <a:r>
              <a:rPr lang="en-CA" sz="2000" dirty="0"/>
              <a:t>        (Employee ID, Last Name, First Name, Weekly Hours))</a:t>
            </a:r>
          </a:p>
          <a:p>
            <a:r>
              <a:rPr lang="en-CA" sz="2000" b="1" dirty="0"/>
              <a:t>Candidate Keys:</a:t>
            </a:r>
            <a:r>
              <a:rPr lang="en-CA" sz="2000" dirty="0"/>
              <a:t> Project Number, Department Number, Employee ID</a:t>
            </a:r>
          </a:p>
          <a:p>
            <a:r>
              <a:rPr lang="en-CA" sz="2000" b="1" dirty="0"/>
              <a:t>Which is the PK?</a:t>
            </a:r>
            <a:endParaRPr lang="en-CA" sz="2000" dirty="0"/>
          </a:p>
          <a:p>
            <a:r>
              <a:rPr lang="en-CA" sz="2000" dirty="0"/>
              <a:t>Project Number — because each row describes one project.</a:t>
            </a:r>
          </a:p>
          <a:p>
            <a:r>
              <a:rPr lang="en-CA" sz="2000" b="1" dirty="0"/>
              <a:t>Repeating Group:</a:t>
            </a:r>
            <a:r>
              <a:rPr lang="en-CA" sz="2000" dirty="0"/>
              <a:t> (Employee ID, Last Name, First Name, Weekly Hours)</a:t>
            </a:r>
          </a:p>
        </p:txBody>
      </p:sp>
    </p:spTree>
    <p:extLst>
      <p:ext uri="{BB962C8B-B14F-4D97-AF65-F5344CB8AC3E}">
        <p14:creationId xmlns:p14="http://schemas.microsoft.com/office/powerpoint/2010/main" val="1603917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16E9-13B6-F14A-9A09-CE0E31DB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E229-AA3C-AF41-ADCE-6EE79FB0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1NF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ECB1F2-D225-4622-BEDB-D014FEFCB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20872"/>
              </p:ext>
            </p:extLst>
          </p:nvPr>
        </p:nvGraphicFramePr>
        <p:xfrm>
          <a:off x="517814" y="1804748"/>
          <a:ext cx="5862204" cy="1905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1102">
                  <a:extLst>
                    <a:ext uri="{9D8B030D-6E8A-4147-A177-3AD203B41FA5}">
                      <a16:colId xmlns:a16="http://schemas.microsoft.com/office/drawing/2014/main" val="2900985876"/>
                    </a:ext>
                  </a:extLst>
                </a:gridCol>
                <a:gridCol w="2931102">
                  <a:extLst>
                    <a:ext uri="{9D8B030D-6E8A-4147-A177-3AD203B41FA5}">
                      <a16:colId xmlns:a16="http://schemas.microsoft.com/office/drawing/2014/main" val="1309392828"/>
                    </a:ext>
                  </a:extLst>
                </a:gridCol>
              </a:tblGrid>
              <a:tr h="51359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Violation</a:t>
                      </a:r>
                      <a:endParaRPr lang="en-CA" sz="18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Type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162660532"/>
                  </a:ext>
                </a:extLst>
              </a:tr>
              <a:tr h="51359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Composite attribute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65873770"/>
                  </a:ext>
                </a:extLst>
              </a:tr>
              <a:tr h="84644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ID, Last Name, First Name, Weekly Hours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Repeating group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129516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EC908B-81D0-AD85-8F94-07D5A3DBD7F6}"/>
              </a:ext>
            </a:extLst>
          </p:cNvPr>
          <p:cNvSpPr txBox="1"/>
          <p:nvPr/>
        </p:nvSpPr>
        <p:spPr>
          <a:xfrm>
            <a:off x="517814" y="1353923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1NF Violations: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65F7A5-2175-C630-DE5C-BC6B9D794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111077"/>
              </p:ext>
            </p:extLst>
          </p:nvPr>
        </p:nvGraphicFramePr>
        <p:xfrm>
          <a:off x="6771754" y="1649529"/>
          <a:ext cx="4754880" cy="24434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1425049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956200716"/>
                    </a:ext>
                  </a:extLst>
                </a:gridCol>
              </a:tblGrid>
              <a:tr h="686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Original</a:t>
                      </a:r>
                      <a:endParaRPr lang="en-CA" sz="18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Fixed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60776089"/>
                  </a:ext>
                </a:extLst>
              </a:tr>
              <a:tr h="6868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LastName, FirstName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82664242"/>
                  </a:ext>
                </a:extLst>
              </a:tr>
              <a:tr h="6868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Repeating Group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New table: Assignment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174495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FF51A4-6D14-D50B-507D-AB4C6E7BADB5}"/>
              </a:ext>
            </a:extLst>
          </p:cNvPr>
          <p:cNvSpPr txBox="1"/>
          <p:nvPr/>
        </p:nvSpPr>
        <p:spPr>
          <a:xfrm>
            <a:off x="6771754" y="1169257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Fixes: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579402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72C12-9576-A907-BF74-8AAA363B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4851-13C8-EC1A-FDA7-0C80AE6C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1NF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89D35F-58D4-D8DD-DCFB-394292502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72180"/>
              </p:ext>
            </p:extLst>
          </p:nvPr>
        </p:nvGraphicFramePr>
        <p:xfrm>
          <a:off x="6771754" y="2003441"/>
          <a:ext cx="4754880" cy="24434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1425049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956200716"/>
                    </a:ext>
                  </a:extLst>
                </a:gridCol>
              </a:tblGrid>
              <a:tr h="686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Original</a:t>
                      </a:r>
                      <a:endParaRPr lang="en-CA" sz="18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Fixed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60776089"/>
                  </a:ext>
                </a:extLst>
              </a:tr>
              <a:tr h="6868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 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LastName, FirstName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82664242"/>
                  </a:ext>
                </a:extLst>
              </a:tr>
              <a:tr h="68689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Repeating Group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New table: Assignment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174495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89913F8-4192-1405-6B7D-060A9E09E777}"/>
              </a:ext>
            </a:extLst>
          </p:cNvPr>
          <p:cNvSpPr txBox="1"/>
          <p:nvPr/>
        </p:nvSpPr>
        <p:spPr>
          <a:xfrm>
            <a:off x="6771754" y="1511965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Fixes: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C8793-B1D3-F1A9-B040-5E19B857C916}"/>
              </a:ext>
            </a:extLst>
          </p:cNvPr>
          <p:cNvSpPr txBox="1"/>
          <p:nvPr/>
        </p:nvSpPr>
        <p:spPr>
          <a:xfrm>
            <a:off x="665366" y="1485708"/>
            <a:ext cx="558996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1NF Result:</a:t>
            </a: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Project(Project Number, Project Name, Department Number, Department Name)</a:t>
            </a: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Assignment(Project Number (FK), Employee ID, Last Name, First Name, Weekly Hours)</a:t>
            </a:r>
          </a:p>
          <a:p>
            <a:pPr marL="0" marR="0" indent="0" algn="l"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PK for Assignment: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 Project Number + Employee ID (Composite Key)</a:t>
            </a:r>
            <a:endParaRPr lang="en-CA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085526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9923-925C-8FE2-DB5F-4DBD7C11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EBDE-2C67-2788-F44D-AB34F064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2NF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807D84-0BDA-DB4C-586E-6F11A0205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12600"/>
              </p:ext>
            </p:extLst>
          </p:nvPr>
        </p:nvGraphicFramePr>
        <p:xfrm>
          <a:off x="642850" y="1810309"/>
          <a:ext cx="5757949" cy="3529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3707">
                  <a:extLst>
                    <a:ext uri="{9D8B030D-6E8A-4147-A177-3AD203B41FA5}">
                      <a16:colId xmlns:a16="http://schemas.microsoft.com/office/drawing/2014/main" val="2759713376"/>
                    </a:ext>
                  </a:extLst>
                </a:gridCol>
                <a:gridCol w="1481414">
                  <a:extLst>
                    <a:ext uri="{9D8B030D-6E8A-4147-A177-3AD203B41FA5}">
                      <a16:colId xmlns:a16="http://schemas.microsoft.com/office/drawing/2014/main" val="2343373571"/>
                    </a:ext>
                  </a:extLst>
                </a:gridCol>
                <a:gridCol w="1481414">
                  <a:extLst>
                    <a:ext uri="{9D8B030D-6E8A-4147-A177-3AD203B41FA5}">
                      <a16:colId xmlns:a16="http://schemas.microsoft.com/office/drawing/2014/main" val="2237973602"/>
                    </a:ext>
                  </a:extLst>
                </a:gridCol>
                <a:gridCol w="1481414">
                  <a:extLst>
                    <a:ext uri="{9D8B030D-6E8A-4147-A177-3AD203B41FA5}">
                      <a16:colId xmlns:a16="http://schemas.microsoft.com/office/drawing/2014/main" val="193478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>
                          <a:effectLst/>
                        </a:rPr>
                        <a:t>Attribute</a:t>
                      </a:r>
                      <a:endParaRPr lang="en-CA" sz="16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Fully Dependent on Project Number?</a:t>
                      </a:r>
                      <a:endParaRPr lang="en-CA" sz="16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Fully Dependent on Employee ID?</a:t>
                      </a:r>
                      <a:endParaRPr lang="en-CA" sz="16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 b="1" dirty="0">
                          <a:effectLst/>
                        </a:rPr>
                        <a:t>Fully Dependent on Both?</a:t>
                      </a:r>
                      <a:endParaRPr lang="en-CA" sz="16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27105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Last Name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—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6879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First Name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Yes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—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07322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Weekly Hours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No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Yes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632240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33044B-6033-2103-2B61-5E2735A9A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519841"/>
              </p:ext>
            </p:extLst>
          </p:nvPr>
        </p:nvGraphicFramePr>
        <p:xfrm>
          <a:off x="6653646" y="2887048"/>
          <a:ext cx="4754880" cy="2053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18645652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06041089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262888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Attribute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Violation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Depends On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958834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Last Name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Partial Dependency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08849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First Name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Partial Dependency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Employee ID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99934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A03F93-380E-B5DD-C3EC-4B73024BC0A7}"/>
              </a:ext>
            </a:extLst>
          </p:cNvPr>
          <p:cNvSpPr txBox="1"/>
          <p:nvPr/>
        </p:nvSpPr>
        <p:spPr>
          <a:xfrm>
            <a:off x="6653646" y="1448225"/>
            <a:ext cx="643197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CA" b="1" dirty="0"/>
              <a:t>Violations Found:</a:t>
            </a:r>
            <a:endParaRPr lang="en-CA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Fix: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 Move Last Name and First Name to a new Employee table.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F8191-A199-1134-920B-B93981A1D01F}"/>
              </a:ext>
            </a:extLst>
          </p:cNvPr>
          <p:cNvSpPr txBox="1"/>
          <p:nvPr/>
        </p:nvSpPr>
        <p:spPr>
          <a:xfrm>
            <a:off x="642851" y="1408315"/>
            <a:ext cx="620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Evaluate Assignment (composite PK):</a:t>
            </a: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2266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0557-0667-9762-906F-5FB778BA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B77E-9691-09E8-B753-706D9407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2NF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02B344-3885-C2F6-5836-F22318B1D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408665"/>
              </p:ext>
            </p:extLst>
          </p:nvPr>
        </p:nvGraphicFramePr>
        <p:xfrm>
          <a:off x="6653646" y="2402045"/>
          <a:ext cx="4754880" cy="2053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18645652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06041089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262888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Attribute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Violation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Depends On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958834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Last Name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Partial Dependency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Employee ID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08849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First Name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>
                          <a:effectLst/>
                        </a:rPr>
                        <a:t>Partial Dependency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600" dirty="0">
                          <a:effectLst/>
                        </a:rPr>
                        <a:t>Employee ID</a:t>
                      </a:r>
                      <a:endParaRPr lang="en-CA" sz="16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99934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DF7CD2-0E7B-FE99-1ECF-995AC5F681EC}"/>
              </a:ext>
            </a:extLst>
          </p:cNvPr>
          <p:cNvSpPr txBox="1"/>
          <p:nvPr/>
        </p:nvSpPr>
        <p:spPr>
          <a:xfrm>
            <a:off x="6653646" y="1448225"/>
            <a:ext cx="6431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Fix: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+mn-lt"/>
              </a:rPr>
              <a:t> Move Last Name and First Name to a new Employee table.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8BFFF-0748-1D9C-3CEC-014FD0840C50}"/>
              </a:ext>
            </a:extLst>
          </p:cNvPr>
          <p:cNvSpPr txBox="1"/>
          <p:nvPr/>
        </p:nvSpPr>
        <p:spPr>
          <a:xfrm>
            <a:off x="642851" y="2063778"/>
            <a:ext cx="54531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2NF Result:</a:t>
            </a:r>
            <a:endParaRPr lang="en-CA" dirty="0"/>
          </a:p>
          <a:p>
            <a:pPr latinLnBrk="1"/>
            <a:r>
              <a:rPr lang="en-CA" dirty="0"/>
              <a:t>Project(Project Number, Project Name, Department Number, Department Name)</a:t>
            </a:r>
          </a:p>
          <a:p>
            <a:pPr latinLnBrk="1"/>
            <a:endParaRPr lang="en-CA" dirty="0"/>
          </a:p>
          <a:p>
            <a:pPr latinLnBrk="1"/>
            <a:r>
              <a:rPr lang="en-CA" dirty="0"/>
              <a:t>Assignment(Project Number (FK), Employee ID (FK), Weekly Hours)</a:t>
            </a:r>
          </a:p>
          <a:p>
            <a:pPr latinLnBrk="1"/>
            <a:endParaRPr lang="en-CA" dirty="0"/>
          </a:p>
          <a:p>
            <a:pPr latinLnBrk="1"/>
            <a:r>
              <a:rPr lang="en-CA" dirty="0"/>
              <a:t>Employee(Employee ID, Last Name, First Name)</a:t>
            </a:r>
          </a:p>
        </p:txBody>
      </p:sp>
    </p:spTree>
    <p:extLst>
      <p:ext uri="{BB962C8B-B14F-4D97-AF65-F5344CB8AC3E}">
        <p14:creationId xmlns:p14="http://schemas.microsoft.com/office/powerpoint/2010/main" val="3465635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0AF3-DB5E-F5D4-CF2E-442FF8D5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DD5BD-68DC-39A8-3BD1-875DBE96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3NF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25280-8253-94B8-6FC3-258DC49C5260}"/>
              </a:ext>
            </a:extLst>
          </p:cNvPr>
          <p:cNvSpPr txBox="1"/>
          <p:nvPr/>
        </p:nvSpPr>
        <p:spPr>
          <a:xfrm>
            <a:off x="6162130" y="1520912"/>
            <a:ext cx="56020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Fix:</a:t>
            </a:r>
            <a:r>
              <a:rPr lang="en-CA" dirty="0"/>
              <a:t> Move Department Name to a new Department table.</a:t>
            </a:r>
          </a:p>
          <a:p>
            <a:r>
              <a:rPr lang="en-CA" b="1" dirty="0"/>
              <a:t>3NF Result:</a:t>
            </a:r>
            <a:endParaRPr lang="en-CA" dirty="0"/>
          </a:p>
          <a:p>
            <a:pPr latinLnBrk="1"/>
            <a:r>
              <a:rPr lang="en-CA" dirty="0"/>
              <a:t>Project(Project Number, Project Name, Department Number (FK))</a:t>
            </a:r>
          </a:p>
          <a:p>
            <a:pPr latinLnBrk="1"/>
            <a:endParaRPr lang="en-CA" dirty="0"/>
          </a:p>
          <a:p>
            <a:pPr latinLnBrk="1"/>
            <a:r>
              <a:rPr lang="en-CA" dirty="0"/>
              <a:t>Department(Department Number, Department Name)</a:t>
            </a:r>
          </a:p>
          <a:p>
            <a:pPr latinLnBrk="1"/>
            <a:endParaRPr lang="en-CA" dirty="0"/>
          </a:p>
          <a:p>
            <a:pPr latinLnBrk="1"/>
            <a:r>
              <a:rPr lang="en-CA" dirty="0"/>
              <a:t>Assignment(Project Number (FK), Employee ID (FK), Weekly Hours)</a:t>
            </a:r>
          </a:p>
          <a:p>
            <a:pPr latinLnBrk="1"/>
            <a:endParaRPr lang="en-CA" dirty="0"/>
          </a:p>
          <a:p>
            <a:pPr latinLnBrk="1"/>
            <a:r>
              <a:rPr lang="en-CA" dirty="0"/>
              <a:t>Employee(Employee ID, Last Name, First 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28B3C-B72F-CF38-75F0-311959597240}"/>
              </a:ext>
            </a:extLst>
          </p:cNvPr>
          <p:cNvSpPr txBox="1"/>
          <p:nvPr/>
        </p:nvSpPr>
        <p:spPr>
          <a:xfrm>
            <a:off x="524232" y="1479799"/>
            <a:ext cx="5453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Evaluate Project for transitive dependencies:</a:t>
            </a:r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6045B1-6D56-0C2F-C20D-8092F5AD1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250814"/>
              </p:ext>
            </p:extLst>
          </p:nvPr>
        </p:nvGraphicFramePr>
        <p:xfrm>
          <a:off x="524232" y="2143442"/>
          <a:ext cx="4962378" cy="2571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4126">
                  <a:extLst>
                    <a:ext uri="{9D8B030D-6E8A-4147-A177-3AD203B41FA5}">
                      <a16:colId xmlns:a16="http://schemas.microsoft.com/office/drawing/2014/main" val="1878129645"/>
                    </a:ext>
                  </a:extLst>
                </a:gridCol>
                <a:gridCol w="1654126">
                  <a:extLst>
                    <a:ext uri="{9D8B030D-6E8A-4147-A177-3AD203B41FA5}">
                      <a16:colId xmlns:a16="http://schemas.microsoft.com/office/drawing/2014/main" val="2610755364"/>
                    </a:ext>
                  </a:extLst>
                </a:gridCol>
                <a:gridCol w="1654126">
                  <a:extLst>
                    <a:ext uri="{9D8B030D-6E8A-4147-A177-3AD203B41FA5}">
                      <a16:colId xmlns:a16="http://schemas.microsoft.com/office/drawing/2014/main" val="1123714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effectLst/>
                        </a:rPr>
                        <a:t>Non-Key Attribute</a:t>
                      </a:r>
                      <a:endParaRPr lang="en-CA" sz="14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effectLst/>
                        </a:rPr>
                        <a:t>Depends On</a:t>
                      </a:r>
                      <a:endParaRPr lang="en-CA" sz="14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effectLst/>
                        </a:rPr>
                        <a:t>Violation?</a:t>
                      </a:r>
                      <a:endParaRPr lang="en-CA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43523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Project Name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Project Number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5387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Department Number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Project Number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No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9956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Department Name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Department Number</a:t>
                      </a:r>
                      <a:endParaRPr lang="en-CA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Yes — transitive dependency!</a:t>
                      </a:r>
                      <a:endParaRPr lang="en-CA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5957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224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481D8-2D7E-B96F-A64A-0120F2EA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9089-8058-2508-D9D2-3830503B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 Aurora View 2 — 3NF ERD</a:t>
            </a:r>
            <a:br>
              <a:rPr lang="en-CA" b="1" dirty="0"/>
            </a:b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95DA4-3F43-B1CF-A28F-DC3B05E70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5" y="1350818"/>
            <a:ext cx="8312727" cy="41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52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E566-1C24-7F51-E960-AC4594C0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E04-9C75-7770-DFF8-A5BA4F6E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Comparing View 1 and View 2</a:t>
            </a:r>
            <a:br>
              <a:rPr lang="en-CA" b="1" dirty="0"/>
            </a:br>
            <a:br>
              <a:rPr lang="en-CA" dirty="0"/>
            </a:b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2818D-F9DF-5F65-0FFD-C69F8D7C6D3D}"/>
              </a:ext>
            </a:extLst>
          </p:cNvPr>
          <p:cNvSpPr txBox="1"/>
          <p:nvPr/>
        </p:nvSpPr>
        <p:spPr>
          <a:xfrm>
            <a:off x="449943" y="1264213"/>
            <a:ext cx="10024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Let's compare the 3NF results from both views:</a:t>
            </a:r>
            <a:endParaRPr lang="en-CA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F0D3D0-8E51-6609-0805-04706EEF4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49705"/>
              </p:ext>
            </p:extLst>
          </p:nvPr>
        </p:nvGraphicFramePr>
        <p:xfrm>
          <a:off x="449943" y="1817148"/>
          <a:ext cx="11541165" cy="4009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7055">
                  <a:extLst>
                    <a:ext uri="{9D8B030D-6E8A-4147-A177-3AD203B41FA5}">
                      <a16:colId xmlns:a16="http://schemas.microsoft.com/office/drawing/2014/main" val="2035929643"/>
                    </a:ext>
                  </a:extLst>
                </a:gridCol>
                <a:gridCol w="3847055">
                  <a:extLst>
                    <a:ext uri="{9D8B030D-6E8A-4147-A177-3AD203B41FA5}">
                      <a16:colId xmlns:a16="http://schemas.microsoft.com/office/drawing/2014/main" val="3150400331"/>
                    </a:ext>
                  </a:extLst>
                </a:gridCol>
                <a:gridCol w="3847055">
                  <a:extLst>
                    <a:ext uri="{9D8B030D-6E8A-4147-A177-3AD203B41FA5}">
                      <a16:colId xmlns:a16="http://schemas.microsoft.com/office/drawing/2014/main" val="2973040645"/>
                    </a:ext>
                  </a:extLst>
                </a:gridCol>
              </a:tblGrid>
              <a:tr h="41232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View 1 Tables</a:t>
                      </a:r>
                      <a:endParaRPr lang="en-CA" sz="18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91413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View 2 Tables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Same?</a:t>
                      </a:r>
                      <a:endParaRPr lang="en-CA" sz="18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121885" marT="76178" marB="76178" anchor="ctr"/>
                </a:tc>
                <a:extLst>
                  <a:ext uri="{0D108BD9-81ED-4DB2-BD59-A6C34878D82A}">
                    <a16:rowId xmlns:a16="http://schemas.microsoft.com/office/drawing/2014/main" val="2446004022"/>
                  </a:ext>
                </a:extLst>
              </a:tr>
              <a:tr h="72873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91413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Employee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Similar — View 1 has Department Number, View 2 doesn't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91413" marT="76178" marB="76178" anchor="ctr"/>
                </a:tc>
                <a:extLst>
                  <a:ext uri="{0D108BD9-81ED-4DB2-BD59-A6C34878D82A}">
                    <a16:rowId xmlns:a16="http://schemas.microsoft.com/office/drawing/2014/main" val="3954624222"/>
                  </a:ext>
                </a:extLst>
              </a:tr>
              <a:tr h="41232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91413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Department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Same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91413" marT="76178" marB="76178" anchor="ctr"/>
                </a:tc>
                <a:extLst>
                  <a:ext uri="{0D108BD9-81ED-4DB2-BD59-A6C34878D82A}">
                    <a16:rowId xmlns:a16="http://schemas.microsoft.com/office/drawing/2014/main" val="3131563793"/>
                  </a:ext>
                </a:extLst>
              </a:tr>
              <a:tr h="72873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WorksOn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91413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Assignment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Similar — both are associative entities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91413" marT="76178" marB="76178" anchor="ctr"/>
                </a:tc>
                <a:extLst>
                  <a:ext uri="{0D108BD9-81ED-4DB2-BD59-A6C34878D82A}">
                    <a16:rowId xmlns:a16="http://schemas.microsoft.com/office/drawing/2014/main" val="995798582"/>
                  </a:ext>
                </a:extLst>
              </a:tr>
              <a:tr h="10451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91413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Project</a:t>
                      </a:r>
                      <a:endParaRPr lang="en-CA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121885" marT="76178" marB="761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Similar — View 1 has Sponsoring Department Name, View 2 has Department Number</a:t>
                      </a:r>
                      <a:endParaRPr lang="en-CA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885" marR="91413" marT="76178" marB="76178" anchor="ctr"/>
                </a:tc>
                <a:extLst>
                  <a:ext uri="{0D108BD9-81ED-4DB2-BD59-A6C34878D82A}">
                    <a16:rowId xmlns:a16="http://schemas.microsoft.com/office/drawing/2014/main" val="90583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329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A82A-32DE-7D8C-FAE3-EDAB6D64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1F84D-13C9-24F7-E2C2-521C687C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Merging Rules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FBA7695-2420-1AD8-EC72-64EA984F9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21708"/>
              </p:ext>
            </p:extLst>
          </p:nvPr>
        </p:nvGraphicFramePr>
        <p:xfrm>
          <a:off x="5581650" y="698023"/>
          <a:ext cx="6099462" cy="4610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9731">
                  <a:extLst>
                    <a:ext uri="{9D8B030D-6E8A-4147-A177-3AD203B41FA5}">
                      <a16:colId xmlns:a16="http://schemas.microsoft.com/office/drawing/2014/main" val="679508572"/>
                    </a:ext>
                  </a:extLst>
                </a:gridCol>
                <a:gridCol w="3049731">
                  <a:extLst>
                    <a:ext uri="{9D8B030D-6E8A-4147-A177-3AD203B41FA5}">
                      <a16:colId xmlns:a16="http://schemas.microsoft.com/office/drawing/2014/main" val="108539653"/>
                    </a:ext>
                  </a:extLst>
                </a:gridCol>
              </a:tblGrid>
              <a:tr h="66427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>
                          <a:effectLst/>
                        </a:rPr>
                        <a:t>Rule</a:t>
                      </a:r>
                      <a:endParaRPr lang="en-CA" sz="18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800" b="1" dirty="0">
                          <a:effectLst/>
                        </a:rPr>
                        <a:t>Explanation</a:t>
                      </a:r>
                      <a:endParaRPr lang="en-CA" sz="18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999111596"/>
                  </a:ext>
                </a:extLst>
              </a:tr>
              <a:tr h="109477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Tables with the same PK can be merged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Combine attributes from both tables into one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05901926"/>
                  </a:ext>
                </a:extLst>
              </a:tr>
              <a:tr h="66427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All entities must be preserved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Don't lose any tables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93982767"/>
                  </a:ext>
                </a:extLst>
              </a:tr>
              <a:tr h="664273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All attributes must be preserved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Don't lose any columns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70535417"/>
                  </a:ext>
                </a:extLst>
              </a:tr>
              <a:tr h="109477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>
                          <a:effectLst/>
                        </a:rPr>
                        <a:t>All relationships must be preserved</a:t>
                      </a:r>
                      <a:endParaRPr lang="en-CA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800" dirty="0">
                          <a:effectLst/>
                        </a:rPr>
                        <a:t>Don't lose any connections</a:t>
                      </a:r>
                      <a:endParaRPr lang="en-CA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9206339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3E0E598-7E08-0C9D-0DFE-2E712F0ED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346768"/>
              </p:ext>
            </p:extLst>
          </p:nvPr>
        </p:nvGraphicFramePr>
        <p:xfrm>
          <a:off x="166255" y="2531574"/>
          <a:ext cx="5332292" cy="2889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6146">
                  <a:extLst>
                    <a:ext uri="{9D8B030D-6E8A-4147-A177-3AD203B41FA5}">
                      <a16:colId xmlns:a16="http://schemas.microsoft.com/office/drawing/2014/main" val="2872411674"/>
                    </a:ext>
                  </a:extLst>
                </a:gridCol>
                <a:gridCol w="2666146">
                  <a:extLst>
                    <a:ext uri="{9D8B030D-6E8A-4147-A177-3AD203B41FA5}">
                      <a16:colId xmlns:a16="http://schemas.microsoft.com/office/drawing/2014/main" val="4289566519"/>
                    </a:ext>
                  </a:extLst>
                </a:gridCol>
              </a:tblGrid>
              <a:tr h="3607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>
                          <a:effectLst/>
                        </a:rPr>
                        <a:t>Scenario</a:t>
                      </a:r>
                      <a:endParaRPr lang="en-CA" sz="14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CA" sz="1400" b="1" dirty="0">
                          <a:effectLst/>
                        </a:rPr>
                        <a:t>Action</a:t>
                      </a:r>
                      <a:endParaRPr lang="en-CA" sz="14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848675056"/>
                  </a:ext>
                </a:extLst>
              </a:tr>
              <a:tr h="36076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Same table name, same PK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Merge attributes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03618851"/>
                  </a:ext>
                </a:extLst>
              </a:tr>
              <a:tr h="61526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Same table name, different PK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Keep separate, rename if needed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75639216"/>
                  </a:ext>
                </a:extLst>
              </a:tr>
              <a:tr h="61526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Different table name, same PK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Merge into one table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84616"/>
                  </a:ext>
                </a:extLst>
              </a:tr>
              <a:tr h="61526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>
                          <a:effectLst/>
                        </a:rPr>
                        <a:t>Different table name, different PK</a:t>
                      </a:r>
                      <a:endParaRPr lang="en-CA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CA" sz="1400" dirty="0">
                          <a:effectLst/>
                        </a:rPr>
                        <a:t>Keep separate</a:t>
                      </a:r>
                      <a:endParaRPr lang="en-CA" sz="1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5630027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E01498D-3C46-254A-AF25-4C246A48E671}"/>
              </a:ext>
            </a:extLst>
          </p:cNvPr>
          <p:cNvSpPr txBox="1"/>
          <p:nvPr/>
        </p:nvSpPr>
        <p:spPr>
          <a:xfrm>
            <a:off x="449943" y="1561915"/>
            <a:ext cx="60994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When merging two or more views</a:t>
            </a: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  <a:sym typeface="Wingdings" panose="05000000000000000000" pitchFamily="2" charset="2"/>
              </a:rPr>
              <a:t></a:t>
            </a:r>
            <a:endParaRPr lang="en-CA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b="1" i="0" dirty="0">
                <a:solidFill>
                  <a:schemeClr val="tx1"/>
                </a:solidFill>
                <a:effectLst/>
                <a:latin typeface="+mn-lt"/>
              </a:rPr>
              <a:t>What to look for: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02225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18CCD-34E9-C563-26BF-9042536C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50FA-4B41-7AD2-021A-5DA7BC37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Merging Aurora Views 1 and 2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635F3-0DB3-8EE6-D33D-FEF95D7CD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1481207"/>
            <a:ext cx="7718688" cy="514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86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6E0C-3627-C09A-C1F3-C7E2C44C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BC3D-EE8C-BF7D-05EA-93A17477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Merging — Project and Assignment</a:t>
            </a:r>
            <a:endParaRPr lang="en-CA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C2F80F-ADF4-E83D-DBA3-D9472508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1199496"/>
            <a:ext cx="8113682" cy="54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00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3E263-6A66-F9BA-DF5F-54D11714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84FD-7AB5-84FC-BA28-11508A3F8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Merging — Project and Assignment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4D736-6FAB-3F33-1F75-8260B897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3" y="1448879"/>
            <a:ext cx="8113682" cy="515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05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5C9C-1F64-C568-41B8-EA1B2A08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A799-277D-24F3-3051-9CC863E9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Merging — Project and Assignment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27EBF-BF9A-7F23-BA89-535F637C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2" y="1335648"/>
            <a:ext cx="7381009" cy="492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85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AE74-E9CD-7213-7477-D8D5266B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349F-FC2A-B4E0-B3E8-8CD9CFB8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US" b="1" dirty="0"/>
              <a:t>Merging — Project and Assignment</a:t>
            </a:r>
            <a:endParaRPr lang="en-C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D3DAC-1E78-A08B-104F-787150F6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2" y="1335648"/>
            <a:ext cx="7381009" cy="492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660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4E63-7B4F-75C1-576D-09A81260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ABC7-E7AF-B637-FCDA-3D124C65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3" y="601679"/>
            <a:ext cx="11314272" cy="847200"/>
          </a:xfrm>
        </p:spPr>
        <p:txBody>
          <a:bodyPr/>
          <a:lstStyle/>
          <a:p>
            <a:r>
              <a:rPr lang="en-CA" b="1" dirty="0"/>
              <a:t>Summary of Normal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B6CAC-D695-DA2D-B966-9DB0F86A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79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Props1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10597</TotalTime>
  <Words>2480</Words>
  <Application>Microsoft Office PowerPoint</Application>
  <PresentationFormat>Widescreen</PresentationFormat>
  <Paragraphs>473</Paragraphs>
  <Slides>43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Menlo</vt:lpstr>
      <vt:lpstr>quote-cjk-patch</vt:lpstr>
      <vt:lpstr>Wingdings</vt:lpstr>
      <vt:lpstr>Office Theme</vt:lpstr>
      <vt:lpstr>PowerPoint Presentation</vt:lpstr>
      <vt:lpstr>Today's Objectives </vt:lpstr>
      <vt:lpstr>Where Are We in the Course?</vt:lpstr>
      <vt:lpstr>The Normalization Process </vt:lpstr>
      <vt:lpstr>Aurora — A New Scenario </vt:lpstr>
      <vt:lpstr>Aurora — A New Scenario </vt:lpstr>
      <vt:lpstr>Aurora View 1 — Business Rules </vt:lpstr>
      <vt:lpstr>Aurora View 1 — Business Rules </vt:lpstr>
      <vt:lpstr>Aurora View 1 — Initial Table (0NF) </vt:lpstr>
      <vt:lpstr>Aurora View 1 — Initial Table (0NF) </vt:lpstr>
      <vt:lpstr>Aurora View 1 — 1NF Rules  </vt:lpstr>
      <vt:lpstr>Aurora View 1 — 1NF Rules  </vt:lpstr>
      <vt:lpstr>Aurora View 1 — 1NF Result </vt:lpstr>
      <vt:lpstr>Aurora View 1 — 1NF Result </vt:lpstr>
      <vt:lpstr>Aurora View 1 — 1NF ERD </vt:lpstr>
      <vt:lpstr>Aurora View 1 — 2NF Rules</vt:lpstr>
      <vt:lpstr>Aurora View 1 — 2NF Rules</vt:lpstr>
      <vt:lpstr>Aurora View 1 — 2NF Violations </vt:lpstr>
      <vt:lpstr>Aurora View 1 — 2NF Violations </vt:lpstr>
      <vt:lpstr>Aurora View 1 — 2NF Result</vt:lpstr>
      <vt:lpstr>Aurora View 1 — 2NF Result</vt:lpstr>
      <vt:lpstr>Aurora View 1 2NF ERD</vt:lpstr>
      <vt:lpstr>Aurora View 1 — 3NF Rules</vt:lpstr>
      <vt:lpstr>Aurora View 1 — 3NF Violation</vt:lpstr>
      <vt:lpstr>Aurora View 1 — 3NF Violation</vt:lpstr>
      <vt:lpstr>Aurora View 1 — 3NF Result</vt:lpstr>
      <vt:lpstr>Aurora View 1 — 3NF ERD</vt:lpstr>
      <vt:lpstr> Aurora View 2 — Source Document</vt:lpstr>
      <vt:lpstr> Aurora View 2 — Initial Table (0NF)</vt:lpstr>
      <vt:lpstr> Aurora View 2 — 1NF</vt:lpstr>
      <vt:lpstr> Aurora View 2 — 1NF</vt:lpstr>
      <vt:lpstr> Aurora View 2 — 2NF</vt:lpstr>
      <vt:lpstr> Aurora View 2 — 2NF</vt:lpstr>
      <vt:lpstr> Aurora View 2 — 3NF</vt:lpstr>
      <vt:lpstr> Aurora View 2 — 3NF ERD </vt:lpstr>
      <vt:lpstr>Comparing View 1 and View 2  </vt:lpstr>
      <vt:lpstr>Merging Rules</vt:lpstr>
      <vt:lpstr>Merging Aurora Views 1 and 2</vt:lpstr>
      <vt:lpstr>Merging — Project and Assignment</vt:lpstr>
      <vt:lpstr>Merging — Project and Assignment</vt:lpstr>
      <vt:lpstr>Merging — Project and Assignment</vt:lpstr>
      <vt:lpstr>Merging — Project and Assignment</vt:lpstr>
      <vt:lpstr>Summary of Normal 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243</cp:revision>
  <dcterms:created xsi:type="dcterms:W3CDTF">2019-08-28T18:27:45Z</dcterms:created>
  <dcterms:modified xsi:type="dcterms:W3CDTF">2026-09-16T04:12:41Z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