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71" r:id="rId5"/>
    <p:sldId id="369" r:id="rId6"/>
    <p:sldId id="371" r:id="rId7"/>
    <p:sldId id="395" r:id="rId8"/>
    <p:sldId id="396" r:id="rId9"/>
    <p:sldId id="397" r:id="rId10"/>
    <p:sldId id="372" r:id="rId11"/>
    <p:sldId id="373" r:id="rId12"/>
    <p:sldId id="374" r:id="rId13"/>
    <p:sldId id="375" r:id="rId14"/>
    <p:sldId id="376" r:id="rId15"/>
    <p:sldId id="377" r:id="rId16"/>
    <p:sldId id="427" r:id="rId17"/>
    <p:sldId id="37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23" autoAdjust="0"/>
    <p:restoredTop sz="89935" autoAdjust="0"/>
  </p:normalViewPr>
  <p:slideViewPr>
    <p:cSldViewPr snapToGrid="0" snapToObjects="1" showGuides="1">
      <p:cViewPr varScale="1">
        <p:scale>
          <a:sx n="65" d="100"/>
          <a:sy n="65" d="100"/>
        </p:scale>
        <p:origin x="828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232709-1847-4F53-98E0-E379346D49D8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2A85F0-2AA3-412D-B482-1445E370E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632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8663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b="1" dirty="0"/>
              <a:t>familiar example</a:t>
            </a:r>
          </a:p>
          <a:p>
            <a:r>
              <a:rPr lang="en-CA" dirty="0"/>
              <a:t>“Let's say I have a list of 10,000 customers.”</a:t>
            </a:r>
          </a:p>
          <a:p>
            <a:r>
              <a:rPr lang="en-CA" dirty="0"/>
              <a:t>“For each customer, I might have their customer number, first name, last name, address, phone number, email, and maybe their order history.”</a:t>
            </a:r>
          </a:p>
          <a:p>
            <a:r>
              <a:rPr lang="en-CA" dirty="0"/>
              <a:t>“That information is data. If I organize and store it so that I can efficiently work with it, I have a database.”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2A85F0-2AA3-412D-B482-1445E370E3F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378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830438" y="2624442"/>
            <a:ext cx="8531123" cy="1471612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PRESENTATION TITLE</a:t>
            </a:r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D20DFF8B-0CA2-444E-B3B8-516B41CBEC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397231" y="745523"/>
            <a:ext cx="1168573" cy="14371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5C5819-15D5-134D-9ACE-EB35435DDD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33914" y="4598843"/>
            <a:ext cx="6337921" cy="536921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Information</a:t>
            </a:r>
          </a:p>
        </p:txBody>
      </p:sp>
    </p:spTree>
    <p:extLst>
      <p:ext uri="{BB962C8B-B14F-4D97-AF65-F5344CB8AC3E}">
        <p14:creationId xmlns:p14="http://schemas.microsoft.com/office/powerpoint/2010/main" val="674987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4223" y="335242"/>
            <a:ext cx="10630647" cy="1069679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4224" y="1795742"/>
            <a:ext cx="10654552" cy="3511364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183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3397810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3385857"/>
          </a:xfrm>
        </p:spPr>
        <p:txBody>
          <a:bodyPr/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2222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1404494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897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B934B5-63C9-2842-AB2D-E575537010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19937" y="3045791"/>
            <a:ext cx="6365875" cy="928687"/>
          </a:xfrm>
        </p:spPr>
        <p:txBody>
          <a:bodyPr>
            <a:normAutofit/>
          </a:bodyPr>
          <a:lstStyle>
            <a:lvl1pPr marL="0" indent="0" algn="ctr"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7052175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7697788" y="2603500"/>
            <a:ext cx="4214812" cy="1873250"/>
          </a:xfrm>
        </p:spPr>
        <p:txBody>
          <a:bodyPr>
            <a:normAutofit/>
          </a:bodyPr>
          <a:lstStyle>
            <a:lvl1pPr marL="0" indent="0">
              <a:buNone/>
              <a:defRPr sz="2800" baseline="0"/>
            </a:lvl1pPr>
          </a:lstStyle>
          <a:p>
            <a:pPr lvl="0"/>
            <a:r>
              <a:rPr lang="en-US" dirty="0"/>
              <a:t>INSERT PRESENTATION TITLE HERE</a:t>
            </a:r>
          </a:p>
        </p:txBody>
      </p:sp>
    </p:spTree>
    <p:extLst>
      <p:ext uri="{BB962C8B-B14F-4D97-AF65-F5344CB8AC3E}">
        <p14:creationId xmlns:p14="http://schemas.microsoft.com/office/powerpoint/2010/main" val="817891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for Large Graphics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1932" y="5791200"/>
            <a:ext cx="3552445" cy="74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246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for Large Graphics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209866" y="5780616"/>
            <a:ext cx="607785" cy="747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0852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3592-B9CD-7AF8-2531-D88D3E9DB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943C0C-F99B-8C9C-5380-BAC6681294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613D1-0C16-8026-7BD4-926A51626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BFFFE-D9D4-D649-9D1F-5FA64CDC0CC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55E5B1-A151-0420-61EC-F4B8FC23D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8DDD1-36BF-D966-84CD-8EE8543EB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E898C-0EB9-3C44-9E25-661E8EC4CB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06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solidFill>
          <a:srgbClr val="353535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377471" y="949521"/>
            <a:ext cx="8325600" cy="511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001990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3303632" y="554200"/>
            <a:ext cx="83256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" name="Google Shape;23;p4"/>
          <p:cNvCxnSpPr/>
          <p:nvPr/>
        </p:nvCxnSpPr>
        <p:spPr>
          <a:xfrm>
            <a:off x="3303632" y="6320000"/>
            <a:ext cx="8325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227665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24224" y="335242"/>
            <a:ext cx="10515600" cy="10696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24" y="1795742"/>
            <a:ext cx="10515600" cy="35113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6BFFFE-D9D4-D649-9D1F-5FA64CDC0CC2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FE898C-0EB9-3C44-9E25-661E8EC4CBA6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3" descr="ppt screen_Header_6-9_1920x1080 Wide.pn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473171"/>
            <a:ext cx="12196659" cy="1384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4526" y="5780616"/>
            <a:ext cx="3553126" cy="747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7979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2" r:id="rId3"/>
    <p:sldLayoutId id="2147483654" r:id="rId4"/>
    <p:sldLayoutId id="2147483655" r:id="rId5"/>
    <p:sldLayoutId id="2147483663" r:id="rId6"/>
    <p:sldLayoutId id="2147483660" r:id="rId7"/>
    <p:sldLayoutId id="2147483662" r:id="rId8"/>
    <p:sldLayoutId id="2147483664" r:id="rId9"/>
    <p:sldLayoutId id="2147483665" r:id="rId10"/>
    <p:sldLayoutId id="2147483666" r:id="rId11"/>
    <p:sldLayoutId id="214748366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830438" y="3429000"/>
            <a:ext cx="8531123" cy="1471612"/>
          </a:xfrm>
        </p:spPr>
        <p:txBody>
          <a:bodyPr>
            <a:normAutofit/>
          </a:bodyPr>
          <a:lstStyle/>
          <a:p>
            <a:r>
              <a:rPr lang="en-US" b="1" dirty="0"/>
              <a:t>Advanced SELECT Statements</a:t>
            </a:r>
          </a:p>
        </p:txBody>
      </p:sp>
    </p:spTree>
    <p:extLst>
      <p:ext uri="{BB962C8B-B14F-4D97-AF65-F5344CB8AC3E}">
        <p14:creationId xmlns:p14="http://schemas.microsoft.com/office/powerpoint/2010/main" val="2569066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F8E3B-953D-C5A8-A98C-995692E05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4555" y="767933"/>
            <a:ext cx="9844578" cy="847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Problem — Data in Multiple Tables</a:t>
            </a:r>
            <a:br>
              <a:rPr lang="en-US" b="1" dirty="0"/>
            </a:br>
            <a:br>
              <a:rPr lang="en-CA" b="1" dirty="0"/>
            </a:br>
            <a:endParaRPr lang="en-CA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B2DCA6-959A-EC24-0680-C3627496B46A}"/>
              </a:ext>
            </a:extLst>
          </p:cNvPr>
          <p:cNvSpPr txBox="1"/>
          <p:nvPr/>
        </p:nvSpPr>
        <p:spPr>
          <a:xfrm>
            <a:off x="1050252" y="1621599"/>
            <a:ext cx="748414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select staff names and their position descriptions, you need data from </a:t>
            </a:r>
            <a:r>
              <a:rPr lang="en-US" b="1" dirty="0"/>
              <a:t>two tables</a:t>
            </a:r>
            <a:r>
              <a:rPr lang="en-US" dirty="0"/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Staff (names)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Position (descriptions)</a:t>
            </a:r>
          </a:p>
          <a:p>
            <a:r>
              <a:rPr lang="en-US" b="1" dirty="0"/>
              <a:t>Naive attempt:</a:t>
            </a:r>
            <a:endParaRPr lang="en-US" dirty="0"/>
          </a:p>
          <a:p>
            <a:pPr latinLnBrk="1"/>
            <a:r>
              <a:rPr lang="en-US" dirty="0"/>
              <a:t>Select </a:t>
            </a:r>
            <a:r>
              <a:rPr lang="en-US" dirty="0" err="1"/>
              <a:t>Staff.FirstName</a:t>
            </a:r>
            <a:r>
              <a:rPr lang="en-US" dirty="0"/>
              <a:t>, </a:t>
            </a:r>
            <a:r>
              <a:rPr lang="en-US" dirty="0" err="1"/>
              <a:t>Staff.LastName</a:t>
            </a:r>
            <a:r>
              <a:rPr lang="en-US" dirty="0"/>
              <a:t>, </a:t>
            </a:r>
            <a:r>
              <a:rPr lang="en-US" dirty="0" err="1"/>
              <a:t>Position.PositionDescription</a:t>
            </a:r>
            <a:endParaRPr lang="en-US" dirty="0"/>
          </a:p>
          <a:p>
            <a:pPr latinLnBrk="1"/>
            <a:r>
              <a:rPr lang="en-US" dirty="0"/>
              <a:t>From Staff, Position;</a:t>
            </a:r>
          </a:p>
          <a:p>
            <a:r>
              <a:rPr lang="en-US" b="1" dirty="0"/>
              <a:t>Result: 70 records returned.</a:t>
            </a:r>
            <a:r>
              <a:rPr lang="en-US" dirty="0"/>
              <a:t> Why?</a:t>
            </a:r>
          </a:p>
          <a:p>
            <a:pPr lvl="0"/>
            <a:r>
              <a:rPr lang="en-US" dirty="0"/>
              <a:t>Staff has </a:t>
            </a:r>
            <a:r>
              <a:rPr lang="en-US" b="1" dirty="0"/>
              <a:t>10</a:t>
            </a:r>
            <a:r>
              <a:rPr lang="en-US" dirty="0"/>
              <a:t> records</a:t>
            </a:r>
          </a:p>
          <a:p>
            <a:pPr lvl="0"/>
            <a:r>
              <a:rPr lang="en-US" dirty="0"/>
              <a:t>Position has </a:t>
            </a:r>
            <a:r>
              <a:rPr lang="en-US" b="1" dirty="0"/>
              <a:t>7</a:t>
            </a:r>
            <a:r>
              <a:rPr lang="en-US" dirty="0"/>
              <a:t> records</a:t>
            </a:r>
          </a:p>
          <a:p>
            <a:pPr lvl="0"/>
            <a:r>
              <a:rPr lang="en-US" dirty="0"/>
              <a:t>10 × 7 = 70</a:t>
            </a:r>
          </a:p>
          <a:p>
            <a:r>
              <a:rPr lang="en-US" b="1" dirty="0"/>
              <a:t>Every staff member matched with every position.</a:t>
            </a:r>
            <a:r>
              <a:rPr lang="en-US" dirty="0"/>
              <a:t> That's wrong.</a:t>
            </a:r>
          </a:p>
        </p:txBody>
      </p:sp>
    </p:spTree>
    <p:extLst>
      <p:ext uri="{BB962C8B-B14F-4D97-AF65-F5344CB8AC3E}">
        <p14:creationId xmlns:p14="http://schemas.microsoft.com/office/powerpoint/2010/main" val="1144815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41EA3-E419-4E2D-C59B-5DECDA4DE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0" y="767933"/>
            <a:ext cx="9292333" cy="847200"/>
          </a:xfrm>
        </p:spPr>
        <p:txBody>
          <a:bodyPr>
            <a:normAutofit/>
          </a:bodyPr>
          <a:lstStyle/>
          <a:p>
            <a:r>
              <a:rPr lang="en-US" b="1" dirty="0"/>
              <a:t>Why Did That Happen?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0C2837-333B-06E3-3E52-892921CFB9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22487" y="1736912"/>
            <a:ext cx="9292333" cy="3384175"/>
          </a:xfrm>
        </p:spPr>
        <p:txBody>
          <a:bodyPr>
            <a:noAutofit/>
          </a:bodyPr>
          <a:lstStyle/>
          <a:p>
            <a:r>
              <a:rPr lang="en-US" dirty="0"/>
              <a:t>Nothing told the server </a:t>
            </a:r>
            <a:r>
              <a:rPr lang="en-US" b="1" dirty="0"/>
              <a:t>how to relate</a:t>
            </a:r>
            <a:r>
              <a:rPr lang="en-US" dirty="0"/>
              <a:t> the two tables.</a:t>
            </a:r>
          </a:p>
          <a:p>
            <a:r>
              <a:rPr lang="en-US" dirty="0"/>
              <a:t>Records relate through the </a:t>
            </a:r>
            <a:r>
              <a:rPr lang="en-US" b="1" dirty="0"/>
              <a:t>primary key / foreign key</a:t>
            </a:r>
            <a:r>
              <a:rPr lang="en-US" dirty="0"/>
              <a:t> relationship:</a:t>
            </a:r>
          </a:p>
          <a:p>
            <a:pPr lvl="0"/>
            <a:r>
              <a:rPr lang="en-US" dirty="0" err="1"/>
              <a:t>Position.PositionID</a:t>
            </a:r>
            <a:r>
              <a:rPr lang="en-US" dirty="0"/>
              <a:t> (PK) relates to </a:t>
            </a:r>
            <a:r>
              <a:rPr lang="en-US" dirty="0" err="1"/>
              <a:t>Staff.PositionID</a:t>
            </a:r>
            <a:r>
              <a:rPr lang="en-US" dirty="0"/>
              <a:t> (FK)</a:t>
            </a:r>
          </a:p>
          <a:p>
            <a:r>
              <a:rPr lang="en-US" dirty="0"/>
              <a:t>Without a join condition, the server doesn't know which records match.</a:t>
            </a:r>
          </a:p>
        </p:txBody>
      </p:sp>
    </p:spTree>
    <p:extLst>
      <p:ext uri="{BB962C8B-B14F-4D97-AF65-F5344CB8AC3E}">
        <p14:creationId xmlns:p14="http://schemas.microsoft.com/office/powerpoint/2010/main" val="1222718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4A29A-1577-DBB8-37C3-4B3639438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E8086-3088-56A7-72E3-CAD674261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9411" y="767933"/>
            <a:ext cx="11180456" cy="847200"/>
          </a:xfrm>
        </p:spPr>
        <p:txBody>
          <a:bodyPr/>
          <a:lstStyle/>
          <a:p>
            <a:r>
              <a:rPr lang="en-US" b="1" dirty="0"/>
              <a:t>The INNER JOIN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716998-8D3E-6843-5999-E76A6A4DC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5872" y="1615133"/>
            <a:ext cx="9840161" cy="4366310"/>
          </a:xfrm>
        </p:spPr>
        <p:txBody>
          <a:bodyPr>
            <a:normAutofit fontScale="47500" lnSpcReduction="20000"/>
          </a:bodyPr>
          <a:lstStyle/>
          <a:p>
            <a:pPr marL="0" marR="0" indent="0" algn="l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4000" b="1" i="0" dirty="0">
                <a:solidFill>
                  <a:srgbClr val="0F1115"/>
                </a:solidFill>
                <a:effectLst/>
                <a:latin typeface="quote-cjk-patch"/>
              </a:rPr>
              <a:t>Syntax:</a:t>
            </a:r>
            <a:endParaRPr lang="en-US" sz="4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column1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column2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...</a:t>
            </a:r>
            <a:endParaRPr lang="en-US" sz="28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table1</a:t>
            </a: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INNER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table2</a:t>
            </a: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table1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joincolumn </a:t>
            </a:r>
            <a:r>
              <a:rPr lang="en-US" sz="28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table2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joincolumn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28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4000" b="1" i="0" dirty="0">
                <a:solidFill>
                  <a:srgbClr val="0F1115"/>
                </a:solidFill>
                <a:effectLst/>
                <a:latin typeface="quote-cjk-patch"/>
              </a:rPr>
              <a:t>Example:</a:t>
            </a:r>
            <a:endParaRPr lang="en-US" sz="40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Staff</a:t>
            </a:r>
            <a:r>
              <a:rPr lang="en-US" sz="28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Staff</a:t>
            </a:r>
            <a:r>
              <a:rPr lang="en-US" sz="28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Position</a:t>
            </a:r>
            <a:r>
              <a:rPr lang="en-US" sz="28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PositionDescription</a:t>
            </a:r>
            <a:endParaRPr lang="en-US" sz="28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Staff</a:t>
            </a: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Inner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Position </a:t>
            </a: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Staff</a:t>
            </a:r>
            <a:r>
              <a:rPr lang="en-US" sz="28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Position</a:t>
            </a:r>
            <a:r>
              <a:rPr lang="en-US" sz="28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28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lvl="0" indent="-342900" algn="l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INNER JOIN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quote-cjk-patch"/>
              </a:rPr>
              <a:t> says "combine these tables"</a:t>
            </a:r>
          </a:p>
          <a:p>
            <a:pPr marL="0" marR="0" lvl="0" indent="-342900" algn="l">
              <a:lnSpc>
                <a:spcPct val="12000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ON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quote-cjk-patch"/>
              </a:rPr>
              <a:t> says "match rows where these columns are equal"</a:t>
            </a:r>
          </a:p>
          <a:p>
            <a:pPr marL="0" indent="0">
              <a:lnSpc>
                <a:spcPct val="120000"/>
              </a:lnSpc>
              <a:spcAft>
                <a:spcPts val="1200"/>
              </a:spcAft>
              <a:buNone/>
            </a:pPr>
            <a:endParaRPr lang="en-CA" sz="28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317A93-37B8-A660-4101-16527BED8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6933" y="1615133"/>
            <a:ext cx="4418168" cy="333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4854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C272A-C626-0D54-C129-9D51946E0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7B09F-EF02-9E4E-8CCE-27B167EA4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259" y="682733"/>
            <a:ext cx="11864741" cy="847200"/>
          </a:xfrm>
        </p:spPr>
        <p:txBody>
          <a:bodyPr>
            <a:normAutofit/>
          </a:bodyPr>
          <a:lstStyle/>
          <a:p>
            <a:r>
              <a:rPr lang="en-US" b="1" dirty="0"/>
              <a:t>How Inner Join Works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41845F-1145-B076-EFF9-2F84C44CD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7080" y="1645024"/>
            <a:ext cx="10657840" cy="3756709"/>
          </a:xfrm>
        </p:spPr>
        <p:txBody>
          <a:bodyPr>
            <a:norm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Position is the </a:t>
            </a: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parent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(PK)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Staff is the </a:t>
            </a: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child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(FK)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Inner Join returns </a:t>
            </a: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only parent records that have matching child records</a:t>
            </a:r>
            <a:endParaRPr lang="en-US" sz="1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What happened to Position 7 (Assistant Dean)?</a:t>
            </a:r>
            <a:endParaRPr lang="en-US" sz="18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No staff holds that position → that record is </a:t>
            </a: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not returned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54038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6D284-9C4C-7C08-84D8-AD735A9C4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BA2E0-DF1C-EBEE-3A15-6A0608167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5882" y="648866"/>
            <a:ext cx="10307320" cy="847200"/>
          </a:xfrm>
        </p:spPr>
        <p:txBody>
          <a:bodyPr/>
          <a:lstStyle/>
          <a:p>
            <a:r>
              <a:rPr lang="en-US" b="1" dirty="0"/>
              <a:t>Outer Joins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C2A64-9005-1717-56DF-CDB4EA11A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7079" y="1915958"/>
            <a:ext cx="11052387" cy="3892176"/>
          </a:xfrm>
        </p:spPr>
        <p:txBody>
          <a:bodyPr>
            <a:normAutofit fontScale="47500" lnSpcReduction="20000"/>
          </a:bodyPr>
          <a:lstStyle/>
          <a:p>
            <a:pPr marL="0" marR="0" indent="0" algn="l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4000" b="0" i="0" dirty="0">
                <a:solidFill>
                  <a:srgbClr val="0F1115"/>
                </a:solidFill>
                <a:effectLst/>
                <a:latin typeface="quote-cjk-patch"/>
              </a:rPr>
              <a:t>An </a:t>
            </a:r>
            <a:r>
              <a:rPr lang="en-US" sz="4000" b="1" i="0" dirty="0">
                <a:solidFill>
                  <a:srgbClr val="0F1115"/>
                </a:solidFill>
                <a:effectLst/>
                <a:latin typeface="quote-cjk-patch"/>
              </a:rPr>
              <a:t>Outer Join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quote-cjk-patch"/>
              </a:rPr>
              <a:t> returns </a:t>
            </a:r>
            <a:r>
              <a:rPr lang="en-US" sz="4000" b="1" i="0" dirty="0">
                <a:solidFill>
                  <a:srgbClr val="0F1115"/>
                </a:solidFill>
                <a:effectLst/>
                <a:latin typeface="quote-cjk-patch"/>
              </a:rPr>
              <a:t>all parent records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quote-cjk-patch"/>
              </a:rPr>
              <a:t>, even ones with no matching child.</a:t>
            </a:r>
          </a:p>
          <a:p>
            <a:pPr marL="0" marR="0" indent="0" algn="l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4000" b="1" i="0" dirty="0">
                <a:solidFill>
                  <a:srgbClr val="0F1115"/>
                </a:solidFill>
                <a:effectLst/>
                <a:latin typeface="quote-cjk-patch"/>
              </a:rPr>
              <a:t>Two </a:t>
            </a:r>
            <a:r>
              <a:rPr lang="en-US" sz="4000" b="1" i="0" dirty="0" err="1">
                <a:solidFill>
                  <a:srgbClr val="0F1115"/>
                </a:solidFill>
                <a:effectLst/>
                <a:latin typeface="quote-cjk-patch"/>
              </a:rPr>
              <a:t>flavours</a:t>
            </a:r>
            <a:r>
              <a:rPr lang="en-US" sz="4000" b="1" i="0" dirty="0">
                <a:solidFill>
                  <a:srgbClr val="0F1115"/>
                </a:solidFill>
                <a:effectLst/>
                <a:latin typeface="quote-cjk-patch"/>
              </a:rPr>
              <a:t>: </a:t>
            </a:r>
            <a:r>
              <a:rPr lang="en-US" sz="2800" b="0" i="1" dirty="0">
                <a:solidFill>
                  <a:srgbClr val="A0A1A7"/>
                </a:solidFill>
                <a:effectLst/>
                <a:latin typeface="Menlo"/>
              </a:rPr>
              <a:t>-- Right Outer Join</a:t>
            </a:r>
            <a:endParaRPr lang="en-US" sz="28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Staff</a:t>
            </a:r>
            <a:r>
              <a:rPr lang="en-US" sz="28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Staff</a:t>
            </a:r>
            <a:r>
              <a:rPr lang="en-US" sz="28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Position</a:t>
            </a:r>
            <a:r>
              <a:rPr lang="en-US" sz="28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PositionDescription</a:t>
            </a:r>
            <a:endParaRPr lang="en-US" sz="28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Staff</a:t>
            </a: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Right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Outer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Position </a:t>
            </a: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Staff</a:t>
            </a:r>
            <a:r>
              <a:rPr lang="en-US" sz="28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Position</a:t>
            </a:r>
            <a:r>
              <a:rPr lang="en-US" sz="28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28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2800" b="0" i="1" dirty="0">
                <a:solidFill>
                  <a:srgbClr val="A0A1A7"/>
                </a:solidFill>
                <a:effectLst/>
                <a:latin typeface="Menlo"/>
              </a:rPr>
              <a:t>-- Left Outer Join</a:t>
            </a:r>
            <a:endParaRPr lang="en-US" sz="28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Staff</a:t>
            </a:r>
            <a:r>
              <a:rPr lang="en-US" sz="28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Staff</a:t>
            </a:r>
            <a:r>
              <a:rPr lang="en-US" sz="28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Position</a:t>
            </a:r>
            <a:r>
              <a:rPr lang="en-US" sz="28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PositionDescription</a:t>
            </a:r>
            <a:endParaRPr lang="en-US" sz="28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Position</a:t>
            </a: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Left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Outer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Staff </a:t>
            </a: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Staff</a:t>
            </a:r>
            <a:r>
              <a:rPr lang="en-US" sz="28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Position</a:t>
            </a:r>
            <a:r>
              <a:rPr lang="en-US" sz="28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28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4000" b="1" i="0" dirty="0">
                <a:solidFill>
                  <a:srgbClr val="0F1115"/>
                </a:solidFill>
                <a:effectLst/>
                <a:latin typeface="quote-cjk-patch"/>
              </a:rPr>
              <a:t>Both return the same thing: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quote-cjk-patch"/>
              </a:rPr>
              <a:t> all positions + matching staff.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2A2323-9733-B66D-C41A-CC0DF0FEC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3496" y="2433296"/>
            <a:ext cx="37814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883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271D4-EEC2-64AF-F09A-4EAE6197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0933" y="756933"/>
            <a:ext cx="10850200" cy="847200"/>
          </a:xfrm>
        </p:spPr>
        <p:txBody>
          <a:bodyPr/>
          <a:lstStyle/>
          <a:p>
            <a:r>
              <a:rPr lang="en-US" b="1" dirty="0"/>
              <a:t> LEFT vs RIGHT — The Rule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D5549-60DB-C842-493E-AEAA7B490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7987" y="1655963"/>
            <a:ext cx="9909080" cy="3590712"/>
          </a:xfrm>
        </p:spPr>
        <p:txBody>
          <a:bodyPr>
            <a:norm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LEFT OUTER JOIN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→ return all records from the </a:t>
            </a: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left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table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RIGHT OUTER JOIN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→ return all records from the </a:t>
            </a: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right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table</a:t>
            </a:r>
          </a:p>
          <a:p>
            <a:pPr marL="0" marR="0" indent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Convention: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parent table is usually listed on the left → you'll see more 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LEFT OUTER JOIN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statements.</a:t>
            </a:r>
          </a:p>
          <a:p>
            <a:pPr marL="152396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42829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76067-4A89-57E6-0B84-6FBE0D39E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7162" y="539333"/>
            <a:ext cx="10417444" cy="847200"/>
          </a:xfrm>
        </p:spPr>
        <p:txBody>
          <a:bodyPr/>
          <a:lstStyle/>
          <a:p>
            <a:r>
              <a:rPr lang="en-US" b="1" dirty="0"/>
              <a:t>The WHERE Clause — Filtering Rows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5A01B-A00C-8780-A303-76BEDD5F3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1" y="1615134"/>
            <a:ext cx="10913532" cy="3632276"/>
          </a:xfrm>
        </p:spPr>
        <p:txBody>
          <a:bodyPr>
            <a:normAutofit fontScale="62500" lnSpcReduction="20000"/>
          </a:bodyPr>
          <a:lstStyle/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FirstName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LastName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Gender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StreetAddress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sz="28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      City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Province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PostalCode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Birthdate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BalanceOwing</a:t>
            </a:r>
            <a:endParaRPr lang="en-US" sz="28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Student</a:t>
            </a:r>
          </a:p>
          <a:p>
            <a:pPr marL="0" marR="0" indent="0" algn="l" latinLnBrk="1">
              <a:lnSpc>
                <a:spcPct val="141026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2800" b="0" i="0" dirty="0">
                <a:solidFill>
                  <a:srgbClr val="A626A4"/>
                </a:solidFill>
                <a:effectLst/>
                <a:latin typeface="Menlo"/>
              </a:rPr>
              <a:t>WHERE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28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800" b="0" i="0" dirty="0">
                <a:solidFill>
                  <a:srgbClr val="50A14F"/>
                </a:solidFill>
                <a:effectLst/>
                <a:latin typeface="Menlo"/>
              </a:rPr>
              <a:t>'198933540'</a:t>
            </a:r>
            <a:r>
              <a:rPr lang="en-US" sz="28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28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WHERE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quote-cjk-patch"/>
              </a:rPr>
              <a:t> limits the records returned based on criteria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4000" b="0" i="0" dirty="0">
                <a:solidFill>
                  <a:srgbClr val="0F1115"/>
                </a:solidFill>
                <a:effectLst/>
                <a:latin typeface="quote-cjk-patch"/>
              </a:rPr>
              <a:t>Returns only rows that meet the condition</a:t>
            </a:r>
          </a:p>
          <a:p>
            <a:pPr marL="152396" indent="0">
              <a:buNone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14408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9A670-E6EB-CEC1-6A57-D7EECDC0C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5392" y="612070"/>
            <a:ext cx="9838432" cy="847200"/>
          </a:xfrm>
        </p:spPr>
        <p:txBody>
          <a:bodyPr/>
          <a:lstStyle/>
          <a:p>
            <a:r>
              <a:rPr lang="en-US" b="1" dirty="0"/>
              <a:t>Why This Doesn't Make Sense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76D1FA-6470-B4C1-15E6-835D7648659E}"/>
              </a:ext>
            </a:extLst>
          </p:cNvPr>
          <p:cNvSpPr txBox="1"/>
          <p:nvPr/>
        </p:nvSpPr>
        <p:spPr>
          <a:xfrm>
            <a:off x="1710813" y="1984470"/>
            <a:ext cx="8996516" cy="30239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14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</a:rPr>
              <a:t>Staff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</a:rPr>
              <a:t>Staff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</a:rPr>
              <a:t>Position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</a:rPr>
              <a:t>PositionDescription</a:t>
            </a:r>
            <a:endParaRPr lang="en-US" sz="14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14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Staff</a:t>
            </a:r>
          </a:p>
          <a:p>
            <a:pPr marL="0" marR="0" indent="0" algn="l" latinLnBrk="1"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1400" b="0" i="0" dirty="0">
                <a:solidFill>
                  <a:srgbClr val="A626A4"/>
                </a:solidFill>
                <a:effectLst/>
                <a:latin typeface="Menlo"/>
              </a:rPr>
              <a:t>Left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Menlo"/>
              </a:rPr>
              <a:t>Outer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Position </a:t>
            </a:r>
            <a:r>
              <a:rPr lang="en-US" sz="14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</a:rPr>
              <a:t>Staff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</a:rPr>
              <a:t>Position</a:t>
            </a:r>
            <a:r>
              <a:rPr lang="en-US" sz="14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400" b="0" i="0" dirty="0" err="1">
                <a:solidFill>
                  <a:srgbClr val="0F1115"/>
                </a:solidFill>
                <a:effectLst/>
                <a:latin typeface="Menlo"/>
              </a:rPr>
              <a:t>PositionID</a:t>
            </a:r>
            <a:r>
              <a:rPr lang="en-US" sz="14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14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This says: return </a:t>
            </a:r>
            <a:r>
              <a:rPr lang="en-US" sz="1400" b="1" i="0" dirty="0">
                <a:solidFill>
                  <a:srgbClr val="0F1115"/>
                </a:solidFill>
                <a:effectLst/>
                <a:latin typeface="quote-cjk-patch"/>
              </a:rPr>
              <a:t>all staff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 and any related positions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But Staff is the </a:t>
            </a:r>
            <a:r>
              <a:rPr lang="en-US" sz="1400" b="1" i="0" dirty="0">
                <a:solidFill>
                  <a:srgbClr val="0F1115"/>
                </a:solidFill>
                <a:effectLst/>
                <a:latin typeface="quote-cjk-patch"/>
              </a:rPr>
              <a:t>child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 — every staff row </a:t>
            </a:r>
            <a:r>
              <a:rPr lang="en-US" sz="1400" b="1" i="0" dirty="0">
                <a:solidFill>
                  <a:srgbClr val="0F1115"/>
                </a:solidFill>
                <a:effectLst/>
                <a:latin typeface="quote-cjk-patch"/>
              </a:rPr>
              <a:t>must</a:t>
            </a: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 have a matching parent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So the "all staff" part doesn't add anything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0F1115"/>
                </a:solidFill>
                <a:effectLst/>
                <a:latin typeface="quote-cjk-patch"/>
              </a:rPr>
              <a:t>You'd get the same result as an Inner Join</a:t>
            </a:r>
          </a:p>
        </p:txBody>
      </p:sp>
    </p:spTree>
    <p:extLst>
      <p:ext uri="{BB962C8B-B14F-4D97-AF65-F5344CB8AC3E}">
        <p14:creationId xmlns:p14="http://schemas.microsoft.com/office/powerpoint/2010/main" val="2404960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41ECE-867E-CD3F-20C5-C7F70DB2E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622461"/>
            <a:ext cx="9793405" cy="847200"/>
          </a:xfrm>
        </p:spPr>
        <p:txBody>
          <a:bodyPr>
            <a:normAutofit/>
          </a:bodyPr>
          <a:lstStyle/>
          <a:p>
            <a:r>
              <a:rPr lang="en-US" b="1" dirty="0"/>
              <a:t>Inner vs Outer — A Clear 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56686E-3BF2-28E2-111A-BC3A989E67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7364" y="1302109"/>
            <a:ext cx="8291508" cy="3255453"/>
          </a:xfrm>
        </p:spPr>
        <p:txBody>
          <a:bodyPr>
            <a:noAutofit/>
          </a:bodyPr>
          <a:lstStyle/>
          <a:p>
            <a:pPr marL="0" marR="0" indent="0" algn="l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600" b="1" i="0" dirty="0">
                <a:solidFill>
                  <a:srgbClr val="0F1115"/>
                </a:solidFill>
                <a:effectLst/>
                <a:latin typeface="quote-cjk-patch"/>
              </a:rPr>
              <a:t>Inner Join:</a:t>
            </a:r>
            <a:endParaRPr lang="en-US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16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Student</a:t>
            </a:r>
            <a:r>
              <a:rPr lang="en-US" sz="16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sz="1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Student</a:t>
            </a:r>
            <a:r>
              <a:rPr lang="en-US" sz="16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sz="1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Payment</a:t>
            </a:r>
            <a:r>
              <a:rPr lang="en-US" sz="16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PaymentDate</a:t>
            </a:r>
            <a:endParaRPr lang="en-US" sz="16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16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Student</a:t>
            </a: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1600" b="0" i="0" dirty="0">
                <a:solidFill>
                  <a:srgbClr val="A626A4"/>
                </a:solidFill>
                <a:effectLst/>
                <a:latin typeface="Menlo"/>
              </a:rPr>
              <a:t>Inner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Payment </a:t>
            </a:r>
            <a:r>
              <a:rPr lang="en-US" sz="16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Student</a:t>
            </a:r>
            <a:r>
              <a:rPr lang="en-US" sz="16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Payment</a:t>
            </a:r>
            <a:r>
              <a:rPr lang="en-US" sz="16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16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sz="1600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→ Returns </a:t>
            </a:r>
            <a:r>
              <a:rPr lang="en-US" sz="1600" b="1" i="0" dirty="0">
                <a:solidFill>
                  <a:srgbClr val="0F1115"/>
                </a:solidFill>
                <a:effectLst/>
                <a:latin typeface="quote-cjk-patch"/>
              </a:rPr>
              <a:t>33 records</a:t>
            </a:r>
            <a:endParaRPr lang="en-US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600" b="1" i="0" dirty="0">
                <a:solidFill>
                  <a:srgbClr val="0F1115"/>
                </a:solidFill>
                <a:effectLst/>
                <a:latin typeface="quote-cjk-patch"/>
              </a:rPr>
              <a:t>Left Outer Join:</a:t>
            </a:r>
            <a:endParaRPr lang="en-US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16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Student</a:t>
            </a:r>
            <a:r>
              <a:rPr lang="en-US" sz="16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sz="1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Student</a:t>
            </a:r>
            <a:r>
              <a:rPr lang="en-US" sz="16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sz="16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Payment</a:t>
            </a:r>
            <a:r>
              <a:rPr lang="en-US" sz="16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PaymentDate</a:t>
            </a:r>
            <a:endParaRPr lang="en-US" sz="16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16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Student</a:t>
            </a: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1600" b="0" i="0" dirty="0">
                <a:solidFill>
                  <a:srgbClr val="A626A4"/>
                </a:solidFill>
                <a:effectLst/>
                <a:latin typeface="Menlo"/>
              </a:rPr>
              <a:t>Left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>
                <a:solidFill>
                  <a:srgbClr val="A626A4"/>
                </a:solidFill>
                <a:effectLst/>
                <a:latin typeface="Menlo"/>
              </a:rPr>
              <a:t>Outer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Payment </a:t>
            </a:r>
            <a:r>
              <a:rPr lang="en-US" sz="16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Student</a:t>
            </a:r>
            <a:r>
              <a:rPr lang="en-US" sz="16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Payment</a:t>
            </a:r>
            <a:r>
              <a:rPr lang="en-US" sz="16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16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r>
              <a:rPr lang="en-US" sz="1600" dirty="0">
                <a:solidFill>
                  <a:srgbClr val="0F1115"/>
                </a:solidFill>
                <a:latin typeface="Menlo"/>
              </a:rPr>
              <a:t> 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→ Returns </a:t>
            </a:r>
            <a:r>
              <a:rPr lang="en-US" sz="1600" b="1" i="0" dirty="0">
                <a:solidFill>
                  <a:srgbClr val="0F1115"/>
                </a:solidFill>
                <a:effectLst/>
                <a:latin typeface="quote-cjk-patch"/>
              </a:rPr>
              <a:t>42 records</a:t>
            </a:r>
            <a:endParaRPr lang="en-US" sz="1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1600" b="1" i="0" dirty="0">
                <a:solidFill>
                  <a:srgbClr val="0F1115"/>
                </a:solidFill>
                <a:effectLst/>
                <a:latin typeface="quote-cjk-patch"/>
              </a:rPr>
              <a:t>Difference: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 Inner returns only students who made payments. Outer returns all students, including the </a:t>
            </a:r>
            <a:r>
              <a:rPr lang="en-US" sz="1600" b="1" i="0" dirty="0">
                <a:solidFill>
                  <a:srgbClr val="0F1115"/>
                </a:solidFill>
                <a:effectLst/>
                <a:latin typeface="quote-cjk-patch"/>
              </a:rPr>
              <a:t>9 with no payments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 (</a:t>
            </a:r>
            <a:r>
              <a:rPr lang="en-US" sz="1600" b="0" i="0" dirty="0" err="1">
                <a:solidFill>
                  <a:srgbClr val="0F1115"/>
                </a:solidFill>
                <a:effectLst/>
                <a:latin typeface="quote-cjk-patch"/>
              </a:rPr>
              <a:t>PaymentDate</a:t>
            </a:r>
            <a:r>
              <a:rPr lang="en-US" sz="1600" b="0" i="0" dirty="0">
                <a:solidFill>
                  <a:srgbClr val="0F1115"/>
                </a:solidFill>
                <a:effectLst/>
                <a:latin typeface="quote-cjk-patch"/>
              </a:rPr>
              <a:t> is NULL for those).</a:t>
            </a:r>
          </a:p>
        </p:txBody>
      </p:sp>
    </p:spTree>
    <p:extLst>
      <p:ext uri="{BB962C8B-B14F-4D97-AF65-F5344CB8AC3E}">
        <p14:creationId xmlns:p14="http://schemas.microsoft.com/office/powerpoint/2010/main" val="2165949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1854-E7DA-BB45-5AAC-E16790CB0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3202" y="767933"/>
            <a:ext cx="10278532" cy="8472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Ambiguous Columns — A Common Error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D84111-ECB2-92CE-9E29-05C8B5780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4021" y="1903807"/>
            <a:ext cx="10504246" cy="3294726"/>
          </a:xfrm>
        </p:spPr>
        <p:txBody>
          <a:bodyPr>
            <a:normAutofit fontScale="25000" lnSpcReduction="20000"/>
          </a:bodyPr>
          <a:lstStyle/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40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Student</a:t>
            </a:r>
            <a:r>
              <a:rPr lang="en-US" sz="40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sz="40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Student</a:t>
            </a:r>
            <a:r>
              <a:rPr lang="en-US" sz="40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sz="40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Payment</a:t>
            </a:r>
            <a:r>
              <a:rPr lang="en-US" sz="40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PaymentDate</a:t>
            </a:r>
            <a:endParaRPr lang="en-US" sz="40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Student</a:t>
            </a: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Inner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Payment </a:t>
            </a: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Student</a:t>
            </a:r>
            <a:r>
              <a:rPr lang="en-US" sz="40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Payment</a:t>
            </a:r>
            <a:r>
              <a:rPr lang="en-US" sz="40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40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40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5400" b="1" i="0" dirty="0">
                <a:solidFill>
                  <a:srgbClr val="0F1115"/>
                </a:solidFill>
                <a:effectLst/>
                <a:latin typeface="quote-cjk-patch"/>
              </a:rPr>
              <a:t>ERROR: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Menlo"/>
              </a:rPr>
              <a:t>column reference "</a:t>
            </a:r>
            <a:r>
              <a:rPr lang="en-US" sz="54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Menlo"/>
              </a:rPr>
              <a:t>" is ambiguous</a:t>
            </a:r>
            <a:endParaRPr lang="en-US" sz="54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5400" b="1" i="0" dirty="0">
                <a:solidFill>
                  <a:srgbClr val="0F1115"/>
                </a:solidFill>
                <a:effectLst/>
                <a:latin typeface="quote-cjk-patch"/>
              </a:rPr>
              <a:t>Why?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quote-cjk-patch"/>
              </a:rPr>
              <a:t> </a:t>
            </a:r>
            <a:r>
              <a:rPr lang="en-US" sz="54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quote-cjk-patch"/>
              </a:rPr>
              <a:t> exists in </a:t>
            </a:r>
            <a:r>
              <a:rPr lang="en-US" sz="5400" b="1" i="0" dirty="0">
                <a:solidFill>
                  <a:srgbClr val="0F1115"/>
                </a:solidFill>
                <a:effectLst/>
                <a:latin typeface="quote-cjk-patch"/>
              </a:rPr>
              <a:t>both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quote-cjk-patch"/>
              </a:rPr>
              <a:t> tables. The server doesn't know which one you mean.</a:t>
            </a:r>
          </a:p>
          <a:p>
            <a:pPr marL="0" marR="0" indent="0" algn="l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5400" b="1" i="0" dirty="0">
                <a:solidFill>
                  <a:srgbClr val="0F1115"/>
                </a:solidFill>
                <a:effectLst/>
                <a:latin typeface="quote-cjk-patch"/>
              </a:rPr>
              <a:t>Fix:</a:t>
            </a:r>
            <a:r>
              <a:rPr lang="en-US" sz="5400" b="0" i="0" dirty="0">
                <a:solidFill>
                  <a:srgbClr val="0F1115"/>
                </a:solidFill>
                <a:effectLst/>
                <a:latin typeface="quote-cjk-patch"/>
              </a:rPr>
              <a:t> Prefix the column with its table name:</a:t>
            </a: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Student</a:t>
            </a:r>
            <a:r>
              <a:rPr lang="en-US" sz="40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40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Student</a:t>
            </a:r>
            <a:r>
              <a:rPr lang="en-US" sz="40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sz="40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Student</a:t>
            </a:r>
            <a:r>
              <a:rPr lang="en-US" sz="40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sz="40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Payment</a:t>
            </a:r>
            <a:r>
              <a:rPr lang="en-US" sz="40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PaymentDate</a:t>
            </a:r>
            <a:endParaRPr lang="en-US" sz="40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Student</a:t>
            </a: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Inner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Payment </a:t>
            </a:r>
            <a:r>
              <a:rPr lang="en-US" sz="40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Student</a:t>
            </a:r>
            <a:r>
              <a:rPr lang="en-US" sz="40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40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Payment</a:t>
            </a:r>
            <a:r>
              <a:rPr lang="en-US" sz="40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40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40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40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5400" b="1" i="0" dirty="0">
                <a:solidFill>
                  <a:srgbClr val="0F1115"/>
                </a:solidFill>
                <a:effectLst/>
                <a:latin typeface="quote-cjk-patch"/>
              </a:rPr>
              <a:t>In this course: if you're writing a query with more than one table, you MUST prefix every column with its table name — even if it's not ambiguous.</a:t>
            </a:r>
            <a:endParaRPr lang="en-US" sz="5400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</p:spTree>
    <p:extLst>
      <p:ext uri="{BB962C8B-B14F-4D97-AF65-F5344CB8AC3E}">
        <p14:creationId xmlns:p14="http://schemas.microsoft.com/office/powerpoint/2010/main" val="3975886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3E5D4-7B82-AEF4-087B-620F422A1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5415" y="632851"/>
            <a:ext cx="8428800" cy="847200"/>
          </a:xfrm>
        </p:spPr>
        <p:txBody>
          <a:bodyPr/>
          <a:lstStyle/>
          <a:p>
            <a:r>
              <a:rPr lang="en-US" b="1" dirty="0"/>
              <a:t>Joining 3 or More Tables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C1431-88F0-AE0A-3919-02C5D8B4E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973" y="1633028"/>
            <a:ext cx="11169242" cy="4003200"/>
          </a:xfrm>
        </p:spPr>
        <p:txBody>
          <a:bodyPr>
            <a:normAutofit/>
          </a:bodyPr>
          <a:lstStyle/>
          <a:p>
            <a:pPr marL="0" marR="0" indent="0" algn="l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Just add more 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INNER JOIN ... ON ...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quote-cjk-patch"/>
              </a:rPr>
              <a:t> clauses.</a:t>
            </a: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24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column1</a:t>
            </a:r>
            <a:r>
              <a:rPr lang="en-US" sz="24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column2</a:t>
            </a:r>
            <a:r>
              <a:rPr lang="en-US" sz="24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400" b="0" i="0" dirty="0">
                <a:solidFill>
                  <a:srgbClr val="383A42"/>
                </a:solidFill>
                <a:effectLst/>
                <a:latin typeface="Menlo"/>
              </a:rPr>
              <a:t>...</a:t>
            </a:r>
            <a:endParaRPr lang="en-US" sz="24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24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table1</a:t>
            </a: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2400" b="0" i="0" dirty="0">
                <a:solidFill>
                  <a:srgbClr val="A626A4"/>
                </a:solidFill>
                <a:effectLst/>
                <a:latin typeface="Menlo"/>
              </a:rPr>
              <a:t>INNER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4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table2 </a:t>
            </a:r>
            <a:r>
              <a:rPr lang="en-US" sz="24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table1</a:t>
            </a:r>
            <a:r>
              <a:rPr lang="en-US" sz="24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joincolumn </a:t>
            </a:r>
            <a:r>
              <a:rPr lang="en-US" sz="24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table2</a:t>
            </a:r>
            <a:r>
              <a:rPr lang="en-US" sz="24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joincolumn</a:t>
            </a: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2400" b="0" i="0" dirty="0">
                <a:solidFill>
                  <a:srgbClr val="A626A4"/>
                </a:solidFill>
                <a:effectLst/>
                <a:latin typeface="Menlo"/>
              </a:rPr>
              <a:t>INNER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4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table3 </a:t>
            </a:r>
            <a:r>
              <a:rPr lang="en-US" sz="24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table2</a:t>
            </a:r>
            <a:r>
              <a:rPr lang="en-US" sz="24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joincolumn </a:t>
            </a:r>
            <a:r>
              <a:rPr lang="en-US" sz="24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table3</a:t>
            </a:r>
            <a:r>
              <a:rPr lang="en-US" sz="24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joincolumn</a:t>
            </a:r>
          </a:p>
          <a:p>
            <a:pPr marL="0" marR="0" indent="0" algn="l" latinLnBrk="1">
              <a:lnSpc>
                <a:spcPct val="120000"/>
              </a:lnSpc>
              <a:spcAft>
                <a:spcPts val="825"/>
              </a:spcAft>
              <a:buNone/>
            </a:pPr>
            <a:r>
              <a:rPr lang="en-US" sz="2400" b="0" i="0" dirty="0">
                <a:solidFill>
                  <a:srgbClr val="A626A4"/>
                </a:solidFill>
                <a:effectLst/>
                <a:latin typeface="Menlo"/>
              </a:rPr>
              <a:t>INNER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4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table4 </a:t>
            </a:r>
            <a:r>
              <a:rPr lang="en-US" sz="24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table3</a:t>
            </a:r>
            <a:r>
              <a:rPr lang="en-US" sz="24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joincolumn </a:t>
            </a:r>
            <a:r>
              <a:rPr lang="en-US" sz="24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table4</a:t>
            </a:r>
            <a:r>
              <a:rPr lang="en-US" sz="2400" b="0" i="0" dirty="0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joincolumn</a:t>
            </a:r>
            <a:r>
              <a:rPr lang="en-US" sz="24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2400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946917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C9BC2-A848-28FE-E6EA-B783445A0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6B7CE-EA50-FA54-7FBE-7DDB03BF1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5415" y="632851"/>
            <a:ext cx="8428800" cy="847200"/>
          </a:xfrm>
        </p:spPr>
        <p:txBody>
          <a:bodyPr/>
          <a:lstStyle/>
          <a:p>
            <a:r>
              <a:rPr lang="en-US" b="1" dirty="0"/>
              <a:t>Joining 3 or More Tables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DCFD3-3CEA-4BE4-CE3D-D39A46969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973" y="1633028"/>
            <a:ext cx="11169242" cy="4003200"/>
          </a:xfrm>
        </p:spPr>
        <p:txBody>
          <a:bodyPr>
            <a:normAutofit fontScale="70000" lnSpcReduction="20000"/>
          </a:bodyPr>
          <a:lstStyle/>
          <a:p>
            <a:pPr marL="0" marR="0" indent="0" algn="l">
              <a:lnSpc>
                <a:spcPct val="12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600" b="1" i="0" dirty="0">
                <a:solidFill>
                  <a:srgbClr val="0F1115"/>
                </a:solidFill>
                <a:effectLst/>
                <a:latin typeface="quote-cjk-patch"/>
              </a:rPr>
              <a:t>Example — student names, payment dates, payment types:</a:t>
            </a:r>
            <a:endParaRPr lang="en-US" sz="3600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marL="0" marR="0" indent="0" algn="l" latinLnBrk="1">
              <a:lnSpc>
                <a:spcPct val="120000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2400" b="0" i="0" dirty="0">
                <a:solidFill>
                  <a:srgbClr val="A626A4"/>
                </a:solidFill>
                <a:effectLst/>
                <a:latin typeface="Menlo"/>
              </a:rPr>
              <a:t>Select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Menlo"/>
              </a:rPr>
              <a:t>Student</a:t>
            </a:r>
            <a:r>
              <a:rPr lang="en-US" sz="24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Menlo"/>
              </a:rPr>
              <a:t>FirstName</a:t>
            </a:r>
            <a:r>
              <a:rPr lang="en-US" sz="24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Menlo"/>
              </a:rPr>
              <a:t>Student</a:t>
            </a:r>
            <a:r>
              <a:rPr lang="en-US" sz="24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Menlo"/>
              </a:rPr>
              <a:t>LastName</a:t>
            </a:r>
            <a:r>
              <a:rPr lang="en-US" sz="24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endParaRPr lang="en-US" sz="24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     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Menlo"/>
              </a:rPr>
              <a:t>Payment</a:t>
            </a:r>
            <a:r>
              <a:rPr lang="en-US" sz="24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Menlo"/>
              </a:rPr>
              <a:t>PaymentDate</a:t>
            </a:r>
            <a:r>
              <a:rPr lang="en-US" sz="2400" b="0" i="0" dirty="0">
                <a:solidFill>
                  <a:srgbClr val="383A42"/>
                </a:solidFill>
                <a:effectLst/>
                <a:latin typeface="Menlo"/>
              </a:rPr>
              <a:t>,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Menlo"/>
              </a:rPr>
              <a:t>PaymentType</a:t>
            </a:r>
            <a:r>
              <a:rPr lang="en-US" sz="24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Menlo"/>
              </a:rPr>
              <a:t>PaymentTypeDescription</a:t>
            </a:r>
            <a:endParaRPr lang="en-US" sz="24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2400" b="0" i="0" dirty="0">
                <a:solidFill>
                  <a:srgbClr val="A626A4"/>
                </a:solidFill>
                <a:effectLst/>
                <a:latin typeface="Menlo"/>
              </a:rPr>
              <a:t>From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Student</a:t>
            </a:r>
          </a:p>
          <a:p>
            <a:pPr marL="0" marR="0" indent="0" algn="l" latinLnBrk="1">
              <a:lnSpc>
                <a:spcPct val="120000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2400" b="0" i="0" dirty="0">
                <a:solidFill>
                  <a:srgbClr val="A626A4"/>
                </a:solidFill>
                <a:effectLst/>
                <a:latin typeface="Menlo"/>
              </a:rPr>
              <a:t>Inner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4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Payment </a:t>
            </a:r>
            <a:r>
              <a:rPr lang="en-US" sz="24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Menlo"/>
              </a:rPr>
              <a:t>Student</a:t>
            </a:r>
            <a:r>
              <a:rPr lang="en-US" sz="24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4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Menlo"/>
              </a:rPr>
              <a:t>Payment</a:t>
            </a:r>
            <a:r>
              <a:rPr lang="en-US" sz="24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Menlo"/>
              </a:rPr>
              <a:t>StudentID</a:t>
            </a:r>
            <a:endParaRPr lang="en-US" sz="2400" b="0" i="0" dirty="0">
              <a:solidFill>
                <a:srgbClr val="0F1115"/>
              </a:solidFill>
              <a:effectLst/>
              <a:latin typeface="Menlo"/>
            </a:endParaRPr>
          </a:p>
          <a:p>
            <a:pPr marL="0" marR="0" indent="0" algn="l" latinLnBrk="1">
              <a:lnSpc>
                <a:spcPct val="120000"/>
              </a:lnSpc>
              <a:spcBef>
                <a:spcPts val="1200"/>
              </a:spcBef>
              <a:spcAft>
                <a:spcPts val="825"/>
              </a:spcAft>
              <a:buNone/>
            </a:pPr>
            <a:r>
              <a:rPr lang="en-US" sz="2400" b="0" i="0" dirty="0">
                <a:solidFill>
                  <a:srgbClr val="A626A4"/>
                </a:solidFill>
                <a:effectLst/>
                <a:latin typeface="Menlo"/>
              </a:rPr>
              <a:t>Inner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400" b="0" i="0" dirty="0">
                <a:solidFill>
                  <a:srgbClr val="A626A4"/>
                </a:solidFill>
                <a:effectLst/>
                <a:latin typeface="Menlo"/>
              </a:rPr>
              <a:t>Join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Menlo"/>
              </a:rPr>
              <a:t>PaymentType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400" b="0" i="0" dirty="0">
                <a:solidFill>
                  <a:srgbClr val="A626A4"/>
                </a:solidFill>
                <a:effectLst/>
                <a:latin typeface="Menlo"/>
              </a:rPr>
              <a:t>On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Menlo"/>
              </a:rPr>
              <a:t>Payment</a:t>
            </a:r>
            <a:r>
              <a:rPr lang="en-US" sz="24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Menlo"/>
              </a:rPr>
              <a:t>PaymentTypeID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400" b="0" i="0" dirty="0">
                <a:solidFill>
                  <a:srgbClr val="4078F2"/>
                </a:solidFill>
                <a:effectLst/>
                <a:latin typeface="Menlo"/>
              </a:rPr>
              <a:t>=</a:t>
            </a:r>
            <a:r>
              <a:rPr lang="en-US" sz="2400" b="0" i="0" dirty="0">
                <a:solidFill>
                  <a:srgbClr val="0F1115"/>
                </a:solidFill>
                <a:effectLst/>
                <a:latin typeface="Menlo"/>
              </a:rPr>
              <a:t> 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Menlo"/>
              </a:rPr>
              <a:t>PaymentType</a:t>
            </a:r>
            <a:r>
              <a:rPr lang="en-US" sz="2400" b="0" i="0" dirty="0" err="1">
                <a:solidFill>
                  <a:srgbClr val="383A42"/>
                </a:solidFill>
                <a:effectLst/>
                <a:latin typeface="Menlo"/>
              </a:rPr>
              <a:t>.</a:t>
            </a:r>
            <a:r>
              <a:rPr lang="en-US" sz="2400" b="0" i="0" dirty="0" err="1">
                <a:solidFill>
                  <a:srgbClr val="0F1115"/>
                </a:solidFill>
                <a:effectLst/>
                <a:latin typeface="Menlo"/>
              </a:rPr>
              <a:t>PaymentTypeID</a:t>
            </a:r>
            <a:r>
              <a:rPr lang="en-US" sz="2400" b="0" i="0" dirty="0">
                <a:solidFill>
                  <a:srgbClr val="383A42"/>
                </a:solidFill>
                <a:effectLst/>
                <a:latin typeface="Menlo"/>
              </a:rPr>
              <a:t>;</a:t>
            </a:r>
            <a:endParaRPr lang="en-US" sz="2400" b="0" i="0" dirty="0">
              <a:solidFill>
                <a:srgbClr val="0F1115"/>
              </a:solidFill>
              <a:effectLst/>
              <a:latin typeface="Menlo"/>
            </a:endParaRPr>
          </a:p>
          <a:p>
            <a:pPr>
              <a:lnSpc>
                <a:spcPct val="120000"/>
              </a:lnSpc>
              <a:buNone/>
            </a:pPr>
            <a:br>
              <a:rPr lang="en-US" sz="1600" dirty="0"/>
            </a:br>
            <a:endParaRPr lang="en-US" sz="2400" b="0" i="0" dirty="0">
              <a:solidFill>
                <a:srgbClr val="0F1115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9233925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64D5E-1F69-C2D7-47D8-F7E023EA1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5333" y="601679"/>
            <a:ext cx="10443415" cy="847200"/>
          </a:xfrm>
        </p:spPr>
        <p:txBody>
          <a:bodyPr/>
          <a:lstStyle/>
          <a:p>
            <a:r>
              <a:rPr lang="en-US" b="1" dirty="0"/>
              <a:t>Table Join Summary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7AC7A2-2D3E-31BB-C680-1866BDD0AE2E}"/>
              </a:ext>
            </a:extLst>
          </p:cNvPr>
          <p:cNvSpPr txBox="1"/>
          <p:nvPr/>
        </p:nvSpPr>
        <p:spPr>
          <a:xfrm>
            <a:off x="1185332" y="1697923"/>
            <a:ext cx="9802215" cy="3339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-342900" algn="l"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Joins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combine data from related tables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Inner Join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→ parent records with at least one matching child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Outer Join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→ all parent records, related child records where they exist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Left/Right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→ chose based on which table you want </a:t>
            </a: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all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of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Ambiguous columns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→ prefix with table name (mandatory in this course)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0F1115"/>
                </a:solidFill>
                <a:effectLst/>
                <a:latin typeface="quote-cjk-patch"/>
              </a:rPr>
              <a:t>3+ tables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→ chain more 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INNER JOIN ... ON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 clauses</a:t>
            </a:r>
          </a:p>
          <a:p>
            <a:pPr marL="0" marR="0" lvl="0" indent="-342900" algn="l">
              <a:spcBef>
                <a:spcPts val="45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All other clauses (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WHERE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GROUP BY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, 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Menlo"/>
              </a:rPr>
              <a:t>ORDER BY</a:t>
            </a:r>
            <a:r>
              <a:rPr lang="en-US" sz="1800" b="0" i="0" dirty="0">
                <a:solidFill>
                  <a:srgbClr val="0F1115"/>
                </a:solidFill>
                <a:effectLst/>
                <a:latin typeface="quote-cjk-patch"/>
              </a:rPr>
              <a:t>) work with joins</a:t>
            </a:r>
          </a:p>
        </p:txBody>
      </p:sp>
    </p:spTree>
    <p:extLst>
      <p:ext uri="{BB962C8B-B14F-4D97-AF65-F5344CB8AC3E}">
        <p14:creationId xmlns:p14="http://schemas.microsoft.com/office/powerpoint/2010/main" val="18944558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AIT Blues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00498D"/>
      </a:accent2>
      <a:accent3>
        <a:srgbClr val="8CC63F"/>
      </a:accent3>
      <a:accent4>
        <a:srgbClr val="482F91"/>
      </a:accent4>
      <a:accent5>
        <a:srgbClr val="F26E23"/>
      </a:accent5>
      <a:accent6>
        <a:srgbClr val="A9A9A9"/>
      </a:accent6>
      <a:hlink>
        <a:srgbClr val="00ACED"/>
      </a:hlink>
      <a:folHlink>
        <a:srgbClr val="00ACED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IT Standard Powerpoint Presentation Template for NAIT Screens" id="{3BD04EBB-4171-4583-A98E-91711106D317}" vid="{263152E8-5872-4D90-B5D5-232AD3B8B37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636a0e-6a5d-4f3a-8cec-2ed9d7e96064">
      <Terms xmlns="http://schemas.microsoft.com/office/infopath/2007/PartnerControls"/>
    </lcf76f155ced4ddcb4097134ff3c332f>
    <TaxCatchAll xmlns="28175f85-aaa6-450f-8e62-bb2d8657c111" xsi:nil="true"/>
    <DocumentType xmlns="c0636a0e-6a5d-4f3a-8cec-2ed9d7e9606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B085E912FEB648B2192060B32B0D81" ma:contentTypeVersion="13" ma:contentTypeDescription="Create a new document." ma:contentTypeScope="" ma:versionID="86d586ee750db57df4bf82dbbd148a8d">
  <xsd:schema xmlns:xsd="http://www.w3.org/2001/XMLSchema" xmlns:xs="http://www.w3.org/2001/XMLSchema" xmlns:p="http://schemas.microsoft.com/office/2006/metadata/properties" xmlns:ns2="c0636a0e-6a5d-4f3a-8cec-2ed9d7e96064" xmlns:ns3="28175f85-aaa6-450f-8e62-bb2d8657c111" targetNamespace="http://schemas.microsoft.com/office/2006/metadata/properties" ma:root="true" ma:fieldsID="b83bdf18099a32914c9c196890c95f2f" ns2:_="" ns3:_="">
    <xsd:import namespace="c0636a0e-6a5d-4f3a-8cec-2ed9d7e96064"/>
    <xsd:import namespace="28175f85-aaa6-450f-8e62-bb2d8657c11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DocumentTyp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636a0e-6a5d-4f3a-8cec-2ed9d7e960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6ce3a7a1-84a7-46f6-b9ea-52be05fcf1b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DocumentType" ma:index="20" nillable="true" ma:displayName="Document Type" ma:format="Dropdown" ma:internalName="DocumentType">
      <xsd:simpleType>
        <xsd:union memberTypes="dms:Text">
          <xsd:simpleType>
            <xsd:restriction base="dms:Choice">
              <xsd:enumeration value="Source of truth"/>
              <xsd:enumeration value="Archive"/>
            </xsd:restriction>
          </xsd:simpleType>
        </xsd:un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175f85-aaa6-450f-8e62-bb2d8657c11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1229875-1db7-498c-8d13-35c205bc76f3}" ma:internalName="TaxCatchAll" ma:showField="CatchAllData" ma:web="28175f85-aaa6-450f-8e62-bb2d8657c11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087D08-9B7A-464C-90FA-EA923D7CBBB6}">
  <ds:schemaRefs>
    <ds:schemaRef ds:uri="http://schemas.openxmlformats.org/package/2006/metadata/core-properties"/>
    <ds:schemaRef ds:uri="http://www.w3.org/XML/1998/namespace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52bb52fc-fb4a-47ec-96af-1ca16eda3341"/>
    <ds:schemaRef ds:uri="http://purl.org/dc/elements/1.1/"/>
    <ds:schemaRef ds:uri="http://schemas.microsoft.com/office/infopath/2007/PartnerControls"/>
    <ds:schemaRef ds:uri="0fa82ce2-b671-45ef-b5fe-18516deeba49"/>
    <ds:schemaRef ds:uri="f60468bc-9de1-4bbe-b533-c963951abe47"/>
    <ds:schemaRef ds:uri="c0636a0e-6a5d-4f3a-8cec-2ed9d7e96064"/>
    <ds:schemaRef ds:uri="28175f85-aaa6-450f-8e62-bb2d8657c111"/>
  </ds:schemaRefs>
</ds:datastoreItem>
</file>

<file path=customXml/itemProps2.xml><?xml version="1.0" encoding="utf-8"?>
<ds:datastoreItem xmlns:ds="http://schemas.openxmlformats.org/officeDocument/2006/customXml" ds:itemID="{6ABA5B65-9C6D-442F-9E03-5588B1ABEE4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636a0e-6a5d-4f3a-8cec-2ed9d7e96064"/>
    <ds:schemaRef ds:uri="28175f85-aaa6-450f-8e62-bb2d8657c11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540F518-E7A2-492A-A586-FD4E5E75005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NAIT Standard Powerpoint Presentation Template for NAIT Screens</Template>
  <TotalTime>2283</TotalTime>
  <Words>1037</Words>
  <Application>Microsoft Office PowerPoint</Application>
  <PresentationFormat>Widescreen</PresentationFormat>
  <Paragraphs>116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Menlo</vt:lpstr>
      <vt:lpstr>quote-cjk-patch</vt:lpstr>
      <vt:lpstr>Office Theme</vt:lpstr>
      <vt:lpstr>PowerPoint Presentation</vt:lpstr>
      <vt:lpstr>The Problem — Data in Multiple Tables  </vt:lpstr>
      <vt:lpstr>Why Did That Happen?</vt:lpstr>
      <vt:lpstr>The INNER JOIN</vt:lpstr>
      <vt:lpstr>How Inner Join Works</vt:lpstr>
      <vt:lpstr>Outer Joins</vt:lpstr>
      <vt:lpstr> LEFT vs RIGHT — The Rule</vt:lpstr>
      <vt:lpstr>The WHERE Clause — Filtering Rows</vt:lpstr>
      <vt:lpstr>Why This Doesn't Make Sense</vt:lpstr>
      <vt:lpstr>Inner vs Outer — A Clear Example</vt:lpstr>
      <vt:lpstr>Ambiguous Columns — A Common Error</vt:lpstr>
      <vt:lpstr>Joining 3 or More Tables</vt:lpstr>
      <vt:lpstr>Joining 3 or More Tables</vt:lpstr>
      <vt:lpstr>Table Join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Larisa Pitchko</dc:creator>
  <cp:lastModifiedBy>Larisa Pitchko</cp:lastModifiedBy>
  <cp:revision>237</cp:revision>
  <dcterms:created xsi:type="dcterms:W3CDTF">2019-08-28T18:27:45Z</dcterms:created>
  <dcterms:modified xsi:type="dcterms:W3CDTF">2026-10-14T13:48:48Z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wner - Department">
    <vt:lpwstr>197;#Brand|943f07b5-0abf-4eba-9a92-bb911ec4797c</vt:lpwstr>
  </property>
  <property fmtid="{D5CDD505-2E9C-101B-9397-08002B2CF9AE}" pid="3" name="Topic">
    <vt:lpwstr>114;#NAIT Brand|56c3f36a-7bf3-46f3-a4b0-bb3df19b2675</vt:lpwstr>
  </property>
  <property fmtid="{D5CDD505-2E9C-101B-9397-08002B2CF9AE}" pid="4" name="Building">
    <vt:lpwstr/>
  </property>
  <property fmtid="{D5CDD505-2E9C-101B-9397-08002B2CF9AE}" pid="5" name="ContentTypeId">
    <vt:lpwstr>0x0101007BB085E912FEB648B2192060B32B0D81</vt:lpwstr>
  </property>
  <property fmtid="{D5CDD505-2E9C-101B-9397-08002B2CF9AE}" pid="6" name="Target Audience">
    <vt:lpwstr/>
  </property>
  <property fmtid="{D5CDD505-2E9C-101B-9397-08002B2CF9AE}" pid="7" name="_dlc_DocIdItemGuid">
    <vt:lpwstr>fb17ffeb-f9e3-4da5-8986-98ba4c89698a</vt:lpwstr>
  </property>
  <property fmtid="{D5CDD505-2E9C-101B-9397-08002B2CF9AE}" pid="8" name="PublishedDocument.Location">
    <vt:lpwstr/>
  </property>
  <property fmtid="{D5CDD505-2E9C-101B-9397-08002B2CF9AE}" pid="9" name="Program">
    <vt:lpwstr/>
  </property>
  <property fmtid="{D5CDD505-2E9C-101B-9397-08002B2CF9AE}" pid="10" name="MediaServiceImageTags">
    <vt:lpwstr/>
  </property>
  <property fmtid="{D5CDD505-2E9C-101B-9397-08002B2CF9AE}" pid="11" name="MSIP_Label_10877899-02b0-462c-b2a9-b7d15c4f96fe_Enabled">
    <vt:lpwstr>true</vt:lpwstr>
  </property>
  <property fmtid="{D5CDD505-2E9C-101B-9397-08002B2CF9AE}" pid="12" name="MSIP_Label_10877899-02b0-462c-b2a9-b7d15c4f96fe_SetDate">
    <vt:lpwstr>2025-04-25T04:19:52Z</vt:lpwstr>
  </property>
  <property fmtid="{D5CDD505-2E9C-101B-9397-08002B2CF9AE}" pid="13" name="MSIP_Label_10877899-02b0-462c-b2a9-b7d15c4f96fe_Method">
    <vt:lpwstr>Standard</vt:lpwstr>
  </property>
  <property fmtid="{D5CDD505-2E9C-101B-9397-08002B2CF9AE}" pid="14" name="MSIP_Label_10877899-02b0-462c-b2a9-b7d15c4f96fe_Name">
    <vt:lpwstr>Protected [Protected A]</vt:lpwstr>
  </property>
  <property fmtid="{D5CDD505-2E9C-101B-9397-08002B2CF9AE}" pid="15" name="MSIP_Label_10877899-02b0-462c-b2a9-b7d15c4f96fe_SiteId">
    <vt:lpwstr>5c98fb47-d3b9-4649-9d94-f88cbdd9729c</vt:lpwstr>
  </property>
  <property fmtid="{D5CDD505-2E9C-101B-9397-08002B2CF9AE}" pid="16" name="MSIP_Label_10877899-02b0-462c-b2a9-b7d15c4f96fe_ActionId">
    <vt:lpwstr>162fc8a6-e960-4808-9911-9227cb246ce1</vt:lpwstr>
  </property>
  <property fmtid="{D5CDD505-2E9C-101B-9397-08002B2CF9AE}" pid="17" name="MSIP_Label_10877899-02b0-462c-b2a9-b7d15c4f96fe_ContentBits">
    <vt:lpwstr>0</vt:lpwstr>
  </property>
  <property fmtid="{D5CDD505-2E9C-101B-9397-08002B2CF9AE}" pid="18" name="MSIP_Label_10877899-02b0-462c-b2a9-b7d15c4f96fe_Tag">
    <vt:lpwstr>10, 3, 0, 1</vt:lpwstr>
  </property>
</Properties>
</file>