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71" r:id="rId5"/>
    <p:sldId id="369" r:id="rId6"/>
    <p:sldId id="371" r:id="rId7"/>
    <p:sldId id="395" r:id="rId8"/>
    <p:sldId id="396" r:id="rId9"/>
    <p:sldId id="397" r:id="rId10"/>
    <p:sldId id="372" r:id="rId11"/>
    <p:sldId id="373" r:id="rId12"/>
    <p:sldId id="374" r:id="rId13"/>
    <p:sldId id="375" r:id="rId14"/>
    <p:sldId id="376" r:id="rId15"/>
    <p:sldId id="428" r:id="rId16"/>
    <p:sldId id="431" r:id="rId17"/>
    <p:sldId id="429" r:id="rId18"/>
    <p:sldId id="432" r:id="rId19"/>
    <p:sldId id="433" r:id="rId20"/>
    <p:sldId id="434" r:id="rId21"/>
    <p:sldId id="435" r:id="rId22"/>
    <p:sldId id="436" r:id="rId23"/>
    <p:sldId id="437" r:id="rId24"/>
    <p:sldId id="438" r:id="rId25"/>
    <p:sldId id="439" r:id="rId26"/>
    <p:sldId id="43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3" autoAdjust="0"/>
    <p:restoredTop sz="89935" autoAdjust="0"/>
  </p:normalViewPr>
  <p:slideViewPr>
    <p:cSldViewPr snapToGrid="0" snapToObjects="1" showGuides="1">
      <p:cViewPr varScale="1">
        <p:scale>
          <a:sx n="99" d="100"/>
          <a:sy n="99" d="100"/>
        </p:scale>
        <p:origin x="68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familiar example</a:t>
            </a:r>
          </a:p>
          <a:p>
            <a:r>
              <a:rPr lang="en-CA" dirty="0"/>
              <a:t>“Let's say I have a list of 10,000 customers.”</a:t>
            </a:r>
          </a:p>
          <a:p>
            <a:r>
              <a:rPr lang="en-CA" dirty="0"/>
              <a:t>“For each customer, I might have their customer number, first name, last name, address, phone number, email, and maybe their order history.”</a:t>
            </a:r>
          </a:p>
          <a:p>
            <a:r>
              <a:rPr lang="en-CA" dirty="0"/>
              <a:t>“That information is data. If I organize and store it so that I can efficiently work with it, I have a database.”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INSERT Statements (DML)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55" y="767933"/>
            <a:ext cx="9844578" cy="847200"/>
          </a:xfrm>
        </p:spPr>
        <p:txBody>
          <a:bodyPr>
            <a:normAutofit/>
          </a:bodyPr>
          <a:lstStyle/>
          <a:p>
            <a:r>
              <a:rPr lang="en-US" b="1" dirty="0"/>
              <a:t>What is DML?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2DCA6-959A-EC24-0680-C3627496B46A}"/>
              </a:ext>
            </a:extLst>
          </p:cNvPr>
          <p:cNvSpPr txBox="1"/>
          <p:nvPr/>
        </p:nvSpPr>
        <p:spPr>
          <a:xfrm>
            <a:off x="1050252" y="1621599"/>
            <a:ext cx="74841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DML</a:t>
            </a:r>
            <a:r>
              <a:rPr lang="en-US" dirty="0"/>
              <a:t> stands for </a:t>
            </a:r>
            <a:r>
              <a:rPr lang="en-US" b="1" dirty="0"/>
              <a:t>Data Manipulation Language</a:t>
            </a:r>
            <a:r>
              <a:rPr lang="en-US" dirty="0"/>
              <a:t>.</a:t>
            </a:r>
          </a:p>
          <a:p>
            <a:r>
              <a:rPr lang="en-US" dirty="0"/>
              <a:t>It is the category of SQL used to work with the </a:t>
            </a:r>
            <a:r>
              <a:rPr lang="en-US" b="1" dirty="0"/>
              <a:t>data inside</a:t>
            </a:r>
            <a:r>
              <a:rPr lang="en-US" dirty="0"/>
              <a:t> your tables (not the table structure itself).</a:t>
            </a:r>
          </a:p>
          <a:p>
            <a:r>
              <a:rPr lang="en-US" b="1" dirty="0"/>
              <a:t>The core DML commands: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2F87D7-17D0-EEEE-9374-BF5318556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596270"/>
              </p:ext>
            </p:extLst>
          </p:nvPr>
        </p:nvGraphicFramePr>
        <p:xfrm>
          <a:off x="1050252" y="3042551"/>
          <a:ext cx="7634638" cy="1987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7319">
                  <a:extLst>
                    <a:ext uri="{9D8B030D-6E8A-4147-A177-3AD203B41FA5}">
                      <a16:colId xmlns:a16="http://schemas.microsoft.com/office/drawing/2014/main" val="561944223"/>
                    </a:ext>
                  </a:extLst>
                </a:gridCol>
                <a:gridCol w="3817319">
                  <a:extLst>
                    <a:ext uri="{9D8B030D-6E8A-4147-A177-3AD203B41FA5}">
                      <a16:colId xmlns:a16="http://schemas.microsoft.com/office/drawing/2014/main" val="1811111283"/>
                    </a:ext>
                  </a:extLst>
                </a:gridCol>
              </a:tblGrid>
              <a:tr h="47413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Command</a:t>
                      </a:r>
                      <a:endParaRPr lang="en-US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What it does</a:t>
                      </a:r>
                      <a:endParaRPr lang="en-US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658173694"/>
                  </a:ext>
                </a:extLst>
              </a:tr>
              <a:tr h="47413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INSERT</a:t>
                      </a:r>
                      <a:endParaRPr lang="en-US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Adds new rows</a:t>
                      </a:r>
                      <a:endParaRPr lang="en-US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86086261"/>
                  </a:ext>
                </a:extLst>
              </a:tr>
              <a:tr h="47413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UPDATE</a:t>
                      </a:r>
                      <a:endParaRPr lang="en-US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Modifies existing rows</a:t>
                      </a:r>
                      <a:endParaRPr lang="en-US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36090873"/>
                  </a:ext>
                </a:extLst>
              </a:tr>
              <a:tr h="47413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DELETE</a:t>
                      </a:r>
                      <a:endParaRPr lang="en-US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Removes existing rows</a:t>
                      </a:r>
                      <a:endParaRPr lang="en-US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92140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56" y="767933"/>
            <a:ext cx="10541478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It Compares to Other SQL Categories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87" y="1736912"/>
            <a:ext cx="9292333" cy="3384175"/>
          </a:xfrm>
        </p:spPr>
        <p:txBody>
          <a:bodyPr>
            <a:no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It helps to know the difference between the main categories of SQL:</a:t>
            </a:r>
          </a:p>
          <a:p>
            <a:pPr marL="0" marR="0" lvl="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DDL (Data Definition Language):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 Defines the structure.</a:t>
            </a:r>
          </a:p>
          <a:p>
            <a:pPr marL="0" marR="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0" i="1" dirty="0">
                <a:solidFill>
                  <a:srgbClr val="0F1115"/>
                </a:solidFill>
                <a:effectLst/>
                <a:latin typeface="quote-cjk-patch"/>
              </a:rPr>
              <a:t>Examples: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CREATE TABLE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ALTER TABLE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DROP TABLE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CREATE VIEW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-34290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DML (Data Manipulation Language):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 Manipulates the data inside the structure.</a:t>
            </a:r>
          </a:p>
          <a:p>
            <a:pPr marL="0" marR="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0" i="1" dirty="0">
                <a:solidFill>
                  <a:srgbClr val="0F1115"/>
                </a:solidFill>
                <a:effectLst/>
                <a:latin typeface="quote-cjk-patch"/>
              </a:rPr>
              <a:t>Examples: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INSERT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UPDATE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DELETE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-342900"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quote-cjk-patch"/>
              </a:rPr>
              <a:t>DCL (Data Control Language):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 Manages permissions.</a:t>
            </a:r>
          </a:p>
          <a:p>
            <a:pPr marL="0" marR="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0" i="1" dirty="0">
                <a:solidFill>
                  <a:srgbClr val="0F1115"/>
                </a:solidFill>
                <a:effectLst/>
                <a:latin typeface="quote-cjk-patch"/>
              </a:rPr>
              <a:t>Examples: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GRANT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REVOKE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0" i="1" dirty="0">
                <a:solidFill>
                  <a:srgbClr val="0F1115"/>
                </a:solidFill>
                <a:effectLst/>
                <a:latin typeface="quote-cjk-patch"/>
              </a:rPr>
              <a:t>(Note: Constraints like PK and FK are part of DDL because they are part of the table definition, but they enforce rules on the DML commands!)</a:t>
            </a:r>
            <a:endParaRPr lang="en-US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A29A-1577-DBB8-37C3-4B363943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8086-3088-56A7-72E3-CAD67426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11" y="767933"/>
            <a:ext cx="11180456" cy="847200"/>
          </a:xfrm>
        </p:spPr>
        <p:txBody>
          <a:bodyPr/>
          <a:lstStyle/>
          <a:p>
            <a:r>
              <a:rPr lang="en-US" b="1" dirty="0"/>
              <a:t>What Is INSERT?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6998-8D3E-6843-5999-E76A6A4DC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872" y="1615133"/>
            <a:ext cx="9840161" cy="4366310"/>
          </a:xfrm>
        </p:spPr>
        <p:txBody>
          <a:bodyPr>
            <a:norm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 b="0" i="0" dirty="0">
                <a:solidFill>
                  <a:srgbClr val="0F1115"/>
                </a:solidFill>
                <a:effectLst/>
                <a:latin typeface="quote-cjk-patch"/>
              </a:rPr>
              <a:t>The </a:t>
            </a:r>
            <a:r>
              <a:rPr lang="en-US" sz="2600" b="0" i="0" dirty="0">
                <a:solidFill>
                  <a:srgbClr val="0F1115"/>
                </a:solidFill>
                <a:effectLst/>
                <a:latin typeface="Menlo"/>
              </a:rPr>
              <a:t>INSERT</a:t>
            </a:r>
            <a:r>
              <a:rPr lang="en-US" sz="2600" b="0" i="0" dirty="0">
                <a:solidFill>
                  <a:srgbClr val="0F1115"/>
                </a:solidFill>
                <a:effectLst/>
                <a:latin typeface="quote-cjk-patch"/>
              </a:rPr>
              <a:t> statement is used to </a:t>
            </a:r>
            <a:r>
              <a:rPr lang="en-US" sz="2600" b="1" i="0" dirty="0">
                <a:solidFill>
                  <a:srgbClr val="0F1115"/>
                </a:solidFill>
                <a:effectLst/>
                <a:latin typeface="quote-cjk-patch"/>
              </a:rPr>
              <a:t>add one or more rows</a:t>
            </a:r>
            <a:r>
              <a:rPr lang="en-US" sz="2600" b="0" i="0" dirty="0">
                <a:solidFill>
                  <a:srgbClr val="0F1115"/>
                </a:solidFill>
                <a:effectLst/>
                <a:latin typeface="quote-cjk-patch"/>
              </a:rPr>
              <a:t> to a table.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 b="0" i="0" dirty="0">
                <a:solidFill>
                  <a:srgbClr val="0F1115"/>
                </a:solidFill>
                <a:effectLst/>
                <a:latin typeface="quote-cjk-patch"/>
              </a:rPr>
              <a:t>It can insert: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0F1115"/>
                </a:solidFill>
                <a:effectLst/>
                <a:latin typeface="quote-cjk-patch"/>
              </a:rPr>
              <a:t>Hard-coded values</a:t>
            </a:r>
            <a:r>
              <a:rPr lang="en-US" sz="2600" b="0" i="0" dirty="0">
                <a:solidFill>
                  <a:srgbClr val="0F1115"/>
                </a:solidFill>
                <a:effectLst/>
                <a:latin typeface="quote-cjk-patch"/>
              </a:rPr>
              <a:t> (typed directly into the statement)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0F1115"/>
                </a:solidFill>
                <a:effectLst/>
                <a:latin typeface="quote-cjk-patch"/>
              </a:rPr>
              <a:t>Data from subqueries</a:t>
            </a:r>
            <a:r>
              <a:rPr lang="en-US" sz="2600" b="0" i="0" dirty="0">
                <a:solidFill>
                  <a:srgbClr val="0F1115"/>
                </a:solidFill>
                <a:effectLst/>
                <a:latin typeface="quote-cjk-patch"/>
              </a:rPr>
              <a:t> (selected from other tables)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0F1115"/>
                </a:solidFill>
                <a:effectLst/>
                <a:latin typeface="quote-cjk-patch"/>
              </a:rPr>
              <a:t>A combination of both</a:t>
            </a:r>
            <a:endParaRPr lang="en-US" sz="2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70048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272A-C626-0D54-C129-9D51946E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09F-EF02-9E4E-8CCE-27B167EA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17" y="720573"/>
            <a:ext cx="6020757" cy="847200"/>
          </a:xfrm>
        </p:spPr>
        <p:txBody>
          <a:bodyPr>
            <a:normAutofit/>
          </a:bodyPr>
          <a:lstStyle/>
          <a:p>
            <a:r>
              <a:rPr lang="en-US" b="1" dirty="0"/>
              <a:t>Simplified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1845F-1145-B076-EFF9-2F84C44C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80" y="2495547"/>
            <a:ext cx="2592137" cy="1540938"/>
          </a:xfrm>
        </p:spPr>
        <p:txBody>
          <a:bodyPr>
            <a:normAutofit/>
          </a:bodyPr>
          <a:lstStyle/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Insert [Into] </a:t>
            </a:r>
            <a:r>
              <a:rPr lang="en-US" sz="1200" b="0" i="0" dirty="0" err="1">
                <a:solidFill>
                  <a:srgbClr val="A626A4"/>
                </a:solidFill>
                <a:effectLst/>
                <a:latin typeface="Menlo"/>
              </a:rPr>
              <a:t>table_name</a:t>
            </a:r>
            <a:endParaRPr lang="en-US" sz="1200" b="0" i="0" dirty="0">
              <a:solidFill>
                <a:srgbClr val="A626A4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[{column list}]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{{DEFAULT | NULL | expression}, ...}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BACC35-5CC5-41D1-C92A-37BCFE206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659178"/>
              </p:ext>
            </p:extLst>
          </p:nvPr>
        </p:nvGraphicFramePr>
        <p:xfrm>
          <a:off x="3723172" y="2003063"/>
          <a:ext cx="7162800" cy="25259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94767264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646333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Piece</a:t>
                      </a:r>
                      <a:endParaRPr lang="en-US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Meaning</a:t>
                      </a:r>
                      <a:endParaRPr lang="en-US" sz="16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45733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975" dirty="0">
                          <a:effectLst/>
                        </a:rPr>
                        <a:t>[Into]</a:t>
                      </a:r>
                      <a:endParaRPr lang="en-U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Optional keyword — makes the statement readable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98774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975">
                          <a:effectLst/>
                        </a:rPr>
                        <a:t>table_name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The table receiving the new row(s)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8400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975">
                          <a:effectLst/>
                        </a:rPr>
                        <a:t>{column list}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Which columns are getting values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5991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975">
                          <a:effectLst/>
                        </a:rPr>
                        <a:t>Values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Starts the list of values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21681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975">
                          <a:effectLst/>
                        </a:rPr>
                        <a:t>Select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 dirty="0">
                          <a:effectLst/>
                        </a:rPr>
                        <a:t>A SELECT statement that returns rows to insert</a:t>
                      </a:r>
                      <a:endParaRPr lang="en-U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56124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40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D284-9C4C-7C08-84D8-AD735A9C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A2E0-DF1C-EBEE-3A15-6A060816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2" y="648866"/>
            <a:ext cx="10307320" cy="847200"/>
          </a:xfrm>
        </p:spPr>
        <p:txBody>
          <a:bodyPr/>
          <a:lstStyle/>
          <a:p>
            <a:r>
              <a:rPr lang="en-US" b="1" dirty="0"/>
              <a:t>The Column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C2A64-9005-1717-56DF-CDB4EA11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79" y="1915958"/>
            <a:ext cx="11052387" cy="3892176"/>
          </a:xfrm>
        </p:spPr>
        <p:txBody>
          <a:bodyPr>
            <a:normAutofit fontScale="3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The column list specifies 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which columns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will receive data.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Rules: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Must be comma delimited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Must be enclosed in parentheses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Must match the values list (one value per column)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Important: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If the column list is omitted, the database expects a value for 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every column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in the order the columns were defined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when the table was created.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In this course: omitting the column list is not acceptable.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7288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95" y="756933"/>
            <a:ext cx="11669238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The Values List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987" y="1655963"/>
            <a:ext cx="9909080" cy="3590712"/>
          </a:xfrm>
        </p:spPr>
        <p:txBody>
          <a:bodyPr>
            <a:norm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Values are provided in the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Values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clause.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Rules: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One value for each column in the column list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Comma delimited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Must match the order of the column list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Each value can be-&gt;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DE60E7-D4B4-9FC0-3052-6C80EBBDC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451093"/>
              </p:ext>
            </p:extLst>
          </p:nvPr>
        </p:nvGraphicFramePr>
        <p:xfrm>
          <a:off x="5657850" y="2262001"/>
          <a:ext cx="5526706" cy="16759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462">
                  <a:extLst>
                    <a:ext uri="{9D8B030D-6E8A-4147-A177-3AD203B41FA5}">
                      <a16:colId xmlns:a16="http://schemas.microsoft.com/office/drawing/2014/main" val="155885941"/>
                    </a:ext>
                  </a:extLst>
                </a:gridCol>
                <a:gridCol w="4360244">
                  <a:extLst>
                    <a:ext uri="{9D8B030D-6E8A-4147-A177-3AD203B41FA5}">
                      <a16:colId xmlns:a16="http://schemas.microsoft.com/office/drawing/2014/main" val="1205596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Value</a:t>
                      </a:r>
                      <a:endParaRPr lang="en-US" sz="14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Meaning</a:t>
                      </a:r>
                      <a:endParaRPr lang="en-US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049059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Expression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A constant, variable, or calculation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10891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DEFAULT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Uses the column's default value (from a Default constraint)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567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NULL</a:t>
                      </a:r>
                      <a:endParaRPr lang="en-US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 dirty="0">
                          <a:effectLst/>
                        </a:rPr>
                        <a:t>Stores NULL — the column must allow nulls</a:t>
                      </a:r>
                      <a:endParaRPr lang="en-US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442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646" y="721895"/>
            <a:ext cx="10994960" cy="6646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Happens If Constraints Are Violated?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615134"/>
            <a:ext cx="10913532" cy="3632276"/>
          </a:xfrm>
        </p:spPr>
        <p:txBody>
          <a:bodyPr>
            <a:norm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If an INSERT supplies data that: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Does not comply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with constraints (PK, FK, Check, etc.)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Is incompatible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with the column's datatype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→ The INSERT fails, and the database issues an error message.</a:t>
            </a:r>
            <a:endParaRPr lang="en-US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The row is NOT added.</a:t>
            </a:r>
            <a:endParaRPr lang="en-US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392" y="612070"/>
            <a:ext cx="9838432" cy="847200"/>
          </a:xfrm>
        </p:spPr>
        <p:txBody>
          <a:bodyPr/>
          <a:lstStyle/>
          <a:p>
            <a:r>
              <a:rPr lang="en-US" b="1" dirty="0"/>
              <a:t>Three Ways to Insert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0F5B69-56CA-DE2C-650E-B64D719AD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577405"/>
              </p:ext>
            </p:extLst>
          </p:nvPr>
        </p:nvGraphicFramePr>
        <p:xfrm>
          <a:off x="1499736" y="1799778"/>
          <a:ext cx="7162800" cy="1623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48792169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184632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 b="1">
                          <a:effectLst/>
                        </a:rPr>
                        <a:t>Method</a:t>
                      </a:r>
                      <a:endParaRPr lang="en-US" sz="1125" b="1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125" b="1" dirty="0">
                          <a:effectLst/>
                        </a:rPr>
                        <a:t>Description</a:t>
                      </a:r>
                      <a:endParaRPr lang="en-US" sz="1125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1474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1. Select from another table</a:t>
                      </a:r>
                      <a:endParaRPr lang="en-US" sz="1125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Copy data from a backup or lookup table</a:t>
                      </a:r>
                      <a:endParaRPr lang="en-US" sz="1125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2407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2. Hard code values</a:t>
                      </a:r>
                      <a:endParaRPr lang="en-US" sz="1125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Type the values directly into the INSERT</a:t>
                      </a:r>
                      <a:endParaRPr lang="en-US" sz="1125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04598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>
                          <a:effectLst/>
                        </a:rPr>
                        <a:t>3. Combination</a:t>
                      </a:r>
                      <a:endParaRPr lang="en-US" sz="1125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n-US" sz="1125" dirty="0">
                          <a:effectLst/>
                        </a:rPr>
                        <a:t>Mix hard-coded values and subqueries</a:t>
                      </a:r>
                      <a:endParaRPr lang="en-US" sz="1125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013841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8AA9D1-AE77-32E6-3980-75497AB5F68A}"/>
              </a:ext>
            </a:extLst>
          </p:cNvPr>
          <p:cNvSpPr txBox="1"/>
          <p:nvPr/>
        </p:nvSpPr>
        <p:spPr>
          <a:xfrm>
            <a:off x="1499736" y="3763602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All three are valid. The best choice depends on what you're inserting.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22461"/>
            <a:ext cx="9793405" cy="847200"/>
          </a:xfrm>
        </p:spPr>
        <p:txBody>
          <a:bodyPr>
            <a:normAutofit/>
          </a:bodyPr>
          <a:lstStyle/>
          <a:p>
            <a:r>
              <a:rPr lang="en-US" b="1" dirty="0"/>
              <a:t>Example — Full Column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6686E-3BF2-28E2-111A-BC3A989E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302109"/>
            <a:ext cx="8291508" cy="3255453"/>
          </a:xfrm>
        </p:spPr>
        <p:txBody>
          <a:bodyPr>
            <a:noAutofit/>
          </a:bodyPr>
          <a:lstStyle/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LoginID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1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1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600" b="0" i="0" dirty="0">
                <a:solidFill>
                  <a:srgbClr val="B76B01"/>
                </a:solidFill>
                <a:effectLst/>
                <a:latin typeface="Menlo"/>
              </a:rPr>
              <a:t>25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50A14F"/>
                </a:solidFill>
                <a:effectLst/>
                <a:latin typeface="Menlo"/>
              </a:rPr>
              <a:t>'Alex'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50A14F"/>
                </a:solidFill>
                <a:effectLst/>
                <a:latin typeface="Menlo"/>
              </a:rPr>
              <a:t>'Code'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50A14F"/>
                </a:solidFill>
                <a:effectLst/>
                <a:latin typeface="Menlo"/>
              </a:rPr>
              <a:t>'2024-10-01'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1600" b="0" i="0" dirty="0" err="1">
                <a:solidFill>
                  <a:srgbClr val="50A14F"/>
                </a:solidFill>
                <a:effectLst/>
                <a:latin typeface="Menlo"/>
              </a:rPr>
              <a:t>acode</a:t>
            </a:r>
            <a:r>
              <a:rPr lang="en-US" sz="1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1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What to notice: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Every column is listed</a:t>
            </a:r>
          </a:p>
          <a:p>
            <a:pPr marL="0" marR="0" lvl="0" indent="-342900" algn="l">
              <a:lnSpc>
                <a:spcPct val="12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The values list has the </a:t>
            </a: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same number of entries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lnSpc>
                <a:spcPct val="12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The values are in the </a:t>
            </a: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same order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as the column list</a:t>
            </a:r>
          </a:p>
          <a:p>
            <a:pPr marL="0" marR="0" lvl="0" indent="-342900" algn="l">
              <a:lnSpc>
                <a:spcPct val="12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Null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is used to insert a NULL into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767933"/>
            <a:ext cx="10278532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— Omitting the Column List (Don't Do This)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32500" lnSpcReduction="20000"/>
          </a:bodyPr>
          <a:lstStyle/>
          <a:p>
            <a:pPr marL="0" marR="0" indent="0" algn="l">
              <a:lnSpc>
                <a:spcPct val="120000"/>
              </a:lnSpc>
              <a:spcBef>
                <a:spcPts val="1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quote-cjk-patch"/>
              </a:rPr>
              <a:t>The same record could be inserted like this:</a:t>
            </a:r>
          </a:p>
          <a:p>
            <a:pPr marL="0" marR="0" indent="0" algn="l" latinLnBrk="1">
              <a:lnSpc>
                <a:spcPct val="120000"/>
              </a:lnSpc>
              <a:spcBef>
                <a:spcPts val="100"/>
              </a:spcBef>
              <a:spcAft>
                <a:spcPts val="825"/>
              </a:spcAft>
              <a:buNone/>
            </a:pP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Staff </a:t>
            </a: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5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00"/>
              </a:spcBef>
              <a:spcAft>
                <a:spcPts val="825"/>
              </a:spcAft>
              <a:buNone/>
            </a:pP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5400" b="0" i="0" dirty="0">
                <a:solidFill>
                  <a:srgbClr val="B76B01"/>
                </a:solidFill>
                <a:effectLst/>
                <a:latin typeface="Menlo"/>
              </a:rPr>
              <a:t>30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50A14F"/>
                </a:solidFill>
                <a:effectLst/>
                <a:latin typeface="Menlo"/>
              </a:rPr>
              <a:t>'Alex'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50A14F"/>
                </a:solidFill>
                <a:effectLst/>
                <a:latin typeface="Menlo"/>
              </a:rPr>
              <a:t>'Code'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50A14F"/>
                </a:solidFill>
                <a:effectLst/>
                <a:latin typeface="Menlo"/>
              </a:rPr>
              <a:t>'2024-10-01'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54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5400" b="0" i="0" dirty="0" err="1">
                <a:solidFill>
                  <a:srgbClr val="50A14F"/>
                </a:solidFill>
                <a:effectLst/>
                <a:latin typeface="Menlo"/>
              </a:rPr>
              <a:t>acode</a:t>
            </a:r>
            <a:r>
              <a:rPr lang="en-US" sz="54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5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US" sz="7200" b="1" i="0" dirty="0">
                <a:solidFill>
                  <a:srgbClr val="0F1115"/>
                </a:solidFill>
                <a:effectLst/>
                <a:latin typeface="quote-cjk-patch"/>
              </a:rPr>
              <a:t>Why this is bad:</a:t>
            </a:r>
            <a:endParaRPr lang="en-US" sz="7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7200" b="0" i="0" dirty="0">
                <a:solidFill>
                  <a:srgbClr val="0F1115"/>
                </a:solidFill>
                <a:effectLst/>
                <a:latin typeface="quote-cjk-patch"/>
              </a:rPr>
              <a:t>The values must match the </a:t>
            </a:r>
            <a:r>
              <a:rPr lang="en-US" sz="7200" b="1" i="0" dirty="0">
                <a:solidFill>
                  <a:srgbClr val="0F1115"/>
                </a:solidFill>
                <a:effectLst/>
                <a:latin typeface="quote-cjk-patch"/>
              </a:rPr>
              <a:t>order the columns were defined</a:t>
            </a:r>
            <a:endParaRPr lang="en-US" sz="7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7200" b="0" i="0" dirty="0">
                <a:solidFill>
                  <a:srgbClr val="0F1115"/>
                </a:solidFill>
                <a:effectLst/>
                <a:latin typeface="quote-cjk-patch"/>
              </a:rPr>
              <a:t>If the table structure changes, this breaks</a:t>
            </a: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7200" b="1" i="0" dirty="0">
                <a:solidFill>
                  <a:srgbClr val="0F1115"/>
                </a:solidFill>
                <a:effectLst/>
                <a:latin typeface="quote-cjk-patch"/>
              </a:rPr>
              <a:t>Not recommended</a:t>
            </a:r>
            <a:endParaRPr lang="en-US" sz="7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7200" b="1" i="0" dirty="0">
                <a:solidFill>
                  <a:srgbClr val="0F1115"/>
                </a:solidFill>
                <a:effectLst/>
                <a:latin typeface="quote-cjk-patch"/>
              </a:rPr>
              <a:t>Not acceptable in this course</a:t>
            </a:r>
            <a:endParaRPr lang="en-US" sz="7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ED93-391B-B9C2-0749-DFA46257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9786-C569-98CE-DB1F-539E74B9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" y="767933"/>
            <a:ext cx="11347473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Using a Subquery — Copy From Another Row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20732-B007-3639-62D2-F5F9D1234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Insert a new staff member who has the same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as Robert Smith: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LoginID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7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buNone/>
            </a:pPr>
            <a:r>
              <a:rPr lang="en-US" sz="7200" b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7200" b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buNone/>
            </a:pP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7200" b="0" dirty="0">
                <a:solidFill>
                  <a:srgbClr val="B76B01"/>
                </a:solidFill>
                <a:effectLst/>
                <a:latin typeface="Menlo"/>
              </a:rPr>
              <a:t>35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'Alex'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'Code'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'2024-10-01'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7200" b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buNone/>
            </a:pP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7200" b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Staff </a:t>
            </a:r>
            <a:r>
              <a:rPr lang="en-US" sz="7200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FirstName </a:t>
            </a:r>
            <a:r>
              <a:rPr lang="en-US" sz="7200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'Robert'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4078F2"/>
                </a:solidFill>
                <a:effectLst/>
                <a:latin typeface="Menlo"/>
              </a:rPr>
              <a:t>And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7200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'Smith'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sz="7200" b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buNone/>
            </a:pPr>
            <a:r>
              <a:rPr lang="en-US" sz="7200" b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7200" b="0" dirty="0" err="1">
                <a:solidFill>
                  <a:srgbClr val="50A14F"/>
                </a:solidFill>
                <a:effectLst/>
                <a:latin typeface="Menlo"/>
              </a:rPr>
              <a:t>acode</a:t>
            </a:r>
            <a:r>
              <a:rPr lang="en-US" sz="7200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7200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7200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79845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E1F0-B6C1-32EE-AAD7-D117DAC7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C770-CB44-F2C9-E799-EB029E53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" y="767933"/>
            <a:ext cx="11347473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Using a Subquery — Copy From Another Row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6D310-FA56-DE72-A7B1-91B4181BE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3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What to notice: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The subquery is in parentheses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It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returns one value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— the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for Robert Smith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That value is used as the value for Alex Code's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The rest of the values are hard-coded</a:t>
            </a:r>
          </a:p>
        </p:txBody>
      </p:sp>
    </p:spTree>
    <p:extLst>
      <p:ext uri="{BB962C8B-B14F-4D97-AF65-F5344CB8AC3E}">
        <p14:creationId xmlns:p14="http://schemas.microsoft.com/office/powerpoint/2010/main" val="234100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037D-D139-6175-C66D-DF10A9E6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5070-8CC4-02B1-A067-C7FAD44E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126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The Subquery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0892E-9EEF-0887-DD68-3C449F40A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A subquery in an INSERT must return exactly one value.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If the subquery returns more than one value →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error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ERROR: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more than one row returned by a subquery used as an expression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Why?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A single cell in a row can only hold one value. If the subquery returns multiple, there's no way to pick which one to use.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Fix: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Add 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WHERE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clauses to narrow the subquery to one row, or use 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MIN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to reduce the result to a single value.</a:t>
            </a:r>
          </a:p>
        </p:txBody>
      </p:sp>
    </p:spTree>
    <p:extLst>
      <p:ext uri="{BB962C8B-B14F-4D97-AF65-F5344CB8AC3E}">
        <p14:creationId xmlns:p14="http://schemas.microsoft.com/office/powerpoint/2010/main" val="1147463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3AC5-7F55-07B5-A9A5-7743C868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3D82-ED57-5ED9-81DC-0D6BEEFB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Multiple Subqueries in One INSERT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9D75C-32E9-A546-8C96-52DD20B8A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903807"/>
            <a:ext cx="11283179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You can have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multiple subqueries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in a single INSERT: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LoginID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((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4078F2"/>
                </a:solidFill>
                <a:effectLst/>
                <a:latin typeface="Menlo"/>
              </a:rPr>
              <a:t>Max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4078F2"/>
                </a:solidFill>
                <a:effectLst/>
                <a:latin typeface="Menlo"/>
              </a:rPr>
              <a:t>+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'Sarah'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'Lin'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'2025-10-01'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Position 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PositionDescription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'Instructor'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 err="1">
                <a:solidFill>
                  <a:srgbClr val="50A14F"/>
                </a:solidFill>
                <a:effectLst/>
                <a:latin typeface="Menlo"/>
              </a:rPr>
              <a:t>slin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673713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7B0CF-AC56-1E70-3F51-D87F4BD5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3A7B-D9BC-ECF9-14CB-B869323F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Multiple Subqueries in One INSERT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0D694-73ED-DC9F-5680-D165C6DD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903807"/>
            <a:ext cx="11283179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What to notice: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First subquery: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generates the new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(max + 1)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Second subquery: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fetches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for 'Instructor'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The rest are hard-coded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This is the most flexible pattern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— hard-coded and calculated values mixed</a:t>
            </a:r>
          </a:p>
        </p:txBody>
      </p:sp>
    </p:spTree>
    <p:extLst>
      <p:ext uri="{BB962C8B-B14F-4D97-AF65-F5344CB8AC3E}">
        <p14:creationId xmlns:p14="http://schemas.microsoft.com/office/powerpoint/2010/main" val="2876472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8A10F-ED06-CA14-4272-58E12767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DF74-CB35-E57F-1B80-7D0EDD499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Using DEFAULT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08A07-39D9-5E80-C04D-4F22CA843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781637"/>
            <a:ext cx="11283179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If a column has a Default constraint, you can insert the default value using the 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DEFAULT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keyword.</a:t>
            </a:r>
          </a:p>
          <a:p>
            <a:pPr marL="0" marR="0" indent="0" algn="l" latinLnBrk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 err="1">
                <a:solidFill>
                  <a:srgbClr val="0F1115"/>
                </a:solidFill>
                <a:effectLst/>
                <a:latin typeface="Menlo"/>
              </a:rPr>
              <a:t>LoginID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7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7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7200" b="0" i="0" dirty="0">
                <a:solidFill>
                  <a:srgbClr val="B76B01"/>
                </a:solidFill>
                <a:effectLst/>
                <a:latin typeface="Menlo"/>
              </a:rPr>
              <a:t>50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50A14F"/>
                </a:solidFill>
                <a:effectLst/>
                <a:latin typeface="Menlo"/>
              </a:rPr>
              <a:t>'Alex'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50A14F"/>
                </a:solidFill>
                <a:effectLst/>
                <a:latin typeface="Menlo"/>
              </a:rPr>
              <a:t>'Code'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Default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7200" b="0" i="0" dirty="0" err="1">
                <a:solidFill>
                  <a:srgbClr val="50A14F"/>
                </a:solidFill>
                <a:effectLst/>
                <a:latin typeface="Menlo"/>
              </a:rPr>
              <a:t>acode</a:t>
            </a:r>
            <a:r>
              <a:rPr lang="en-US" sz="72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7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What to notice: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Default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tells the database to use the column's Default constraint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If there's no Default constraint on that column →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error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655776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1D9A-48C3-4330-A2A1-BDD32FE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FF66-DD89-4B92-7992-03B90119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Omitting a Column to Use the Default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383CA-5E23-EE16-E355-24BEADDB9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781637"/>
            <a:ext cx="11283179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You can also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leave the column out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of the column list entirely: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LoginID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52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'Alex'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'Code'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4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 err="1">
                <a:solidFill>
                  <a:srgbClr val="50A14F"/>
                </a:solidFill>
                <a:effectLst/>
                <a:latin typeface="Menlo"/>
              </a:rPr>
              <a:t>acode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99126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3F9D-5FD8-4925-ED7D-5B515821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1E9C-E411-427C-C5E0-50C778E2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Omitting a Column to Use the Default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83FD-8AC9-D248-7F36-50AA2D38F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781637"/>
            <a:ext cx="11283179" cy="3294726"/>
          </a:xfrm>
        </p:spPr>
        <p:txBody>
          <a:bodyPr>
            <a:normAutofit fontScale="3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What to notice: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is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not in the column list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The database automatically uses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quote-cjk-patch"/>
              </a:rPr>
              <a:t>'s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Default constraint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The values list has one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fewer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value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This is cleaner than using the 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DEFAULT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 keyword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— but both work.</a:t>
            </a:r>
          </a:p>
        </p:txBody>
      </p:sp>
    </p:spTree>
    <p:extLst>
      <p:ext uri="{BB962C8B-B14F-4D97-AF65-F5344CB8AC3E}">
        <p14:creationId xmlns:p14="http://schemas.microsoft.com/office/powerpoint/2010/main" val="3603999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F7D27-C512-E630-9B86-D4607464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0D2F-23A5-4157-03EB-AE9CFB56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Multiple Rows in One INSERT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CF2F7-4DEC-C9D0-2813-5501CF8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781637"/>
            <a:ext cx="11283179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You can insert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multiple rows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 with one INSERT statement using hard-coded values: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Insert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Into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StaffID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DateHired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DateReleased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 err="1">
                <a:solidFill>
                  <a:srgbClr val="0F1115"/>
                </a:solidFill>
                <a:effectLst/>
                <a:latin typeface="Menlo"/>
              </a:rPr>
              <a:t>LoginID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9600" b="0" i="0" dirty="0">
                <a:solidFill>
                  <a:srgbClr val="A626A4"/>
                </a:solidFill>
                <a:effectLst/>
                <a:latin typeface="Menlo"/>
              </a:rPr>
              <a:t>Values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55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'Maria'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'Lopez'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'2025-09-01'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 err="1">
                <a:solidFill>
                  <a:srgbClr val="50A14F"/>
                </a:solidFill>
                <a:effectLst/>
                <a:latin typeface="Menlo"/>
              </a:rPr>
              <a:t>mlopez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60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'David'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'Kim'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'2025-09-01'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 err="1">
                <a:solidFill>
                  <a:srgbClr val="50A14F"/>
                </a:solidFill>
                <a:effectLst/>
                <a:latin typeface="Menlo"/>
              </a:rPr>
              <a:t>dkim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buNone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65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'Helen'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'Zhou'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'2025-09-15'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Null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9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 err="1">
                <a:solidFill>
                  <a:srgbClr val="50A14F"/>
                </a:solidFill>
                <a:effectLst/>
                <a:latin typeface="Menlo"/>
              </a:rPr>
              <a:t>hzhou</a:t>
            </a:r>
            <a:r>
              <a:rPr lang="en-US" sz="9600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sz="96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96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65575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B818-E353-AA59-4E81-B4002CB1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6829-E45C-7937-8548-C1154803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Multiple Rows in One INSERT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79258-F35A-CBD2-460D-D49EB960D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19" y="1781637"/>
            <a:ext cx="11283179" cy="3294726"/>
          </a:xfrm>
        </p:spPr>
        <p:txBody>
          <a:bodyPr>
            <a:normAutofit fontScale="3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What to notice: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Each row is a separate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parenthesized value list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Rows are separated by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commas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All rows are inserted in </a:t>
            </a: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one statement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600" b="0" i="0" dirty="0">
                <a:solidFill>
                  <a:srgbClr val="0F1115"/>
                </a:solidFill>
                <a:effectLst/>
                <a:latin typeface="quote-cjk-patch"/>
              </a:rPr>
              <a:t>Much faster than separate INSERT statements for each row</a:t>
            </a:r>
          </a:p>
        </p:txBody>
      </p:sp>
    </p:spTree>
    <p:extLst>
      <p:ext uri="{BB962C8B-B14F-4D97-AF65-F5344CB8AC3E}">
        <p14:creationId xmlns:p14="http://schemas.microsoft.com/office/powerpoint/2010/main" val="2630516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DF0C-C8FE-3AA4-8C83-29E348F2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3042-EB14-FE2D-3DD8-42C631BF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83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Common INSERT Mistakes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D2D282-8800-EBE4-C444-DEB890CF6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280604"/>
              </p:ext>
            </p:extLst>
          </p:nvPr>
        </p:nvGraphicFramePr>
        <p:xfrm>
          <a:off x="1846245" y="1748028"/>
          <a:ext cx="7162800" cy="3361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692752946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93237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 b="1">
                          <a:effectLst/>
                        </a:rPr>
                        <a:t>Mistake</a:t>
                      </a:r>
                      <a:endParaRPr lang="en-US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What Happens</a:t>
                      </a:r>
                      <a:endParaRPr lang="en-US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35810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Column list and values count don't match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Error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14464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Values in wrong order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Wrong data in wrong columns (silent failure)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9468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Subquery returns multiple values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more than one row returned error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86370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NULL inserted into a NOT NULL column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Constraint violation error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497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Duplicate PK value inserted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Unique constraint violation error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1513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FK value doesn't exist in parent table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Referential integrity error</a:t>
                      </a:r>
                      <a:endParaRPr lang="en-US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6739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Wrong datatype (string in numeric column)</a:t>
                      </a:r>
                      <a:endParaRPr lang="en-US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Type mismatch error</a:t>
                      </a:r>
                      <a:endParaRPr lang="en-US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6362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310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72DA-0E19-F35F-0381-9FCF0309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6CB-087E-9F9A-C5AB-F5EAA6F4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55407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What to Remember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D9556F-B3E0-0FF9-E0A6-418364514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198747"/>
              </p:ext>
            </p:extLst>
          </p:nvPr>
        </p:nvGraphicFramePr>
        <p:xfrm>
          <a:off x="1569455" y="1401273"/>
          <a:ext cx="6867120" cy="4055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4634">
                  <a:extLst>
                    <a:ext uri="{9D8B030D-6E8A-4147-A177-3AD203B41FA5}">
                      <a16:colId xmlns:a16="http://schemas.microsoft.com/office/drawing/2014/main" val="643340650"/>
                    </a:ext>
                  </a:extLst>
                </a:gridCol>
                <a:gridCol w="5202486">
                  <a:extLst>
                    <a:ext uri="{9D8B030D-6E8A-4147-A177-3AD203B41FA5}">
                      <a16:colId xmlns:a16="http://schemas.microsoft.com/office/drawing/2014/main" val="3632523870"/>
                    </a:ext>
                  </a:extLst>
                </a:gridCol>
              </a:tblGrid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Concept</a:t>
                      </a:r>
                      <a:endParaRPr lang="en-US" sz="14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Rule</a:t>
                      </a:r>
                      <a:endParaRPr lang="en-US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146109" marT="91318" marB="91318" anchor="ctr"/>
                </a:tc>
                <a:extLst>
                  <a:ext uri="{0D108BD9-81ED-4DB2-BD59-A6C34878D82A}">
                    <a16:rowId xmlns:a16="http://schemas.microsoft.com/office/drawing/2014/main" val="698580889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Column list</a:t>
                      </a:r>
                      <a:endParaRPr 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Always include it — never rely on default order</a:t>
                      </a:r>
                      <a:endParaRPr 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4276481038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Value count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Must match the column list count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630230801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Value order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Must match the column list order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3656725043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Subqueries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Must return one value</a:t>
                      </a:r>
                      <a:endParaRPr 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351433661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Multiple rows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One INSERT with comma-separated value lists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3772023859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DEFAULT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Uses the column's default constraint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958435486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NULL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Stores NULL — column must allow it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259267895"/>
                  </a:ext>
                </a:extLst>
              </a:tr>
              <a:tr h="3901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Constraints</a:t>
                      </a:r>
                      <a:endParaRPr lang="en-US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7665" marR="146109" marT="91318" marB="9131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Enforced on every insert — violations fail the row</a:t>
                      </a:r>
                      <a:endParaRPr 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46109" marR="87665" marT="91318" marB="91318" anchor="ctr"/>
                </a:tc>
                <a:extLst>
                  <a:ext uri="{0D108BD9-81ED-4DB2-BD59-A6C34878D82A}">
                    <a16:rowId xmlns:a16="http://schemas.microsoft.com/office/drawing/2014/main" val="254995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28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customXml/itemProps3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4209</TotalTime>
  <Words>1537</Words>
  <Application>Microsoft Office PowerPoint</Application>
  <PresentationFormat>Widescreen</PresentationFormat>
  <Paragraphs>215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Menlo</vt:lpstr>
      <vt:lpstr>quote-cjk-patch</vt:lpstr>
      <vt:lpstr>Office Theme</vt:lpstr>
      <vt:lpstr>PowerPoint Presentation</vt:lpstr>
      <vt:lpstr>What is DML?</vt:lpstr>
      <vt:lpstr>How It Compares to Other SQL Categories</vt:lpstr>
      <vt:lpstr>What Is INSERT?</vt:lpstr>
      <vt:lpstr>Simplified Syntax</vt:lpstr>
      <vt:lpstr>The Column List</vt:lpstr>
      <vt:lpstr> The Values List </vt:lpstr>
      <vt:lpstr>What Happens If Constraints Are Violated?</vt:lpstr>
      <vt:lpstr>Three Ways to Insert</vt:lpstr>
      <vt:lpstr>Example — Full Column List</vt:lpstr>
      <vt:lpstr>Example — Omitting the Column List (Don't Do This)</vt:lpstr>
      <vt:lpstr>Using a Subquery — Copy From Another Row</vt:lpstr>
      <vt:lpstr>Using a Subquery — Copy From Another Row</vt:lpstr>
      <vt:lpstr>The Subquery Rule</vt:lpstr>
      <vt:lpstr>Multiple Subqueries in One INSERT</vt:lpstr>
      <vt:lpstr>Multiple Subqueries in One INSERT</vt:lpstr>
      <vt:lpstr>Using DEFAULT</vt:lpstr>
      <vt:lpstr>Omitting a Column to Use the Default</vt:lpstr>
      <vt:lpstr>Omitting a Column to Use the Default</vt:lpstr>
      <vt:lpstr>Multiple Rows in One INSERT</vt:lpstr>
      <vt:lpstr>Multiple Rows in One INSERT</vt:lpstr>
      <vt:lpstr>Common INSERT Mistakes</vt:lpstr>
      <vt:lpstr>What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241</cp:revision>
  <dcterms:created xsi:type="dcterms:W3CDTF">2019-08-28T18:27:45Z</dcterms:created>
  <dcterms:modified xsi:type="dcterms:W3CDTF">2026-10-26T00:13:57Z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