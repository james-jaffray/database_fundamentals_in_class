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42"/>
  </p:notesMasterIdLst>
  <p:sldIdLst>
    <p:sldId id="271" r:id="rId5"/>
    <p:sldId id="369" r:id="rId6"/>
    <p:sldId id="370" r:id="rId7"/>
    <p:sldId id="371" r:id="rId8"/>
    <p:sldId id="427" r:id="rId9"/>
    <p:sldId id="372" r:id="rId10"/>
    <p:sldId id="373" r:id="rId11"/>
    <p:sldId id="374" r:id="rId12"/>
    <p:sldId id="375" r:id="rId13"/>
    <p:sldId id="395" r:id="rId14"/>
    <p:sldId id="428" r:id="rId15"/>
    <p:sldId id="429" r:id="rId16"/>
    <p:sldId id="376" r:id="rId17"/>
    <p:sldId id="396" r:id="rId18"/>
    <p:sldId id="378" r:id="rId19"/>
    <p:sldId id="398" r:id="rId20"/>
    <p:sldId id="284" r:id="rId21"/>
    <p:sldId id="380" r:id="rId22"/>
    <p:sldId id="381" r:id="rId23"/>
    <p:sldId id="382" r:id="rId24"/>
    <p:sldId id="430" r:id="rId25"/>
    <p:sldId id="383" r:id="rId26"/>
    <p:sldId id="431" r:id="rId27"/>
    <p:sldId id="384" r:id="rId28"/>
    <p:sldId id="385" r:id="rId29"/>
    <p:sldId id="399" r:id="rId30"/>
    <p:sldId id="386" r:id="rId31"/>
    <p:sldId id="388" r:id="rId32"/>
    <p:sldId id="389" r:id="rId33"/>
    <p:sldId id="401" r:id="rId34"/>
    <p:sldId id="390" r:id="rId35"/>
    <p:sldId id="402" r:id="rId36"/>
    <p:sldId id="432" r:id="rId37"/>
    <p:sldId id="391" r:id="rId38"/>
    <p:sldId id="392" r:id="rId39"/>
    <p:sldId id="433" r:id="rId40"/>
    <p:sldId id="434" r:id="rId4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023" autoAdjust="0"/>
    <p:restoredTop sz="89935" autoAdjust="0"/>
  </p:normalViewPr>
  <p:slideViewPr>
    <p:cSldViewPr snapToGrid="0" snapToObjects="1" showGuides="1">
      <p:cViewPr varScale="1">
        <p:scale>
          <a:sx n="53" d="100"/>
          <a:sy n="53" d="100"/>
        </p:scale>
        <p:origin x="72" y="47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presProps" Target="pres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tableStyles" Target="tableStyles.xml"/><Relationship Id="rId20" Type="http://schemas.openxmlformats.org/officeDocument/2006/relationships/slide" Target="slides/slide16.xml"/><Relationship Id="rId41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232709-1847-4F53-98E0-E379346D49D8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2A85F0-2AA3-412D-B482-1445E370E3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6327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2A85F0-2AA3-412D-B482-1445E370E3F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68663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2A85F0-2AA3-412D-B482-1445E370E3F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33780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2A85F0-2AA3-412D-B482-1445E370E3F6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43031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2A85F0-2AA3-412D-B482-1445E370E3F6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1155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6116db96f5_2_1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6116db96f5_2_1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2A85F0-2AA3-412D-B482-1445E370E3F6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74420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1830438" y="2624442"/>
            <a:ext cx="8531123" cy="1471612"/>
          </a:xfrm>
        </p:spPr>
        <p:txBody>
          <a:bodyPr>
            <a:normAutofit/>
          </a:bodyPr>
          <a:lstStyle>
            <a:lvl1pPr marL="0" indent="0" algn="ctr">
              <a:buNone/>
              <a:defRPr sz="4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PRESENTATION TITLE</a:t>
            </a:r>
          </a:p>
        </p:txBody>
      </p:sp>
      <p:pic>
        <p:nvPicPr>
          <p:cNvPr id="3" name="Picture 4">
            <a:extLst>
              <a:ext uri="{FF2B5EF4-FFF2-40B4-BE49-F238E27FC236}">
                <a16:creationId xmlns:a16="http://schemas.microsoft.com/office/drawing/2014/main" id="{D20DFF8B-0CA2-444E-B3B8-516B41CBECB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5397231" y="745523"/>
            <a:ext cx="1168573" cy="14371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15C5819-15D5-134D-9ACE-EB35435DDD7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933914" y="4598843"/>
            <a:ext cx="6337921" cy="536921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Presenter Information</a:t>
            </a:r>
          </a:p>
        </p:txBody>
      </p:sp>
    </p:spTree>
    <p:extLst>
      <p:ext uri="{BB962C8B-B14F-4D97-AF65-F5344CB8AC3E}">
        <p14:creationId xmlns:p14="http://schemas.microsoft.com/office/powerpoint/2010/main" val="6749873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24223" y="335242"/>
            <a:ext cx="10630647" cy="1069679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24224" y="1795742"/>
            <a:ext cx="10654552" cy="3511364"/>
          </a:xfrm>
        </p:spPr>
        <p:txBody>
          <a:bodyPr/>
          <a:lstStyle/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618363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3397810"/>
          </a:xfrm>
        </p:spPr>
        <p:txBody>
          <a:bodyPr/>
          <a:lstStyle/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3385857"/>
          </a:xfrm>
        </p:spPr>
        <p:txBody>
          <a:bodyPr/>
          <a:lstStyle/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922223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14044947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28977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Brea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B934B5-63C9-2842-AB2D-E575537010A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19937" y="3045791"/>
            <a:ext cx="6365875" cy="928687"/>
          </a:xfrm>
        </p:spPr>
        <p:txBody>
          <a:bodyPr>
            <a:normAutofit/>
          </a:bodyPr>
          <a:lstStyle>
            <a:lvl1pPr marL="0" indent="0" algn="ctr">
              <a:buNone/>
              <a:defRPr sz="44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7052175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B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7697788" y="2603500"/>
            <a:ext cx="4214812" cy="1873250"/>
          </a:xfrm>
        </p:spPr>
        <p:txBody>
          <a:bodyPr>
            <a:normAutofit/>
          </a:bodyPr>
          <a:lstStyle>
            <a:lvl1pPr marL="0" indent="0">
              <a:buNone/>
              <a:defRPr sz="2800" baseline="0"/>
            </a:lvl1pPr>
          </a:lstStyle>
          <a:p>
            <a:pPr lvl="0"/>
            <a:r>
              <a:rPr lang="en-US" dirty="0"/>
              <a:t>INSERT PRESENTATION TITLE HERE</a:t>
            </a:r>
          </a:p>
        </p:txBody>
      </p:sp>
    </p:spTree>
    <p:extLst>
      <p:ext uri="{BB962C8B-B14F-4D97-AF65-F5344CB8AC3E}">
        <p14:creationId xmlns:p14="http://schemas.microsoft.com/office/powerpoint/2010/main" val="8178915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for Large Graphics 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1932" y="5791200"/>
            <a:ext cx="3552445" cy="746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42461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for Large Graphics B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1209866" y="5780616"/>
            <a:ext cx="607785" cy="7474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8085216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343592-B9CD-7AF8-2531-D88D3E9DBD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943C0C-F99B-8C9C-5380-BAC6681294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0613D1-0C16-8026-7BD4-926A51626F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BFFFE-D9D4-D649-9D1F-5FA64CDC0CC2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55E5B1-A151-0420-61EC-F4B8FC23D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78DDD1-36BF-D966-84CD-8EE8543EB4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E898C-0EB9-3C44-9E25-661E8EC4CB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1069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bg>
      <p:bgPr>
        <a:solidFill>
          <a:srgbClr val="353535"/>
        </a:solidFill>
        <a:effectLst/>
      </p:bgPr>
    </p:bg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" name="Google Shape;45;p8"/>
          <p:cNvCxnSpPr/>
          <p:nvPr/>
        </p:nvCxnSpPr>
        <p:spPr>
          <a:xfrm>
            <a:off x="566931" y="554200"/>
            <a:ext cx="244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6" name="Google Shape;46;p8"/>
          <p:cNvSpPr txBox="1">
            <a:spLocks noGrp="1"/>
          </p:cNvSpPr>
          <p:nvPr>
            <p:ph type="title"/>
          </p:nvPr>
        </p:nvSpPr>
        <p:spPr>
          <a:xfrm>
            <a:off x="377471" y="949521"/>
            <a:ext cx="8325600" cy="511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64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64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64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64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64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64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64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64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6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sldNum" idx="12"/>
          </p:nvPr>
        </p:nvSpPr>
        <p:spPr>
          <a:xfrm>
            <a:off x="11330665" y="6251679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0019905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4"/>
          <p:cNvCxnSpPr/>
          <p:nvPr/>
        </p:nvCxnSpPr>
        <p:spPr>
          <a:xfrm>
            <a:off x="3303632" y="554200"/>
            <a:ext cx="83256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3" name="Google Shape;23;p4"/>
          <p:cNvCxnSpPr/>
          <p:nvPr/>
        </p:nvCxnSpPr>
        <p:spPr>
          <a:xfrm>
            <a:off x="3303632" y="6320000"/>
            <a:ext cx="83256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4" name="Google Shape;24;p4"/>
          <p:cNvCxnSpPr/>
          <p:nvPr/>
        </p:nvCxnSpPr>
        <p:spPr>
          <a:xfrm>
            <a:off x="566931" y="554200"/>
            <a:ext cx="2444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5" name="Google Shape;25;p4"/>
          <p:cNvSpPr txBox="1">
            <a:spLocks noGrp="1"/>
          </p:cNvSpPr>
          <p:nvPr>
            <p:ph type="title"/>
          </p:nvPr>
        </p:nvSpPr>
        <p:spPr>
          <a:xfrm>
            <a:off x="3200333" y="767933"/>
            <a:ext cx="8428800" cy="84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body" idx="1"/>
          </p:nvPr>
        </p:nvSpPr>
        <p:spPr>
          <a:xfrm>
            <a:off x="3213483" y="2127701"/>
            <a:ext cx="8428800" cy="400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 rtl="0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rtl="0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rtl="0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rtl="0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rtl="0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rtl="0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rtl="0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rtl="0"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sldNum" idx="12"/>
          </p:nvPr>
        </p:nvSpPr>
        <p:spPr>
          <a:xfrm>
            <a:off x="11330665" y="6251679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2276651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24224" y="335242"/>
            <a:ext cx="10515600" cy="10696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4224" y="1795742"/>
            <a:ext cx="10515600" cy="35113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6BFFFE-D9D4-D649-9D1F-5FA64CDC0CC2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FE898C-0EB9-3C44-9E25-661E8EC4CBA6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3" descr="ppt screen_Header_6-9_1920x1080 Wide.png"/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473171"/>
            <a:ext cx="12196659" cy="13848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4"/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4526" y="5780616"/>
            <a:ext cx="3553126" cy="7474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679792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50" r:id="rId2"/>
    <p:sldLayoutId id="2147483652" r:id="rId3"/>
    <p:sldLayoutId id="2147483654" r:id="rId4"/>
    <p:sldLayoutId id="2147483655" r:id="rId5"/>
    <p:sldLayoutId id="2147483663" r:id="rId6"/>
    <p:sldLayoutId id="2147483660" r:id="rId7"/>
    <p:sldLayoutId id="2147483662" r:id="rId8"/>
    <p:sldLayoutId id="2147483664" r:id="rId9"/>
    <p:sldLayoutId id="2147483665" r:id="rId10"/>
    <p:sldLayoutId id="2147483666" r:id="rId11"/>
    <p:sldLayoutId id="2147483667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1830438" y="3429000"/>
            <a:ext cx="8531123" cy="1471612"/>
          </a:xfrm>
        </p:spPr>
        <p:txBody>
          <a:bodyPr>
            <a:normAutofit/>
          </a:bodyPr>
          <a:lstStyle/>
          <a:p>
            <a:r>
              <a:rPr lang="en-US" b="1" dirty="0"/>
              <a:t>Normalization — How</a:t>
            </a:r>
          </a:p>
          <a:p>
            <a:r>
              <a:rPr lang="en-US" b="1" dirty="0"/>
              <a:t> (1NF, 2NF, 3NF)</a:t>
            </a:r>
          </a:p>
        </p:txBody>
      </p:sp>
    </p:spTree>
    <p:extLst>
      <p:ext uri="{BB962C8B-B14F-4D97-AF65-F5344CB8AC3E}">
        <p14:creationId xmlns:p14="http://schemas.microsoft.com/office/powerpoint/2010/main" val="25690665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7F8E3B-953D-C5A8-A98C-995692E058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Today's Objectives</a:t>
            </a:r>
            <a:br>
              <a:rPr lang="en-CA" b="1" dirty="0"/>
            </a:br>
            <a:endParaRPr lang="en-CA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845B57-F3B5-2AE5-358F-36F986A8FC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4418" y="1615133"/>
            <a:ext cx="10164895" cy="4379464"/>
          </a:xfrm>
        </p:spPr>
        <p:txBody>
          <a:bodyPr>
            <a:normAutofit fontScale="85000" lnSpcReduction="10000"/>
          </a:bodyPr>
          <a:lstStyle/>
          <a:p>
            <a:pPr marL="152396" indent="0">
              <a:lnSpc>
                <a:spcPct val="120000"/>
              </a:lnSpc>
              <a:buNone/>
            </a:pPr>
            <a:r>
              <a:rPr lang="en-CA" dirty="0"/>
              <a:t>By the end of this lesson, you will be able to:</a:t>
            </a:r>
          </a:p>
          <a:p>
            <a:pPr lvl="0">
              <a:lnSpc>
                <a:spcPct val="120000"/>
              </a:lnSpc>
            </a:pPr>
            <a:r>
              <a:rPr lang="en-CA" b="1" dirty="0"/>
              <a:t>Explain</a:t>
            </a:r>
            <a:r>
              <a:rPr lang="en-CA" dirty="0"/>
              <a:t> the purpose of database normalization</a:t>
            </a:r>
          </a:p>
          <a:p>
            <a:pPr lvl="0">
              <a:lnSpc>
                <a:spcPct val="120000"/>
              </a:lnSpc>
            </a:pPr>
            <a:r>
              <a:rPr lang="en-CA" b="1" dirty="0"/>
              <a:t>Describe</a:t>
            </a:r>
            <a:r>
              <a:rPr lang="en-CA" dirty="0"/>
              <a:t> the characteristics of First, Second, and Third Normal Form</a:t>
            </a:r>
          </a:p>
          <a:p>
            <a:pPr lvl="0">
              <a:lnSpc>
                <a:spcPct val="120000"/>
              </a:lnSpc>
            </a:pPr>
            <a:r>
              <a:rPr lang="en-CA" b="1" dirty="0"/>
              <a:t>Identify</a:t>
            </a:r>
            <a:r>
              <a:rPr lang="en-CA" dirty="0"/>
              <a:t> repeating groups, partial dependencies, and transitive dependencies</a:t>
            </a:r>
          </a:p>
          <a:p>
            <a:pPr lvl="0">
              <a:lnSpc>
                <a:spcPct val="120000"/>
              </a:lnSpc>
            </a:pPr>
            <a:r>
              <a:rPr lang="en-CA" b="1" dirty="0"/>
              <a:t>Apply</a:t>
            </a:r>
            <a:r>
              <a:rPr lang="en-CA" dirty="0"/>
              <a:t> normalization rules to transform unnormalized data into 3NF</a:t>
            </a:r>
          </a:p>
          <a:p>
            <a:pPr lvl="0">
              <a:lnSpc>
                <a:spcPct val="120000"/>
              </a:lnSpc>
            </a:pPr>
            <a:r>
              <a:rPr lang="en-CA" b="1" dirty="0"/>
              <a:t>Explain</a:t>
            </a:r>
            <a:r>
              <a:rPr lang="en-CA" dirty="0"/>
              <a:t> how business rules affect database design</a:t>
            </a:r>
          </a:p>
          <a:p>
            <a:pPr lvl="0">
              <a:lnSpc>
                <a:spcPct val="120000"/>
              </a:lnSpc>
            </a:pPr>
            <a:r>
              <a:rPr lang="en-CA" b="1" dirty="0"/>
              <a:t>Create</a:t>
            </a:r>
            <a:r>
              <a:rPr lang="en-CA" dirty="0"/>
              <a:t> normalized database schemas from business scenarios</a:t>
            </a:r>
          </a:p>
          <a:p>
            <a:pPr lvl="0">
              <a:lnSpc>
                <a:spcPct val="120000"/>
              </a:lnSpc>
            </a:pPr>
            <a:r>
              <a:rPr lang="en-CA" b="1" dirty="0"/>
              <a:t>Evaluate</a:t>
            </a:r>
            <a:r>
              <a:rPr lang="en-CA" dirty="0"/>
              <a:t> normalization and denormalization trade-offs</a:t>
            </a:r>
          </a:p>
        </p:txBody>
      </p:sp>
    </p:spTree>
    <p:extLst>
      <p:ext uri="{BB962C8B-B14F-4D97-AF65-F5344CB8AC3E}">
        <p14:creationId xmlns:p14="http://schemas.microsoft.com/office/powerpoint/2010/main" val="11448150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840B9-76EB-B760-A548-E90BF3D10A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4633" y="616923"/>
            <a:ext cx="8428800" cy="847200"/>
          </a:xfrm>
        </p:spPr>
        <p:txBody>
          <a:bodyPr/>
          <a:lstStyle/>
          <a:p>
            <a:r>
              <a:rPr lang="en-US" b="1" dirty="0"/>
              <a:t>Where Are We in the Course?</a:t>
            </a:r>
            <a:endParaRPr lang="en-CA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F368ECB-6427-9EBE-5D4E-E057D5761736}"/>
              </a:ext>
            </a:extLst>
          </p:cNvPr>
          <p:cNvSpPr txBox="1"/>
          <p:nvPr/>
        </p:nvSpPr>
        <p:spPr>
          <a:xfrm>
            <a:off x="812800" y="1626029"/>
            <a:ext cx="2975429" cy="29238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CA" sz="2400" b="1" i="0" dirty="0">
                <a:solidFill>
                  <a:srgbClr val="0F1115"/>
                </a:solidFill>
                <a:effectLst/>
                <a:latin typeface="quote-cjk-patch"/>
              </a:rPr>
              <a:t>Review from Day 4</a:t>
            </a:r>
            <a:endParaRPr lang="en-CA" sz="24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marL="0" marR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CA" sz="2400" b="1" i="0" dirty="0">
                <a:solidFill>
                  <a:srgbClr val="0F1115"/>
                </a:solidFill>
                <a:effectLst/>
                <a:latin typeface="quote-cjk-patch"/>
              </a:rPr>
              <a:t>Today's Focus:</a:t>
            </a:r>
            <a:endParaRPr lang="en-CA" sz="24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marL="0" marR="0" indent="0" algn="l">
              <a:spcBef>
                <a:spcPts val="1200"/>
              </a:spcBef>
              <a:buNone/>
            </a:pPr>
            <a:r>
              <a:rPr lang="en-CA" sz="2400" b="0" i="0" dirty="0">
                <a:solidFill>
                  <a:srgbClr val="0F1115"/>
                </a:solidFill>
                <a:effectLst/>
                <a:latin typeface="quote-cjk-patch"/>
              </a:rPr>
              <a:t>How do we actually </a:t>
            </a:r>
            <a:r>
              <a:rPr lang="en-CA" sz="2400" b="0" i="1" dirty="0">
                <a:solidFill>
                  <a:srgbClr val="0F1115"/>
                </a:solidFill>
                <a:effectLst/>
                <a:latin typeface="quote-cjk-patch"/>
              </a:rPr>
              <a:t>do</a:t>
            </a:r>
            <a:r>
              <a:rPr lang="en-CA" sz="2400" b="0" i="0" dirty="0">
                <a:solidFill>
                  <a:srgbClr val="0F1115"/>
                </a:solidFill>
                <a:effectLst/>
                <a:latin typeface="quote-cjk-patch"/>
              </a:rPr>
              <a:t> normalization? What are the specific rules?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D8C2F747-F081-1624-B757-3246D9776A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798436"/>
              </p:ext>
            </p:extLst>
          </p:nvPr>
        </p:nvGraphicFramePr>
        <p:xfrm>
          <a:off x="4304790" y="1626029"/>
          <a:ext cx="7434762" cy="376885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717381">
                  <a:extLst>
                    <a:ext uri="{9D8B030D-6E8A-4147-A177-3AD203B41FA5}">
                      <a16:colId xmlns:a16="http://schemas.microsoft.com/office/drawing/2014/main" val="2543268477"/>
                    </a:ext>
                  </a:extLst>
                </a:gridCol>
                <a:gridCol w="3717381">
                  <a:extLst>
                    <a:ext uri="{9D8B030D-6E8A-4147-A177-3AD203B41FA5}">
                      <a16:colId xmlns:a16="http://schemas.microsoft.com/office/drawing/2014/main" val="56399150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600" b="1" dirty="0">
                          <a:effectLst/>
                        </a:rPr>
                        <a:t>Concept</a:t>
                      </a:r>
                      <a:endParaRPr lang="en-CA" sz="1600" b="1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600" b="1" dirty="0">
                          <a:effectLst/>
                        </a:rPr>
                        <a:t>Summary</a:t>
                      </a:r>
                      <a:endParaRPr lang="en-CA" sz="1600" b="1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extLst>
                  <a:ext uri="{0D108BD9-81ED-4DB2-BD59-A6C34878D82A}">
                    <a16:rowId xmlns:a16="http://schemas.microsoft.com/office/drawing/2014/main" val="36833658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600">
                          <a:effectLst/>
                        </a:rPr>
                        <a:t>Normalization</a:t>
                      </a:r>
                      <a:endParaRPr lang="en-CA" sz="16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600">
                          <a:effectLst/>
                        </a:rPr>
                        <a:t>A set of rules for designing relational databases</a:t>
                      </a:r>
                      <a:endParaRPr lang="en-CA" sz="16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35219223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600">
                          <a:effectLst/>
                        </a:rPr>
                        <a:t>Redundant Data</a:t>
                      </a:r>
                      <a:endParaRPr lang="en-CA" sz="16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600">
                          <a:effectLst/>
                        </a:rPr>
                        <a:t>Data stored in multiple places unnecessarily</a:t>
                      </a:r>
                      <a:endParaRPr lang="en-CA" sz="16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22400929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600">
                          <a:effectLst/>
                        </a:rPr>
                        <a:t>Update Anomaly</a:t>
                      </a:r>
                      <a:endParaRPr lang="en-CA" sz="16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600">
                          <a:effectLst/>
                        </a:rPr>
                        <a:t>Changing data creates inconsistency</a:t>
                      </a:r>
                      <a:endParaRPr lang="en-CA" sz="16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9541746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600">
                          <a:effectLst/>
                        </a:rPr>
                        <a:t>Insert Anomaly</a:t>
                      </a:r>
                      <a:endParaRPr lang="en-CA" sz="16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600">
                          <a:effectLst/>
                        </a:rPr>
                        <a:t>Adding data creates inconsistency</a:t>
                      </a:r>
                      <a:endParaRPr lang="en-CA" sz="16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14015057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600">
                          <a:effectLst/>
                        </a:rPr>
                        <a:t>Delete Anomaly</a:t>
                      </a:r>
                      <a:endParaRPr lang="en-CA" sz="16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600" dirty="0">
                          <a:effectLst/>
                        </a:rPr>
                        <a:t>Deleting data causes loss of unrelated data</a:t>
                      </a:r>
                      <a:endParaRPr lang="en-CA" sz="16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37968089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25425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441EA3-E419-4E2D-C59B-5DECDA4DE3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6000" y="767933"/>
            <a:ext cx="10613133" cy="847200"/>
          </a:xfrm>
        </p:spPr>
        <p:txBody>
          <a:bodyPr/>
          <a:lstStyle/>
          <a:p>
            <a:r>
              <a:rPr lang="en-US" b="1" dirty="0"/>
              <a:t>The Problem with Large Tables</a:t>
            </a:r>
            <a:br>
              <a:rPr lang="en-CA" b="1" dirty="0"/>
            </a:br>
            <a:endParaRPr lang="en-CA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0C2837-333B-06E3-3E52-892921CFB9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5761" y="1909491"/>
            <a:ext cx="5541554" cy="3543042"/>
          </a:xfrm>
        </p:spPr>
        <p:txBody>
          <a:bodyPr>
            <a:normAutofit fontScale="77500" lnSpcReduction="20000"/>
          </a:bodyPr>
          <a:lstStyle/>
          <a:p>
            <a:pPr marL="0" marR="0" indent="0" algn="l">
              <a:lnSpc>
                <a:spcPct val="120000"/>
              </a:lnSpc>
              <a:buNone/>
            </a:pPr>
            <a:r>
              <a:rPr lang="en-CA" sz="2800" b="1" i="0" dirty="0">
                <a:solidFill>
                  <a:srgbClr val="0F1115"/>
                </a:solidFill>
                <a:effectLst/>
                <a:latin typeface="quote-cjk-patch"/>
              </a:rPr>
              <a:t>Large tables with many columns can be difficult to understand.</a:t>
            </a:r>
            <a:endParaRPr lang="en-CA" sz="28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marL="0" marR="0" indent="0" algn="l">
              <a:lnSpc>
                <a:spcPct val="120000"/>
              </a:lnSpc>
              <a:buNone/>
            </a:pPr>
            <a:r>
              <a:rPr lang="en-CA" sz="2800" b="1" i="0" dirty="0">
                <a:solidFill>
                  <a:srgbClr val="0F1115"/>
                </a:solidFill>
                <a:effectLst/>
                <a:latin typeface="quote-cjk-patch"/>
              </a:rPr>
              <a:t>They also:</a:t>
            </a:r>
            <a:endParaRPr lang="en-CA" sz="28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marL="0" marR="0" lvl="0" indent="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CA" sz="2800" b="0" i="0" dirty="0">
                <a:solidFill>
                  <a:srgbClr val="0F1115"/>
                </a:solidFill>
                <a:effectLst/>
                <a:latin typeface="quote-cjk-patch"/>
              </a:rPr>
              <a:t>Increase redundant data within the database</a:t>
            </a:r>
          </a:p>
          <a:p>
            <a:pPr marL="0" marR="0" lvl="0" indent="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CA" sz="2800" b="0" i="0" dirty="0">
                <a:solidFill>
                  <a:srgbClr val="0F1115"/>
                </a:solidFill>
                <a:effectLst/>
                <a:latin typeface="quote-cjk-patch"/>
              </a:rPr>
              <a:t>Increase the likelihood of anomalies occurring</a:t>
            </a:r>
          </a:p>
          <a:p>
            <a:pPr marL="0" marR="0" indent="0" algn="l">
              <a:lnSpc>
                <a:spcPct val="120000"/>
              </a:lnSpc>
              <a:buNone/>
            </a:pPr>
            <a:r>
              <a:rPr lang="en-CA" sz="2800" b="1" i="0" dirty="0">
                <a:solidFill>
                  <a:srgbClr val="0F1115"/>
                </a:solidFill>
                <a:effectLst/>
                <a:latin typeface="quote-cjk-patch"/>
              </a:rPr>
              <a:t>The Normalization Process provides:</a:t>
            </a:r>
            <a:endParaRPr lang="en-CA" sz="28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marL="0" marR="0" indent="0" algn="l">
              <a:lnSpc>
                <a:spcPct val="120000"/>
              </a:lnSpc>
              <a:buNone/>
            </a:pPr>
            <a:r>
              <a:rPr lang="en-CA" sz="2800" b="0" i="0" dirty="0">
                <a:solidFill>
                  <a:srgbClr val="0F1115"/>
                </a:solidFill>
                <a:effectLst/>
                <a:latin typeface="quote-cjk-patch"/>
              </a:rPr>
              <a:t>A systematic method of breaking down large tables into a group of related, smaller-sized tables.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EFA2E28-0099-5847-0B9C-3EC18D2C04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7704896"/>
              </p:ext>
            </p:extLst>
          </p:nvPr>
        </p:nvGraphicFramePr>
        <p:xfrm>
          <a:off x="6545943" y="2306550"/>
          <a:ext cx="4934858" cy="315575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48114">
                  <a:extLst>
                    <a:ext uri="{9D8B030D-6E8A-4147-A177-3AD203B41FA5}">
                      <a16:colId xmlns:a16="http://schemas.microsoft.com/office/drawing/2014/main" val="2097563339"/>
                    </a:ext>
                  </a:extLst>
                </a:gridCol>
                <a:gridCol w="2786744">
                  <a:extLst>
                    <a:ext uri="{9D8B030D-6E8A-4147-A177-3AD203B41FA5}">
                      <a16:colId xmlns:a16="http://schemas.microsoft.com/office/drawing/2014/main" val="2758200794"/>
                    </a:ext>
                  </a:extLst>
                </a:gridCol>
              </a:tblGrid>
              <a:tr h="520948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800" b="1" dirty="0">
                          <a:effectLst/>
                        </a:rPr>
                        <a:t>Benefit</a:t>
                      </a:r>
                      <a:endParaRPr lang="en-CA" sz="1800" b="1" dirty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800" b="1" dirty="0">
                          <a:effectLst/>
                        </a:rPr>
                        <a:t>Explanation</a:t>
                      </a:r>
                      <a:endParaRPr lang="en-CA" sz="1800" b="1" dirty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extLst>
                  <a:ext uri="{0D108BD9-81ED-4DB2-BD59-A6C34878D82A}">
                    <a16:rowId xmlns:a16="http://schemas.microsoft.com/office/drawing/2014/main" val="2054283316"/>
                  </a:ext>
                </a:extLst>
              </a:tr>
              <a:tr h="858560"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n-CA" sz="1800" dirty="0">
                          <a:effectLst/>
                        </a:rPr>
                        <a:t>Easier to Understand</a:t>
                      </a:r>
                      <a:endParaRPr lang="en-CA" sz="1800" b="0" dirty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n-CA" sz="1800">
                          <a:effectLst/>
                        </a:rPr>
                        <a:t>Each table has a single, clear purpose</a:t>
                      </a:r>
                      <a:endParaRPr lang="en-CA" sz="1800" b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4145343797"/>
                  </a:ext>
                </a:extLst>
              </a:tr>
              <a:tr h="520948"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n-CA" sz="1800">
                          <a:effectLst/>
                        </a:rPr>
                        <a:t>Minimize Redundancy</a:t>
                      </a:r>
                      <a:endParaRPr lang="en-CA" sz="1800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n-CA" sz="1800">
                          <a:effectLst/>
                        </a:rPr>
                        <a:t>Data is stored in one place</a:t>
                      </a:r>
                      <a:endParaRPr lang="en-CA" sz="1800" b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3182991852"/>
                  </a:ext>
                </a:extLst>
              </a:tr>
              <a:tr h="858560"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n-CA" sz="1800">
                          <a:effectLst/>
                        </a:rPr>
                        <a:t>Minimize Anomalies</a:t>
                      </a:r>
                      <a:endParaRPr lang="en-CA" sz="1800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n-CA" sz="1800" dirty="0">
                          <a:effectLst/>
                        </a:rPr>
                        <a:t>Updates, inserts, and deletes are safer</a:t>
                      </a:r>
                      <a:endParaRPr lang="en-CA" sz="1800" b="0" dirty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123563144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D97BD600-1747-6068-3B6B-B5B944110131}"/>
              </a:ext>
            </a:extLst>
          </p:cNvPr>
          <p:cNvSpPr txBox="1"/>
          <p:nvPr/>
        </p:nvSpPr>
        <p:spPr>
          <a:xfrm>
            <a:off x="6429829" y="190949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CA" sz="1800" b="1" i="0" dirty="0">
                <a:solidFill>
                  <a:schemeClr val="tx1"/>
                </a:solidFill>
                <a:effectLst/>
                <a:latin typeface="+mn-lt"/>
              </a:rPr>
              <a:t>These smaller tables:</a:t>
            </a:r>
            <a:endParaRPr lang="en-CA" sz="1800" b="0" i="0" dirty="0">
              <a:solidFill>
                <a:srgbClr val="0F1115"/>
              </a:solidFill>
              <a:effectLst/>
              <a:latin typeface="quote-cjk-patch"/>
            </a:endParaRPr>
          </a:p>
        </p:txBody>
      </p:sp>
    </p:spTree>
    <p:extLst>
      <p:ext uri="{BB962C8B-B14F-4D97-AF65-F5344CB8AC3E}">
        <p14:creationId xmlns:p14="http://schemas.microsoft.com/office/powerpoint/2010/main" val="12227180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2B2A21-FB6D-743D-D8DC-0F34369483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AA5C64-E6DF-E306-7D62-F7C6919033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223" y="335242"/>
            <a:ext cx="10630647" cy="1069679"/>
          </a:xfrm>
        </p:spPr>
        <p:txBody>
          <a:bodyPr anchor="ctr">
            <a:normAutofit/>
          </a:bodyPr>
          <a:lstStyle/>
          <a:p>
            <a:r>
              <a:rPr lang="en-US" sz="3400" b="1"/>
              <a:t>Brainstorming Activity</a:t>
            </a:r>
            <a:br>
              <a:rPr lang="en-CA" sz="3400" b="1"/>
            </a:br>
            <a:endParaRPr lang="en-CA" sz="340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EC3D03-94D2-6535-ED58-604B210C5C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4224" y="1795742"/>
            <a:ext cx="10654552" cy="3511364"/>
          </a:xfrm>
        </p:spPr>
        <p:txBody>
          <a:bodyPr>
            <a:normAutofit/>
          </a:bodyPr>
          <a:lstStyle/>
          <a:p>
            <a:pPr marL="0" marR="0" indent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CA" sz="2200" b="1" i="0">
                <a:effectLst/>
              </a:rPr>
              <a:t>Think about a real-world scenario:</a:t>
            </a:r>
            <a:endParaRPr lang="en-CA" sz="2200" b="0" i="0">
              <a:effectLst/>
            </a:endParaRPr>
          </a:p>
          <a:p>
            <a:pPr marL="0" marR="0" indent="0">
              <a:spcBef>
                <a:spcPts val="1200"/>
              </a:spcBef>
              <a:buNone/>
            </a:pPr>
            <a:r>
              <a:rPr lang="en-CA" sz="2200" b="0" i="0">
                <a:effectLst/>
              </a:rPr>
              <a:t>A company stores all employee, department, and project information in one large table.</a:t>
            </a:r>
          </a:p>
          <a:p>
            <a:pPr marL="0" marR="0" indent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CA" sz="2200" b="1" i="0">
                <a:effectLst/>
              </a:rPr>
              <a:t>Discuss:</a:t>
            </a:r>
            <a:endParaRPr lang="en-CA" sz="2200" b="0" i="0">
              <a:effectLst/>
            </a:endParaRPr>
          </a:p>
          <a:p>
            <a:pPr marL="0" marR="0" lvl="0" indent="-342900">
              <a:spcBef>
                <a:spcPts val="12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CA" sz="2200" b="0" i="0">
                <a:effectLst/>
              </a:rPr>
              <a:t>Why can large tables become difficult to maintain?</a:t>
            </a:r>
          </a:p>
          <a:p>
            <a:pPr marL="0" marR="0" lvl="0" indent="-342900"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CA" sz="2200" b="0" i="0">
                <a:effectLst/>
              </a:rPr>
              <a:t>What problems occur when the same information appears in multiple places?</a:t>
            </a:r>
          </a:p>
          <a:p>
            <a:pPr marL="0" marR="0" lvl="0" indent="-342900"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CA" sz="2200" b="0" i="0">
                <a:effectLst/>
              </a:rPr>
              <a:t>Why might changing one record create inconsistencies?</a:t>
            </a:r>
          </a:p>
        </p:txBody>
      </p:sp>
    </p:spTree>
    <p:extLst>
      <p:ext uri="{BB962C8B-B14F-4D97-AF65-F5344CB8AC3E}">
        <p14:creationId xmlns:p14="http://schemas.microsoft.com/office/powerpoint/2010/main" val="32983209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8271D4-EEC2-64AF-F09A-4EAE619735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/>
              <a:t>The Normal Forms</a:t>
            </a:r>
            <a:br>
              <a:rPr lang="en-CA" b="1" dirty="0"/>
            </a:br>
            <a:endParaRPr lang="en-CA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5D5549-60DB-C842-493E-AEAA7B4906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4556" y="1659472"/>
            <a:ext cx="11062966" cy="725296"/>
          </a:xfrm>
        </p:spPr>
        <p:txBody>
          <a:bodyPr>
            <a:normAutofit fontScale="70000" lnSpcReduction="20000"/>
          </a:bodyPr>
          <a:lstStyle/>
          <a:p>
            <a:pPr marL="0" marR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CA" sz="2000" b="1" i="0" dirty="0">
                <a:solidFill>
                  <a:srgbClr val="0F1115"/>
                </a:solidFill>
                <a:effectLst/>
                <a:latin typeface="quote-cjk-patch"/>
              </a:rPr>
              <a:t>The normalization process is based on a set of rules. Each normal form represents a set of rules, </a:t>
            </a:r>
            <a:r>
              <a:rPr lang="en-US" sz="2000" b="1" i="0" dirty="0">
                <a:solidFill>
                  <a:srgbClr val="0F1115"/>
                </a:solidFill>
                <a:effectLst/>
                <a:latin typeface="quote-cjk-patch"/>
              </a:rPr>
              <a:t>This course focuses on 1NF, 2NF, and 3NF</a:t>
            </a:r>
            <a:r>
              <a:rPr lang="en-CA" sz="2000" b="1" i="0" dirty="0">
                <a:solidFill>
                  <a:srgbClr val="0F1115"/>
                </a:solidFill>
                <a:effectLst/>
                <a:latin typeface="quote-cjk-patch"/>
              </a:rPr>
              <a:t>:</a:t>
            </a:r>
            <a:endParaRPr lang="en-CA" sz="2000" b="0" i="0" dirty="0">
              <a:solidFill>
                <a:srgbClr val="0F1115"/>
              </a:solidFill>
              <a:effectLst/>
              <a:latin typeface="quote-cjk-patch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1E5951C-451E-7F87-EEF8-3FD59AC9AD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0551181"/>
              </p:ext>
            </p:extLst>
          </p:nvPr>
        </p:nvGraphicFramePr>
        <p:xfrm>
          <a:off x="384556" y="2225071"/>
          <a:ext cx="10385044" cy="321062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192522">
                  <a:extLst>
                    <a:ext uri="{9D8B030D-6E8A-4147-A177-3AD203B41FA5}">
                      <a16:colId xmlns:a16="http://schemas.microsoft.com/office/drawing/2014/main" val="2984418269"/>
                    </a:ext>
                  </a:extLst>
                </a:gridCol>
                <a:gridCol w="5192522">
                  <a:extLst>
                    <a:ext uri="{9D8B030D-6E8A-4147-A177-3AD203B41FA5}">
                      <a16:colId xmlns:a16="http://schemas.microsoft.com/office/drawing/2014/main" val="1970327740"/>
                    </a:ext>
                  </a:extLst>
                </a:gridCol>
              </a:tblGrid>
              <a:tr h="422361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600" b="1" dirty="0">
                          <a:solidFill>
                            <a:schemeClr val="tx2"/>
                          </a:solidFill>
                          <a:effectLst/>
                        </a:rPr>
                        <a:t>Normal Form</a:t>
                      </a:r>
                      <a:endParaRPr lang="en-CA" sz="1600" b="1" i="0" dirty="0">
                        <a:solidFill>
                          <a:schemeClr val="tx2"/>
                        </a:solidFill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600" b="1" dirty="0">
                          <a:solidFill>
                            <a:schemeClr val="tx2"/>
                          </a:solidFill>
                          <a:effectLst/>
                        </a:rPr>
                        <a:t>Description</a:t>
                      </a:r>
                      <a:endParaRPr lang="en-CA" sz="1600" b="1" i="0" dirty="0">
                        <a:solidFill>
                          <a:schemeClr val="tx2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extLst>
                  <a:ext uri="{0D108BD9-81ED-4DB2-BD59-A6C34878D82A}">
                    <a16:rowId xmlns:a16="http://schemas.microsoft.com/office/drawing/2014/main" val="2006838260"/>
                  </a:ext>
                </a:extLst>
              </a:tr>
              <a:tr h="422361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600" b="1" dirty="0">
                          <a:solidFill>
                            <a:schemeClr val="tx1"/>
                          </a:solidFill>
                          <a:effectLst/>
                        </a:rPr>
                        <a:t>First Normal Form (1NF)</a:t>
                      </a:r>
                      <a:endParaRPr lang="en-CA" sz="1600" b="1" i="0" dirty="0">
                        <a:solidFill>
                          <a:schemeClr val="tx1"/>
                        </a:solidFill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600" dirty="0">
                          <a:effectLst/>
                        </a:rPr>
                        <a:t>Remove repeating groups</a:t>
                      </a:r>
                      <a:endParaRPr lang="en-CA" sz="16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1397101196"/>
                  </a:ext>
                </a:extLst>
              </a:tr>
              <a:tr h="422361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600" b="1">
                          <a:solidFill>
                            <a:schemeClr val="tx1"/>
                          </a:solidFill>
                          <a:effectLst/>
                        </a:rPr>
                        <a:t>Second Normal Form (2NF)</a:t>
                      </a:r>
                      <a:endParaRPr lang="en-CA" sz="1600" b="1" i="0">
                        <a:solidFill>
                          <a:schemeClr val="tx1"/>
                        </a:solidFill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600">
                          <a:effectLst/>
                        </a:rPr>
                        <a:t>Remove partial dependencies</a:t>
                      </a:r>
                      <a:endParaRPr lang="en-CA" sz="16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3717267900"/>
                  </a:ext>
                </a:extLst>
              </a:tr>
              <a:tr h="422361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600" b="1">
                          <a:solidFill>
                            <a:schemeClr val="tx1"/>
                          </a:solidFill>
                          <a:effectLst/>
                        </a:rPr>
                        <a:t>Third Normal Form (3NF)</a:t>
                      </a:r>
                      <a:endParaRPr lang="en-CA" sz="1600" b="1" i="0">
                        <a:solidFill>
                          <a:schemeClr val="tx1"/>
                        </a:solidFill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600">
                          <a:effectLst/>
                        </a:rPr>
                        <a:t>Remove transitive dependencies</a:t>
                      </a:r>
                      <a:endParaRPr lang="en-CA" sz="16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97326747"/>
                  </a:ext>
                </a:extLst>
              </a:tr>
              <a:tr h="422361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600" b="1">
                          <a:solidFill>
                            <a:schemeClr val="tx1"/>
                          </a:solidFill>
                          <a:effectLst/>
                        </a:rPr>
                        <a:t>Boyce-Codd Normal Form (BCNF)</a:t>
                      </a:r>
                      <a:endParaRPr lang="en-CA" sz="1600" b="1" i="0">
                        <a:solidFill>
                          <a:schemeClr val="tx1"/>
                        </a:solidFill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600">
                          <a:effectLst/>
                        </a:rPr>
                        <a:t>A revision of 3NF</a:t>
                      </a:r>
                      <a:endParaRPr lang="en-CA" sz="16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123432353"/>
                  </a:ext>
                </a:extLst>
              </a:tr>
              <a:tr h="422361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600" b="1">
                          <a:solidFill>
                            <a:schemeClr val="tx1"/>
                          </a:solidFill>
                          <a:effectLst/>
                        </a:rPr>
                        <a:t>Fourth Normal Form (4NF)</a:t>
                      </a:r>
                      <a:endParaRPr lang="en-CA" sz="1600" b="1" i="0">
                        <a:solidFill>
                          <a:schemeClr val="tx1"/>
                        </a:solidFill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600">
                          <a:effectLst/>
                        </a:rPr>
                        <a:t>Additional rules for multi-valued dependencies</a:t>
                      </a:r>
                      <a:endParaRPr lang="en-CA" sz="16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2061279660"/>
                  </a:ext>
                </a:extLst>
              </a:tr>
              <a:tr h="422361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600" b="1" dirty="0">
                          <a:solidFill>
                            <a:schemeClr val="tx1"/>
                          </a:solidFill>
                          <a:effectLst/>
                        </a:rPr>
                        <a:t>Domain-Key Normal Form (DKNF)</a:t>
                      </a:r>
                      <a:endParaRPr lang="en-CA" sz="1600" b="1" i="0" dirty="0">
                        <a:solidFill>
                          <a:schemeClr val="tx1"/>
                        </a:solidFill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600" dirty="0">
                          <a:effectLst/>
                        </a:rPr>
                        <a:t>Theoretical ultimate form (not fully defined)</a:t>
                      </a:r>
                      <a:endParaRPr lang="en-CA" sz="16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21060274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428298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F76067-4A89-57E6-0B84-6FBE0D39EF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9067" y="539333"/>
            <a:ext cx="10775539" cy="847200"/>
          </a:xfrm>
        </p:spPr>
        <p:txBody>
          <a:bodyPr/>
          <a:lstStyle/>
          <a:p>
            <a:r>
              <a:rPr lang="en-CA" b="1" dirty="0"/>
              <a:t>The Trade-Off</a:t>
            </a:r>
            <a:br>
              <a:rPr lang="en-CA" b="1" dirty="0"/>
            </a:br>
            <a:endParaRPr lang="en-CA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15A01B-A00C-8780-A303-76BEDD5F35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1" y="1615134"/>
            <a:ext cx="5714999" cy="3632276"/>
          </a:xfrm>
        </p:spPr>
        <p:txBody>
          <a:bodyPr>
            <a:normAutofit fontScale="92500" lnSpcReduction="20000"/>
          </a:bodyPr>
          <a:lstStyle/>
          <a:p>
            <a:pPr marL="0" marR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CA" sz="2800" b="1" i="0" dirty="0">
                <a:solidFill>
                  <a:srgbClr val="0F1115"/>
                </a:solidFill>
                <a:effectLst/>
                <a:latin typeface="quote-cjk-patch"/>
              </a:rPr>
              <a:t>As the number of tables increases as in the example. </a:t>
            </a:r>
            <a:br>
              <a:rPr lang="en-CA" sz="2800" b="1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en-CA" sz="2800" b="1" i="0" dirty="0">
                <a:solidFill>
                  <a:srgbClr val="0F1115"/>
                </a:solidFill>
                <a:effectLst/>
                <a:latin typeface="quote-cjk-patch"/>
              </a:rPr>
              <a:t>Normalization is a trade-off between:</a:t>
            </a:r>
            <a:endParaRPr lang="en-CA" sz="28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marL="457200" indent="-457200">
              <a:spcBef>
                <a:spcPts val="1200"/>
              </a:spcBef>
            </a:pPr>
            <a:r>
              <a:rPr lang="en-CA" sz="2800" b="1" i="0" dirty="0">
                <a:solidFill>
                  <a:srgbClr val="0F1115"/>
                </a:solidFill>
                <a:effectLst/>
                <a:latin typeface="quote-cjk-patch"/>
              </a:rPr>
              <a:t>Ease of maintenance</a:t>
            </a:r>
            <a:r>
              <a:rPr lang="en-CA" sz="2800" b="0" i="0" dirty="0">
                <a:solidFill>
                  <a:srgbClr val="0F1115"/>
                </a:solidFill>
                <a:effectLst/>
                <a:latin typeface="quote-cjk-patch"/>
              </a:rPr>
              <a:t> and </a:t>
            </a:r>
            <a:r>
              <a:rPr lang="en-CA" sz="2800" b="1" i="0" dirty="0">
                <a:solidFill>
                  <a:srgbClr val="0F1115"/>
                </a:solidFill>
                <a:effectLst/>
                <a:latin typeface="quote-cjk-patch"/>
              </a:rPr>
              <a:t>performance</a:t>
            </a:r>
            <a:endParaRPr lang="en-CA" sz="28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marL="0" marR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CA" sz="2800" b="1" i="0" dirty="0">
                <a:solidFill>
                  <a:srgbClr val="0F1115"/>
                </a:solidFill>
                <a:effectLst/>
                <a:latin typeface="quote-cjk-patch"/>
              </a:rPr>
              <a:t>Third Normal Form (3NF)</a:t>
            </a:r>
            <a:r>
              <a:rPr lang="en-CA" sz="2800" b="0" i="0" dirty="0">
                <a:solidFill>
                  <a:srgbClr val="0F1115"/>
                </a:solidFill>
                <a:effectLst/>
                <a:latin typeface="quote-cjk-patch"/>
              </a:rPr>
              <a:t> strikes the best balance for most applications. Most relational databases are designed to comply with 3NF.</a:t>
            </a:r>
          </a:p>
          <a:p>
            <a:pPr>
              <a:buNone/>
            </a:pPr>
            <a:endParaRPr lang="en-CA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BD71E9D-ADA0-E374-4D44-F7C40B0741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2271267"/>
              </p:ext>
            </p:extLst>
          </p:nvPr>
        </p:nvGraphicFramePr>
        <p:xfrm>
          <a:off x="6546016" y="1603694"/>
          <a:ext cx="5228590" cy="338198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14295">
                  <a:extLst>
                    <a:ext uri="{9D8B030D-6E8A-4147-A177-3AD203B41FA5}">
                      <a16:colId xmlns:a16="http://schemas.microsoft.com/office/drawing/2014/main" val="838675611"/>
                    </a:ext>
                  </a:extLst>
                </a:gridCol>
                <a:gridCol w="2614295">
                  <a:extLst>
                    <a:ext uri="{9D8B030D-6E8A-4147-A177-3AD203B41FA5}">
                      <a16:colId xmlns:a16="http://schemas.microsoft.com/office/drawing/2014/main" val="57457563"/>
                    </a:ext>
                  </a:extLst>
                </a:gridCol>
              </a:tblGrid>
              <a:tr h="67473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600" b="1" dirty="0">
                          <a:solidFill>
                            <a:schemeClr val="tx2"/>
                          </a:solidFill>
                          <a:effectLst/>
                        </a:rPr>
                        <a:t>Positive</a:t>
                      </a:r>
                      <a:endParaRPr lang="en-CA" sz="1600" b="1" i="0" dirty="0">
                        <a:solidFill>
                          <a:schemeClr val="tx2"/>
                        </a:solidFill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600" b="1" dirty="0">
                          <a:solidFill>
                            <a:schemeClr val="tx2"/>
                          </a:solidFill>
                          <a:effectLst/>
                        </a:rPr>
                        <a:t>Negative</a:t>
                      </a:r>
                      <a:endParaRPr lang="en-CA" sz="1600" b="1" i="0" dirty="0">
                        <a:solidFill>
                          <a:schemeClr val="tx2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extLst>
                  <a:ext uri="{0D108BD9-81ED-4DB2-BD59-A6C34878D82A}">
                    <a16:rowId xmlns:a16="http://schemas.microsoft.com/office/drawing/2014/main" val="73358562"/>
                  </a:ext>
                </a:extLst>
              </a:tr>
              <a:tr h="67473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600">
                          <a:effectLst/>
                        </a:rPr>
                        <a:t>Data redundancy decreases</a:t>
                      </a:r>
                      <a:endParaRPr lang="en-CA" sz="16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600">
                          <a:effectLst/>
                        </a:rPr>
                        <a:t>Overhead increases</a:t>
                      </a:r>
                      <a:endParaRPr lang="en-CA" sz="16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4111008558"/>
                  </a:ext>
                </a:extLst>
              </a:tr>
              <a:tr h="1112003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600" dirty="0">
                          <a:effectLst/>
                        </a:rPr>
                        <a:t>Likelihood of anomalies decreases</a:t>
                      </a:r>
                      <a:endParaRPr lang="en-CA" sz="16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600">
                          <a:effectLst/>
                        </a:rPr>
                        <a:t>Performance can suffer</a:t>
                      </a:r>
                      <a:endParaRPr lang="en-CA" sz="16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2989637385"/>
                  </a:ext>
                </a:extLst>
              </a:tr>
              <a:tr h="67473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600">
                          <a:effectLst/>
                        </a:rPr>
                        <a:t>Database is easier to maintain</a:t>
                      </a:r>
                      <a:endParaRPr lang="en-CA" sz="16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600" dirty="0">
                          <a:effectLst/>
                        </a:rPr>
                        <a:t>More complex queries (joins)</a:t>
                      </a:r>
                      <a:endParaRPr lang="en-CA" sz="16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32539436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144082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49A670-E6EB-CEC1-6A57-D7EECDC0CF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25024" y="612070"/>
            <a:ext cx="8428800" cy="847200"/>
          </a:xfrm>
        </p:spPr>
        <p:txBody>
          <a:bodyPr/>
          <a:lstStyle/>
          <a:p>
            <a:r>
              <a:rPr lang="en-CA" b="1" dirty="0"/>
              <a:t>What is Denormalization?</a:t>
            </a:r>
            <a:br>
              <a:rPr lang="en-CA" b="1" dirty="0"/>
            </a:br>
            <a:endParaRPr lang="en-CA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DE2BEA2-A894-6998-4D77-7AA3A98DED0F}"/>
              </a:ext>
            </a:extLst>
          </p:cNvPr>
          <p:cNvSpPr txBox="1"/>
          <p:nvPr/>
        </p:nvSpPr>
        <p:spPr>
          <a:xfrm>
            <a:off x="635881" y="1559716"/>
            <a:ext cx="3965148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buNone/>
            </a:pPr>
            <a:r>
              <a:rPr lang="en-CA" sz="1600" b="1" i="0" dirty="0">
                <a:solidFill>
                  <a:srgbClr val="0F1115"/>
                </a:solidFill>
                <a:effectLst/>
                <a:latin typeface="quote-cjk-patch"/>
              </a:rPr>
              <a:t>Denormalization</a:t>
            </a:r>
            <a:r>
              <a:rPr lang="en-CA" sz="1600" b="0" i="0" dirty="0">
                <a:solidFill>
                  <a:srgbClr val="0F1115"/>
                </a:solidFill>
                <a:effectLst/>
                <a:latin typeface="quote-cjk-patch"/>
              </a:rPr>
              <a:t> is the process where, after completing a design that meets the rules of normalization, you adjust the design and introduce violations.</a:t>
            </a:r>
          </a:p>
          <a:p>
            <a:pPr marL="0" marR="0" indent="0" algn="l">
              <a:spcAft>
                <a:spcPts val="1200"/>
              </a:spcAft>
              <a:buNone/>
            </a:pPr>
            <a:r>
              <a:rPr lang="en-CA" sz="1600" b="1" i="0" dirty="0">
                <a:solidFill>
                  <a:srgbClr val="0F1115"/>
                </a:solidFill>
                <a:effectLst/>
                <a:latin typeface="quote-cjk-patch"/>
              </a:rPr>
              <a:t>Why would you do this?</a:t>
            </a:r>
            <a:endParaRPr lang="en-CA" sz="16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marL="0" marR="0" indent="0" algn="l">
              <a:spcAft>
                <a:spcPts val="1200"/>
              </a:spcAft>
              <a:buNone/>
            </a:pPr>
            <a:r>
              <a:rPr lang="en-CA" sz="1600" b="1" i="0" dirty="0">
                <a:solidFill>
                  <a:srgbClr val="0F1115"/>
                </a:solidFill>
                <a:effectLst/>
                <a:latin typeface="quote-cjk-patch"/>
              </a:rPr>
              <a:t>Important:</a:t>
            </a:r>
            <a:endParaRPr lang="en-CA" sz="16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marL="0" marR="0" indent="0" algn="l">
              <a:buNone/>
            </a:pPr>
            <a:r>
              <a:rPr lang="en-CA" sz="1600" b="0" i="0" dirty="0">
                <a:solidFill>
                  <a:srgbClr val="0F1115"/>
                </a:solidFill>
                <a:effectLst/>
                <a:latin typeface="quote-cjk-patch"/>
              </a:rPr>
              <a:t>Denormalization is a deliberate trade-off. You accept some redundancy to gain performance or usability.</a:t>
            </a:r>
          </a:p>
          <a:p>
            <a:pPr marL="0" marR="0" indent="0" algn="l">
              <a:spcAft>
                <a:spcPts val="1200"/>
              </a:spcAft>
              <a:buNone/>
            </a:pPr>
            <a:r>
              <a:rPr lang="en-CA" sz="1600" b="1" i="0" dirty="0">
                <a:solidFill>
                  <a:srgbClr val="0F1115"/>
                </a:solidFill>
                <a:effectLst/>
                <a:latin typeface="quote-cjk-patch"/>
              </a:rPr>
              <a:t>We will see an example of denormalization in the IQ School database later in the course.</a:t>
            </a:r>
            <a:endParaRPr lang="en-CA" sz="1600" b="0" i="0" dirty="0">
              <a:solidFill>
                <a:srgbClr val="0F1115"/>
              </a:solidFill>
              <a:effectLst/>
              <a:latin typeface="quote-cjk-patch"/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390AC279-1F7D-4BB1-EF9B-BB486D44EB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9230376"/>
              </p:ext>
            </p:extLst>
          </p:nvPr>
        </p:nvGraphicFramePr>
        <p:xfrm>
          <a:off x="5584552" y="1739052"/>
          <a:ext cx="5039906" cy="292920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12934">
                  <a:extLst>
                    <a:ext uri="{9D8B030D-6E8A-4147-A177-3AD203B41FA5}">
                      <a16:colId xmlns:a16="http://schemas.microsoft.com/office/drawing/2014/main" val="2132530498"/>
                    </a:ext>
                  </a:extLst>
                </a:gridCol>
                <a:gridCol w="3526972">
                  <a:extLst>
                    <a:ext uri="{9D8B030D-6E8A-4147-A177-3AD203B41FA5}">
                      <a16:colId xmlns:a16="http://schemas.microsoft.com/office/drawing/2014/main" val="212338494"/>
                    </a:ext>
                  </a:extLst>
                </a:gridCol>
              </a:tblGrid>
              <a:tr h="523793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600" b="1">
                          <a:solidFill>
                            <a:schemeClr val="tx2"/>
                          </a:solidFill>
                          <a:effectLst/>
                        </a:rPr>
                        <a:t>Reason</a:t>
                      </a:r>
                      <a:endParaRPr lang="en-CA" sz="1600" b="1" i="0">
                        <a:solidFill>
                          <a:schemeClr val="tx2"/>
                        </a:solidFill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600" b="1" dirty="0">
                          <a:solidFill>
                            <a:schemeClr val="tx2"/>
                          </a:solidFill>
                          <a:effectLst/>
                        </a:rPr>
                        <a:t>Explanation</a:t>
                      </a:r>
                      <a:endParaRPr lang="en-CA" sz="1600" b="1" i="0" dirty="0">
                        <a:solidFill>
                          <a:schemeClr val="tx2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extLst>
                  <a:ext uri="{0D108BD9-81ED-4DB2-BD59-A6C34878D82A}">
                    <a16:rowId xmlns:a16="http://schemas.microsoft.com/office/drawing/2014/main" val="3710850223"/>
                  </a:ext>
                </a:extLst>
              </a:tr>
              <a:tr h="1202707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600" b="1">
                          <a:effectLst/>
                        </a:rPr>
                        <a:t>Performance</a:t>
                      </a:r>
                      <a:endParaRPr lang="en-CA" sz="1600" b="1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600" dirty="0">
                          <a:effectLst/>
                        </a:rPr>
                        <a:t>Sometimes joins are slow; storing redundant data can speed up queries</a:t>
                      </a:r>
                      <a:endParaRPr lang="en-CA" sz="16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4203989981"/>
                  </a:ext>
                </a:extLst>
              </a:tr>
              <a:tr h="1202707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600" b="1" dirty="0">
                          <a:effectLst/>
                        </a:rPr>
                        <a:t>Ease of Use</a:t>
                      </a:r>
                      <a:endParaRPr lang="en-CA" sz="1600" b="1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600" dirty="0">
                          <a:effectLst/>
                        </a:rPr>
                        <a:t>Sometimes a denormalized design is easier for users to understand</a:t>
                      </a:r>
                      <a:endParaRPr lang="en-CA" sz="16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39601239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49600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D41ECE-867E-CD3F-20C5-C7F70DB2E7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5805" y="622461"/>
            <a:ext cx="8428800" cy="84720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Normal Forms Are Based on Keys</a:t>
            </a:r>
            <a:br>
              <a:rPr lang="en-CA" b="1" dirty="0"/>
            </a:br>
            <a:endParaRPr lang="en-CA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7452F0D4-8858-B45B-E61A-C9FDC1149C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7984303"/>
              </p:ext>
            </p:extLst>
          </p:nvPr>
        </p:nvGraphicFramePr>
        <p:xfrm>
          <a:off x="6281237" y="1899082"/>
          <a:ext cx="5068934" cy="327904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34467">
                  <a:extLst>
                    <a:ext uri="{9D8B030D-6E8A-4147-A177-3AD203B41FA5}">
                      <a16:colId xmlns:a16="http://schemas.microsoft.com/office/drawing/2014/main" val="1833762994"/>
                    </a:ext>
                  </a:extLst>
                </a:gridCol>
                <a:gridCol w="2534467">
                  <a:extLst>
                    <a:ext uri="{9D8B030D-6E8A-4147-A177-3AD203B41FA5}">
                      <a16:colId xmlns:a16="http://schemas.microsoft.com/office/drawing/2014/main" val="2127675638"/>
                    </a:ext>
                  </a:extLst>
                </a:gridCol>
              </a:tblGrid>
              <a:tr h="547152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600" b="1">
                          <a:solidFill>
                            <a:schemeClr val="tx2"/>
                          </a:solidFill>
                          <a:effectLst/>
                        </a:rPr>
                        <a:t>Concept</a:t>
                      </a:r>
                      <a:endParaRPr lang="en-CA" sz="1600" b="1" i="0">
                        <a:solidFill>
                          <a:schemeClr val="tx2"/>
                        </a:solidFill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600" b="1" dirty="0">
                          <a:solidFill>
                            <a:schemeClr val="tx2"/>
                          </a:solidFill>
                          <a:effectLst/>
                        </a:rPr>
                        <a:t>Description</a:t>
                      </a:r>
                      <a:endParaRPr lang="en-CA" sz="1600" b="1" i="0" dirty="0">
                        <a:solidFill>
                          <a:schemeClr val="tx2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extLst>
                  <a:ext uri="{0D108BD9-81ED-4DB2-BD59-A6C34878D82A}">
                    <a16:rowId xmlns:a16="http://schemas.microsoft.com/office/drawing/2014/main" val="1802013499"/>
                  </a:ext>
                </a:extLst>
              </a:tr>
              <a:tr h="1256342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600" b="1">
                          <a:effectLst/>
                        </a:rPr>
                        <a:t>Primary Key</a:t>
                      </a:r>
                      <a:endParaRPr lang="en-CA" sz="1600" b="1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600">
                          <a:effectLst/>
                        </a:rPr>
                        <a:t>Uniquely identifies a row in a table. Every table has a primary key.</a:t>
                      </a:r>
                      <a:endParaRPr lang="en-CA" sz="16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2711787899"/>
                  </a:ext>
                </a:extLst>
              </a:tr>
              <a:tr h="1256342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600" b="1" dirty="0">
                          <a:effectLst/>
                        </a:rPr>
                        <a:t>Business Rules</a:t>
                      </a:r>
                      <a:endParaRPr lang="en-CA" sz="1600" b="1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600" dirty="0">
                          <a:effectLst/>
                        </a:rPr>
                        <a:t>The database design must reflect the business policies of the organization.</a:t>
                      </a:r>
                      <a:endParaRPr lang="en-CA" sz="16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3925619435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3FFB6CF2-EC79-952B-C5A3-A5A010936F02}"/>
              </a:ext>
            </a:extLst>
          </p:cNvPr>
          <p:cNvSpPr txBox="1"/>
          <p:nvPr/>
        </p:nvSpPr>
        <p:spPr>
          <a:xfrm>
            <a:off x="841829" y="2036840"/>
            <a:ext cx="3545005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CA" b="1" i="0" dirty="0">
                <a:solidFill>
                  <a:srgbClr val="0F1115"/>
                </a:solidFill>
                <a:effectLst/>
                <a:latin typeface="quote-cjk-patch"/>
              </a:rPr>
              <a:t>Before looking at the specific rules, we must understand two critical concepts:</a:t>
            </a:r>
            <a:endParaRPr lang="en-CA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marL="0" marR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CA" b="1" i="0" dirty="0">
                <a:solidFill>
                  <a:srgbClr val="0F1115"/>
                </a:solidFill>
                <a:effectLst/>
                <a:latin typeface="quote-cjk-patch"/>
              </a:rPr>
              <a:t>Critical Warning:</a:t>
            </a:r>
            <a:endParaRPr lang="en-CA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marL="0" marR="0" indent="0" algn="l">
              <a:spcBef>
                <a:spcPts val="1200"/>
              </a:spcBef>
              <a:buNone/>
            </a:pPr>
            <a:r>
              <a:rPr lang="en-CA" b="0" i="0" dirty="0">
                <a:solidFill>
                  <a:srgbClr val="0F1115"/>
                </a:solidFill>
                <a:effectLst/>
                <a:latin typeface="quote-cjk-patch"/>
              </a:rPr>
              <a:t>If a mistake is made in selecting the primary key for a table, the normalization process will NOT produce a good database design.</a:t>
            </a:r>
          </a:p>
          <a:p>
            <a:pPr>
              <a:buNone/>
            </a:pPr>
            <a:br>
              <a:rPr lang="en-CA" dirty="0"/>
            </a:b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1659492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AABAAA-C8C1-C7A9-EC5F-63BEF41EF3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76A1BA-082B-7468-A348-792D7156A4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5805" y="622461"/>
            <a:ext cx="8428800" cy="847200"/>
          </a:xfrm>
        </p:spPr>
        <p:txBody>
          <a:bodyPr>
            <a:normAutofit fontScale="90000"/>
          </a:bodyPr>
          <a:lstStyle/>
          <a:p>
            <a:r>
              <a:rPr lang="en-CA" b="1" dirty="0"/>
              <a:t>Business Rules Affect Design</a:t>
            </a:r>
            <a:br>
              <a:rPr lang="en-CA" b="1" dirty="0"/>
            </a:br>
            <a:endParaRPr lang="en-CA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CE4C55-CF56-00EB-5279-64FF1189BC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4163" y="1572874"/>
            <a:ext cx="4700979" cy="3780679"/>
          </a:xfrm>
        </p:spPr>
        <p:txBody>
          <a:bodyPr>
            <a:normAutofit fontScale="92500" lnSpcReduction="20000"/>
          </a:bodyPr>
          <a:lstStyle/>
          <a:p>
            <a:pPr marL="0" marR="0" indent="0" algn="l">
              <a:spcAft>
                <a:spcPts val="1200"/>
              </a:spcAft>
              <a:buNone/>
            </a:pPr>
            <a:r>
              <a:rPr lang="en-CA" sz="2400" b="1" i="0" dirty="0">
                <a:solidFill>
                  <a:srgbClr val="0F1115"/>
                </a:solidFill>
                <a:effectLst/>
                <a:latin typeface="quote-cjk-patch"/>
              </a:rPr>
              <a:t>Consider a consulting firm that tracks consultants, clients, and assignments.</a:t>
            </a:r>
            <a:endParaRPr lang="en-CA" sz="24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marL="0" marR="0" indent="0" algn="l">
              <a:spcAft>
                <a:spcPts val="1200"/>
              </a:spcAft>
              <a:buNone/>
            </a:pPr>
            <a:r>
              <a:rPr lang="en-CA" sz="2400" b="1" i="0" dirty="0">
                <a:solidFill>
                  <a:srgbClr val="0F1115"/>
                </a:solidFill>
                <a:effectLst/>
                <a:latin typeface="quote-cjk-patch"/>
              </a:rPr>
              <a:t>Business Rule Option 1:</a:t>
            </a:r>
            <a:endParaRPr lang="en-CA" sz="24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marL="0" marR="0" indent="0" algn="l">
              <a:buNone/>
            </a:pPr>
            <a:r>
              <a:rPr lang="en-CA" sz="2400" b="0" i="0" dirty="0">
                <a:solidFill>
                  <a:srgbClr val="0F1115"/>
                </a:solidFill>
                <a:effectLst/>
                <a:latin typeface="quote-cjk-patch"/>
              </a:rPr>
              <a:t>A client can be served by many different consultants based on the type of service requested.</a:t>
            </a:r>
          </a:p>
          <a:p>
            <a:pPr marL="0" marR="0" indent="0" algn="l">
              <a:spcAft>
                <a:spcPts val="1200"/>
              </a:spcAft>
              <a:buNone/>
            </a:pPr>
            <a:r>
              <a:rPr lang="en-CA" sz="2400" b="1" i="0" dirty="0">
                <a:solidFill>
                  <a:srgbClr val="0F1115"/>
                </a:solidFill>
                <a:effectLst/>
                <a:latin typeface="quote-cjk-patch"/>
              </a:rPr>
              <a:t>This creates a M:N relationship between Clients and Consultants.</a:t>
            </a:r>
            <a:endParaRPr lang="en-CA" sz="24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marL="0" marR="0" indent="0" algn="l">
              <a:spcAft>
                <a:spcPts val="1200"/>
              </a:spcAft>
              <a:buNone/>
            </a:pPr>
            <a:r>
              <a:rPr lang="en-CA" sz="2400" b="1" i="0" dirty="0">
                <a:solidFill>
                  <a:srgbClr val="0F1115"/>
                </a:solidFill>
                <a:effectLst/>
                <a:latin typeface="quote-cjk-patch"/>
              </a:rPr>
              <a:t>Result:</a:t>
            </a:r>
            <a:r>
              <a:rPr lang="en-CA" sz="2400" b="0" i="0" dirty="0">
                <a:solidFill>
                  <a:srgbClr val="0F1115"/>
                </a:solidFill>
                <a:effectLst/>
                <a:latin typeface="quote-cjk-patch"/>
              </a:rPr>
              <a:t> The normalization process creates an </a:t>
            </a:r>
            <a:r>
              <a:rPr lang="en-CA" sz="2400" b="1" i="0" dirty="0">
                <a:solidFill>
                  <a:srgbClr val="0F1115"/>
                </a:solidFill>
                <a:effectLst/>
                <a:latin typeface="quote-cjk-patch"/>
              </a:rPr>
              <a:t>Assignment</a:t>
            </a:r>
            <a:r>
              <a:rPr lang="en-CA" sz="2400" b="0" i="0" dirty="0">
                <a:solidFill>
                  <a:srgbClr val="0F1115"/>
                </a:solidFill>
                <a:effectLst/>
                <a:latin typeface="quote-cjk-patch"/>
              </a:rPr>
              <a:t> table with a composite primary key of </a:t>
            </a:r>
            <a:r>
              <a:rPr lang="en-CA" sz="2400" b="0" i="0" dirty="0" err="1">
                <a:solidFill>
                  <a:srgbClr val="0F1115"/>
                </a:solidFill>
                <a:effectLst/>
                <a:latin typeface="quote-cjk-patch"/>
              </a:rPr>
              <a:t>ClientId</a:t>
            </a:r>
            <a:r>
              <a:rPr lang="en-CA" sz="2400" b="0" i="0" dirty="0">
                <a:solidFill>
                  <a:srgbClr val="0F1115"/>
                </a:solidFill>
                <a:effectLst/>
                <a:latin typeface="quote-cjk-patch"/>
              </a:rPr>
              <a:t>, </a:t>
            </a:r>
            <a:r>
              <a:rPr lang="en-CA" sz="2400" b="0" i="0" dirty="0" err="1">
                <a:solidFill>
                  <a:srgbClr val="0F1115"/>
                </a:solidFill>
                <a:effectLst/>
                <a:latin typeface="quote-cjk-patch"/>
              </a:rPr>
              <a:t>ConsultantId</a:t>
            </a:r>
            <a:r>
              <a:rPr lang="en-CA" sz="2400" b="0" i="0" dirty="0">
                <a:solidFill>
                  <a:srgbClr val="0F1115"/>
                </a:solidFill>
                <a:effectLst/>
                <a:latin typeface="quote-cjk-patch"/>
              </a:rPr>
              <a:t>, and StartDate.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E731D8C-2B86-4A1C-BF15-9447226D03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2215" y="1488007"/>
            <a:ext cx="5925622" cy="3950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82625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BE1BF7-FBFC-8DF9-CD87-2760E3C5EA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7A9274-F3BF-CFC8-E482-16D89CD281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5805" y="622461"/>
            <a:ext cx="8428800" cy="84720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Business Rules Affect Design </a:t>
            </a:r>
            <a:br>
              <a:rPr lang="en-CA" b="1" dirty="0"/>
            </a:br>
            <a:endParaRPr lang="en-CA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536B87-CD16-4FFA-9F1F-750F367943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4164" y="1597234"/>
            <a:ext cx="6878122" cy="3663531"/>
          </a:xfrm>
        </p:spPr>
        <p:txBody>
          <a:bodyPr>
            <a:normAutofit fontScale="92500" lnSpcReduction="20000"/>
          </a:bodyPr>
          <a:lstStyle/>
          <a:p>
            <a:pPr marL="0" marR="0" indent="0" algn="l">
              <a:spcAft>
                <a:spcPts val="1200"/>
              </a:spcAft>
              <a:buNone/>
            </a:pPr>
            <a:r>
              <a:rPr lang="en-CA" sz="2400" b="1" i="0" dirty="0">
                <a:solidFill>
                  <a:srgbClr val="0F1115"/>
                </a:solidFill>
                <a:effectLst/>
                <a:latin typeface="quote-cjk-patch"/>
              </a:rPr>
              <a:t>Business Rule Option 2:</a:t>
            </a:r>
            <a:endParaRPr lang="en-CA" sz="24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marL="0" marR="0" indent="0" algn="l">
              <a:buNone/>
            </a:pPr>
            <a:r>
              <a:rPr lang="en-CA" sz="2400" b="0" i="0" dirty="0">
                <a:solidFill>
                  <a:srgbClr val="0F1115"/>
                </a:solidFill>
                <a:effectLst/>
                <a:latin typeface="quote-cjk-patch"/>
              </a:rPr>
              <a:t>A client is permanently assigned to one consultant who provides all services.</a:t>
            </a:r>
          </a:p>
          <a:p>
            <a:pPr marL="0" marR="0" indent="0" algn="l">
              <a:spcAft>
                <a:spcPts val="1200"/>
              </a:spcAft>
              <a:buNone/>
            </a:pPr>
            <a:r>
              <a:rPr lang="en-CA" sz="2400" b="1" i="0" dirty="0">
                <a:solidFill>
                  <a:srgbClr val="0F1115"/>
                </a:solidFill>
                <a:effectLst/>
                <a:latin typeface="quote-cjk-patch"/>
              </a:rPr>
              <a:t>This creates a 1:M relationship between Consultants and Clients.</a:t>
            </a:r>
            <a:endParaRPr lang="en-CA" sz="24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marL="0" marR="0" indent="0" algn="l">
              <a:spcAft>
                <a:spcPts val="1200"/>
              </a:spcAft>
              <a:buNone/>
            </a:pPr>
            <a:r>
              <a:rPr lang="en-CA" sz="2400" b="1" i="0" dirty="0">
                <a:solidFill>
                  <a:srgbClr val="0F1115"/>
                </a:solidFill>
                <a:effectLst/>
                <a:latin typeface="quote-cjk-patch"/>
              </a:rPr>
              <a:t>Result:</a:t>
            </a:r>
            <a:r>
              <a:rPr lang="en-CA" sz="2400" b="0" i="0" dirty="0">
                <a:solidFill>
                  <a:srgbClr val="0F1115"/>
                </a:solidFill>
                <a:effectLst/>
                <a:latin typeface="quote-cjk-patch"/>
              </a:rPr>
              <a:t> The Assignment table is </a:t>
            </a:r>
            <a:r>
              <a:rPr lang="en-CA" sz="2400" b="1" i="0" dirty="0">
                <a:solidFill>
                  <a:srgbClr val="0F1115"/>
                </a:solidFill>
                <a:effectLst/>
                <a:latin typeface="quote-cjk-patch"/>
              </a:rPr>
              <a:t>no longer required</a:t>
            </a:r>
            <a:r>
              <a:rPr lang="en-CA" sz="2400" b="0" i="0" dirty="0">
                <a:solidFill>
                  <a:srgbClr val="0F1115"/>
                </a:solidFill>
                <a:effectLst/>
                <a:latin typeface="quote-cjk-patch"/>
              </a:rPr>
              <a:t> to track which consultant is assigned to which client.</a:t>
            </a:r>
          </a:p>
          <a:p>
            <a:pPr marL="0" marR="0" indent="0" algn="l">
              <a:spcAft>
                <a:spcPts val="1200"/>
              </a:spcAft>
              <a:buNone/>
            </a:pPr>
            <a:r>
              <a:rPr lang="en-CA" sz="2400" b="1" i="0" dirty="0">
                <a:solidFill>
                  <a:srgbClr val="0F1115"/>
                </a:solidFill>
                <a:effectLst/>
                <a:latin typeface="quote-cjk-patch"/>
              </a:rPr>
              <a:t>Key Takeaway:</a:t>
            </a:r>
            <a:endParaRPr lang="en-CA" sz="24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marL="0" marR="0" indent="0" algn="l">
              <a:buNone/>
            </a:pPr>
            <a:r>
              <a:rPr lang="en-CA" sz="2400" b="0" i="0" dirty="0">
                <a:solidFill>
                  <a:srgbClr val="0F1115"/>
                </a:solidFill>
                <a:effectLst/>
                <a:latin typeface="quote-cjk-patch"/>
              </a:rPr>
              <a:t>Different business rules produce different database designs. The designer must understand the business rules before normalizing.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1827FBE-1D12-62A5-62D4-2ADCE7CE7A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2915" y="1215570"/>
            <a:ext cx="3635829" cy="5453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01597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B49355-F30E-2B00-5F7D-EDCA31C4E2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A09CF0-3350-28A0-A2C5-623F0E2F8B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5805" y="622461"/>
            <a:ext cx="8428800" cy="847200"/>
          </a:xfrm>
        </p:spPr>
        <p:txBody>
          <a:bodyPr>
            <a:normAutofit fontScale="90000"/>
          </a:bodyPr>
          <a:lstStyle/>
          <a:p>
            <a:r>
              <a:rPr lang="en-CA" b="1" dirty="0"/>
              <a:t>The Employee Workload View</a:t>
            </a:r>
            <a:br>
              <a:rPr lang="en-CA" b="1" dirty="0"/>
            </a:br>
            <a:endParaRPr lang="en-CA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30E837-12D7-9A62-51BC-0683D2CBDD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7395" y="1318587"/>
            <a:ext cx="6094351" cy="4443584"/>
          </a:xfrm>
        </p:spPr>
        <p:txBody>
          <a:bodyPr>
            <a:normAutofit fontScale="77500" lnSpcReduction="20000"/>
          </a:bodyPr>
          <a:lstStyle/>
          <a:p>
            <a:pPr marL="0" marR="0" indent="0" algn="l">
              <a:spcAft>
                <a:spcPts val="1200"/>
              </a:spcAft>
              <a:buNone/>
            </a:pPr>
            <a:r>
              <a:rPr lang="en-CA" sz="2400" b="1" i="0" dirty="0">
                <a:solidFill>
                  <a:srgbClr val="0F1115"/>
                </a:solidFill>
                <a:effectLst/>
                <a:latin typeface="quote-cjk-patch"/>
              </a:rPr>
              <a:t>Scenario: </a:t>
            </a:r>
            <a:r>
              <a:rPr lang="en-CA" sz="2400" b="0" i="0" dirty="0">
                <a:solidFill>
                  <a:srgbClr val="0F1115"/>
                </a:solidFill>
                <a:effectLst/>
                <a:latin typeface="quote-cjk-patch"/>
              </a:rPr>
              <a:t>A manager needs to determine the department an employee is assigned to and the projects the employee is currently working on.</a:t>
            </a:r>
          </a:p>
          <a:p>
            <a:pPr marL="0" marR="0" indent="0" algn="l">
              <a:spcAft>
                <a:spcPts val="1200"/>
              </a:spcAft>
              <a:buNone/>
            </a:pPr>
            <a:r>
              <a:rPr lang="en-US" sz="2400" b="1" i="0" dirty="0">
                <a:solidFill>
                  <a:srgbClr val="0F1115"/>
                </a:solidFill>
                <a:effectLst/>
                <a:latin typeface="quote-cjk-patch"/>
              </a:rPr>
              <a:t>Business Rules:</a:t>
            </a:r>
          </a:p>
          <a:p>
            <a:pPr marL="342900" indent="-342900">
              <a:spcAft>
                <a:spcPts val="1200"/>
              </a:spcAft>
            </a:pPr>
            <a:r>
              <a:rPr lang="en-US" sz="2400" b="0" i="0" dirty="0">
                <a:solidFill>
                  <a:srgbClr val="0F1115"/>
                </a:solidFill>
                <a:effectLst/>
                <a:latin typeface="quote-cjk-patch"/>
              </a:rPr>
              <a:t>An employee works for a single department.</a:t>
            </a:r>
          </a:p>
          <a:p>
            <a:pPr marL="342900" indent="-342900">
              <a:spcAft>
                <a:spcPts val="1200"/>
              </a:spcAft>
            </a:pPr>
            <a:r>
              <a:rPr lang="en-US" sz="2400" b="0" i="0" dirty="0">
                <a:solidFill>
                  <a:srgbClr val="0F1115"/>
                </a:solidFill>
                <a:effectLst/>
                <a:latin typeface="quote-cjk-patch"/>
              </a:rPr>
              <a:t>A department can have many employees.</a:t>
            </a:r>
          </a:p>
          <a:p>
            <a:pPr marL="342900" indent="-342900">
              <a:spcAft>
                <a:spcPts val="1200"/>
              </a:spcAft>
            </a:pPr>
            <a:r>
              <a:rPr lang="en-US" sz="2400" b="0" i="0" dirty="0">
                <a:solidFill>
                  <a:srgbClr val="0F1115"/>
                </a:solidFill>
                <a:effectLst/>
                <a:latin typeface="quote-cjk-patch"/>
              </a:rPr>
              <a:t>A single department develops a project.</a:t>
            </a:r>
          </a:p>
          <a:p>
            <a:pPr marL="342900" indent="-342900">
              <a:spcAft>
                <a:spcPts val="1200"/>
              </a:spcAft>
            </a:pPr>
            <a:r>
              <a:rPr lang="en-US" sz="2400" b="0" i="0" dirty="0">
                <a:solidFill>
                  <a:srgbClr val="0F1115"/>
                </a:solidFill>
                <a:effectLst/>
                <a:latin typeface="quote-cjk-patch"/>
              </a:rPr>
              <a:t>A department can develop many projects.</a:t>
            </a:r>
          </a:p>
          <a:p>
            <a:pPr marL="342900" indent="-342900">
              <a:spcAft>
                <a:spcPts val="1200"/>
              </a:spcAft>
            </a:pPr>
            <a:r>
              <a:rPr lang="en-US" sz="2400" b="0" i="0" dirty="0">
                <a:solidFill>
                  <a:srgbClr val="0F1115"/>
                </a:solidFill>
                <a:effectLst/>
                <a:latin typeface="quote-cjk-patch"/>
              </a:rPr>
              <a:t>An employee can be assigned to a maximum of 4 projects.</a:t>
            </a:r>
          </a:p>
          <a:p>
            <a:pPr marL="342900" indent="-342900">
              <a:spcAft>
                <a:spcPts val="1200"/>
              </a:spcAft>
            </a:pPr>
            <a:r>
              <a:rPr lang="en-US" sz="2400" b="0" i="0" dirty="0">
                <a:solidFill>
                  <a:srgbClr val="0F1115"/>
                </a:solidFill>
                <a:effectLst/>
                <a:latin typeface="quote-cjk-patch"/>
              </a:rPr>
              <a:t>A project can have many employees.</a:t>
            </a:r>
          </a:p>
          <a:p>
            <a:pPr marL="342900" indent="-342900">
              <a:spcAft>
                <a:spcPts val="1200"/>
              </a:spcAft>
            </a:pPr>
            <a:r>
              <a:rPr lang="en-US" sz="2400" b="0" i="0" dirty="0">
                <a:solidFill>
                  <a:srgbClr val="0F1115"/>
                </a:solidFill>
                <a:effectLst/>
                <a:latin typeface="quote-cjk-patch"/>
              </a:rPr>
              <a:t>Employee ID, Department Number, and Project Number uniquely identify employees, departments, and projects.</a:t>
            </a:r>
          </a:p>
          <a:p>
            <a:pPr marL="0" marR="0" indent="0" algn="l">
              <a:spcBef>
                <a:spcPts val="1200"/>
              </a:spcBef>
              <a:spcAft>
                <a:spcPts val="1200"/>
              </a:spcAft>
              <a:buNone/>
            </a:pPr>
            <a:endParaRPr lang="en-CA" sz="2400" b="0" i="0" dirty="0">
              <a:solidFill>
                <a:srgbClr val="0F1115"/>
              </a:solidFill>
              <a:effectLst/>
              <a:latin typeface="quote-cjk-patch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E412627-C61E-B545-6938-46FFF74BC3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1746" y="1765980"/>
            <a:ext cx="5502953" cy="3326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91082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11854-E7DA-BB45-5AAC-E16790CB05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0332" y="767933"/>
            <a:ext cx="8991667" cy="847200"/>
          </a:xfrm>
        </p:spPr>
        <p:txBody>
          <a:bodyPr/>
          <a:lstStyle/>
          <a:p>
            <a:r>
              <a:rPr lang="en-US" b="1" dirty="0"/>
              <a:t>Step 0 — Identify Entities and Relationships</a:t>
            </a:r>
            <a:endParaRPr lang="en-CA"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D84111-ECB2-92CE-9E29-05C8B5780D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82288" y="2307771"/>
            <a:ext cx="4759899" cy="2989943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50000"/>
              </a:lnSpc>
              <a:buNone/>
            </a:pPr>
            <a:r>
              <a:rPr lang="en-US" dirty="0"/>
              <a:t>Before applying normalization rules, understand the data</a:t>
            </a:r>
          </a:p>
          <a:p>
            <a:pPr>
              <a:lnSpc>
                <a:spcPct val="150000"/>
              </a:lnSpc>
              <a:buNone/>
            </a:pPr>
            <a:r>
              <a:rPr lang="en-US" b="1" dirty="0"/>
              <a:t>Why is this important?</a:t>
            </a:r>
          </a:p>
          <a:p>
            <a:pPr>
              <a:lnSpc>
                <a:spcPct val="150000"/>
              </a:lnSpc>
              <a:buNone/>
            </a:pPr>
            <a:r>
              <a:rPr lang="en-US" dirty="0"/>
              <a:t>You need to understand the data before you can organize it properly.</a:t>
            </a:r>
            <a:endParaRPr lang="en-CA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6307BDE-D4DE-F318-3199-18A39DFA10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2187" y="2307771"/>
            <a:ext cx="6867525" cy="295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58861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345FD8-2D94-5A1B-8F60-817965227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EB696C-28C4-ADCD-5A2F-8640C07D8B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224" y="335242"/>
            <a:ext cx="10515600" cy="1069679"/>
          </a:xfrm>
        </p:spPr>
        <p:txBody>
          <a:bodyPr anchor="ctr">
            <a:normAutofit/>
          </a:bodyPr>
          <a:lstStyle/>
          <a:p>
            <a:r>
              <a:rPr lang="en-US" b="1" dirty="0"/>
              <a:t>Step 1 — Create the Initial Table</a:t>
            </a:r>
            <a:endParaRPr lang="en-CA"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64CC0F-0811-E6EC-2E95-BBEAA1575C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4088265" cy="3397810"/>
          </a:xfrm>
        </p:spPr>
        <p:txBody>
          <a:bodyPr>
            <a:normAutofit fontScale="92500" lnSpcReduction="10000"/>
          </a:bodyPr>
          <a:lstStyle/>
          <a:p>
            <a:pPr marL="0" marR="0" indent="0">
              <a:spcBef>
                <a:spcPts val="1200"/>
              </a:spcBef>
              <a:buNone/>
            </a:pPr>
            <a:r>
              <a:rPr lang="en-CA" b="1" i="0" dirty="0">
                <a:effectLst/>
              </a:rPr>
              <a:t>The initial table contains ALL data items in the view.</a:t>
            </a:r>
            <a:endParaRPr lang="en-CA" b="0" i="0" dirty="0">
              <a:effectLst/>
            </a:endParaRPr>
          </a:p>
          <a:p>
            <a:pPr marL="0" marR="0" indent="0">
              <a:spcBef>
                <a:spcPts val="1200"/>
              </a:spcBef>
              <a:buNone/>
            </a:pPr>
            <a:r>
              <a:rPr lang="en-CA" b="1" i="0" dirty="0">
                <a:effectLst/>
              </a:rPr>
              <a:t>Rules:</a:t>
            </a:r>
            <a:endParaRPr lang="en-CA" b="0" i="0" dirty="0">
              <a:effectLst/>
            </a:endParaRPr>
          </a:p>
          <a:p>
            <a:pPr marL="0" marR="0" lvl="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CA" b="0" i="0" dirty="0">
                <a:effectLst/>
              </a:rPr>
              <a:t>Must have a primary key that uniquely identifies each row</a:t>
            </a:r>
          </a:p>
          <a:p>
            <a:pPr marL="0" marR="0" lvl="0" indent="-342900">
              <a:spcBef>
                <a:spcPts val="450"/>
              </a:spcBef>
              <a:buFont typeface="Arial" panose="020B0604020202020204" pitchFamily="34" charset="0"/>
              <a:buChar char="•"/>
            </a:pPr>
            <a:r>
              <a:rPr lang="en-CA" b="0" i="0" dirty="0">
                <a:effectLst/>
              </a:rPr>
              <a:t>Repeating groups are listed in parentheses</a:t>
            </a:r>
          </a:p>
          <a:p>
            <a:pPr marL="0" lvl="0" indent="0">
              <a:buNone/>
            </a:pPr>
            <a:endParaRPr lang="en-CA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7D8159FE-2D8E-B2B8-2612-4772909FB7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6465" y="1887765"/>
            <a:ext cx="7153275" cy="666750"/>
          </a:xfrm>
          <a:prstGeom prst="rect">
            <a:avLst/>
          </a:prstGeom>
        </p:spPr>
      </p:pic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DFFE1682-6681-7C54-3495-2E445469EF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9032567"/>
              </p:ext>
            </p:extLst>
          </p:nvPr>
        </p:nvGraphicFramePr>
        <p:xfrm>
          <a:off x="6096000" y="3403259"/>
          <a:ext cx="5481002" cy="162060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40501">
                  <a:extLst>
                    <a:ext uri="{9D8B030D-6E8A-4147-A177-3AD203B41FA5}">
                      <a16:colId xmlns:a16="http://schemas.microsoft.com/office/drawing/2014/main" val="1140101869"/>
                    </a:ext>
                  </a:extLst>
                </a:gridCol>
                <a:gridCol w="2740501">
                  <a:extLst>
                    <a:ext uri="{9D8B030D-6E8A-4147-A177-3AD203B41FA5}">
                      <a16:colId xmlns:a16="http://schemas.microsoft.com/office/drawing/2014/main" val="2814638327"/>
                    </a:ext>
                  </a:extLst>
                </a:gridCol>
              </a:tblGrid>
              <a:tr h="540202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600" b="1" dirty="0">
                          <a:solidFill>
                            <a:schemeClr val="tx2"/>
                          </a:solidFill>
                          <a:effectLst/>
                        </a:rPr>
                        <a:t>Symbol</a:t>
                      </a:r>
                      <a:endParaRPr lang="en-CA" sz="1600" b="1" dirty="0">
                        <a:solidFill>
                          <a:schemeClr val="tx2"/>
                        </a:solidFill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600" b="1" dirty="0">
                          <a:solidFill>
                            <a:schemeClr val="tx2"/>
                          </a:solidFill>
                          <a:effectLst/>
                        </a:rPr>
                        <a:t>Meaning</a:t>
                      </a:r>
                      <a:endParaRPr lang="en-CA" sz="1600" b="1" dirty="0">
                        <a:solidFill>
                          <a:schemeClr val="tx2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extLst>
                  <a:ext uri="{0D108BD9-81ED-4DB2-BD59-A6C34878D82A}">
                    <a16:rowId xmlns:a16="http://schemas.microsoft.com/office/drawing/2014/main" val="3589883110"/>
                  </a:ext>
                </a:extLst>
              </a:tr>
              <a:tr h="540202"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n-CA" sz="1600">
                          <a:effectLst/>
                        </a:rPr>
                        <a:t>Underline</a:t>
                      </a:r>
                      <a:endParaRPr lang="en-CA" sz="1600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n-CA" sz="1600">
                          <a:effectLst/>
                        </a:rPr>
                        <a:t>Primary Key</a:t>
                      </a:r>
                      <a:endParaRPr lang="en-CA" sz="1600" b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2049332079"/>
                  </a:ext>
                </a:extLst>
              </a:tr>
              <a:tr h="540202"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n-CA" sz="1600">
                          <a:effectLst/>
                        </a:rPr>
                        <a:t>( )</a:t>
                      </a:r>
                      <a:endParaRPr lang="en-CA" sz="1600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n-CA" sz="1600" dirty="0">
                          <a:effectLst/>
                        </a:rPr>
                        <a:t>Repeating Group</a:t>
                      </a:r>
                      <a:endParaRPr lang="en-CA" sz="1600" b="0" dirty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4152970482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F6ECF796-2D6B-829B-3344-0DBD5D4126BF}"/>
              </a:ext>
            </a:extLst>
          </p:cNvPr>
          <p:cNvSpPr txBox="1"/>
          <p:nvPr/>
        </p:nvSpPr>
        <p:spPr>
          <a:xfrm>
            <a:off x="5983740" y="288583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CA" sz="1800" b="1" i="0" dirty="0">
                <a:solidFill>
                  <a:schemeClr val="tx1"/>
                </a:solidFill>
                <a:effectLst/>
                <a:latin typeface="+mn-lt"/>
              </a:rPr>
              <a:t>Notation:</a:t>
            </a:r>
            <a:endParaRPr lang="en-CA" sz="1800" b="0" i="0" dirty="0">
              <a:solidFill>
                <a:srgbClr val="0F1115"/>
              </a:solidFill>
              <a:effectLst/>
              <a:latin typeface="quote-cjk-patch"/>
            </a:endParaRPr>
          </a:p>
        </p:txBody>
      </p:sp>
    </p:spTree>
    <p:extLst>
      <p:ext uri="{BB962C8B-B14F-4D97-AF65-F5344CB8AC3E}">
        <p14:creationId xmlns:p14="http://schemas.microsoft.com/office/powerpoint/2010/main" val="39946760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E64D5E-1F69-C2D7-47D8-F7E023EA13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2914" y="601679"/>
            <a:ext cx="10014857" cy="847200"/>
          </a:xfrm>
        </p:spPr>
        <p:txBody>
          <a:bodyPr/>
          <a:lstStyle/>
          <a:p>
            <a:r>
              <a:rPr lang="en-US" b="1" dirty="0"/>
              <a:t>Step 1 — Selecting the Primary Key</a:t>
            </a:r>
            <a:br>
              <a:rPr lang="en-CA" b="1" dirty="0"/>
            </a:br>
            <a:endParaRPr lang="en-CA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B20DB2-8B40-0BA0-9A5F-4EC4043B37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5086" y="1576982"/>
            <a:ext cx="3947885" cy="3488504"/>
          </a:xfrm>
        </p:spPr>
        <p:txBody>
          <a:bodyPr>
            <a:normAutofit fontScale="92500"/>
          </a:bodyPr>
          <a:lstStyle/>
          <a:p>
            <a:pPr>
              <a:buNone/>
            </a:pPr>
            <a:r>
              <a:rPr lang="en-CA" b="1" dirty="0"/>
              <a:t>We have three candidate keys. Which one should be the primary key?</a:t>
            </a:r>
          </a:p>
          <a:p>
            <a:pPr marL="152396" indent="0">
              <a:buNone/>
            </a:pPr>
            <a:r>
              <a:rPr lang="en-CA" b="1" dirty="0"/>
              <a:t>Decision:</a:t>
            </a:r>
            <a:endParaRPr lang="en-CA" dirty="0"/>
          </a:p>
          <a:p>
            <a:r>
              <a:rPr lang="en-CA" b="1" dirty="0"/>
              <a:t>Employee ID</a:t>
            </a:r>
            <a:r>
              <a:rPr lang="en-CA" dirty="0"/>
              <a:t> must act as the primary key for the initial table.</a:t>
            </a:r>
          </a:p>
          <a:p>
            <a:pPr>
              <a:buNone/>
            </a:pPr>
            <a:endParaRPr lang="en-CA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ABCFD3E-0653-5D77-FCCB-F5CC4811B8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4628190"/>
              </p:ext>
            </p:extLst>
          </p:nvPr>
        </p:nvGraphicFramePr>
        <p:xfrm>
          <a:off x="5076551" y="1724221"/>
          <a:ext cx="6926760" cy="311158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08920">
                  <a:extLst>
                    <a:ext uri="{9D8B030D-6E8A-4147-A177-3AD203B41FA5}">
                      <a16:colId xmlns:a16="http://schemas.microsoft.com/office/drawing/2014/main" val="912468801"/>
                    </a:ext>
                  </a:extLst>
                </a:gridCol>
                <a:gridCol w="1758529">
                  <a:extLst>
                    <a:ext uri="{9D8B030D-6E8A-4147-A177-3AD203B41FA5}">
                      <a16:colId xmlns:a16="http://schemas.microsoft.com/office/drawing/2014/main" val="1443235740"/>
                    </a:ext>
                  </a:extLst>
                </a:gridCol>
                <a:gridCol w="2859311">
                  <a:extLst>
                    <a:ext uri="{9D8B030D-6E8A-4147-A177-3AD203B41FA5}">
                      <a16:colId xmlns:a16="http://schemas.microsoft.com/office/drawing/2014/main" val="3552855501"/>
                    </a:ext>
                  </a:extLst>
                </a:gridCol>
              </a:tblGrid>
              <a:tr h="500635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200" b="1" dirty="0">
                          <a:solidFill>
                            <a:schemeClr val="tx2"/>
                          </a:solidFill>
                          <a:effectLst/>
                        </a:rPr>
                        <a:t>Candidate Key</a:t>
                      </a:r>
                      <a:endParaRPr lang="en-CA" sz="1200" b="1" i="0" dirty="0">
                        <a:solidFill>
                          <a:schemeClr val="tx2"/>
                        </a:solidFill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200" b="1">
                          <a:solidFill>
                            <a:schemeClr val="tx2"/>
                          </a:solidFill>
                          <a:effectLst/>
                        </a:rPr>
                        <a:t>Can It Uniquely Identify a Row?</a:t>
                      </a:r>
                      <a:endParaRPr lang="en-CA" sz="1200" b="1" i="0">
                        <a:solidFill>
                          <a:schemeClr val="tx2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200" b="1" dirty="0">
                          <a:solidFill>
                            <a:schemeClr val="tx2"/>
                          </a:solidFill>
                          <a:effectLst/>
                        </a:rPr>
                        <a:t>Why?</a:t>
                      </a:r>
                      <a:endParaRPr lang="en-CA" sz="1200" b="1" i="0" dirty="0">
                        <a:solidFill>
                          <a:schemeClr val="tx2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extLst>
                  <a:ext uri="{0D108BD9-81ED-4DB2-BD59-A6C34878D82A}">
                    <a16:rowId xmlns:a16="http://schemas.microsoft.com/office/drawing/2014/main" val="809259902"/>
                  </a:ext>
                </a:extLst>
              </a:tr>
              <a:tr h="825083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200" dirty="0">
                          <a:effectLst/>
                        </a:rPr>
                        <a:t>Employee ID</a:t>
                      </a:r>
                      <a:endParaRPr lang="en-CA" sz="12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200">
                          <a:effectLst/>
                        </a:rPr>
                        <a:t>Yes</a:t>
                      </a:r>
                      <a:endParaRPr lang="en-CA" sz="12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200">
                          <a:effectLst/>
                        </a:rPr>
                        <a:t>Each row records information about one employee</a:t>
                      </a:r>
                      <a:endParaRPr lang="en-CA" sz="12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1166171127"/>
                  </a:ext>
                </a:extLst>
              </a:tr>
              <a:tr h="825083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200">
                          <a:effectLst/>
                        </a:rPr>
                        <a:t>Department Number</a:t>
                      </a:r>
                      <a:endParaRPr lang="en-CA" sz="12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200">
                          <a:effectLst/>
                        </a:rPr>
                        <a:t>No</a:t>
                      </a:r>
                      <a:endParaRPr lang="en-CA" sz="12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200">
                          <a:effectLst/>
                        </a:rPr>
                        <a:t>A department can have many employees</a:t>
                      </a:r>
                      <a:endParaRPr lang="en-CA" sz="12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381677797"/>
                  </a:ext>
                </a:extLst>
              </a:tr>
              <a:tr h="825083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200">
                          <a:effectLst/>
                        </a:rPr>
                        <a:t>Project Number</a:t>
                      </a:r>
                      <a:endParaRPr lang="en-CA" sz="12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200">
                          <a:effectLst/>
                        </a:rPr>
                        <a:t>No</a:t>
                      </a:r>
                      <a:endParaRPr lang="en-CA" sz="12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200" dirty="0">
                          <a:effectLst/>
                        </a:rPr>
                        <a:t>A project can have many employees</a:t>
                      </a:r>
                      <a:endParaRPr lang="en-CA" sz="12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26107990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944558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EAA59C-491E-2FD0-2A48-FC94804752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1529C-63E2-C267-BBE7-78D99A32BB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943" y="601679"/>
            <a:ext cx="11314272" cy="847200"/>
          </a:xfrm>
        </p:spPr>
        <p:txBody>
          <a:bodyPr/>
          <a:lstStyle/>
          <a:p>
            <a:r>
              <a:rPr lang="en-US" b="1" dirty="0"/>
              <a:t>Step 1 — Identifying the Repeating Group</a:t>
            </a:r>
            <a:br>
              <a:rPr lang="en-CA" b="1" dirty="0"/>
            </a:br>
            <a:endParaRPr lang="en-CA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899CE0-A98B-F141-8664-D6EF670E93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5550" y="1990574"/>
            <a:ext cx="3843131" cy="3208986"/>
          </a:xfrm>
        </p:spPr>
        <p:txBody>
          <a:bodyPr>
            <a:normAutofit/>
          </a:bodyPr>
          <a:lstStyle/>
          <a:p>
            <a:pPr marL="0" marR="0" indent="0" algn="l">
              <a:buNone/>
            </a:pPr>
            <a:r>
              <a:rPr lang="en-CA" sz="1800" b="1" i="0" dirty="0">
                <a:solidFill>
                  <a:srgbClr val="0F1115"/>
                </a:solidFill>
                <a:effectLst/>
              </a:rPr>
              <a:t>A repeating group is one or more attributes that have multiple values within the view.</a:t>
            </a:r>
          </a:p>
          <a:p>
            <a:pPr marL="0" marR="0" indent="0" algn="l">
              <a:buNone/>
            </a:pPr>
            <a:endParaRPr lang="en-CA" sz="1800" b="0" i="0" dirty="0">
              <a:solidFill>
                <a:srgbClr val="0F1115"/>
              </a:solidFill>
              <a:effectLst/>
            </a:endParaRPr>
          </a:p>
          <a:p>
            <a:pPr marL="152396" indent="0">
              <a:lnSpc>
                <a:spcPct val="90000"/>
              </a:lnSpc>
              <a:buNone/>
            </a:pPr>
            <a:r>
              <a:rPr lang="en-US" sz="1800" b="1" dirty="0"/>
              <a:t>Repeating Group: </a:t>
            </a:r>
            <a:r>
              <a:rPr lang="en-US" sz="1800" dirty="0"/>
              <a:t>(Project Number, Project Name, Sponsoring Department Name, Weekly Hours)</a:t>
            </a:r>
            <a:endParaRPr lang="en-CA" sz="1800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7C5A5FD-0219-BDC9-926B-811C2FF62D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3351951"/>
              </p:ext>
            </p:extLst>
          </p:nvPr>
        </p:nvGraphicFramePr>
        <p:xfrm>
          <a:off x="5506753" y="1497088"/>
          <a:ext cx="5383992" cy="507802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94664">
                  <a:extLst>
                    <a:ext uri="{9D8B030D-6E8A-4147-A177-3AD203B41FA5}">
                      <a16:colId xmlns:a16="http://schemas.microsoft.com/office/drawing/2014/main" val="886893614"/>
                    </a:ext>
                  </a:extLst>
                </a:gridCol>
                <a:gridCol w="1794664">
                  <a:extLst>
                    <a:ext uri="{9D8B030D-6E8A-4147-A177-3AD203B41FA5}">
                      <a16:colId xmlns:a16="http://schemas.microsoft.com/office/drawing/2014/main" val="982286043"/>
                    </a:ext>
                  </a:extLst>
                </a:gridCol>
                <a:gridCol w="1794664">
                  <a:extLst>
                    <a:ext uri="{9D8B030D-6E8A-4147-A177-3AD203B41FA5}">
                      <a16:colId xmlns:a16="http://schemas.microsoft.com/office/drawing/2014/main" val="4104508710"/>
                    </a:ext>
                  </a:extLst>
                </a:gridCol>
              </a:tblGrid>
              <a:tr h="783897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400" b="1" dirty="0">
                          <a:effectLst/>
                        </a:rPr>
                        <a:t>Attribute</a:t>
                      </a:r>
                      <a:endParaRPr lang="en-CA" sz="1400" b="1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84577" marR="112770" marT="70481" marB="70481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400" b="1">
                          <a:effectLst/>
                        </a:rPr>
                        <a:t>Multiple Values?</a:t>
                      </a:r>
                      <a:endParaRPr lang="en-CA" sz="1400" b="1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12770" marR="112770" marT="70481" marB="70481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400" b="1" dirty="0">
                          <a:effectLst/>
                        </a:rPr>
                        <a:t>Forms Repeating Group?</a:t>
                      </a:r>
                      <a:endParaRPr lang="en-CA" sz="1400" b="1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12770" marR="112770" marT="70481" marB="70481" anchor="ctr"/>
                </a:tc>
                <a:extLst>
                  <a:ext uri="{0D108BD9-81ED-4DB2-BD59-A6C34878D82A}">
                    <a16:rowId xmlns:a16="http://schemas.microsoft.com/office/drawing/2014/main" val="1645946398"/>
                  </a:ext>
                </a:extLst>
              </a:tr>
              <a:tr h="454389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400">
                          <a:effectLst/>
                        </a:rPr>
                        <a:t>Employee ID</a:t>
                      </a:r>
                      <a:endParaRPr lang="en-CA" sz="14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84577" marR="112770" marT="70481" marB="70481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400">
                          <a:effectLst/>
                        </a:rPr>
                        <a:t>No</a:t>
                      </a:r>
                      <a:endParaRPr lang="en-CA" sz="14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12770" marR="112770" marT="70481" marB="70481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400" dirty="0">
                          <a:effectLst/>
                        </a:rPr>
                        <a:t>No</a:t>
                      </a:r>
                      <a:endParaRPr lang="en-CA" sz="14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12770" marR="84577" marT="70481" marB="70481" anchor="ctr"/>
                </a:tc>
                <a:extLst>
                  <a:ext uri="{0D108BD9-81ED-4DB2-BD59-A6C34878D82A}">
                    <a16:rowId xmlns:a16="http://schemas.microsoft.com/office/drawing/2014/main" val="3379631971"/>
                  </a:ext>
                </a:extLst>
              </a:tr>
              <a:tr h="454389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400" dirty="0">
                          <a:effectLst/>
                        </a:rPr>
                        <a:t>Name</a:t>
                      </a:r>
                      <a:endParaRPr lang="en-CA" sz="14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84577" marR="112770" marT="70481" marB="70481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400">
                          <a:effectLst/>
                        </a:rPr>
                        <a:t>No</a:t>
                      </a:r>
                      <a:endParaRPr lang="en-CA" sz="14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12770" marR="112770" marT="70481" marB="70481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400">
                          <a:effectLst/>
                        </a:rPr>
                        <a:t>No</a:t>
                      </a:r>
                      <a:endParaRPr lang="en-CA" sz="14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12770" marR="84577" marT="70481" marB="70481" anchor="ctr"/>
                </a:tc>
                <a:extLst>
                  <a:ext uri="{0D108BD9-81ED-4DB2-BD59-A6C34878D82A}">
                    <a16:rowId xmlns:a16="http://schemas.microsoft.com/office/drawing/2014/main" val="1030138822"/>
                  </a:ext>
                </a:extLst>
              </a:tr>
              <a:tr h="783897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400">
                          <a:effectLst/>
                        </a:rPr>
                        <a:t>Department Number</a:t>
                      </a:r>
                      <a:endParaRPr lang="en-CA" sz="14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84577" marR="112770" marT="70481" marB="70481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400">
                          <a:effectLst/>
                        </a:rPr>
                        <a:t>No</a:t>
                      </a:r>
                      <a:endParaRPr lang="en-CA" sz="14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12770" marR="112770" marT="70481" marB="70481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400">
                          <a:effectLst/>
                        </a:rPr>
                        <a:t>No</a:t>
                      </a:r>
                      <a:endParaRPr lang="en-CA" sz="14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12770" marR="84577" marT="70481" marB="70481" anchor="ctr"/>
                </a:tc>
                <a:extLst>
                  <a:ext uri="{0D108BD9-81ED-4DB2-BD59-A6C34878D82A}">
                    <a16:rowId xmlns:a16="http://schemas.microsoft.com/office/drawing/2014/main" val="1335971478"/>
                  </a:ext>
                </a:extLst>
              </a:tr>
              <a:tr h="454389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400">
                          <a:effectLst/>
                        </a:rPr>
                        <a:t>Department Name</a:t>
                      </a:r>
                      <a:endParaRPr lang="en-CA" sz="14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84577" marR="112770" marT="70481" marB="70481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400">
                          <a:effectLst/>
                        </a:rPr>
                        <a:t>No</a:t>
                      </a:r>
                      <a:endParaRPr lang="en-CA" sz="14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12770" marR="112770" marT="70481" marB="70481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400">
                          <a:effectLst/>
                        </a:rPr>
                        <a:t>No</a:t>
                      </a:r>
                      <a:endParaRPr lang="en-CA" sz="14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12770" marR="84577" marT="70481" marB="70481" anchor="ctr"/>
                </a:tc>
                <a:extLst>
                  <a:ext uri="{0D108BD9-81ED-4DB2-BD59-A6C34878D82A}">
                    <a16:rowId xmlns:a16="http://schemas.microsoft.com/office/drawing/2014/main" val="2298393244"/>
                  </a:ext>
                </a:extLst>
              </a:tr>
              <a:tr h="454389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400">
                          <a:effectLst/>
                        </a:rPr>
                        <a:t>Project Number</a:t>
                      </a:r>
                      <a:endParaRPr lang="en-CA" sz="14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84577" marR="112770" marT="70481" marB="70481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400">
                          <a:effectLst/>
                        </a:rPr>
                        <a:t>Yes</a:t>
                      </a:r>
                      <a:endParaRPr lang="en-CA" sz="14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12770" marR="112770" marT="70481" marB="70481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400">
                          <a:effectLst/>
                        </a:rPr>
                        <a:t>Yes</a:t>
                      </a:r>
                      <a:endParaRPr lang="en-CA" sz="14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12770" marR="84577" marT="70481" marB="70481" anchor="ctr"/>
                </a:tc>
                <a:extLst>
                  <a:ext uri="{0D108BD9-81ED-4DB2-BD59-A6C34878D82A}">
                    <a16:rowId xmlns:a16="http://schemas.microsoft.com/office/drawing/2014/main" val="1661982241"/>
                  </a:ext>
                </a:extLst>
              </a:tr>
              <a:tr h="454389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400">
                          <a:effectLst/>
                        </a:rPr>
                        <a:t>Project Name</a:t>
                      </a:r>
                      <a:endParaRPr lang="en-CA" sz="14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84577" marR="112770" marT="70481" marB="70481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400">
                          <a:effectLst/>
                        </a:rPr>
                        <a:t>Yes</a:t>
                      </a:r>
                      <a:endParaRPr lang="en-CA" sz="14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12770" marR="112770" marT="70481" marB="70481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400">
                          <a:effectLst/>
                        </a:rPr>
                        <a:t>Yes</a:t>
                      </a:r>
                      <a:endParaRPr lang="en-CA" sz="14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12770" marR="84577" marT="70481" marB="70481" anchor="ctr"/>
                </a:tc>
                <a:extLst>
                  <a:ext uri="{0D108BD9-81ED-4DB2-BD59-A6C34878D82A}">
                    <a16:rowId xmlns:a16="http://schemas.microsoft.com/office/drawing/2014/main" val="4274822705"/>
                  </a:ext>
                </a:extLst>
              </a:tr>
              <a:tr h="783897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400">
                          <a:effectLst/>
                        </a:rPr>
                        <a:t>Sponsoring Department Name</a:t>
                      </a:r>
                      <a:endParaRPr lang="en-CA" sz="14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84577" marR="112770" marT="70481" marB="70481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400">
                          <a:effectLst/>
                        </a:rPr>
                        <a:t>Yes</a:t>
                      </a:r>
                      <a:endParaRPr lang="en-CA" sz="14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12770" marR="112770" marT="70481" marB="70481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400">
                          <a:effectLst/>
                        </a:rPr>
                        <a:t>Yes</a:t>
                      </a:r>
                      <a:endParaRPr lang="en-CA" sz="14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12770" marR="84577" marT="70481" marB="70481" anchor="ctr"/>
                </a:tc>
                <a:extLst>
                  <a:ext uri="{0D108BD9-81ED-4DB2-BD59-A6C34878D82A}">
                    <a16:rowId xmlns:a16="http://schemas.microsoft.com/office/drawing/2014/main" val="3363639800"/>
                  </a:ext>
                </a:extLst>
              </a:tr>
              <a:tr h="454389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400">
                          <a:effectLst/>
                        </a:rPr>
                        <a:t>Weekly Hours</a:t>
                      </a:r>
                      <a:endParaRPr lang="en-CA" sz="14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84577" marR="112770" marT="70481" marB="70481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400">
                          <a:effectLst/>
                        </a:rPr>
                        <a:t>Yes</a:t>
                      </a:r>
                      <a:endParaRPr lang="en-CA" sz="14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12770" marR="112770" marT="70481" marB="70481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400" dirty="0">
                          <a:effectLst/>
                        </a:rPr>
                        <a:t>Yes</a:t>
                      </a:r>
                      <a:endParaRPr lang="en-CA" sz="14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12770" marR="84577" marT="70481" marB="70481" anchor="ctr"/>
                </a:tc>
                <a:extLst>
                  <a:ext uri="{0D108BD9-81ED-4DB2-BD59-A6C34878D82A}">
                    <a16:rowId xmlns:a16="http://schemas.microsoft.com/office/drawing/2014/main" val="17249262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488500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41"/>
          <p:cNvSpPr txBox="1">
            <a:spLocks noGrp="1"/>
          </p:cNvSpPr>
          <p:nvPr>
            <p:ph type="title"/>
          </p:nvPr>
        </p:nvSpPr>
        <p:spPr>
          <a:xfrm>
            <a:off x="404400" y="548767"/>
            <a:ext cx="11360800" cy="852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-US" b="1" dirty="0"/>
              <a:t>Step 2 — Apply 1NF Rules</a:t>
            </a:r>
            <a:endParaRPr lang="en-CA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9BFD3E8-5D1D-C59A-22E7-C8ED76CCA68B}"/>
              </a:ext>
            </a:extLst>
          </p:cNvPr>
          <p:cNvSpPr txBox="1"/>
          <p:nvPr/>
        </p:nvSpPr>
        <p:spPr>
          <a:xfrm>
            <a:off x="827000" y="1685850"/>
            <a:ext cx="28514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CA" b="1" dirty="0"/>
              <a:t>1NF has two rules:</a:t>
            </a:r>
            <a:endParaRPr lang="en-CA" dirty="0"/>
          </a:p>
        </p:txBody>
      </p:sp>
      <p:graphicFrame>
        <p:nvGraphicFramePr>
          <p:cNvPr id="38" name="Table 37">
            <a:extLst>
              <a:ext uri="{FF2B5EF4-FFF2-40B4-BE49-F238E27FC236}">
                <a16:creationId xmlns:a16="http://schemas.microsoft.com/office/drawing/2014/main" id="{3E7F0F31-17AA-ED4B-3D83-F4A54DA5C3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4917487"/>
              </p:ext>
            </p:extLst>
          </p:nvPr>
        </p:nvGraphicFramePr>
        <p:xfrm>
          <a:off x="827000" y="2326851"/>
          <a:ext cx="4754880" cy="239287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7000388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15752634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600" b="1" dirty="0">
                          <a:effectLst/>
                        </a:rPr>
                        <a:t>Rule</a:t>
                      </a:r>
                      <a:endParaRPr lang="en-CA" sz="1600" b="1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600" b="1" dirty="0">
                          <a:effectLst/>
                        </a:rPr>
                        <a:t>Description</a:t>
                      </a:r>
                      <a:endParaRPr lang="en-CA" sz="1600" b="1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extLst>
                  <a:ext uri="{0D108BD9-81ED-4DB2-BD59-A6C34878D82A}">
                    <a16:rowId xmlns:a16="http://schemas.microsoft.com/office/drawing/2014/main" val="19520752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600" dirty="0">
                          <a:effectLst/>
                        </a:rPr>
                        <a:t>1</a:t>
                      </a:r>
                      <a:endParaRPr lang="en-CA" sz="16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600">
                          <a:effectLst/>
                        </a:rPr>
                        <a:t>A table MUST contain atomic attributes</a:t>
                      </a:r>
                      <a:endParaRPr lang="en-CA" sz="16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2915664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600">
                          <a:effectLst/>
                        </a:rPr>
                        <a:t>2</a:t>
                      </a:r>
                      <a:endParaRPr lang="en-CA" sz="16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600" dirty="0">
                          <a:effectLst/>
                        </a:rPr>
                        <a:t>A table cannot contain any repeating groups of attributes</a:t>
                      </a:r>
                      <a:endParaRPr lang="en-CA" sz="16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2859538948"/>
                  </a:ext>
                </a:extLst>
              </a:tr>
            </a:tbl>
          </a:graphicData>
        </a:graphic>
      </p:graphicFrame>
      <p:sp>
        <p:nvSpPr>
          <p:cNvPr id="40" name="TextBox 39">
            <a:extLst>
              <a:ext uri="{FF2B5EF4-FFF2-40B4-BE49-F238E27FC236}">
                <a16:creationId xmlns:a16="http://schemas.microsoft.com/office/drawing/2014/main" id="{FDDAE06B-68C0-EF0C-722C-F3E803F61D28}"/>
              </a:ext>
            </a:extLst>
          </p:cNvPr>
          <p:cNvSpPr txBox="1"/>
          <p:nvPr/>
        </p:nvSpPr>
        <p:spPr>
          <a:xfrm>
            <a:off x="6096000" y="1636446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800" b="1" i="0" dirty="0">
                <a:solidFill>
                  <a:schemeClr val="tx1"/>
                </a:solidFill>
                <a:effectLst/>
                <a:latin typeface="+mn-lt"/>
              </a:rPr>
              <a:t>Violations in the Employee Workload view:</a:t>
            </a:r>
            <a:endParaRPr lang="en-CA" dirty="0"/>
          </a:p>
        </p:txBody>
      </p:sp>
      <p:graphicFrame>
        <p:nvGraphicFramePr>
          <p:cNvPr id="41" name="Table 40">
            <a:extLst>
              <a:ext uri="{FF2B5EF4-FFF2-40B4-BE49-F238E27FC236}">
                <a16:creationId xmlns:a16="http://schemas.microsoft.com/office/drawing/2014/main" id="{0888A3D2-1A53-F00E-F984-9CFE9ADC15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4723033"/>
              </p:ext>
            </p:extLst>
          </p:nvPr>
        </p:nvGraphicFramePr>
        <p:xfrm>
          <a:off x="6257471" y="2190724"/>
          <a:ext cx="4754880" cy="307079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53161">
                  <a:extLst>
                    <a:ext uri="{9D8B030D-6E8A-4147-A177-3AD203B41FA5}">
                      <a16:colId xmlns:a16="http://schemas.microsoft.com/office/drawing/2014/main" val="3572978742"/>
                    </a:ext>
                  </a:extLst>
                </a:gridCol>
                <a:gridCol w="2501719">
                  <a:extLst>
                    <a:ext uri="{9D8B030D-6E8A-4147-A177-3AD203B41FA5}">
                      <a16:colId xmlns:a16="http://schemas.microsoft.com/office/drawing/2014/main" val="108671038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600" b="1">
                          <a:effectLst/>
                        </a:rPr>
                        <a:t>Violation</a:t>
                      </a:r>
                      <a:endParaRPr lang="en-CA" sz="1600" b="1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600" b="1" dirty="0">
                          <a:effectLst/>
                        </a:rPr>
                        <a:t>Type</a:t>
                      </a:r>
                      <a:endParaRPr lang="en-CA" sz="1600" b="1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extLst>
                  <a:ext uri="{0D108BD9-81ED-4DB2-BD59-A6C34878D82A}">
                    <a16:rowId xmlns:a16="http://schemas.microsoft.com/office/drawing/2014/main" val="27677263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600">
                          <a:effectLst/>
                        </a:rPr>
                        <a:t>Name</a:t>
                      </a:r>
                      <a:endParaRPr lang="en-CA" sz="16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600">
                          <a:effectLst/>
                        </a:rPr>
                        <a:t>Composite attribute (should be FirstName, LastName)</a:t>
                      </a:r>
                      <a:endParaRPr lang="en-CA" sz="16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39031711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600">
                          <a:effectLst/>
                        </a:rPr>
                        <a:t>Project Number, Project Name, Sponsoring Dept Name, Weekly Hours</a:t>
                      </a:r>
                      <a:endParaRPr lang="en-CA" sz="16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600" dirty="0">
                          <a:effectLst/>
                        </a:rPr>
                        <a:t>Repeating group</a:t>
                      </a:r>
                      <a:endParaRPr lang="en-CA" sz="16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257438958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3147B3-3129-17F9-C4F0-1A78AFB447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224" y="335242"/>
            <a:ext cx="10515600" cy="106967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400" b="1" kern="1200" dirty="0">
                <a:latin typeface="+mj-lt"/>
                <a:ea typeface="+mj-ea"/>
                <a:cs typeface="+mj-cs"/>
              </a:rPr>
              <a:t>Step 2 — Fixing 1NF Violations</a:t>
            </a:r>
            <a:br>
              <a:rPr lang="en-US" sz="3400" b="1" kern="1200" dirty="0">
                <a:latin typeface="+mj-lt"/>
                <a:ea typeface="+mj-ea"/>
                <a:cs typeface="+mj-cs"/>
              </a:rPr>
            </a:br>
            <a:endParaRPr lang="en-US" sz="3400" kern="1200" dirty="0">
              <a:latin typeface="+mj-lt"/>
              <a:ea typeface="+mj-ea"/>
              <a:cs typeface="+mj-cs"/>
            </a:endParaRP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A9877F08-6CD0-FEE8-314A-6C3815E65A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2988129"/>
              </p:ext>
            </p:extLst>
          </p:nvPr>
        </p:nvGraphicFramePr>
        <p:xfrm>
          <a:off x="7039428" y="2101782"/>
          <a:ext cx="4754880" cy="187217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702651147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7240236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800" b="1">
                          <a:solidFill>
                            <a:schemeClr val="tx2"/>
                          </a:solidFill>
                          <a:effectLst/>
                        </a:rPr>
                        <a:t>Original</a:t>
                      </a:r>
                      <a:endParaRPr lang="en-CA" sz="1800" b="1">
                        <a:solidFill>
                          <a:schemeClr val="tx2"/>
                        </a:solidFill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800" b="1" dirty="0">
                          <a:solidFill>
                            <a:schemeClr val="tx2"/>
                          </a:solidFill>
                          <a:effectLst/>
                        </a:rPr>
                        <a:t>Fixed</a:t>
                      </a:r>
                      <a:endParaRPr lang="en-CA" sz="1800" b="1" dirty="0">
                        <a:solidFill>
                          <a:schemeClr val="tx2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extLst>
                  <a:ext uri="{0D108BD9-81ED-4DB2-BD59-A6C34878D82A}">
                    <a16:rowId xmlns:a16="http://schemas.microsoft.com/office/drawing/2014/main" val="26602982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n-CA" sz="1800">
                          <a:effectLst/>
                        </a:rPr>
                        <a:t>Name</a:t>
                      </a:r>
                      <a:endParaRPr lang="en-CA" sz="1800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n-CA" sz="1800">
                          <a:effectLst/>
                        </a:rPr>
                        <a:t>LastName, FirstName</a:t>
                      </a:r>
                      <a:endParaRPr lang="en-CA" sz="1800" b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15917114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n-CA" sz="1800">
                          <a:effectLst/>
                        </a:rPr>
                        <a:t>Repeating Group</a:t>
                      </a:r>
                      <a:endParaRPr lang="en-CA" sz="1800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n-CA" sz="1800" dirty="0">
                          <a:effectLst/>
                        </a:rPr>
                        <a:t>New table: </a:t>
                      </a:r>
                      <a:r>
                        <a:rPr lang="en-CA" sz="1800" dirty="0" err="1">
                          <a:effectLst/>
                        </a:rPr>
                        <a:t>WorksOn</a:t>
                      </a:r>
                      <a:endParaRPr lang="en-CA" sz="1800" b="0" dirty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3329819235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38C88E6A-D265-934F-72E1-FE3C87BBA276}"/>
              </a:ext>
            </a:extLst>
          </p:cNvPr>
          <p:cNvSpPr txBox="1"/>
          <p:nvPr/>
        </p:nvSpPr>
        <p:spPr>
          <a:xfrm>
            <a:off x="653141" y="1360765"/>
            <a:ext cx="5733145" cy="3734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Bef>
                <a:spcPts val="1200"/>
              </a:spcBef>
              <a:buNone/>
            </a:pPr>
            <a:r>
              <a:rPr lang="en-CA" sz="1800" b="1" i="0" dirty="0">
                <a:solidFill>
                  <a:schemeClr val="tx1"/>
                </a:solidFill>
                <a:effectLst/>
                <a:latin typeface="+mn-lt"/>
              </a:rPr>
              <a:t>If a repeating group exists:</a:t>
            </a:r>
            <a:endParaRPr lang="en-CA" sz="1800" b="0" i="0" dirty="0">
              <a:solidFill>
                <a:schemeClr val="tx1"/>
              </a:solidFill>
              <a:effectLst/>
              <a:latin typeface="+mn-lt"/>
            </a:endParaRPr>
          </a:p>
          <a:p>
            <a:pPr marL="0" marR="0" lvl="0" indent="-342900" algn="l">
              <a:spcBef>
                <a:spcPts val="1200"/>
              </a:spcBef>
              <a:buFont typeface="+mj-lt"/>
              <a:buAutoNum type="arabicPeriod"/>
            </a:pPr>
            <a:r>
              <a:rPr lang="en-CA" sz="1800" b="0" i="0" dirty="0">
                <a:solidFill>
                  <a:schemeClr val="tx1"/>
                </a:solidFill>
                <a:effectLst/>
                <a:latin typeface="+mn-lt"/>
              </a:rPr>
              <a:t>Remove the repeating group from the original table</a:t>
            </a:r>
          </a:p>
          <a:p>
            <a:pPr marL="0" marR="0" lvl="0" indent="-342900" algn="l">
              <a:spcBef>
                <a:spcPts val="450"/>
              </a:spcBef>
              <a:buFont typeface="+mj-lt"/>
              <a:buAutoNum type="arabicPeriod"/>
            </a:pPr>
            <a:r>
              <a:rPr lang="en-CA" sz="1800" b="0" i="0" dirty="0">
                <a:solidFill>
                  <a:schemeClr val="tx1"/>
                </a:solidFill>
                <a:effectLst/>
                <a:latin typeface="+mn-lt"/>
              </a:rPr>
              <a:t>Place them in a new table</a:t>
            </a:r>
          </a:p>
          <a:p>
            <a:pPr marL="0" marR="0" lvl="0" indent="-342900" algn="l">
              <a:spcBef>
                <a:spcPts val="450"/>
              </a:spcBef>
              <a:buFont typeface="+mj-lt"/>
              <a:buAutoNum type="arabicPeriod"/>
            </a:pPr>
            <a:r>
              <a:rPr lang="en-CA" sz="1800" b="0" i="0" dirty="0">
                <a:solidFill>
                  <a:schemeClr val="tx1"/>
                </a:solidFill>
                <a:effectLst/>
                <a:latin typeface="+mn-lt"/>
              </a:rPr>
              <a:t>Duplicate the primary key of the original table and place in the new table as a foreign key</a:t>
            </a:r>
          </a:p>
          <a:p>
            <a:pPr marL="0" marR="0" lvl="0" indent="-342900" algn="l">
              <a:spcBef>
                <a:spcPts val="450"/>
              </a:spcBef>
              <a:buFont typeface="+mj-lt"/>
              <a:buAutoNum type="arabicPeriod"/>
            </a:pPr>
            <a:r>
              <a:rPr lang="en-CA" sz="1800" b="0" i="0" dirty="0">
                <a:solidFill>
                  <a:schemeClr val="tx1"/>
                </a:solidFill>
                <a:effectLst/>
                <a:latin typeface="+mn-lt"/>
              </a:rPr>
              <a:t>Designate the cardinality of the relationship</a:t>
            </a:r>
          </a:p>
          <a:p>
            <a:pPr marL="0" marR="0" lvl="0" indent="-342900" algn="l">
              <a:spcBef>
                <a:spcPts val="450"/>
              </a:spcBef>
              <a:buFont typeface="+mj-lt"/>
              <a:buAutoNum type="arabicPeriod"/>
            </a:pPr>
            <a:r>
              <a:rPr lang="en-CA" sz="1800" b="0" i="0" dirty="0">
                <a:solidFill>
                  <a:schemeClr val="tx1"/>
                </a:solidFill>
                <a:effectLst/>
                <a:latin typeface="+mn-lt"/>
              </a:rPr>
              <a:t>Designate a primary key for the new table</a:t>
            </a:r>
          </a:p>
          <a:p>
            <a:pPr marL="0" marR="0" indent="0" algn="l">
              <a:spcBef>
                <a:spcPts val="1200"/>
              </a:spcBef>
              <a:buNone/>
            </a:pPr>
            <a:r>
              <a:rPr lang="en-CA" sz="1800" b="1" i="0" dirty="0">
                <a:solidFill>
                  <a:schemeClr val="tx1"/>
                </a:solidFill>
                <a:effectLst/>
                <a:latin typeface="+mn-lt"/>
              </a:rPr>
              <a:t>If a composite attribute exists:</a:t>
            </a:r>
            <a:endParaRPr lang="en-CA" sz="1800" b="0" i="0" dirty="0">
              <a:solidFill>
                <a:schemeClr val="tx1"/>
              </a:solidFill>
              <a:effectLst/>
              <a:latin typeface="+mn-lt"/>
            </a:endParaRPr>
          </a:p>
          <a:p>
            <a:pPr marL="0" marR="0" lvl="0" indent="-342900" algn="l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CA" sz="1800" b="0" i="0" dirty="0">
                <a:solidFill>
                  <a:schemeClr val="tx1"/>
                </a:solidFill>
                <a:effectLst/>
                <a:latin typeface="+mn-lt"/>
              </a:rPr>
              <a:t>Replace with two or more atomic attributes</a:t>
            </a:r>
          </a:p>
          <a:p>
            <a:pPr marL="0" marR="0" indent="0" algn="l">
              <a:spcBef>
                <a:spcPts val="1200"/>
              </a:spcBef>
              <a:buNone/>
            </a:pPr>
            <a:r>
              <a:rPr lang="en-CA" sz="1800" b="1" i="0" dirty="0">
                <a:solidFill>
                  <a:schemeClr val="tx1"/>
                </a:solidFill>
                <a:effectLst/>
                <a:latin typeface="+mn-lt"/>
              </a:rPr>
              <a:t>Our fixes:</a:t>
            </a:r>
            <a:endParaRPr lang="en-CA" sz="1800" b="0" i="0" dirty="0">
              <a:solidFill>
                <a:srgbClr val="0F1115"/>
              </a:solidFill>
              <a:effectLst/>
              <a:latin typeface="quote-cjk-patch"/>
            </a:endParaRPr>
          </a:p>
        </p:txBody>
      </p:sp>
    </p:spTree>
    <p:extLst>
      <p:ext uri="{BB962C8B-B14F-4D97-AF65-F5344CB8AC3E}">
        <p14:creationId xmlns:p14="http://schemas.microsoft.com/office/powerpoint/2010/main" val="42614957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194AD-ABB3-CD22-406F-85E3202282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355" y="608102"/>
            <a:ext cx="10515600" cy="1069679"/>
          </a:xfrm>
        </p:spPr>
        <p:txBody>
          <a:bodyPr>
            <a:normAutofit/>
          </a:bodyPr>
          <a:lstStyle/>
          <a:p>
            <a:r>
              <a:rPr lang="en-US" b="1" dirty="0"/>
              <a:t>Step 2 — 1NF Result</a:t>
            </a:r>
            <a:endParaRPr lang="en-CA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684940-8B3E-1501-C144-672396C23065}"/>
              </a:ext>
            </a:extLst>
          </p:cNvPr>
          <p:cNvSpPr txBox="1"/>
          <p:nvPr/>
        </p:nvSpPr>
        <p:spPr>
          <a:xfrm>
            <a:off x="295726" y="1780385"/>
            <a:ext cx="5655131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b="1" dirty="0"/>
              <a:t>Employee Table:</a:t>
            </a:r>
            <a:endParaRPr lang="en-CA" dirty="0"/>
          </a:p>
          <a:p>
            <a:pPr latinLnBrk="1"/>
            <a:r>
              <a:rPr lang="en-CA" dirty="0"/>
              <a:t>Employee(Employee ID, LastName, FirstName, Department Number, Department Name)</a:t>
            </a:r>
          </a:p>
          <a:p>
            <a:r>
              <a:rPr lang="en-CA" b="1" dirty="0" err="1"/>
              <a:t>WorksOn</a:t>
            </a:r>
            <a:r>
              <a:rPr lang="en-CA" b="1" dirty="0"/>
              <a:t> Table:</a:t>
            </a:r>
            <a:endParaRPr lang="en-CA" dirty="0"/>
          </a:p>
          <a:p>
            <a:pPr latinLnBrk="1"/>
            <a:r>
              <a:rPr lang="en-CA" dirty="0" err="1"/>
              <a:t>WorksOn</a:t>
            </a:r>
            <a:r>
              <a:rPr lang="en-CA" dirty="0"/>
              <a:t>(Employee ID (FK), Project Number, Project Name, Sponsoring Department Name, Weekly Hours)</a:t>
            </a:r>
          </a:p>
          <a:p>
            <a:pPr latinLnBrk="1"/>
            <a:r>
              <a:rPr lang="en-CA" b="1" dirty="0"/>
              <a:t>Primary Key for </a:t>
            </a:r>
            <a:r>
              <a:rPr lang="en-CA" b="1" dirty="0" err="1"/>
              <a:t>WorksOn</a:t>
            </a:r>
            <a:r>
              <a:rPr lang="en-CA" b="1" dirty="0"/>
              <a:t>: Employee ID + Project Number (Composite Key)</a:t>
            </a:r>
          </a:p>
          <a:p>
            <a:r>
              <a:rPr lang="en-CA" b="1" dirty="0"/>
              <a:t>Relationship:</a:t>
            </a:r>
            <a:r>
              <a:rPr lang="en-CA" dirty="0"/>
              <a:t> Employee (1) → </a:t>
            </a:r>
            <a:r>
              <a:rPr lang="en-CA" dirty="0" err="1"/>
              <a:t>WorksOn</a:t>
            </a:r>
            <a:r>
              <a:rPr lang="en-CA" dirty="0"/>
              <a:t> (M)</a:t>
            </a:r>
          </a:p>
          <a:p>
            <a:r>
              <a:rPr lang="en-CA" b="1" dirty="0"/>
              <a:t>The schema is now in First Normal Form (1NF).</a:t>
            </a:r>
            <a:endParaRPr lang="en-CA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337F6C3-3321-AFCB-3DC7-F65644BD13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476485"/>
            <a:ext cx="5921826" cy="3947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6814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F61C53-A409-EC4E-E517-33F7F8242F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marR="0" indent="0" algn="l">
              <a:lnSpc>
                <a:spcPct val="12500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en-US" sz="4400" b="1" dirty="0">
                <a:solidFill>
                  <a:srgbClr val="0F1115"/>
                </a:solidFill>
                <a:effectLst/>
                <a:latin typeface="quote-cjk-patch"/>
              </a:rPr>
              <a:t>Step 3 — Apply 2NF Rules</a:t>
            </a:r>
            <a:endParaRPr lang="en-CA" sz="4400" b="1" dirty="0">
              <a:solidFill>
                <a:srgbClr val="0F1115"/>
              </a:solidFill>
              <a:effectLst/>
              <a:latin typeface="quote-cjk-patch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4CDF7DD-4F1F-571D-76EC-988E43E568E8}"/>
              </a:ext>
            </a:extLst>
          </p:cNvPr>
          <p:cNvSpPr txBox="1"/>
          <p:nvPr/>
        </p:nvSpPr>
        <p:spPr>
          <a:xfrm>
            <a:off x="435429" y="1934057"/>
            <a:ext cx="60960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b="1" dirty="0"/>
              <a:t>2NF has one rule:</a:t>
            </a:r>
            <a:endParaRPr lang="en-CA" dirty="0"/>
          </a:p>
          <a:p>
            <a:r>
              <a:rPr lang="en-CA" dirty="0"/>
              <a:t>All non-key attributes in a table must fully depend on the entire primary key of the table.</a:t>
            </a:r>
          </a:p>
          <a:p>
            <a:r>
              <a:rPr lang="en-CA" b="1" dirty="0"/>
              <a:t>Key Point:</a:t>
            </a:r>
            <a:endParaRPr lang="en-CA" dirty="0"/>
          </a:p>
          <a:p>
            <a:r>
              <a:rPr lang="en-CA" dirty="0"/>
              <a:t>A violation to 2NF can ONLY occur in a table with a composite primary key.</a:t>
            </a:r>
          </a:p>
          <a:p>
            <a:r>
              <a:rPr lang="en-CA" b="1" dirty="0"/>
              <a:t>If a table has a single-attribute primary key, it is automatically in 2NF.</a:t>
            </a:r>
            <a:endParaRPr lang="en-CA" dirty="0"/>
          </a:p>
          <a:p>
            <a:r>
              <a:rPr lang="en-CA" b="1" dirty="0"/>
              <a:t>Our tables</a:t>
            </a:r>
            <a:r>
              <a:rPr lang="en-CA" b="1" dirty="0">
                <a:sym typeface="Wingdings" panose="05000000000000000000" pitchFamily="2" charset="2"/>
              </a:rPr>
              <a:t></a:t>
            </a:r>
            <a:endParaRPr lang="en-CA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D3661388-E6A8-C713-AAEE-BEE39A248B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8603703"/>
              </p:ext>
            </p:extLst>
          </p:nvPr>
        </p:nvGraphicFramePr>
        <p:xfrm>
          <a:off x="6342743" y="1934057"/>
          <a:ext cx="5675085" cy="244729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91695">
                  <a:extLst>
                    <a:ext uri="{9D8B030D-6E8A-4147-A177-3AD203B41FA5}">
                      <a16:colId xmlns:a16="http://schemas.microsoft.com/office/drawing/2014/main" val="1487389077"/>
                    </a:ext>
                  </a:extLst>
                </a:gridCol>
                <a:gridCol w="1891695">
                  <a:extLst>
                    <a:ext uri="{9D8B030D-6E8A-4147-A177-3AD203B41FA5}">
                      <a16:colId xmlns:a16="http://schemas.microsoft.com/office/drawing/2014/main" val="313293303"/>
                    </a:ext>
                  </a:extLst>
                </a:gridCol>
                <a:gridCol w="1891695">
                  <a:extLst>
                    <a:ext uri="{9D8B030D-6E8A-4147-A177-3AD203B41FA5}">
                      <a16:colId xmlns:a16="http://schemas.microsoft.com/office/drawing/2014/main" val="274792208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400" b="1" dirty="0">
                          <a:solidFill>
                            <a:schemeClr val="tx2"/>
                          </a:solidFill>
                          <a:effectLst/>
                        </a:rPr>
                        <a:t>Table</a:t>
                      </a:r>
                      <a:endParaRPr lang="en-CA" sz="1400" b="1" i="0" dirty="0">
                        <a:solidFill>
                          <a:schemeClr val="tx2"/>
                        </a:solidFill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400" b="1">
                          <a:solidFill>
                            <a:schemeClr val="tx2"/>
                          </a:solidFill>
                          <a:effectLst/>
                        </a:rPr>
                        <a:t>Primary Key</a:t>
                      </a:r>
                      <a:endParaRPr lang="en-CA" sz="1400" b="1" i="0">
                        <a:solidFill>
                          <a:schemeClr val="tx2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400" b="1" dirty="0">
                          <a:solidFill>
                            <a:schemeClr val="tx2"/>
                          </a:solidFill>
                          <a:effectLst/>
                        </a:rPr>
                        <a:t>Can 2NF Be Violated?</a:t>
                      </a:r>
                      <a:endParaRPr lang="en-CA" sz="1400" b="1" i="0" dirty="0">
                        <a:solidFill>
                          <a:schemeClr val="tx2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extLst>
                  <a:ext uri="{0D108BD9-81ED-4DB2-BD59-A6C34878D82A}">
                    <a16:rowId xmlns:a16="http://schemas.microsoft.com/office/drawing/2014/main" val="10908729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400">
                          <a:effectLst/>
                        </a:rPr>
                        <a:t>Employee</a:t>
                      </a:r>
                      <a:endParaRPr lang="en-CA" sz="14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400">
                          <a:effectLst/>
                        </a:rPr>
                        <a:t>Employee ID (single)</a:t>
                      </a:r>
                      <a:endParaRPr lang="en-CA" sz="14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400">
                          <a:effectLst/>
                        </a:rPr>
                        <a:t>No — automatically in 2NF</a:t>
                      </a:r>
                      <a:endParaRPr lang="en-CA" sz="14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19019445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400">
                          <a:effectLst/>
                        </a:rPr>
                        <a:t>WorksOn</a:t>
                      </a:r>
                      <a:endParaRPr lang="en-CA" sz="14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400">
                          <a:effectLst/>
                        </a:rPr>
                        <a:t>Employee ID + Project Number (composite)</a:t>
                      </a:r>
                      <a:endParaRPr lang="en-CA" sz="14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400" dirty="0">
                          <a:effectLst/>
                        </a:rPr>
                        <a:t>Yes — must evaluate</a:t>
                      </a:r>
                      <a:endParaRPr lang="en-CA" sz="14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41949101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434006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0AB9F9-D599-3965-1D62-E42311720C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41B7A7-74D9-F46F-C92E-FB4DFDAA59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marR="0" indent="0" algn="l">
              <a:lnSpc>
                <a:spcPct val="12500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en-US" sz="4400" b="1" dirty="0">
                <a:solidFill>
                  <a:srgbClr val="0F1115"/>
                </a:solidFill>
                <a:effectLst/>
                <a:latin typeface="quote-cjk-patch"/>
              </a:rPr>
              <a:t>Step 3 — Apply 2NF Rules</a:t>
            </a:r>
            <a:endParaRPr lang="en-CA" sz="4400" b="1" dirty="0">
              <a:solidFill>
                <a:srgbClr val="0F1115"/>
              </a:solidFill>
              <a:effectLst/>
              <a:latin typeface="quote-cjk-patch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E657FB5-A872-534B-3DE6-980425440205}"/>
              </a:ext>
            </a:extLst>
          </p:cNvPr>
          <p:cNvSpPr txBox="1"/>
          <p:nvPr/>
        </p:nvSpPr>
        <p:spPr>
          <a:xfrm>
            <a:off x="435429" y="1716343"/>
            <a:ext cx="5268685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b="1" dirty="0"/>
              <a:t>Question:</a:t>
            </a:r>
            <a:r>
              <a:rPr lang="en-CA" dirty="0"/>
              <a:t> Is Course Name fully dependent on Student ID?</a:t>
            </a:r>
          </a:p>
          <a:p>
            <a:r>
              <a:rPr lang="en-CA" dirty="0"/>
              <a:t>No — a student can take many courses, so knowing the Student ID doesn't tell you the Course Name.</a:t>
            </a:r>
          </a:p>
          <a:p>
            <a:r>
              <a:rPr lang="en-CA" b="1" dirty="0"/>
              <a:t>Question:</a:t>
            </a:r>
            <a:r>
              <a:rPr lang="en-CA" dirty="0"/>
              <a:t> Is Course Name fully dependent on Course ID?</a:t>
            </a:r>
          </a:p>
          <a:p>
            <a:r>
              <a:rPr lang="en-CA" dirty="0"/>
              <a:t>Yes — if you know the Course ID (BCS245), you know the Course Name (Database Management).</a:t>
            </a:r>
          </a:p>
          <a:p>
            <a:r>
              <a:rPr lang="en-CA" b="1" dirty="0"/>
              <a:t>Course Name is partially dependent on Course ID (part of the PK) → 2NF Violation!</a:t>
            </a:r>
            <a:endParaRPr lang="en-CA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CC848C5-5636-CDFC-F989-38ABFEFAE8F8}"/>
              </a:ext>
            </a:extLst>
          </p:cNvPr>
          <p:cNvGraphicFramePr>
            <a:graphicFrameLocks noGrp="1"/>
          </p:cNvGraphicFramePr>
          <p:nvPr/>
        </p:nvGraphicFramePr>
        <p:xfrm>
          <a:off x="6342743" y="1934057"/>
          <a:ext cx="5675085" cy="244729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91695">
                  <a:extLst>
                    <a:ext uri="{9D8B030D-6E8A-4147-A177-3AD203B41FA5}">
                      <a16:colId xmlns:a16="http://schemas.microsoft.com/office/drawing/2014/main" val="1487389077"/>
                    </a:ext>
                  </a:extLst>
                </a:gridCol>
                <a:gridCol w="1891695">
                  <a:extLst>
                    <a:ext uri="{9D8B030D-6E8A-4147-A177-3AD203B41FA5}">
                      <a16:colId xmlns:a16="http://schemas.microsoft.com/office/drawing/2014/main" val="313293303"/>
                    </a:ext>
                  </a:extLst>
                </a:gridCol>
                <a:gridCol w="1891695">
                  <a:extLst>
                    <a:ext uri="{9D8B030D-6E8A-4147-A177-3AD203B41FA5}">
                      <a16:colId xmlns:a16="http://schemas.microsoft.com/office/drawing/2014/main" val="274792208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400" b="1" dirty="0">
                          <a:solidFill>
                            <a:schemeClr val="tx2"/>
                          </a:solidFill>
                          <a:effectLst/>
                        </a:rPr>
                        <a:t>Table</a:t>
                      </a:r>
                      <a:endParaRPr lang="en-CA" sz="1400" b="1" i="0" dirty="0">
                        <a:solidFill>
                          <a:schemeClr val="tx2"/>
                        </a:solidFill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400" b="1">
                          <a:solidFill>
                            <a:schemeClr val="tx2"/>
                          </a:solidFill>
                          <a:effectLst/>
                        </a:rPr>
                        <a:t>Primary Key</a:t>
                      </a:r>
                      <a:endParaRPr lang="en-CA" sz="1400" b="1" i="0">
                        <a:solidFill>
                          <a:schemeClr val="tx2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400" b="1" dirty="0">
                          <a:solidFill>
                            <a:schemeClr val="tx2"/>
                          </a:solidFill>
                          <a:effectLst/>
                        </a:rPr>
                        <a:t>Can 2NF Be Violated?</a:t>
                      </a:r>
                      <a:endParaRPr lang="en-CA" sz="1400" b="1" i="0" dirty="0">
                        <a:solidFill>
                          <a:schemeClr val="tx2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extLst>
                  <a:ext uri="{0D108BD9-81ED-4DB2-BD59-A6C34878D82A}">
                    <a16:rowId xmlns:a16="http://schemas.microsoft.com/office/drawing/2014/main" val="10908729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400">
                          <a:effectLst/>
                        </a:rPr>
                        <a:t>Employee</a:t>
                      </a:r>
                      <a:endParaRPr lang="en-CA" sz="14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400">
                          <a:effectLst/>
                        </a:rPr>
                        <a:t>Employee ID (single)</a:t>
                      </a:r>
                      <a:endParaRPr lang="en-CA" sz="14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400">
                          <a:effectLst/>
                        </a:rPr>
                        <a:t>No — automatically in 2NF</a:t>
                      </a:r>
                      <a:endParaRPr lang="en-CA" sz="14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19019445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400">
                          <a:effectLst/>
                        </a:rPr>
                        <a:t>WorksOn</a:t>
                      </a:r>
                      <a:endParaRPr lang="en-CA" sz="14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400">
                          <a:effectLst/>
                        </a:rPr>
                        <a:t>Employee ID + Project Number (composite)</a:t>
                      </a:r>
                      <a:endParaRPr lang="en-CA" sz="14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400" dirty="0">
                          <a:effectLst/>
                        </a:rPr>
                        <a:t>Yes — must evaluate</a:t>
                      </a:r>
                      <a:endParaRPr lang="en-CA" sz="14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41949101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587761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ECE82E-E4F4-D5D7-0D5C-8A52D3DE5B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437" y="628572"/>
            <a:ext cx="10515600" cy="776349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Step 3 — 2NF Violations in </a:t>
            </a:r>
            <a:r>
              <a:rPr lang="en-US" b="1" dirty="0" err="1"/>
              <a:t>WorksOn</a:t>
            </a:r>
            <a:br>
              <a:rPr lang="en-CA" b="1" dirty="0"/>
            </a:br>
            <a:endParaRPr lang="en-CA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607260-3391-C734-F961-566EAFAAB224}"/>
              </a:ext>
            </a:extLst>
          </p:cNvPr>
          <p:cNvSpPr txBox="1"/>
          <p:nvPr/>
        </p:nvSpPr>
        <p:spPr>
          <a:xfrm>
            <a:off x="476437" y="1404921"/>
            <a:ext cx="376173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b="1" dirty="0"/>
              <a:t>Evaluate </a:t>
            </a:r>
            <a:r>
              <a:rPr lang="en-CA" b="1" dirty="0" err="1"/>
              <a:t>WorksOn</a:t>
            </a:r>
            <a:r>
              <a:rPr lang="en-CA" b="1" dirty="0"/>
              <a:t> for partial dependencies. Example</a:t>
            </a:r>
            <a:r>
              <a:rPr lang="en-CA" b="1" dirty="0">
                <a:sym typeface="Wingdings" panose="05000000000000000000" pitchFamily="2" charset="2"/>
              </a:rPr>
              <a:t>:</a:t>
            </a:r>
            <a:endParaRPr lang="en-CA" dirty="0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464BD62B-4CDB-DA7F-0BBD-FCF84E35A9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5337540"/>
              </p:ext>
            </p:extLst>
          </p:nvPr>
        </p:nvGraphicFramePr>
        <p:xfrm>
          <a:off x="643164" y="2294179"/>
          <a:ext cx="10515600" cy="251257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99190">
                  <a:extLst>
                    <a:ext uri="{9D8B030D-6E8A-4147-A177-3AD203B41FA5}">
                      <a16:colId xmlns:a16="http://schemas.microsoft.com/office/drawing/2014/main" val="3936533767"/>
                    </a:ext>
                  </a:extLst>
                </a:gridCol>
                <a:gridCol w="2705470">
                  <a:extLst>
                    <a:ext uri="{9D8B030D-6E8A-4147-A177-3AD203B41FA5}">
                      <a16:colId xmlns:a16="http://schemas.microsoft.com/office/drawing/2014/main" val="3560237366"/>
                    </a:ext>
                  </a:extLst>
                </a:gridCol>
                <a:gridCol w="2705470">
                  <a:extLst>
                    <a:ext uri="{9D8B030D-6E8A-4147-A177-3AD203B41FA5}">
                      <a16:colId xmlns:a16="http://schemas.microsoft.com/office/drawing/2014/main" val="4056963801"/>
                    </a:ext>
                  </a:extLst>
                </a:gridCol>
                <a:gridCol w="2705470">
                  <a:extLst>
                    <a:ext uri="{9D8B030D-6E8A-4147-A177-3AD203B41FA5}">
                      <a16:colId xmlns:a16="http://schemas.microsoft.com/office/drawing/2014/main" val="122478707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600" b="1">
                          <a:solidFill>
                            <a:schemeClr val="tx2"/>
                          </a:solidFill>
                          <a:effectLst/>
                        </a:rPr>
                        <a:t>Attribute</a:t>
                      </a:r>
                      <a:endParaRPr lang="en-CA" sz="1600" b="1" i="0">
                        <a:solidFill>
                          <a:schemeClr val="tx2"/>
                        </a:solidFill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600" b="1">
                          <a:solidFill>
                            <a:schemeClr val="tx2"/>
                          </a:solidFill>
                          <a:effectLst/>
                        </a:rPr>
                        <a:t>Fully Dependent on Employee ID?</a:t>
                      </a:r>
                      <a:endParaRPr lang="en-CA" sz="1600" b="1" i="0">
                        <a:solidFill>
                          <a:schemeClr val="tx2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600" b="1">
                          <a:solidFill>
                            <a:schemeClr val="tx2"/>
                          </a:solidFill>
                          <a:effectLst/>
                        </a:rPr>
                        <a:t>Fully Dependent on Project Number?</a:t>
                      </a:r>
                      <a:endParaRPr lang="en-CA" sz="1600" b="1" i="0">
                        <a:solidFill>
                          <a:schemeClr val="tx2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600" b="1" dirty="0">
                          <a:solidFill>
                            <a:schemeClr val="tx2"/>
                          </a:solidFill>
                          <a:effectLst/>
                        </a:rPr>
                        <a:t>Fully Dependent on Both?</a:t>
                      </a:r>
                      <a:endParaRPr lang="en-CA" sz="1600" b="1" i="0" dirty="0">
                        <a:solidFill>
                          <a:schemeClr val="tx2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extLst>
                  <a:ext uri="{0D108BD9-81ED-4DB2-BD59-A6C34878D82A}">
                    <a16:rowId xmlns:a16="http://schemas.microsoft.com/office/drawing/2014/main" val="19477190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600" b="1">
                          <a:effectLst/>
                        </a:rPr>
                        <a:t>Project Name</a:t>
                      </a:r>
                      <a:endParaRPr lang="en-CA" sz="1600" b="1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600">
                          <a:effectLst/>
                        </a:rPr>
                        <a:t>No</a:t>
                      </a:r>
                      <a:endParaRPr lang="en-CA" sz="16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600">
                          <a:effectLst/>
                        </a:rPr>
                        <a:t>Yes</a:t>
                      </a:r>
                      <a:endParaRPr lang="en-CA" sz="16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600">
                          <a:effectLst/>
                        </a:rPr>
                        <a:t>—</a:t>
                      </a:r>
                      <a:endParaRPr lang="en-CA" sz="16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16389396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600" b="1">
                          <a:effectLst/>
                        </a:rPr>
                        <a:t>Sponsoring Department Name</a:t>
                      </a:r>
                      <a:endParaRPr lang="en-CA" sz="1600" b="1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600">
                          <a:effectLst/>
                        </a:rPr>
                        <a:t>No</a:t>
                      </a:r>
                      <a:endParaRPr lang="en-CA" sz="16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600">
                          <a:effectLst/>
                        </a:rPr>
                        <a:t>Yes</a:t>
                      </a:r>
                      <a:endParaRPr lang="en-CA" sz="16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600">
                          <a:effectLst/>
                        </a:rPr>
                        <a:t>—</a:t>
                      </a:r>
                      <a:endParaRPr lang="en-CA" sz="16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23725197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600" b="1" dirty="0">
                          <a:effectLst/>
                        </a:rPr>
                        <a:t>Weekly Hours</a:t>
                      </a:r>
                      <a:endParaRPr lang="en-CA" sz="1600" b="1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600">
                          <a:effectLst/>
                        </a:rPr>
                        <a:t>No</a:t>
                      </a:r>
                      <a:endParaRPr lang="en-CA" sz="16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600">
                          <a:effectLst/>
                        </a:rPr>
                        <a:t>No</a:t>
                      </a:r>
                      <a:endParaRPr lang="en-CA" sz="16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endParaRPr lang="en-CA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68428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7590499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7E6EA8-4376-C57A-06A6-ED67876B01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E45528-4814-2541-DB60-20164F6885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437" y="628572"/>
            <a:ext cx="10515600" cy="776349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Step 3 — 2NF Violations in </a:t>
            </a:r>
            <a:r>
              <a:rPr lang="en-US" b="1" dirty="0" err="1"/>
              <a:t>WorksOn</a:t>
            </a:r>
            <a:br>
              <a:rPr lang="en-CA" b="1" dirty="0"/>
            </a:br>
            <a:endParaRPr lang="en-CA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F2BBCF-B585-19A1-B365-45C590AF0C14}"/>
              </a:ext>
            </a:extLst>
          </p:cNvPr>
          <p:cNvSpPr txBox="1"/>
          <p:nvPr/>
        </p:nvSpPr>
        <p:spPr>
          <a:xfrm>
            <a:off x="476436" y="1404921"/>
            <a:ext cx="685327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b="1" dirty="0"/>
              <a:t>Violations Found. Weekly Hours is fully dependent on both Employee ID and Project Number — it complies with 2NF.</a:t>
            </a:r>
            <a:endParaRPr lang="en-CA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CBC22FE-E61B-7D49-7532-021653684A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3893371"/>
              </p:ext>
            </p:extLst>
          </p:nvPr>
        </p:nvGraphicFramePr>
        <p:xfrm>
          <a:off x="609600" y="2311899"/>
          <a:ext cx="10034094" cy="273907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344698">
                  <a:extLst>
                    <a:ext uri="{9D8B030D-6E8A-4147-A177-3AD203B41FA5}">
                      <a16:colId xmlns:a16="http://schemas.microsoft.com/office/drawing/2014/main" val="2092791179"/>
                    </a:ext>
                  </a:extLst>
                </a:gridCol>
                <a:gridCol w="3344698">
                  <a:extLst>
                    <a:ext uri="{9D8B030D-6E8A-4147-A177-3AD203B41FA5}">
                      <a16:colId xmlns:a16="http://schemas.microsoft.com/office/drawing/2014/main" val="3612243064"/>
                    </a:ext>
                  </a:extLst>
                </a:gridCol>
                <a:gridCol w="3344698">
                  <a:extLst>
                    <a:ext uri="{9D8B030D-6E8A-4147-A177-3AD203B41FA5}">
                      <a16:colId xmlns:a16="http://schemas.microsoft.com/office/drawing/2014/main" val="323864837"/>
                    </a:ext>
                  </a:extLst>
                </a:gridCol>
              </a:tblGrid>
              <a:tr h="750827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800" b="1">
                          <a:effectLst/>
                        </a:rPr>
                        <a:t>Attribute</a:t>
                      </a:r>
                      <a:endParaRPr lang="en-CA" sz="1800" b="1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800" b="1">
                          <a:effectLst/>
                        </a:rPr>
                        <a:t>Violation</a:t>
                      </a:r>
                      <a:endParaRPr lang="en-CA" sz="1800" b="1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800" b="1" dirty="0">
                          <a:effectLst/>
                        </a:rPr>
                        <a:t>Depends On</a:t>
                      </a:r>
                      <a:endParaRPr lang="en-CA" sz="1800" b="1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extLst>
                  <a:ext uri="{0D108BD9-81ED-4DB2-BD59-A6C34878D82A}">
                    <a16:rowId xmlns:a16="http://schemas.microsoft.com/office/drawing/2014/main" val="3492846907"/>
                  </a:ext>
                </a:extLst>
              </a:tr>
              <a:tr h="750827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800" dirty="0">
                          <a:effectLst/>
                        </a:rPr>
                        <a:t>Project Name</a:t>
                      </a:r>
                      <a:endParaRPr lang="en-CA" sz="18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800">
                          <a:effectLst/>
                        </a:rPr>
                        <a:t>Partial Dependency</a:t>
                      </a:r>
                      <a:endParaRPr lang="en-CA" sz="18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800">
                          <a:effectLst/>
                        </a:rPr>
                        <a:t>Project Number</a:t>
                      </a:r>
                      <a:endParaRPr lang="en-CA" sz="18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1394874168"/>
                  </a:ext>
                </a:extLst>
              </a:tr>
              <a:tr h="1237418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800">
                          <a:effectLst/>
                        </a:rPr>
                        <a:t>Sponsoring Department Name</a:t>
                      </a:r>
                      <a:endParaRPr lang="en-CA" sz="18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800">
                          <a:effectLst/>
                        </a:rPr>
                        <a:t>Partial Dependency</a:t>
                      </a:r>
                      <a:endParaRPr lang="en-CA" sz="18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800" dirty="0">
                          <a:effectLst/>
                        </a:rPr>
                        <a:t>Project Number</a:t>
                      </a:r>
                      <a:endParaRPr lang="en-CA" sz="18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10037373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4937572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C0B10E-CD5D-BA16-D6BB-F8B8AE1DDD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4554" y="653603"/>
            <a:ext cx="10515600" cy="1069679"/>
          </a:xfrm>
        </p:spPr>
        <p:txBody>
          <a:bodyPr>
            <a:normAutofit/>
          </a:bodyPr>
          <a:lstStyle/>
          <a:p>
            <a:pPr marL="0" marR="0" indent="0" algn="l">
              <a:lnSpc>
                <a:spcPct val="12500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en-CA" sz="4400" b="1" dirty="0">
                <a:solidFill>
                  <a:srgbClr val="0F1115"/>
                </a:solidFill>
                <a:effectLst/>
                <a:latin typeface="quote-cjk-patch"/>
              </a:rPr>
              <a:t>EXPLORING: Step 3 — Fixing 2NF Violations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7338AF-DE60-9235-ED5C-51E1DBBF0A03}"/>
              </a:ext>
            </a:extLst>
          </p:cNvPr>
          <p:cNvSpPr txBox="1"/>
          <p:nvPr/>
        </p:nvSpPr>
        <p:spPr>
          <a:xfrm>
            <a:off x="574554" y="1725970"/>
            <a:ext cx="523116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b="1" dirty="0"/>
              <a:t>If a partial dependency exists:</a:t>
            </a:r>
            <a:endParaRPr lang="en-CA" dirty="0"/>
          </a:p>
          <a:p>
            <a:pPr marL="342900" lvl="0" indent="-342900">
              <a:buFont typeface="+mj-lt"/>
              <a:buAutoNum type="arabicPeriod"/>
            </a:pPr>
            <a:r>
              <a:rPr lang="en-CA" dirty="0"/>
              <a:t>Remove the partially dependent attribute(s) from the original table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CA" dirty="0"/>
              <a:t>Place in a new table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CA" dirty="0"/>
              <a:t>Duplicate the primary key attribute(s) they are dependent on and place in the new table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CA" dirty="0"/>
              <a:t>The duplicated attribute(s) become foreign keys in the original table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CA" dirty="0"/>
              <a:t>Designate the cardinality of the relationship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CA" dirty="0"/>
              <a:t>Designate a primary key for the new table</a:t>
            </a:r>
          </a:p>
          <a:p>
            <a:r>
              <a:rPr lang="en-CA" b="1" dirty="0"/>
              <a:t>Our fixes</a:t>
            </a:r>
            <a:r>
              <a:rPr lang="en-CA" b="1" dirty="0">
                <a:sym typeface="Wingdings" panose="05000000000000000000" pitchFamily="2" charset="2"/>
              </a:rPr>
              <a:t></a:t>
            </a:r>
            <a:endParaRPr lang="en-CA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695D324-8E0B-F9C7-A9BB-F3F25903A3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0567493"/>
              </p:ext>
            </p:extLst>
          </p:nvPr>
        </p:nvGraphicFramePr>
        <p:xfrm>
          <a:off x="6386288" y="1750320"/>
          <a:ext cx="4967334" cy="233627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55778">
                  <a:extLst>
                    <a:ext uri="{9D8B030D-6E8A-4147-A177-3AD203B41FA5}">
                      <a16:colId xmlns:a16="http://schemas.microsoft.com/office/drawing/2014/main" val="1997696456"/>
                    </a:ext>
                  </a:extLst>
                </a:gridCol>
                <a:gridCol w="1655778">
                  <a:extLst>
                    <a:ext uri="{9D8B030D-6E8A-4147-A177-3AD203B41FA5}">
                      <a16:colId xmlns:a16="http://schemas.microsoft.com/office/drawing/2014/main" val="2812959841"/>
                    </a:ext>
                  </a:extLst>
                </a:gridCol>
                <a:gridCol w="1655778">
                  <a:extLst>
                    <a:ext uri="{9D8B030D-6E8A-4147-A177-3AD203B41FA5}">
                      <a16:colId xmlns:a16="http://schemas.microsoft.com/office/drawing/2014/main" val="3206631117"/>
                    </a:ext>
                  </a:extLst>
                </a:gridCol>
              </a:tblGrid>
              <a:tr h="599844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600" b="1">
                          <a:solidFill>
                            <a:schemeClr val="tx2"/>
                          </a:solidFill>
                          <a:effectLst/>
                        </a:rPr>
                        <a:t>Attribute</a:t>
                      </a:r>
                      <a:endParaRPr lang="en-CA" sz="1600" b="1" i="0">
                        <a:solidFill>
                          <a:schemeClr val="tx2"/>
                        </a:solidFill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600" b="1">
                          <a:solidFill>
                            <a:schemeClr val="tx2"/>
                          </a:solidFill>
                          <a:effectLst/>
                        </a:rPr>
                        <a:t>New Table</a:t>
                      </a:r>
                      <a:endParaRPr lang="en-CA" sz="1600" b="1" i="0">
                        <a:solidFill>
                          <a:schemeClr val="tx2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600" b="1" dirty="0">
                          <a:solidFill>
                            <a:schemeClr val="tx2"/>
                          </a:solidFill>
                          <a:effectLst/>
                        </a:rPr>
                        <a:t>New PK</a:t>
                      </a:r>
                      <a:endParaRPr lang="en-CA" sz="1600" b="1" i="0" dirty="0">
                        <a:solidFill>
                          <a:schemeClr val="tx2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extLst>
                  <a:ext uri="{0D108BD9-81ED-4DB2-BD59-A6C34878D82A}">
                    <a16:rowId xmlns:a16="http://schemas.microsoft.com/office/drawing/2014/main" val="2336306192"/>
                  </a:ext>
                </a:extLst>
              </a:tr>
              <a:tr h="599844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600">
                          <a:effectLst/>
                        </a:rPr>
                        <a:t>Project Name</a:t>
                      </a:r>
                      <a:endParaRPr lang="en-CA" sz="16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600">
                          <a:effectLst/>
                        </a:rPr>
                        <a:t>Project</a:t>
                      </a:r>
                      <a:endParaRPr lang="en-CA" sz="16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600">
                          <a:effectLst/>
                        </a:rPr>
                        <a:t>Project Number</a:t>
                      </a:r>
                      <a:endParaRPr lang="en-CA" sz="16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1827308554"/>
                  </a:ext>
                </a:extLst>
              </a:tr>
              <a:tr h="988586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600">
                          <a:effectLst/>
                        </a:rPr>
                        <a:t>Sponsoring Department Name</a:t>
                      </a:r>
                      <a:endParaRPr lang="en-CA" sz="16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600" dirty="0">
                          <a:effectLst/>
                        </a:rPr>
                        <a:t>Project</a:t>
                      </a:r>
                      <a:endParaRPr lang="en-CA" sz="16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600" dirty="0">
                          <a:effectLst/>
                        </a:rPr>
                        <a:t>Project Number</a:t>
                      </a:r>
                      <a:endParaRPr lang="en-CA" sz="16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209306718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9902C6DE-8BC3-E3A8-2D68-3566985BF2B7}"/>
              </a:ext>
            </a:extLst>
          </p:cNvPr>
          <p:cNvSpPr txBox="1"/>
          <p:nvPr/>
        </p:nvSpPr>
        <p:spPr>
          <a:xfrm>
            <a:off x="6386286" y="4265126"/>
            <a:ext cx="523116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CA" sz="1800" b="1" i="0" dirty="0">
                <a:solidFill>
                  <a:schemeClr val="tx1"/>
                </a:solidFill>
                <a:effectLst/>
                <a:latin typeface="+mn-lt"/>
              </a:rPr>
              <a:t>Note:</a:t>
            </a:r>
            <a:r>
              <a:rPr lang="en-CA" dirty="0"/>
              <a:t> </a:t>
            </a:r>
            <a:r>
              <a:rPr lang="en-CA" sz="1800" b="0" i="0" dirty="0" err="1">
                <a:solidFill>
                  <a:schemeClr val="tx1"/>
                </a:solidFill>
                <a:effectLst/>
                <a:latin typeface="+mn-lt"/>
              </a:rPr>
              <a:t>WorksOn</a:t>
            </a:r>
            <a:r>
              <a:rPr lang="en-CA" sz="1800" b="0" i="0" dirty="0">
                <a:solidFill>
                  <a:schemeClr val="tx1"/>
                </a:solidFill>
                <a:effectLst/>
                <a:latin typeface="+mn-lt"/>
              </a:rPr>
              <a:t> is now an </a:t>
            </a:r>
            <a:r>
              <a:rPr lang="en-CA" sz="1800" b="1" i="0" dirty="0">
                <a:solidFill>
                  <a:schemeClr val="tx1"/>
                </a:solidFill>
                <a:effectLst/>
                <a:latin typeface="+mn-lt"/>
              </a:rPr>
              <a:t>associative entity</a:t>
            </a:r>
            <a:r>
              <a:rPr lang="en-CA" sz="1800" b="0" i="0" dirty="0">
                <a:solidFill>
                  <a:schemeClr val="tx1"/>
                </a:solidFill>
                <a:effectLst/>
                <a:latin typeface="+mn-lt"/>
              </a:rPr>
              <a:t> — the M:N relationship between Employee and Project is fully implemented as two 1:M relationships.</a:t>
            </a:r>
            <a:endParaRPr lang="en-CA" sz="1200" b="0" i="0" dirty="0">
              <a:solidFill>
                <a:srgbClr val="0F1115"/>
              </a:solidFill>
              <a:effectLst/>
              <a:latin typeface="quote-cjk-patch"/>
            </a:endParaRPr>
          </a:p>
        </p:txBody>
      </p:sp>
    </p:spTree>
    <p:extLst>
      <p:ext uri="{BB962C8B-B14F-4D97-AF65-F5344CB8AC3E}">
        <p14:creationId xmlns:p14="http://schemas.microsoft.com/office/powerpoint/2010/main" val="341939458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2114F2-DB4B-8292-8041-C80DCBF0BA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224" y="335242"/>
            <a:ext cx="10515600" cy="106967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b="1" kern="1200" dirty="0">
                <a:latin typeface="+mj-lt"/>
                <a:ea typeface="+mj-ea"/>
                <a:cs typeface="+mj-cs"/>
              </a:rPr>
              <a:t>EXPLORING: 2NF ERD</a:t>
            </a:r>
            <a:endParaRPr lang="en-US" kern="1200" dirty="0">
              <a:latin typeface="+mj-lt"/>
              <a:ea typeface="+mj-ea"/>
              <a:cs typeface="+mj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09FA31C-1794-8771-EEE8-405F5FA4097F}"/>
              </a:ext>
            </a:extLst>
          </p:cNvPr>
          <p:cNvSpPr txBox="1"/>
          <p:nvPr/>
        </p:nvSpPr>
        <p:spPr>
          <a:xfrm>
            <a:off x="838200" y="1825625"/>
            <a:ext cx="5181600" cy="33978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600" b="1" dirty="0"/>
              <a:t>Relationships:</a:t>
            </a:r>
            <a:endParaRPr lang="en-US" sz="2600" dirty="0"/>
          </a:p>
          <a:p>
            <a:pPr marL="228600" lvl="0" indent="-22860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en-US" sz="2600" dirty="0"/>
              <a:t>Employee (1) → </a:t>
            </a:r>
            <a:r>
              <a:rPr lang="en-US" sz="2600" dirty="0" err="1"/>
              <a:t>WorksOn</a:t>
            </a:r>
            <a:r>
              <a:rPr lang="en-US" sz="2600" dirty="0"/>
              <a:t> (M)</a:t>
            </a:r>
          </a:p>
          <a:p>
            <a:pPr marL="228600" lvl="0" indent="-22860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en-US" sz="2600" dirty="0"/>
              <a:t>Project (1) → </a:t>
            </a:r>
            <a:r>
              <a:rPr lang="en-US" sz="2600" dirty="0" err="1"/>
              <a:t>WorksOn</a:t>
            </a:r>
            <a:r>
              <a:rPr lang="en-US" sz="2600" dirty="0"/>
              <a:t> (M)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en-US" sz="2600" b="1" dirty="0"/>
              <a:t>The schema is now in Second Normal Form (2NF).</a:t>
            </a:r>
            <a:endParaRPr lang="en-US" sz="2600" dirty="0"/>
          </a:p>
          <a:p>
            <a:pPr>
              <a:lnSpc>
                <a:spcPct val="90000"/>
              </a:lnSpc>
              <a:spcBef>
                <a:spcPts val="1000"/>
              </a:spcBef>
            </a:pPr>
            <a:br>
              <a:rPr lang="en-US" sz="2600" dirty="0"/>
            </a:br>
            <a:endParaRPr lang="en-US" sz="26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96D66C6-7B29-A0E3-B3F5-DE860598A4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6777" y="1825625"/>
            <a:ext cx="5072445" cy="338585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78656955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9DA1AB-87CD-8A51-C1FE-D14C39B684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2AE50C-8834-18A6-FAD2-7281BA877E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1628" y="270889"/>
            <a:ext cx="10515600" cy="106967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b="1" kern="1200" dirty="0">
                <a:latin typeface="+mj-lt"/>
                <a:ea typeface="+mj-ea"/>
                <a:cs typeface="+mj-cs"/>
              </a:rPr>
              <a:t>Step 4 — Apply 3NF Rule</a:t>
            </a:r>
            <a:endParaRPr lang="en-US" kern="1200" dirty="0">
              <a:latin typeface="+mj-lt"/>
              <a:ea typeface="+mj-ea"/>
              <a:cs typeface="+mj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03B606-0636-25FD-E965-76EA1C7131C9}"/>
              </a:ext>
            </a:extLst>
          </p:cNvPr>
          <p:cNvSpPr txBox="1"/>
          <p:nvPr/>
        </p:nvSpPr>
        <p:spPr>
          <a:xfrm>
            <a:off x="511628" y="1730095"/>
            <a:ext cx="4307115" cy="301607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r>
              <a:rPr lang="en-CA" b="1" dirty="0"/>
              <a:t>3NF has one rule:</a:t>
            </a:r>
            <a:endParaRPr lang="en-CA" dirty="0"/>
          </a:p>
          <a:p>
            <a:r>
              <a:rPr lang="en-CA" dirty="0"/>
              <a:t>A non-key attribute cannot be fully dependent on another non-key attribute.</a:t>
            </a:r>
          </a:p>
          <a:p>
            <a:r>
              <a:rPr lang="en-CA" b="1" dirty="0"/>
              <a:t>Key Point:</a:t>
            </a:r>
            <a:endParaRPr lang="en-CA" dirty="0"/>
          </a:p>
          <a:p>
            <a:r>
              <a:rPr lang="en-CA" dirty="0"/>
              <a:t>A table must have two or more non-key attributes for a violation to 3NF to occur.</a:t>
            </a:r>
          </a:p>
          <a:p>
            <a:r>
              <a:rPr lang="en-CA" b="1" dirty="0"/>
              <a:t>A non-key attribute that is fully dependent on another non-key attribute is called a TRANSITIVE DEPENDENCY.</a:t>
            </a:r>
            <a:endParaRPr lang="en-CA" dirty="0"/>
          </a:p>
          <a:p>
            <a:r>
              <a:rPr lang="en-CA" b="1" dirty="0"/>
              <a:t>Our tables</a:t>
            </a:r>
            <a:r>
              <a:rPr lang="en-CA" b="1" dirty="0">
                <a:sym typeface="Wingdings" panose="05000000000000000000" pitchFamily="2" charset="2"/>
              </a:rPr>
              <a:t></a:t>
            </a:r>
            <a:endParaRPr lang="en-CA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1B01C7D-8548-BE82-3BC3-F08A3167C8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6684125"/>
              </p:ext>
            </p:extLst>
          </p:nvPr>
        </p:nvGraphicFramePr>
        <p:xfrm>
          <a:off x="4920344" y="1294061"/>
          <a:ext cx="7068456" cy="388814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56152">
                  <a:extLst>
                    <a:ext uri="{9D8B030D-6E8A-4147-A177-3AD203B41FA5}">
                      <a16:colId xmlns:a16="http://schemas.microsoft.com/office/drawing/2014/main" val="3163685051"/>
                    </a:ext>
                  </a:extLst>
                </a:gridCol>
                <a:gridCol w="2356152">
                  <a:extLst>
                    <a:ext uri="{9D8B030D-6E8A-4147-A177-3AD203B41FA5}">
                      <a16:colId xmlns:a16="http://schemas.microsoft.com/office/drawing/2014/main" val="3973824767"/>
                    </a:ext>
                  </a:extLst>
                </a:gridCol>
                <a:gridCol w="2356152">
                  <a:extLst>
                    <a:ext uri="{9D8B030D-6E8A-4147-A177-3AD203B41FA5}">
                      <a16:colId xmlns:a16="http://schemas.microsoft.com/office/drawing/2014/main" val="401477610"/>
                    </a:ext>
                  </a:extLst>
                </a:gridCol>
              </a:tblGrid>
              <a:tr h="701223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600" b="1">
                          <a:effectLst/>
                        </a:rPr>
                        <a:t>Table</a:t>
                      </a:r>
                      <a:endParaRPr lang="en-CA" sz="1600" b="1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600" b="1" dirty="0">
                          <a:effectLst/>
                        </a:rPr>
                        <a:t>Non-Key Attributes</a:t>
                      </a:r>
                      <a:endParaRPr lang="en-CA" sz="1600" b="1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600" b="1" dirty="0">
                          <a:effectLst/>
                        </a:rPr>
                        <a:t>Can 3NF Be Violated?</a:t>
                      </a:r>
                      <a:endParaRPr lang="en-CA" sz="1600" b="1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extLst>
                  <a:ext uri="{0D108BD9-81ED-4DB2-BD59-A6C34878D82A}">
                    <a16:rowId xmlns:a16="http://schemas.microsoft.com/office/drawing/2014/main" val="3841693051"/>
                  </a:ext>
                </a:extLst>
              </a:tr>
              <a:tr h="1252709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600">
                          <a:effectLst/>
                        </a:rPr>
                        <a:t>Employee</a:t>
                      </a:r>
                      <a:endParaRPr lang="en-CA" sz="16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600">
                          <a:effectLst/>
                        </a:rPr>
                        <a:t>LastName, FirstName, Department Number, Department Name</a:t>
                      </a:r>
                      <a:endParaRPr lang="en-CA" sz="16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600">
                          <a:effectLst/>
                        </a:rPr>
                        <a:t>Yes — Department Name depends on Department Number</a:t>
                      </a:r>
                      <a:endParaRPr lang="en-CA" sz="16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1299114403"/>
                  </a:ext>
                </a:extLst>
              </a:tr>
              <a:tr h="701223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600">
                          <a:effectLst/>
                        </a:rPr>
                        <a:t>WorksOn</a:t>
                      </a:r>
                      <a:endParaRPr lang="en-CA" sz="16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600" dirty="0">
                          <a:effectLst/>
                        </a:rPr>
                        <a:t>Weekly Hours</a:t>
                      </a:r>
                      <a:endParaRPr lang="en-CA" sz="16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600">
                          <a:effectLst/>
                        </a:rPr>
                        <a:t>No — only one non-key attribute</a:t>
                      </a:r>
                      <a:endParaRPr lang="en-CA" sz="16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2026553778"/>
                  </a:ext>
                </a:extLst>
              </a:tr>
              <a:tr h="976967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600">
                          <a:effectLst/>
                        </a:rPr>
                        <a:t>Project</a:t>
                      </a:r>
                      <a:endParaRPr lang="en-CA" sz="16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600">
                          <a:effectLst/>
                        </a:rPr>
                        <a:t>Project Name, Sponsoring Department Name</a:t>
                      </a:r>
                      <a:endParaRPr lang="en-CA" sz="16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600" dirty="0">
                          <a:effectLst/>
                        </a:rPr>
                        <a:t>No — no dependency between them</a:t>
                      </a:r>
                      <a:endParaRPr lang="en-CA" sz="16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9882745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7560970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B89FE-0654-1028-3B0C-65DAD8EF4F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3735" y="231333"/>
            <a:ext cx="10515600" cy="1069679"/>
          </a:xfrm>
        </p:spPr>
        <p:txBody>
          <a:bodyPr>
            <a:normAutofit/>
          </a:bodyPr>
          <a:lstStyle/>
          <a:p>
            <a:r>
              <a:rPr lang="en-US" b="1" dirty="0"/>
              <a:t>Step 4 — 3NF Violation in Employee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9A669E-2196-4F9A-262F-C3C5448E34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3735" y="1560819"/>
            <a:ext cx="3900551" cy="3504667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CA" sz="2600" b="1" i="0" dirty="0">
                <a:solidFill>
                  <a:srgbClr val="0F1115"/>
                </a:solidFill>
                <a:effectLst/>
              </a:rPr>
              <a:t>Evaluate Employee for transitive dependencies</a:t>
            </a:r>
          </a:p>
          <a:p>
            <a:pPr marL="0" indent="0">
              <a:buNone/>
            </a:pPr>
            <a:r>
              <a:rPr lang="en-US" sz="2600" b="1" dirty="0"/>
              <a:t>Why is this a violation?</a:t>
            </a:r>
          </a:p>
          <a:p>
            <a:pPr marL="0" indent="0">
              <a:buNone/>
            </a:pPr>
            <a:r>
              <a:rPr lang="en-US" sz="2600" dirty="0"/>
              <a:t>Department Name is fully dependent on Department Number, which is a non-key attribute.</a:t>
            </a:r>
          </a:p>
          <a:p>
            <a:pPr marL="0" indent="0">
              <a:buNone/>
            </a:pPr>
            <a:r>
              <a:rPr lang="en-US" sz="2600" dirty="0"/>
              <a:t>If you know the Department Number, you know the Department Name — without needing to know the Employee ID</a:t>
            </a:r>
            <a:r>
              <a:rPr lang="en-US" dirty="0"/>
              <a:t>.</a:t>
            </a:r>
            <a:endParaRPr lang="en-CA" dirty="0"/>
          </a:p>
        </p:txBody>
      </p:sp>
      <p:graphicFrame>
        <p:nvGraphicFramePr>
          <p:cNvPr id="39" name="Table 38">
            <a:extLst>
              <a:ext uri="{FF2B5EF4-FFF2-40B4-BE49-F238E27FC236}">
                <a16:creationId xmlns:a16="http://schemas.microsoft.com/office/drawing/2014/main" id="{ED4E5E7A-737F-01FE-835C-B8FB4C376F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3721674"/>
              </p:ext>
            </p:extLst>
          </p:nvPr>
        </p:nvGraphicFramePr>
        <p:xfrm>
          <a:off x="4301779" y="1301012"/>
          <a:ext cx="7637961" cy="376447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45987">
                  <a:extLst>
                    <a:ext uri="{9D8B030D-6E8A-4147-A177-3AD203B41FA5}">
                      <a16:colId xmlns:a16="http://schemas.microsoft.com/office/drawing/2014/main" val="1455380567"/>
                    </a:ext>
                  </a:extLst>
                </a:gridCol>
                <a:gridCol w="2545987">
                  <a:extLst>
                    <a:ext uri="{9D8B030D-6E8A-4147-A177-3AD203B41FA5}">
                      <a16:colId xmlns:a16="http://schemas.microsoft.com/office/drawing/2014/main" val="1266968330"/>
                    </a:ext>
                  </a:extLst>
                </a:gridCol>
                <a:gridCol w="2545987">
                  <a:extLst>
                    <a:ext uri="{9D8B030D-6E8A-4147-A177-3AD203B41FA5}">
                      <a16:colId xmlns:a16="http://schemas.microsoft.com/office/drawing/2014/main" val="3953416502"/>
                    </a:ext>
                  </a:extLst>
                </a:gridCol>
              </a:tblGrid>
              <a:tr h="666506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600" b="1" dirty="0">
                          <a:solidFill>
                            <a:schemeClr val="tx2"/>
                          </a:solidFill>
                          <a:effectLst/>
                        </a:rPr>
                        <a:t>Non-Key Attribute</a:t>
                      </a:r>
                      <a:endParaRPr lang="en-CA" sz="1600" b="1" i="0" dirty="0">
                        <a:solidFill>
                          <a:schemeClr val="tx2"/>
                        </a:solidFill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600" b="1">
                          <a:solidFill>
                            <a:schemeClr val="tx2"/>
                          </a:solidFill>
                          <a:effectLst/>
                        </a:rPr>
                        <a:t>Depends On</a:t>
                      </a:r>
                      <a:endParaRPr lang="en-CA" sz="1600" b="1" i="0">
                        <a:solidFill>
                          <a:schemeClr val="tx2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600" b="1" dirty="0">
                          <a:solidFill>
                            <a:schemeClr val="tx2"/>
                          </a:solidFill>
                          <a:effectLst/>
                        </a:rPr>
                        <a:t>Is This a Violation?</a:t>
                      </a:r>
                      <a:endParaRPr lang="en-CA" sz="1600" b="1" i="0" dirty="0">
                        <a:solidFill>
                          <a:schemeClr val="tx2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extLst>
                  <a:ext uri="{0D108BD9-81ED-4DB2-BD59-A6C34878D82A}">
                    <a16:rowId xmlns:a16="http://schemas.microsoft.com/office/drawing/2014/main" val="3635647222"/>
                  </a:ext>
                </a:extLst>
              </a:tr>
              <a:tr h="666506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600">
                          <a:effectLst/>
                        </a:rPr>
                        <a:t>LastName</a:t>
                      </a:r>
                      <a:endParaRPr lang="en-CA" sz="16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600">
                          <a:effectLst/>
                        </a:rPr>
                        <a:t>Employee ID</a:t>
                      </a:r>
                      <a:endParaRPr lang="en-CA" sz="16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600">
                          <a:effectLst/>
                        </a:rPr>
                        <a:t>No (depends on PK)</a:t>
                      </a:r>
                      <a:endParaRPr lang="en-CA" sz="16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2171559313"/>
                  </a:ext>
                </a:extLst>
              </a:tr>
              <a:tr h="666506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600">
                          <a:effectLst/>
                        </a:rPr>
                        <a:t>FirstName</a:t>
                      </a:r>
                      <a:endParaRPr lang="en-CA" sz="16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600">
                          <a:effectLst/>
                        </a:rPr>
                        <a:t>Employee ID</a:t>
                      </a:r>
                      <a:endParaRPr lang="en-CA" sz="16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600">
                          <a:effectLst/>
                        </a:rPr>
                        <a:t>No (depends on PK)</a:t>
                      </a:r>
                      <a:endParaRPr lang="en-CA" sz="16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99705184"/>
                  </a:ext>
                </a:extLst>
              </a:tr>
              <a:tr h="666506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600">
                          <a:effectLst/>
                        </a:rPr>
                        <a:t>Department Number</a:t>
                      </a:r>
                      <a:endParaRPr lang="en-CA" sz="16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600">
                          <a:effectLst/>
                        </a:rPr>
                        <a:t>Employee ID</a:t>
                      </a:r>
                      <a:endParaRPr lang="en-CA" sz="16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600">
                          <a:effectLst/>
                        </a:rPr>
                        <a:t>No (depends on PK)</a:t>
                      </a:r>
                      <a:endParaRPr lang="en-CA" sz="16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3669281130"/>
                  </a:ext>
                </a:extLst>
              </a:tr>
              <a:tr h="1098449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600">
                          <a:effectLst/>
                        </a:rPr>
                        <a:t>Department Name</a:t>
                      </a:r>
                      <a:endParaRPr lang="en-CA" sz="16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600">
                          <a:effectLst/>
                        </a:rPr>
                        <a:t>Department Number</a:t>
                      </a:r>
                      <a:endParaRPr lang="en-CA" sz="16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600" dirty="0">
                          <a:effectLst/>
                        </a:rPr>
                        <a:t>Yes — transitive dependency!</a:t>
                      </a:r>
                      <a:endParaRPr lang="en-CA" sz="16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39228373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6893582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2D81DA-E96A-330A-BF77-2D46CCABAB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7176" y="337975"/>
            <a:ext cx="10515600" cy="1069679"/>
          </a:xfrm>
        </p:spPr>
        <p:txBody>
          <a:bodyPr>
            <a:normAutofit/>
          </a:bodyPr>
          <a:lstStyle/>
          <a:p>
            <a:r>
              <a:rPr lang="en-US" b="1" dirty="0"/>
              <a:t>Step 4 — Fixing 3NF Violations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F5F456-D0B9-9F3F-0273-785DAEC726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6473" y="1348571"/>
            <a:ext cx="9778670" cy="2569253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CA" b="1" dirty="0"/>
              <a:t>If a transitive dependency exists:</a:t>
            </a:r>
            <a:endParaRPr lang="en-CA" dirty="0"/>
          </a:p>
          <a:p>
            <a:pPr marL="514350" lvl="0" indent="-514350">
              <a:buFont typeface="+mj-lt"/>
              <a:buAutoNum type="arabicPeriod"/>
            </a:pPr>
            <a:r>
              <a:rPr lang="en-CA" dirty="0"/>
              <a:t>Remove the transitively dependent attribute(s) and place in a new table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CA" dirty="0"/>
              <a:t>Duplicate the non-key attribute they were dependent on and place in the new table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CA" dirty="0"/>
              <a:t>The duplicated attribute becomes a foreign key in the original table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CA" dirty="0"/>
              <a:t>Designate the cardinality of the relationship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CA" dirty="0"/>
              <a:t>Designate a primary key for the new table</a:t>
            </a:r>
          </a:p>
          <a:p>
            <a:pPr marL="0" indent="0">
              <a:buNone/>
            </a:pPr>
            <a:r>
              <a:rPr lang="en-CA" b="1" dirty="0"/>
              <a:t>Our fix</a:t>
            </a:r>
            <a:r>
              <a:rPr lang="en-CA" b="1" dirty="0">
                <a:sym typeface="Wingdings" panose="05000000000000000000" pitchFamily="2" charset="2"/>
              </a:rPr>
              <a:t></a:t>
            </a:r>
            <a:endParaRPr lang="en-CA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1FCF9D2-5CF0-1AAE-2E1E-A629A9E87C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3855679"/>
              </p:ext>
            </p:extLst>
          </p:nvPr>
        </p:nvGraphicFramePr>
        <p:xfrm>
          <a:off x="607176" y="4042447"/>
          <a:ext cx="7292901" cy="111386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30967">
                  <a:extLst>
                    <a:ext uri="{9D8B030D-6E8A-4147-A177-3AD203B41FA5}">
                      <a16:colId xmlns:a16="http://schemas.microsoft.com/office/drawing/2014/main" val="2046856123"/>
                    </a:ext>
                  </a:extLst>
                </a:gridCol>
                <a:gridCol w="2430967">
                  <a:extLst>
                    <a:ext uri="{9D8B030D-6E8A-4147-A177-3AD203B41FA5}">
                      <a16:colId xmlns:a16="http://schemas.microsoft.com/office/drawing/2014/main" val="2217154555"/>
                    </a:ext>
                  </a:extLst>
                </a:gridCol>
                <a:gridCol w="2430967">
                  <a:extLst>
                    <a:ext uri="{9D8B030D-6E8A-4147-A177-3AD203B41FA5}">
                      <a16:colId xmlns:a16="http://schemas.microsoft.com/office/drawing/2014/main" val="3415968292"/>
                    </a:ext>
                  </a:extLst>
                </a:gridCol>
              </a:tblGrid>
              <a:tr h="556931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600" b="1">
                          <a:effectLst/>
                        </a:rPr>
                        <a:t>Attribute</a:t>
                      </a:r>
                      <a:endParaRPr lang="en-CA" sz="1600" b="1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600" b="1">
                          <a:effectLst/>
                        </a:rPr>
                        <a:t>New Table</a:t>
                      </a:r>
                      <a:endParaRPr lang="en-CA" sz="1600" b="1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600" b="1" dirty="0">
                          <a:effectLst/>
                        </a:rPr>
                        <a:t>New PK</a:t>
                      </a:r>
                      <a:endParaRPr lang="en-CA" sz="1600" b="1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extLst>
                  <a:ext uri="{0D108BD9-81ED-4DB2-BD59-A6C34878D82A}">
                    <a16:rowId xmlns:a16="http://schemas.microsoft.com/office/drawing/2014/main" val="1089249888"/>
                  </a:ext>
                </a:extLst>
              </a:tr>
              <a:tr h="556931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600">
                          <a:effectLst/>
                        </a:rPr>
                        <a:t>Department Name</a:t>
                      </a:r>
                      <a:endParaRPr lang="en-CA" sz="16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600">
                          <a:effectLst/>
                        </a:rPr>
                        <a:t>Department</a:t>
                      </a:r>
                      <a:endParaRPr lang="en-CA" sz="16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600" dirty="0">
                          <a:effectLst/>
                        </a:rPr>
                        <a:t>Department Number</a:t>
                      </a:r>
                      <a:endParaRPr lang="en-CA" sz="16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17180566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4339569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16E714-FECD-7D55-4669-DC60A8A905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870" y="480384"/>
            <a:ext cx="10515600" cy="1069679"/>
          </a:xfrm>
        </p:spPr>
        <p:txBody>
          <a:bodyPr>
            <a:normAutofit fontScale="90000"/>
          </a:bodyPr>
          <a:lstStyle/>
          <a:p>
            <a:r>
              <a:rPr lang="en-CA" b="1" dirty="0"/>
              <a:t>Step 4 — 3NF Result</a:t>
            </a:r>
            <a:br>
              <a:rPr lang="en-CA" b="1" dirty="0"/>
            </a:b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78B15F-081B-57E6-35F6-AFC5A1183F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5780" y="1320804"/>
            <a:ext cx="9314906" cy="3614056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CA" b="1" dirty="0"/>
              <a:t>Employee Table:</a:t>
            </a:r>
            <a:endParaRPr lang="en-CA" dirty="0"/>
          </a:p>
          <a:p>
            <a:pPr latinLnBrk="1"/>
            <a:r>
              <a:rPr lang="en-CA" dirty="0"/>
              <a:t>Employee(Employee ID, LastName, FirstName, Department Number (FK))</a:t>
            </a:r>
          </a:p>
          <a:p>
            <a:pPr marL="0" indent="0">
              <a:buNone/>
            </a:pPr>
            <a:r>
              <a:rPr lang="en-CA" b="1" dirty="0"/>
              <a:t>Department Table:</a:t>
            </a:r>
            <a:endParaRPr lang="en-CA" dirty="0"/>
          </a:p>
          <a:p>
            <a:pPr latinLnBrk="1"/>
            <a:r>
              <a:rPr lang="en-CA" dirty="0"/>
              <a:t>Department(Department Number, Department Name)</a:t>
            </a:r>
          </a:p>
          <a:p>
            <a:pPr marL="0" indent="0">
              <a:buNone/>
            </a:pPr>
            <a:r>
              <a:rPr lang="en-CA" b="1" dirty="0" err="1"/>
              <a:t>WorksOn</a:t>
            </a:r>
            <a:r>
              <a:rPr lang="en-CA" b="1" dirty="0"/>
              <a:t> Table:</a:t>
            </a:r>
            <a:endParaRPr lang="en-CA" dirty="0"/>
          </a:p>
          <a:p>
            <a:pPr latinLnBrk="1"/>
            <a:r>
              <a:rPr lang="en-CA" dirty="0" err="1"/>
              <a:t>WorksOn</a:t>
            </a:r>
            <a:r>
              <a:rPr lang="en-CA" dirty="0"/>
              <a:t>(Employee ID (FK), Project Number (FK), Weekly Hours)</a:t>
            </a:r>
          </a:p>
          <a:p>
            <a:pPr marL="0" indent="0">
              <a:buNone/>
            </a:pPr>
            <a:r>
              <a:rPr lang="en-CA" b="1" dirty="0"/>
              <a:t>Project Table:</a:t>
            </a:r>
            <a:endParaRPr lang="en-CA" dirty="0"/>
          </a:p>
          <a:p>
            <a:pPr latinLnBrk="1"/>
            <a:r>
              <a:rPr lang="en-CA" dirty="0"/>
              <a:t>Project(Project Number, Project Name, Sponsoring Department Name)</a:t>
            </a:r>
          </a:p>
        </p:txBody>
      </p:sp>
    </p:spTree>
    <p:extLst>
      <p:ext uri="{BB962C8B-B14F-4D97-AF65-F5344CB8AC3E}">
        <p14:creationId xmlns:p14="http://schemas.microsoft.com/office/powerpoint/2010/main" val="49447568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9406EE-42B4-6850-E1AC-C83639FF1F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D7200-5451-B380-DC58-1EACF4A81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780" y="494899"/>
            <a:ext cx="10515600" cy="1069679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EXPLORING: 3NF ERD (Final Design)</a:t>
            </a:r>
            <a:br>
              <a:rPr lang="en-CA" b="1" dirty="0"/>
            </a:br>
            <a:endParaRPr lang="en-CA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36595D4-9703-EC7B-2F83-4EDE8F461FB6}"/>
              </a:ext>
            </a:extLst>
          </p:cNvPr>
          <p:cNvSpPr txBox="1"/>
          <p:nvPr/>
        </p:nvSpPr>
        <p:spPr>
          <a:xfrm>
            <a:off x="627380" y="2059119"/>
            <a:ext cx="4031706" cy="25340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CA" b="1" dirty="0"/>
              <a:t>Relationships:</a:t>
            </a:r>
            <a:endParaRPr lang="en-CA" dirty="0"/>
          </a:p>
          <a:p>
            <a:pPr lvl="0">
              <a:lnSpc>
                <a:spcPct val="150000"/>
              </a:lnSpc>
            </a:pPr>
            <a:r>
              <a:rPr lang="en-CA" dirty="0"/>
              <a:t>Department (1) → Employee (M)</a:t>
            </a:r>
          </a:p>
          <a:p>
            <a:pPr lvl="0">
              <a:lnSpc>
                <a:spcPct val="150000"/>
              </a:lnSpc>
            </a:pPr>
            <a:r>
              <a:rPr lang="en-CA" dirty="0"/>
              <a:t>Employee (1) → </a:t>
            </a:r>
            <a:r>
              <a:rPr lang="en-CA" dirty="0" err="1"/>
              <a:t>WorksOn</a:t>
            </a:r>
            <a:r>
              <a:rPr lang="en-CA" dirty="0"/>
              <a:t> (M)</a:t>
            </a:r>
          </a:p>
          <a:p>
            <a:pPr lvl="0">
              <a:lnSpc>
                <a:spcPct val="150000"/>
              </a:lnSpc>
            </a:pPr>
            <a:r>
              <a:rPr lang="en-CA" dirty="0"/>
              <a:t>Project (1) → </a:t>
            </a:r>
            <a:r>
              <a:rPr lang="en-CA" dirty="0" err="1"/>
              <a:t>WorksOn</a:t>
            </a:r>
            <a:r>
              <a:rPr lang="en-CA" dirty="0"/>
              <a:t> (M)</a:t>
            </a:r>
          </a:p>
          <a:p>
            <a:pPr>
              <a:lnSpc>
                <a:spcPct val="150000"/>
              </a:lnSpc>
            </a:pPr>
            <a:r>
              <a:rPr lang="en-CA" b="1" dirty="0"/>
              <a:t>The schema is now in Third Normal Form (3NF).</a:t>
            </a:r>
            <a:endParaRPr lang="en-CA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A3C1FB0-EB8B-32B5-F361-1172908B52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3580" y="1495635"/>
            <a:ext cx="5257799" cy="5257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792561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B6645A-98ED-3F07-6025-9B9545C350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b="1" dirty="0"/>
              <a:t>Summary of Normal Forms</a:t>
            </a:r>
            <a:endParaRPr lang="en-CA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694EC39-C065-1A2F-B650-5B07E3F2A8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074636"/>
              </p:ext>
            </p:extLst>
          </p:nvPr>
        </p:nvGraphicFramePr>
        <p:xfrm>
          <a:off x="454479" y="1404921"/>
          <a:ext cx="10515600" cy="398613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99190">
                  <a:extLst>
                    <a:ext uri="{9D8B030D-6E8A-4147-A177-3AD203B41FA5}">
                      <a16:colId xmlns:a16="http://schemas.microsoft.com/office/drawing/2014/main" val="1439268940"/>
                    </a:ext>
                  </a:extLst>
                </a:gridCol>
                <a:gridCol w="2705470">
                  <a:extLst>
                    <a:ext uri="{9D8B030D-6E8A-4147-A177-3AD203B41FA5}">
                      <a16:colId xmlns:a16="http://schemas.microsoft.com/office/drawing/2014/main" val="3036367066"/>
                    </a:ext>
                  </a:extLst>
                </a:gridCol>
                <a:gridCol w="2705470">
                  <a:extLst>
                    <a:ext uri="{9D8B030D-6E8A-4147-A177-3AD203B41FA5}">
                      <a16:colId xmlns:a16="http://schemas.microsoft.com/office/drawing/2014/main" val="1069613966"/>
                    </a:ext>
                  </a:extLst>
                </a:gridCol>
                <a:gridCol w="2705470">
                  <a:extLst>
                    <a:ext uri="{9D8B030D-6E8A-4147-A177-3AD203B41FA5}">
                      <a16:colId xmlns:a16="http://schemas.microsoft.com/office/drawing/2014/main" val="3061545328"/>
                    </a:ext>
                  </a:extLst>
                </a:gridCol>
              </a:tblGrid>
              <a:tr h="588693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800" b="1">
                          <a:effectLst/>
                        </a:rPr>
                        <a:t>Normal Form</a:t>
                      </a:r>
                      <a:endParaRPr lang="en-CA" sz="1800" b="1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800" b="1">
                          <a:effectLst/>
                        </a:rPr>
                        <a:t>Rule</a:t>
                      </a:r>
                      <a:endParaRPr lang="en-CA" sz="1800" b="1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800" b="1">
                          <a:effectLst/>
                        </a:rPr>
                        <a:t>Violation</a:t>
                      </a:r>
                      <a:endParaRPr lang="en-CA" sz="1800" b="1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800" b="1" dirty="0">
                          <a:effectLst/>
                        </a:rPr>
                        <a:t>Fix</a:t>
                      </a:r>
                      <a:endParaRPr lang="en-CA" sz="1800" b="1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extLst>
                  <a:ext uri="{0D108BD9-81ED-4DB2-BD59-A6C34878D82A}">
                    <a16:rowId xmlns:a16="http://schemas.microsoft.com/office/drawing/2014/main" val="1754349531"/>
                  </a:ext>
                </a:extLst>
              </a:tr>
              <a:tr h="588693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800" dirty="0">
                          <a:effectLst/>
                        </a:rPr>
                        <a:t>1NF</a:t>
                      </a:r>
                      <a:endParaRPr lang="en-CA" sz="18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800">
                          <a:effectLst/>
                        </a:rPr>
                        <a:t>Atomic attributes, no repeating groups</a:t>
                      </a:r>
                      <a:endParaRPr lang="en-CA" sz="18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800">
                          <a:effectLst/>
                        </a:rPr>
                        <a:t>Repeating group</a:t>
                      </a:r>
                      <a:endParaRPr lang="en-CA" sz="18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800">
                          <a:effectLst/>
                        </a:rPr>
                        <a:t>Move to new table, copy PK as FK</a:t>
                      </a:r>
                      <a:endParaRPr lang="en-CA" sz="18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3469268474"/>
                  </a:ext>
                </a:extLst>
              </a:tr>
              <a:tr h="970209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800">
                          <a:effectLst/>
                        </a:rPr>
                        <a:t>2NF</a:t>
                      </a:r>
                      <a:endParaRPr lang="en-CA" sz="18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800">
                          <a:effectLst/>
                        </a:rPr>
                        <a:t>All non-key attributes fully depend on entire PK</a:t>
                      </a:r>
                      <a:endParaRPr lang="en-CA" sz="18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800" dirty="0">
                          <a:effectLst/>
                        </a:rPr>
                        <a:t>Partial dependency</a:t>
                      </a:r>
                      <a:endParaRPr lang="en-CA" sz="18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800">
                          <a:effectLst/>
                        </a:rPr>
                        <a:t>Move to new table, copy PK part as FK</a:t>
                      </a:r>
                      <a:endParaRPr lang="en-CA" sz="18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877846273"/>
                  </a:ext>
                </a:extLst>
              </a:tr>
              <a:tr h="970209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800">
                          <a:effectLst/>
                        </a:rPr>
                        <a:t>3NF</a:t>
                      </a:r>
                      <a:endParaRPr lang="en-CA" sz="18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800">
                          <a:effectLst/>
                        </a:rPr>
                        <a:t>No non-key attribute depends on another non-key attribute</a:t>
                      </a:r>
                      <a:endParaRPr lang="en-CA" sz="18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800">
                          <a:effectLst/>
                        </a:rPr>
                        <a:t>Transitive dependency</a:t>
                      </a:r>
                      <a:endParaRPr lang="en-CA" sz="18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800" dirty="0">
                          <a:effectLst/>
                        </a:rPr>
                        <a:t>Move to new table, copy non-key attribute as PK/FK</a:t>
                      </a:r>
                      <a:endParaRPr lang="en-CA" sz="18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40504116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7578638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191B4B-FD92-B3C1-6E15-05D6BBFEF3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F790A3-3377-985B-C9F4-4BB0E2FCB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0571" y="516290"/>
            <a:ext cx="10515600" cy="1069679"/>
          </a:xfrm>
        </p:spPr>
        <p:txBody>
          <a:bodyPr>
            <a:normAutofit/>
          </a:bodyPr>
          <a:lstStyle/>
          <a:p>
            <a:r>
              <a:rPr lang="en-CA" b="1" dirty="0"/>
              <a:t>Guided Walkthrough — Movie/Actor</a:t>
            </a:r>
            <a:endParaRPr lang="en-CA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477BFB-BD1D-140C-A6DF-480E2B24D250}"/>
              </a:ext>
            </a:extLst>
          </p:cNvPr>
          <p:cNvSpPr txBox="1"/>
          <p:nvPr/>
        </p:nvSpPr>
        <p:spPr>
          <a:xfrm>
            <a:off x="580571" y="1336617"/>
            <a:ext cx="8563429" cy="15388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b="1" dirty="0"/>
              <a:t>Scenario:</a:t>
            </a:r>
            <a:endParaRPr lang="en-CA" dirty="0"/>
          </a:p>
          <a:p>
            <a:r>
              <a:rPr lang="en-CA" dirty="0"/>
              <a:t>A video rental store tracks movies and actors.</a:t>
            </a:r>
          </a:p>
          <a:p>
            <a:r>
              <a:rPr lang="en-CA" b="1" dirty="0"/>
              <a:t>Unnormalized Data:</a:t>
            </a:r>
            <a:endParaRPr lang="en-CA" dirty="0"/>
          </a:p>
          <a:p>
            <a:br>
              <a:rPr lang="en-CA" sz="2000" dirty="0"/>
            </a:br>
            <a:endParaRPr lang="en-CA" sz="2000" dirty="0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2FC4943B-CA1F-5DD5-0DFA-5D88595664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398140"/>
              </p:ext>
            </p:extLst>
          </p:nvPr>
        </p:nvGraphicFramePr>
        <p:xfrm>
          <a:off x="715735" y="2406296"/>
          <a:ext cx="10515600" cy="309092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08236">
                  <a:extLst>
                    <a:ext uri="{9D8B030D-6E8A-4147-A177-3AD203B41FA5}">
                      <a16:colId xmlns:a16="http://schemas.microsoft.com/office/drawing/2014/main" val="3538475327"/>
                    </a:ext>
                  </a:extLst>
                </a:gridCol>
                <a:gridCol w="2151841">
                  <a:extLst>
                    <a:ext uri="{9D8B030D-6E8A-4147-A177-3AD203B41FA5}">
                      <a16:colId xmlns:a16="http://schemas.microsoft.com/office/drawing/2014/main" val="2191270882"/>
                    </a:ext>
                  </a:extLst>
                </a:gridCol>
                <a:gridCol w="2151841">
                  <a:extLst>
                    <a:ext uri="{9D8B030D-6E8A-4147-A177-3AD203B41FA5}">
                      <a16:colId xmlns:a16="http://schemas.microsoft.com/office/drawing/2014/main" val="3374808326"/>
                    </a:ext>
                  </a:extLst>
                </a:gridCol>
                <a:gridCol w="2151841">
                  <a:extLst>
                    <a:ext uri="{9D8B030D-6E8A-4147-A177-3AD203B41FA5}">
                      <a16:colId xmlns:a16="http://schemas.microsoft.com/office/drawing/2014/main" val="460093848"/>
                    </a:ext>
                  </a:extLst>
                </a:gridCol>
                <a:gridCol w="2151841">
                  <a:extLst>
                    <a:ext uri="{9D8B030D-6E8A-4147-A177-3AD203B41FA5}">
                      <a16:colId xmlns:a16="http://schemas.microsoft.com/office/drawing/2014/main" val="122174314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600">
                          <a:effectLst/>
                        </a:rPr>
                        <a:t>Movie ID</a:t>
                      </a:r>
                      <a:endParaRPr lang="en-CA" sz="16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600">
                          <a:effectLst/>
                        </a:rPr>
                        <a:t>Movie Title</a:t>
                      </a:r>
                      <a:endParaRPr lang="en-CA" sz="16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600" dirty="0">
                          <a:effectLst/>
                        </a:rPr>
                        <a:t>Actor ID</a:t>
                      </a:r>
                      <a:endParaRPr lang="en-CA" sz="16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600">
                          <a:effectLst/>
                        </a:rPr>
                        <a:t>Actor Name</a:t>
                      </a:r>
                      <a:endParaRPr lang="en-CA" sz="16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600">
                          <a:effectLst/>
                        </a:rPr>
                        <a:t>Role</a:t>
                      </a:r>
                      <a:endParaRPr lang="en-CA" sz="16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extLst>
                  <a:ext uri="{0D108BD9-81ED-4DB2-BD59-A6C34878D82A}">
                    <a16:rowId xmlns:a16="http://schemas.microsoft.com/office/drawing/2014/main" val="4090303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600">
                          <a:effectLst/>
                        </a:rPr>
                        <a:t>M001</a:t>
                      </a:r>
                      <a:endParaRPr lang="en-CA" sz="16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600">
                          <a:effectLst/>
                        </a:rPr>
                        <a:t>Inception</a:t>
                      </a:r>
                      <a:endParaRPr lang="en-CA" sz="16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600">
                          <a:effectLst/>
                        </a:rPr>
                        <a:t>A001</a:t>
                      </a:r>
                      <a:endParaRPr lang="en-CA" sz="16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600" dirty="0">
                          <a:effectLst/>
                        </a:rPr>
                        <a:t>Leonardo DiCaprio</a:t>
                      </a:r>
                      <a:endParaRPr lang="en-CA" sz="16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600">
                          <a:effectLst/>
                        </a:rPr>
                        <a:t>Cobb</a:t>
                      </a:r>
                      <a:endParaRPr lang="en-CA" sz="16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1071694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600">
                          <a:effectLst/>
                        </a:rPr>
                        <a:t>M001</a:t>
                      </a:r>
                      <a:endParaRPr lang="en-CA" sz="16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600">
                          <a:effectLst/>
                        </a:rPr>
                        <a:t>Inception</a:t>
                      </a:r>
                      <a:endParaRPr lang="en-CA" sz="16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600">
                          <a:effectLst/>
                        </a:rPr>
                        <a:t>A002</a:t>
                      </a:r>
                      <a:endParaRPr lang="en-CA" sz="16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600">
                          <a:effectLst/>
                        </a:rPr>
                        <a:t>Joseph Gordon-Levitt</a:t>
                      </a:r>
                      <a:endParaRPr lang="en-CA" sz="16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600">
                          <a:effectLst/>
                        </a:rPr>
                        <a:t>Arthur</a:t>
                      </a:r>
                      <a:endParaRPr lang="en-CA" sz="16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38740240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600">
                          <a:effectLst/>
                        </a:rPr>
                        <a:t>M002</a:t>
                      </a:r>
                      <a:endParaRPr lang="en-CA" sz="16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600">
                          <a:effectLst/>
                        </a:rPr>
                        <a:t>The Matrix</a:t>
                      </a:r>
                      <a:endParaRPr lang="en-CA" sz="16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600">
                          <a:effectLst/>
                        </a:rPr>
                        <a:t>A003</a:t>
                      </a:r>
                      <a:endParaRPr lang="en-CA" sz="16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600">
                          <a:effectLst/>
                        </a:rPr>
                        <a:t>Keanu Reeves</a:t>
                      </a:r>
                      <a:endParaRPr lang="en-CA" sz="16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600">
                          <a:effectLst/>
                        </a:rPr>
                        <a:t>Neo</a:t>
                      </a:r>
                      <a:endParaRPr lang="en-CA" sz="16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7238370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600">
                          <a:effectLst/>
                        </a:rPr>
                        <a:t>M002</a:t>
                      </a:r>
                      <a:endParaRPr lang="en-CA" sz="16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600">
                          <a:effectLst/>
                        </a:rPr>
                        <a:t>The Matrix</a:t>
                      </a:r>
                      <a:endParaRPr lang="en-CA" sz="16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600">
                          <a:effectLst/>
                        </a:rPr>
                        <a:t>A004</a:t>
                      </a:r>
                      <a:endParaRPr lang="en-CA" sz="16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600">
                          <a:effectLst/>
                        </a:rPr>
                        <a:t>Laurence Fishburne</a:t>
                      </a:r>
                      <a:endParaRPr lang="en-CA" sz="16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600">
                          <a:effectLst/>
                        </a:rPr>
                        <a:t>Morpheus</a:t>
                      </a:r>
                      <a:endParaRPr lang="en-CA" sz="16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27456663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600">
                          <a:effectLst/>
                        </a:rPr>
                        <a:t>M003</a:t>
                      </a:r>
                      <a:endParaRPr lang="en-CA" sz="16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600">
                          <a:effectLst/>
                        </a:rPr>
                        <a:t>Inception</a:t>
                      </a:r>
                      <a:endParaRPr lang="en-CA" sz="16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600">
                          <a:effectLst/>
                        </a:rPr>
                        <a:t>A001</a:t>
                      </a:r>
                      <a:endParaRPr lang="en-CA" sz="16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600">
                          <a:effectLst/>
                        </a:rPr>
                        <a:t>Leonardo DiCaprio</a:t>
                      </a:r>
                      <a:endParaRPr lang="en-CA" sz="16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600" dirty="0">
                          <a:effectLst/>
                        </a:rPr>
                        <a:t>Cobb</a:t>
                      </a:r>
                      <a:endParaRPr lang="en-CA" sz="16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31812859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0161728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1BDF19-6A0A-D7FA-186E-6C3831C3D9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03C1C3-F194-01EB-D828-87C226FBB5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6685" y="734004"/>
            <a:ext cx="10515600" cy="1069679"/>
          </a:xfrm>
        </p:spPr>
        <p:txBody>
          <a:bodyPr>
            <a:normAutofit/>
          </a:bodyPr>
          <a:lstStyle/>
          <a:p>
            <a:r>
              <a:rPr lang="en-CA" b="1" dirty="0"/>
              <a:t>Guided Walkthrough — Movie/Actor</a:t>
            </a:r>
            <a:endParaRPr lang="en-CA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5496BD9-1A12-6F6C-A819-CD149C5B25DE}"/>
              </a:ext>
            </a:extLst>
          </p:cNvPr>
          <p:cNvSpPr txBox="1"/>
          <p:nvPr/>
        </p:nvSpPr>
        <p:spPr>
          <a:xfrm>
            <a:off x="696685" y="1975245"/>
            <a:ext cx="8563429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2800" b="1" dirty="0"/>
              <a:t>Task:</a:t>
            </a:r>
            <a:r>
              <a:rPr lang="en-CA" sz="2800" dirty="0"/>
              <a:t> Normalize this data to 3NF.</a:t>
            </a:r>
          </a:p>
          <a:p>
            <a:r>
              <a:rPr lang="en-CA" sz="2800" b="1" dirty="0"/>
              <a:t>Step 1: Initial Table</a:t>
            </a:r>
            <a:endParaRPr lang="en-CA" sz="2800" dirty="0"/>
          </a:p>
          <a:p>
            <a:r>
              <a:rPr lang="en-CA" sz="2800" dirty="0"/>
              <a:t>text</a:t>
            </a:r>
          </a:p>
          <a:p>
            <a:pPr latinLnBrk="1"/>
            <a:r>
              <a:rPr lang="en-CA" sz="2800" dirty="0"/>
              <a:t>Movie(Movie ID, Movie Title, (Actor ID, Actor Name, Role))</a:t>
            </a:r>
            <a:br>
              <a:rPr lang="en-CA" sz="2000" dirty="0"/>
            </a:br>
            <a:endParaRPr lang="en-CA" sz="2000" dirty="0"/>
          </a:p>
        </p:txBody>
      </p:sp>
    </p:spTree>
    <p:extLst>
      <p:ext uri="{BB962C8B-B14F-4D97-AF65-F5344CB8AC3E}">
        <p14:creationId xmlns:p14="http://schemas.microsoft.com/office/powerpoint/2010/main" val="264033555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29CDBB-3131-A85D-C797-F340E6EA21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0424" y="162260"/>
            <a:ext cx="10515600" cy="1069679"/>
          </a:xfrm>
        </p:spPr>
        <p:txBody>
          <a:bodyPr>
            <a:normAutofit/>
          </a:bodyPr>
          <a:lstStyle/>
          <a:p>
            <a:r>
              <a:rPr lang="en-CA" b="1" dirty="0"/>
              <a:t>Movie/Actor — 1NF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3FC306-BAC0-08E8-CAA9-AD902929AE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00424" y="1184564"/>
            <a:ext cx="11391152" cy="3924571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CA" b="1" dirty="0"/>
              <a:t>Violations:</a:t>
            </a:r>
            <a:endParaRPr lang="en-CA" dirty="0"/>
          </a:p>
          <a:p>
            <a:pPr lvl="0"/>
            <a:r>
              <a:rPr lang="en-CA" dirty="0"/>
              <a:t>Repeating group: (Actor ID, Actor Name, Role)</a:t>
            </a:r>
          </a:p>
          <a:p>
            <a:pPr marL="0" indent="0">
              <a:buNone/>
            </a:pPr>
            <a:r>
              <a:rPr lang="en-CA" b="1" dirty="0"/>
              <a:t>Fix:</a:t>
            </a:r>
            <a:endParaRPr lang="en-CA" dirty="0"/>
          </a:p>
          <a:p>
            <a:pPr marL="0" indent="0">
              <a:buNone/>
            </a:pPr>
            <a:r>
              <a:rPr lang="en-CA" b="1" dirty="0"/>
              <a:t>Movie Table:</a:t>
            </a:r>
            <a:endParaRPr lang="en-CA" dirty="0"/>
          </a:p>
          <a:p>
            <a:pPr latinLnBrk="1"/>
            <a:r>
              <a:rPr lang="en-CA" dirty="0"/>
              <a:t>Movie(Movie ID, Movie Title)</a:t>
            </a:r>
          </a:p>
          <a:p>
            <a:pPr marL="0" indent="0">
              <a:buNone/>
            </a:pPr>
            <a:r>
              <a:rPr lang="en-CA" b="1" dirty="0"/>
              <a:t>Cast Table:</a:t>
            </a:r>
            <a:endParaRPr lang="en-CA" dirty="0"/>
          </a:p>
          <a:p>
            <a:pPr latinLnBrk="1"/>
            <a:r>
              <a:rPr lang="en-CA" dirty="0"/>
              <a:t>Cast(Movie ID (FK), Actor ID, Actor Name, Role)</a:t>
            </a:r>
          </a:p>
          <a:p>
            <a:pPr marL="0" indent="0">
              <a:buNone/>
            </a:pPr>
            <a:r>
              <a:rPr lang="en-CA" b="1" dirty="0"/>
              <a:t>Primary Key for Cast:</a:t>
            </a:r>
            <a:endParaRPr lang="en-CA" dirty="0"/>
          </a:p>
          <a:p>
            <a:pPr lvl="0"/>
            <a:r>
              <a:rPr lang="en-CA" dirty="0"/>
              <a:t>Movie ID alone? No — a movie has many actors.</a:t>
            </a:r>
          </a:p>
          <a:p>
            <a:pPr lvl="0"/>
            <a:r>
              <a:rPr lang="en-CA" dirty="0"/>
              <a:t>Actor ID alone? No — an actor can be in many movies.</a:t>
            </a:r>
          </a:p>
          <a:p>
            <a:pPr lvl="0"/>
            <a:r>
              <a:rPr lang="en-CA" dirty="0"/>
              <a:t>Movie ID + Actor ID? Yes — unique combination.</a:t>
            </a:r>
          </a:p>
          <a:p>
            <a:pPr marL="0" indent="0">
              <a:buNone/>
            </a:pPr>
            <a:r>
              <a:rPr lang="en-CA" b="1" dirty="0"/>
              <a:t>Cast PK: Movie ID + Actor ID (Composite Key)</a:t>
            </a:r>
            <a:endParaRPr lang="en-CA" dirty="0"/>
          </a:p>
          <a:p>
            <a:pPr>
              <a:buNone/>
            </a:pPr>
            <a:endParaRPr lang="en-CA" dirty="0"/>
          </a:p>
          <a:p>
            <a:pPr marL="0" indent="0">
              <a:buNone/>
            </a:pP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19146063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7240F5-A4F6-C82E-FF84-5980448D38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9367" y="581984"/>
            <a:ext cx="10515600" cy="1069679"/>
          </a:xfrm>
        </p:spPr>
        <p:txBody>
          <a:bodyPr>
            <a:normAutofit/>
          </a:bodyPr>
          <a:lstStyle/>
          <a:p>
            <a:r>
              <a:rPr lang="en-CA" b="1" dirty="0"/>
              <a:t>Movie/Actor — 2NF</a:t>
            </a:r>
            <a:endParaRPr lang="en-CA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87D3DA2-5BDC-7F64-57E3-EDFA7188D717}"/>
              </a:ext>
            </a:extLst>
          </p:cNvPr>
          <p:cNvSpPr txBox="1"/>
          <p:nvPr/>
        </p:nvSpPr>
        <p:spPr>
          <a:xfrm>
            <a:off x="469367" y="1596631"/>
            <a:ext cx="10515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CA" b="1" dirty="0"/>
              <a:t>Evaluate Cast for partial dependencies:</a:t>
            </a:r>
            <a:endParaRPr lang="en-CA" sz="2400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7CEDBD6-24B5-1B68-F328-FF765517FB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5875635"/>
              </p:ext>
            </p:extLst>
          </p:nvPr>
        </p:nvGraphicFramePr>
        <p:xfrm>
          <a:off x="585107" y="1988413"/>
          <a:ext cx="10515600" cy="155765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99190">
                  <a:extLst>
                    <a:ext uri="{9D8B030D-6E8A-4147-A177-3AD203B41FA5}">
                      <a16:colId xmlns:a16="http://schemas.microsoft.com/office/drawing/2014/main" val="1782503110"/>
                    </a:ext>
                  </a:extLst>
                </a:gridCol>
                <a:gridCol w="2705470">
                  <a:extLst>
                    <a:ext uri="{9D8B030D-6E8A-4147-A177-3AD203B41FA5}">
                      <a16:colId xmlns:a16="http://schemas.microsoft.com/office/drawing/2014/main" val="1925185733"/>
                    </a:ext>
                  </a:extLst>
                </a:gridCol>
                <a:gridCol w="2705470">
                  <a:extLst>
                    <a:ext uri="{9D8B030D-6E8A-4147-A177-3AD203B41FA5}">
                      <a16:colId xmlns:a16="http://schemas.microsoft.com/office/drawing/2014/main" val="2648243158"/>
                    </a:ext>
                  </a:extLst>
                </a:gridCol>
                <a:gridCol w="2705470">
                  <a:extLst>
                    <a:ext uri="{9D8B030D-6E8A-4147-A177-3AD203B41FA5}">
                      <a16:colId xmlns:a16="http://schemas.microsoft.com/office/drawing/2014/main" val="361327589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400" b="1">
                          <a:solidFill>
                            <a:schemeClr val="tx2"/>
                          </a:solidFill>
                          <a:effectLst/>
                        </a:rPr>
                        <a:t>Attribute</a:t>
                      </a:r>
                      <a:endParaRPr lang="en-CA" sz="1400" b="1" i="0">
                        <a:solidFill>
                          <a:schemeClr val="tx2"/>
                        </a:solidFill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400" b="1" dirty="0">
                          <a:solidFill>
                            <a:schemeClr val="tx2"/>
                          </a:solidFill>
                          <a:effectLst/>
                        </a:rPr>
                        <a:t>Fully Dependent on Movie ID?</a:t>
                      </a:r>
                      <a:endParaRPr lang="en-CA" sz="1400" b="1" i="0" dirty="0">
                        <a:solidFill>
                          <a:schemeClr val="tx2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400" b="1">
                          <a:solidFill>
                            <a:schemeClr val="tx2"/>
                          </a:solidFill>
                          <a:effectLst/>
                        </a:rPr>
                        <a:t>Fully Dependent on Actor ID?</a:t>
                      </a:r>
                      <a:endParaRPr lang="en-CA" sz="1400" b="1" i="0">
                        <a:solidFill>
                          <a:schemeClr val="tx2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400" b="1" dirty="0">
                          <a:solidFill>
                            <a:schemeClr val="tx2"/>
                          </a:solidFill>
                          <a:effectLst/>
                        </a:rPr>
                        <a:t>Fully Dependent on Both?</a:t>
                      </a:r>
                      <a:endParaRPr lang="en-CA" sz="1400" b="1" i="0" dirty="0">
                        <a:solidFill>
                          <a:schemeClr val="tx2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extLst>
                  <a:ext uri="{0D108BD9-81ED-4DB2-BD59-A6C34878D82A}">
                    <a16:rowId xmlns:a16="http://schemas.microsoft.com/office/drawing/2014/main" val="21575674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400">
                          <a:effectLst/>
                        </a:rPr>
                        <a:t>Actor Name</a:t>
                      </a:r>
                      <a:endParaRPr lang="en-CA" sz="14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400">
                          <a:effectLst/>
                        </a:rPr>
                        <a:t>No</a:t>
                      </a:r>
                      <a:endParaRPr lang="en-CA" sz="14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400">
                          <a:effectLst/>
                        </a:rPr>
                        <a:t>Yes</a:t>
                      </a:r>
                      <a:endParaRPr lang="en-CA" sz="14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400">
                          <a:effectLst/>
                        </a:rPr>
                        <a:t>—</a:t>
                      </a:r>
                      <a:endParaRPr lang="en-CA" sz="14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769625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400">
                          <a:effectLst/>
                        </a:rPr>
                        <a:t>Role</a:t>
                      </a:r>
                      <a:endParaRPr lang="en-CA" sz="14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400">
                          <a:effectLst/>
                        </a:rPr>
                        <a:t>No</a:t>
                      </a:r>
                      <a:endParaRPr lang="en-CA" sz="14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400">
                          <a:effectLst/>
                        </a:rPr>
                        <a:t>No</a:t>
                      </a:r>
                      <a:endParaRPr lang="en-CA" sz="14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400" dirty="0">
                          <a:effectLst/>
                        </a:rPr>
                        <a:t>Yes</a:t>
                      </a:r>
                      <a:endParaRPr lang="en-CA" sz="14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2346446831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FDB72498-FDDA-A3EB-020C-9BDE49308801}"/>
              </a:ext>
            </a:extLst>
          </p:cNvPr>
          <p:cNvSpPr txBox="1"/>
          <p:nvPr/>
        </p:nvSpPr>
        <p:spPr>
          <a:xfrm>
            <a:off x="469367" y="3663263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800" b="1" i="0" dirty="0">
                <a:solidFill>
                  <a:schemeClr val="tx1"/>
                </a:solidFill>
                <a:effectLst/>
                <a:latin typeface="+mn-lt"/>
              </a:rPr>
              <a:t>Violation Found:</a:t>
            </a:r>
            <a:endParaRPr lang="en-CA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5AA8840-C842-8163-1083-CB492275E3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6834027"/>
              </p:ext>
            </p:extLst>
          </p:nvPr>
        </p:nvGraphicFramePr>
        <p:xfrm>
          <a:off x="585107" y="4057457"/>
          <a:ext cx="4754880" cy="125628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84960">
                  <a:extLst>
                    <a:ext uri="{9D8B030D-6E8A-4147-A177-3AD203B41FA5}">
                      <a16:colId xmlns:a16="http://schemas.microsoft.com/office/drawing/2014/main" val="3310823226"/>
                    </a:ext>
                  </a:extLst>
                </a:gridCol>
                <a:gridCol w="1584960">
                  <a:extLst>
                    <a:ext uri="{9D8B030D-6E8A-4147-A177-3AD203B41FA5}">
                      <a16:colId xmlns:a16="http://schemas.microsoft.com/office/drawing/2014/main" val="2524648174"/>
                    </a:ext>
                  </a:extLst>
                </a:gridCol>
                <a:gridCol w="1584960">
                  <a:extLst>
                    <a:ext uri="{9D8B030D-6E8A-4147-A177-3AD203B41FA5}">
                      <a16:colId xmlns:a16="http://schemas.microsoft.com/office/drawing/2014/main" val="168585908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600" b="1">
                          <a:solidFill>
                            <a:schemeClr val="tx2"/>
                          </a:solidFill>
                          <a:effectLst/>
                        </a:rPr>
                        <a:t>Attribute</a:t>
                      </a:r>
                      <a:endParaRPr lang="en-CA" sz="1600" b="1" i="0">
                        <a:solidFill>
                          <a:schemeClr val="tx2"/>
                        </a:solidFill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600" b="1" dirty="0">
                          <a:solidFill>
                            <a:schemeClr val="tx2"/>
                          </a:solidFill>
                          <a:effectLst/>
                        </a:rPr>
                        <a:t>Violation</a:t>
                      </a:r>
                      <a:endParaRPr lang="en-CA" sz="1600" b="1" i="0" dirty="0">
                        <a:solidFill>
                          <a:schemeClr val="tx2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600" b="1" dirty="0">
                          <a:solidFill>
                            <a:schemeClr val="tx2"/>
                          </a:solidFill>
                          <a:effectLst/>
                        </a:rPr>
                        <a:t>Depends On</a:t>
                      </a:r>
                      <a:endParaRPr lang="en-CA" sz="1600" b="1" i="0" dirty="0">
                        <a:solidFill>
                          <a:schemeClr val="tx2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extLst>
                  <a:ext uri="{0D108BD9-81ED-4DB2-BD59-A6C34878D82A}">
                    <a16:rowId xmlns:a16="http://schemas.microsoft.com/office/drawing/2014/main" val="39220638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600">
                          <a:effectLst/>
                        </a:rPr>
                        <a:t>Actor Name</a:t>
                      </a:r>
                      <a:endParaRPr lang="en-CA" sz="16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600" dirty="0">
                          <a:effectLst/>
                        </a:rPr>
                        <a:t>Partial Dependency</a:t>
                      </a:r>
                      <a:endParaRPr lang="en-CA" sz="16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600" dirty="0">
                          <a:effectLst/>
                        </a:rPr>
                        <a:t>Actor ID</a:t>
                      </a:r>
                      <a:endParaRPr lang="en-CA" sz="16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1142705924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695EB6D4-930F-B196-473C-ED871903A523}"/>
              </a:ext>
            </a:extLst>
          </p:cNvPr>
          <p:cNvSpPr txBox="1"/>
          <p:nvPr/>
        </p:nvSpPr>
        <p:spPr>
          <a:xfrm>
            <a:off x="5842907" y="4223934"/>
            <a:ext cx="498475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buNone/>
            </a:pPr>
            <a:r>
              <a:rPr lang="en-CA" b="1" i="0" dirty="0">
                <a:solidFill>
                  <a:srgbClr val="0F1115"/>
                </a:solidFill>
                <a:effectLst/>
                <a:latin typeface="quote-cjk-patch"/>
              </a:rPr>
              <a:t>Fix:</a:t>
            </a:r>
            <a:endParaRPr lang="en-CA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marL="0" marR="0" indent="0" algn="l">
              <a:buNone/>
            </a:pPr>
            <a:r>
              <a:rPr lang="en-CA" b="1" i="0" dirty="0">
                <a:solidFill>
                  <a:srgbClr val="0F1115"/>
                </a:solidFill>
                <a:effectLst/>
                <a:latin typeface="quote-cjk-patch"/>
              </a:rPr>
              <a:t>Actor Table:</a:t>
            </a:r>
            <a:r>
              <a:rPr lang="en-CA" dirty="0">
                <a:solidFill>
                  <a:srgbClr val="0F1115"/>
                </a:solidFill>
                <a:latin typeface="quote-cjk-patch"/>
              </a:rPr>
              <a:t> </a:t>
            </a:r>
            <a:r>
              <a:rPr lang="en-CA" b="0" i="0" dirty="0">
                <a:solidFill>
                  <a:srgbClr val="0F1115"/>
                </a:solidFill>
                <a:effectLst/>
                <a:latin typeface="Menlo"/>
              </a:rPr>
              <a:t>Actor(Actor ID, Actor Name)</a:t>
            </a:r>
          </a:p>
          <a:p>
            <a:pPr marL="0" marR="0" indent="0" algn="l">
              <a:buNone/>
            </a:pPr>
            <a:r>
              <a:rPr lang="en-CA" b="1" i="0" dirty="0">
                <a:solidFill>
                  <a:srgbClr val="0F1115"/>
                </a:solidFill>
                <a:effectLst/>
                <a:latin typeface="quote-cjk-patch"/>
              </a:rPr>
              <a:t>Cast Table:</a:t>
            </a:r>
            <a:r>
              <a:rPr lang="en-CA" dirty="0">
                <a:solidFill>
                  <a:srgbClr val="0F1115"/>
                </a:solidFill>
                <a:latin typeface="quote-cjk-patch"/>
              </a:rPr>
              <a:t> </a:t>
            </a:r>
            <a:r>
              <a:rPr lang="en-CA" b="0" i="0" dirty="0">
                <a:solidFill>
                  <a:srgbClr val="0F1115"/>
                </a:solidFill>
                <a:effectLst/>
                <a:latin typeface="Menlo"/>
              </a:rPr>
              <a:t>Cast(Movie ID (FK), Actor ID (FK), Role)</a:t>
            </a:r>
          </a:p>
        </p:txBody>
      </p:sp>
    </p:spTree>
    <p:extLst>
      <p:ext uri="{BB962C8B-B14F-4D97-AF65-F5344CB8AC3E}">
        <p14:creationId xmlns:p14="http://schemas.microsoft.com/office/powerpoint/2010/main" val="360239686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F5C028-EB61-BFE1-2476-3220F7398F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B4AAEE-6361-CE29-F11E-9E4108847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9367" y="581984"/>
            <a:ext cx="10515600" cy="1069679"/>
          </a:xfrm>
        </p:spPr>
        <p:txBody>
          <a:bodyPr>
            <a:normAutofit/>
          </a:bodyPr>
          <a:lstStyle/>
          <a:p>
            <a:r>
              <a:rPr lang="en-CA" b="1" dirty="0"/>
              <a:t>Movie/Actor — 3NF</a:t>
            </a:r>
            <a:endParaRPr lang="en-CA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F240AD-51BC-274D-D016-45B623E74580}"/>
              </a:ext>
            </a:extLst>
          </p:cNvPr>
          <p:cNvSpPr txBox="1"/>
          <p:nvPr/>
        </p:nvSpPr>
        <p:spPr>
          <a:xfrm>
            <a:off x="469367" y="1651663"/>
            <a:ext cx="395749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CA" b="1" dirty="0"/>
              <a:t>Evaluate remaining tables for transitive dependencies:</a:t>
            </a:r>
            <a:endParaRPr lang="en-CA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ECC2A24-13A7-44C6-541C-3106BDE3887F}"/>
              </a:ext>
            </a:extLst>
          </p:cNvPr>
          <p:cNvSpPr txBox="1"/>
          <p:nvPr/>
        </p:nvSpPr>
        <p:spPr>
          <a:xfrm>
            <a:off x="469367" y="3663263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800" b="1" i="0" dirty="0">
                <a:solidFill>
                  <a:schemeClr val="tx1"/>
                </a:solidFill>
                <a:effectLst/>
                <a:latin typeface="+mn-lt"/>
              </a:rPr>
              <a:t>Violation Found:</a:t>
            </a:r>
            <a:endParaRPr lang="en-CA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661A08D-8D35-EE62-EB97-C3C441087364}"/>
              </a:ext>
            </a:extLst>
          </p:cNvPr>
          <p:cNvSpPr txBox="1"/>
          <p:nvPr/>
        </p:nvSpPr>
        <p:spPr>
          <a:xfrm>
            <a:off x="6795754" y="1642545"/>
            <a:ext cx="486900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b="1" dirty="0"/>
              <a:t>No transitive dependencies exist.</a:t>
            </a:r>
            <a:endParaRPr lang="en-CA" dirty="0"/>
          </a:p>
          <a:p>
            <a:r>
              <a:rPr lang="en-CA" b="1" dirty="0"/>
              <a:t>Final 3NF Design</a:t>
            </a:r>
            <a:endParaRPr lang="en-CA" dirty="0"/>
          </a:p>
          <a:p>
            <a:br>
              <a:rPr lang="en-CA" dirty="0"/>
            </a:br>
            <a:endParaRPr lang="en-CA" b="0" i="0" dirty="0">
              <a:solidFill>
                <a:srgbClr val="0F1115"/>
              </a:solidFill>
              <a:effectLst/>
              <a:latin typeface="Menlo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854CF2D-0AF6-E890-B414-E5B8CB27A1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9406490"/>
              </p:ext>
            </p:extLst>
          </p:nvPr>
        </p:nvGraphicFramePr>
        <p:xfrm>
          <a:off x="527237" y="2379468"/>
          <a:ext cx="5980260" cy="251257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93420">
                  <a:extLst>
                    <a:ext uri="{9D8B030D-6E8A-4147-A177-3AD203B41FA5}">
                      <a16:colId xmlns:a16="http://schemas.microsoft.com/office/drawing/2014/main" val="1582282633"/>
                    </a:ext>
                  </a:extLst>
                </a:gridCol>
                <a:gridCol w="1993420">
                  <a:extLst>
                    <a:ext uri="{9D8B030D-6E8A-4147-A177-3AD203B41FA5}">
                      <a16:colId xmlns:a16="http://schemas.microsoft.com/office/drawing/2014/main" val="4105193329"/>
                    </a:ext>
                  </a:extLst>
                </a:gridCol>
                <a:gridCol w="1993420">
                  <a:extLst>
                    <a:ext uri="{9D8B030D-6E8A-4147-A177-3AD203B41FA5}">
                      <a16:colId xmlns:a16="http://schemas.microsoft.com/office/drawing/2014/main" val="2540791330"/>
                    </a:ext>
                  </a:extLst>
                </a:gridCol>
              </a:tblGrid>
              <a:tr h="339948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600" b="1">
                          <a:solidFill>
                            <a:schemeClr val="tx2"/>
                          </a:solidFill>
                          <a:effectLst/>
                        </a:rPr>
                        <a:t>Table</a:t>
                      </a:r>
                      <a:endParaRPr lang="en-CA" sz="1600" b="1" i="0">
                        <a:solidFill>
                          <a:schemeClr val="tx2"/>
                        </a:solidFill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600" b="1">
                          <a:solidFill>
                            <a:schemeClr val="tx2"/>
                          </a:solidFill>
                          <a:effectLst/>
                        </a:rPr>
                        <a:t>Non-Key Attributes</a:t>
                      </a:r>
                      <a:endParaRPr lang="en-CA" sz="1600" b="1" i="0">
                        <a:solidFill>
                          <a:schemeClr val="tx2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600" b="1" dirty="0">
                          <a:solidFill>
                            <a:schemeClr val="tx2"/>
                          </a:solidFill>
                          <a:effectLst/>
                        </a:rPr>
                        <a:t>Violation?</a:t>
                      </a:r>
                      <a:endParaRPr lang="en-CA" sz="1600" b="1" i="0" dirty="0">
                        <a:solidFill>
                          <a:schemeClr val="tx2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extLst>
                  <a:ext uri="{0D108BD9-81ED-4DB2-BD59-A6C34878D82A}">
                    <a16:rowId xmlns:a16="http://schemas.microsoft.com/office/drawing/2014/main" val="3600445183"/>
                  </a:ext>
                </a:extLst>
              </a:tr>
              <a:tr h="339948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600">
                          <a:effectLst/>
                        </a:rPr>
                        <a:t>Movie</a:t>
                      </a:r>
                      <a:endParaRPr lang="en-CA" sz="16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600">
                          <a:effectLst/>
                        </a:rPr>
                        <a:t>Movie Title</a:t>
                      </a:r>
                      <a:endParaRPr lang="en-CA" sz="16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600">
                          <a:effectLst/>
                        </a:rPr>
                        <a:t>No</a:t>
                      </a:r>
                      <a:endParaRPr lang="en-CA" sz="16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3403347387"/>
                  </a:ext>
                </a:extLst>
              </a:tr>
              <a:tr h="339948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600">
                          <a:effectLst/>
                        </a:rPr>
                        <a:t>Actor</a:t>
                      </a:r>
                      <a:endParaRPr lang="en-CA" sz="16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600">
                          <a:effectLst/>
                        </a:rPr>
                        <a:t>Actor Name</a:t>
                      </a:r>
                      <a:endParaRPr lang="en-CA" sz="16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600" dirty="0">
                          <a:effectLst/>
                        </a:rPr>
                        <a:t>No</a:t>
                      </a:r>
                      <a:endParaRPr lang="en-CA" sz="16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1325591101"/>
                  </a:ext>
                </a:extLst>
              </a:tr>
              <a:tr h="56026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600">
                          <a:effectLst/>
                        </a:rPr>
                        <a:t>Cast</a:t>
                      </a:r>
                      <a:endParaRPr lang="en-CA" sz="16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600">
                          <a:effectLst/>
                        </a:rPr>
                        <a:t>Role</a:t>
                      </a:r>
                      <a:endParaRPr lang="en-CA" sz="16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600" dirty="0">
                          <a:effectLst/>
                        </a:rPr>
                        <a:t>No — only one non-key attribute</a:t>
                      </a:r>
                      <a:endParaRPr lang="en-CA" sz="16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2474202239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0A6BAF82-4591-9220-ED95-C924718AA0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434881"/>
              </p:ext>
            </p:extLst>
          </p:nvPr>
        </p:nvGraphicFramePr>
        <p:xfrm>
          <a:off x="6852012" y="2415987"/>
          <a:ext cx="4754880" cy="251415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84960">
                  <a:extLst>
                    <a:ext uri="{9D8B030D-6E8A-4147-A177-3AD203B41FA5}">
                      <a16:colId xmlns:a16="http://schemas.microsoft.com/office/drawing/2014/main" val="2366819603"/>
                    </a:ext>
                  </a:extLst>
                </a:gridCol>
                <a:gridCol w="1584960">
                  <a:extLst>
                    <a:ext uri="{9D8B030D-6E8A-4147-A177-3AD203B41FA5}">
                      <a16:colId xmlns:a16="http://schemas.microsoft.com/office/drawing/2014/main" val="4100022646"/>
                    </a:ext>
                  </a:extLst>
                </a:gridCol>
                <a:gridCol w="1584960">
                  <a:extLst>
                    <a:ext uri="{9D8B030D-6E8A-4147-A177-3AD203B41FA5}">
                      <a16:colId xmlns:a16="http://schemas.microsoft.com/office/drawing/2014/main" val="12906645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600" b="1">
                          <a:solidFill>
                            <a:schemeClr val="tx2"/>
                          </a:solidFill>
                          <a:effectLst/>
                        </a:rPr>
                        <a:t>Movie</a:t>
                      </a:r>
                      <a:endParaRPr lang="en-CA" sz="1600" b="1" i="0">
                        <a:solidFill>
                          <a:schemeClr val="tx2"/>
                        </a:solidFill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600" b="1">
                          <a:solidFill>
                            <a:schemeClr val="tx2"/>
                          </a:solidFill>
                          <a:effectLst/>
                        </a:rPr>
                        <a:t>Actor</a:t>
                      </a:r>
                      <a:endParaRPr lang="en-CA" sz="1600" b="1" i="0">
                        <a:solidFill>
                          <a:schemeClr val="tx2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600" b="1" dirty="0">
                          <a:solidFill>
                            <a:schemeClr val="tx2"/>
                          </a:solidFill>
                          <a:effectLst/>
                        </a:rPr>
                        <a:t>Cast</a:t>
                      </a:r>
                      <a:endParaRPr lang="en-CA" sz="1600" b="1" i="0" dirty="0">
                        <a:solidFill>
                          <a:schemeClr val="tx2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extLst>
                  <a:ext uri="{0D108BD9-81ED-4DB2-BD59-A6C34878D82A}">
                    <a16:rowId xmlns:a16="http://schemas.microsoft.com/office/drawing/2014/main" val="22758238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600" dirty="0">
                          <a:effectLst/>
                        </a:rPr>
                        <a:t>Movie ID (PK)</a:t>
                      </a:r>
                      <a:endParaRPr lang="en-CA" sz="16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600">
                          <a:effectLst/>
                        </a:rPr>
                        <a:t>Actor ID (PK)</a:t>
                      </a:r>
                      <a:endParaRPr lang="en-CA" sz="16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600">
                          <a:effectLst/>
                        </a:rPr>
                        <a:t>Movie ID (FK) (PK)</a:t>
                      </a:r>
                      <a:endParaRPr lang="en-CA" sz="16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5117213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600">
                          <a:effectLst/>
                        </a:rPr>
                        <a:t>Movie Title</a:t>
                      </a:r>
                      <a:endParaRPr lang="en-CA" sz="16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600">
                          <a:effectLst/>
                        </a:rPr>
                        <a:t>Actor Name</a:t>
                      </a:r>
                      <a:endParaRPr lang="en-CA" sz="16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600" dirty="0">
                          <a:effectLst/>
                        </a:rPr>
                        <a:t>Actor ID (FK) (PK)</a:t>
                      </a:r>
                      <a:endParaRPr lang="en-CA" sz="16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37694007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endParaRPr lang="en-CA" sz="16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endParaRPr lang="en-CA" sz="16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600" dirty="0">
                          <a:effectLst/>
                        </a:rPr>
                        <a:t>Role</a:t>
                      </a:r>
                      <a:endParaRPr lang="en-CA" sz="16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23651357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4078465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C382F4-0460-BD2E-58C1-6291A8E3E7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90DD0B-5856-E33D-4F77-22EAD65006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9367" y="581984"/>
            <a:ext cx="10515600" cy="1069679"/>
          </a:xfrm>
        </p:spPr>
        <p:txBody>
          <a:bodyPr>
            <a:normAutofit/>
          </a:bodyPr>
          <a:lstStyle/>
          <a:p>
            <a:r>
              <a:rPr lang="en-CA" b="1" dirty="0"/>
              <a:t>Movie/Actor — 3NF</a:t>
            </a:r>
            <a:endParaRPr lang="en-CA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99E158D-37C2-96B7-32B3-0EDAD9BE20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367" y="221342"/>
            <a:ext cx="7799614" cy="5199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85034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NAIT Blues">
      <a:dk1>
        <a:srgbClr val="000000"/>
      </a:dk1>
      <a:lt1>
        <a:srgbClr val="FFFFFF"/>
      </a:lt1>
      <a:dk2>
        <a:srgbClr val="335B74"/>
      </a:dk2>
      <a:lt2>
        <a:srgbClr val="DFE3E5"/>
      </a:lt2>
      <a:accent1>
        <a:srgbClr val="1CADE4"/>
      </a:accent1>
      <a:accent2>
        <a:srgbClr val="00498D"/>
      </a:accent2>
      <a:accent3>
        <a:srgbClr val="8CC63F"/>
      </a:accent3>
      <a:accent4>
        <a:srgbClr val="482F91"/>
      </a:accent4>
      <a:accent5>
        <a:srgbClr val="F26E23"/>
      </a:accent5>
      <a:accent6>
        <a:srgbClr val="A9A9A9"/>
      </a:accent6>
      <a:hlink>
        <a:srgbClr val="00ACED"/>
      </a:hlink>
      <a:folHlink>
        <a:srgbClr val="00ACED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AIT Standard Powerpoint Presentation Template for NAIT Screens" id="{3BD04EBB-4171-4583-A98E-91711106D317}" vid="{263152E8-5872-4D90-B5D5-232AD3B8B37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BB085E912FEB648B2192060B32B0D81" ma:contentTypeVersion="13" ma:contentTypeDescription="Create a new document." ma:contentTypeScope="" ma:versionID="86d586ee750db57df4bf82dbbd148a8d">
  <xsd:schema xmlns:xsd="http://www.w3.org/2001/XMLSchema" xmlns:xs="http://www.w3.org/2001/XMLSchema" xmlns:p="http://schemas.microsoft.com/office/2006/metadata/properties" xmlns:ns2="c0636a0e-6a5d-4f3a-8cec-2ed9d7e96064" xmlns:ns3="28175f85-aaa6-450f-8e62-bb2d8657c111" targetNamespace="http://schemas.microsoft.com/office/2006/metadata/properties" ma:root="true" ma:fieldsID="b83bdf18099a32914c9c196890c95f2f" ns2:_="" ns3:_="">
    <xsd:import namespace="c0636a0e-6a5d-4f3a-8cec-2ed9d7e96064"/>
    <xsd:import namespace="28175f85-aaa6-450f-8e62-bb2d8657c11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DocumentTyp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636a0e-6a5d-4f3a-8cec-2ed9d7e9606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6ce3a7a1-84a7-46f6-b9ea-52be05fcf1b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DocumentType" ma:index="20" nillable="true" ma:displayName="Document Type" ma:format="Dropdown" ma:internalName="DocumentType">
      <xsd:simpleType>
        <xsd:union memberTypes="dms:Text">
          <xsd:simpleType>
            <xsd:restriction base="dms:Choice">
              <xsd:enumeration value="Source of truth"/>
              <xsd:enumeration value="Archive"/>
            </xsd:restriction>
          </xsd:simpleType>
        </xsd:un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8175f85-aaa6-450f-8e62-bb2d8657c111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51229875-1db7-498c-8d13-35c205bc76f3}" ma:internalName="TaxCatchAll" ma:showField="CatchAllData" ma:web="28175f85-aaa6-450f-8e62-bb2d8657c11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c0636a0e-6a5d-4f3a-8cec-2ed9d7e96064">
      <Terms xmlns="http://schemas.microsoft.com/office/infopath/2007/PartnerControls"/>
    </lcf76f155ced4ddcb4097134ff3c332f>
    <TaxCatchAll xmlns="28175f85-aaa6-450f-8e62-bb2d8657c111" xsi:nil="true"/>
    <DocumentType xmlns="c0636a0e-6a5d-4f3a-8cec-2ed9d7e96064" xsi:nil="true"/>
  </documentManagement>
</p:properties>
</file>

<file path=customXml/itemProps1.xml><?xml version="1.0" encoding="utf-8"?>
<ds:datastoreItem xmlns:ds="http://schemas.openxmlformats.org/officeDocument/2006/customXml" ds:itemID="{6ABA5B65-9C6D-442F-9E03-5588B1ABEE4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0636a0e-6a5d-4f3a-8cec-2ed9d7e96064"/>
    <ds:schemaRef ds:uri="28175f85-aaa6-450f-8e62-bb2d8657c11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540F518-E7A2-492A-A586-FD4E5E75005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4087D08-9B7A-464C-90FA-EA923D7CBBB6}">
  <ds:schemaRefs>
    <ds:schemaRef ds:uri="http://schemas.openxmlformats.org/package/2006/metadata/core-properties"/>
    <ds:schemaRef ds:uri="http://www.w3.org/XML/1998/namespace"/>
    <ds:schemaRef ds:uri="http://schemas.microsoft.com/office/2006/metadata/properties"/>
    <ds:schemaRef ds:uri="http://schemas.microsoft.com/office/2006/documentManagement/types"/>
    <ds:schemaRef ds:uri="http://purl.org/dc/dcmitype/"/>
    <ds:schemaRef ds:uri="http://purl.org/dc/terms/"/>
    <ds:schemaRef ds:uri="52bb52fc-fb4a-47ec-96af-1ca16eda3341"/>
    <ds:schemaRef ds:uri="http://purl.org/dc/elements/1.1/"/>
    <ds:schemaRef ds:uri="http://schemas.microsoft.com/office/infopath/2007/PartnerControls"/>
    <ds:schemaRef ds:uri="0fa82ce2-b671-45ef-b5fe-18516deeba49"/>
    <ds:schemaRef ds:uri="f60468bc-9de1-4bbe-b533-c963951abe47"/>
    <ds:schemaRef ds:uri="c0636a0e-6a5d-4f3a-8cec-2ed9d7e96064"/>
    <ds:schemaRef ds:uri="28175f85-aaa6-450f-8e62-bb2d8657c111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NAIT Standard Powerpoint Presentation Template for NAIT Screens</Template>
  <TotalTime>10464</TotalTime>
  <Words>2689</Words>
  <Application>Microsoft Office PowerPoint</Application>
  <PresentationFormat>Widescreen</PresentationFormat>
  <Paragraphs>506</Paragraphs>
  <Slides>37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3" baseType="lpstr">
      <vt:lpstr>Arial</vt:lpstr>
      <vt:lpstr>Calibri</vt:lpstr>
      <vt:lpstr>Menlo</vt:lpstr>
      <vt:lpstr>quote-cjk-patch</vt:lpstr>
      <vt:lpstr>Wingdings</vt:lpstr>
      <vt:lpstr>Office Theme</vt:lpstr>
      <vt:lpstr>PowerPoint Presentation</vt:lpstr>
      <vt:lpstr>Today's Objectives </vt:lpstr>
      <vt:lpstr>Where Are We in the Course?</vt:lpstr>
      <vt:lpstr>The Problem with Large Tables </vt:lpstr>
      <vt:lpstr>Brainstorming Activity </vt:lpstr>
      <vt:lpstr>The Normal Forms </vt:lpstr>
      <vt:lpstr>The Trade-Off </vt:lpstr>
      <vt:lpstr>What is Denormalization? </vt:lpstr>
      <vt:lpstr>Normal Forms Are Based on Keys </vt:lpstr>
      <vt:lpstr>Business Rules Affect Design </vt:lpstr>
      <vt:lpstr>Business Rules Affect Design  </vt:lpstr>
      <vt:lpstr>The Employee Workload View </vt:lpstr>
      <vt:lpstr>Step 0 — Identify Entities and Relationships</vt:lpstr>
      <vt:lpstr>Step 1 — Create the Initial Table</vt:lpstr>
      <vt:lpstr>Step 1 — Selecting the Primary Key </vt:lpstr>
      <vt:lpstr>Step 1 — Identifying the Repeating Group </vt:lpstr>
      <vt:lpstr>Step 2 — Apply 1NF Rules</vt:lpstr>
      <vt:lpstr>Step 2 — Fixing 1NF Violations </vt:lpstr>
      <vt:lpstr>Step 2 — 1NF Result</vt:lpstr>
      <vt:lpstr>Step 3 — Apply 2NF Rules</vt:lpstr>
      <vt:lpstr>Step 3 — Apply 2NF Rules</vt:lpstr>
      <vt:lpstr>Step 3 — 2NF Violations in WorksOn </vt:lpstr>
      <vt:lpstr>Step 3 — 2NF Violations in WorksOn </vt:lpstr>
      <vt:lpstr>EXPLORING: Step 3 — Fixing 2NF Violations</vt:lpstr>
      <vt:lpstr>EXPLORING: 2NF ERD</vt:lpstr>
      <vt:lpstr>Step 4 — Apply 3NF Rule</vt:lpstr>
      <vt:lpstr>Step 4 — 3NF Violation in Employee</vt:lpstr>
      <vt:lpstr>Step 4 — Fixing 3NF Violations</vt:lpstr>
      <vt:lpstr>Step 4 — 3NF Result </vt:lpstr>
      <vt:lpstr>EXPLORING: 3NF ERD (Final Design) </vt:lpstr>
      <vt:lpstr>Summary of Normal Forms</vt:lpstr>
      <vt:lpstr>Guided Walkthrough — Movie/Actor</vt:lpstr>
      <vt:lpstr>Guided Walkthrough — Movie/Actor</vt:lpstr>
      <vt:lpstr>Movie/Actor — 1NF</vt:lpstr>
      <vt:lpstr>Movie/Actor — 2NF</vt:lpstr>
      <vt:lpstr>Movie/Actor — 3NF</vt:lpstr>
      <vt:lpstr>Movie/Actor — 3NF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Larisa Pitchko</dc:creator>
  <cp:lastModifiedBy>Larisa Pitchko</cp:lastModifiedBy>
  <cp:revision>242</cp:revision>
  <dcterms:created xsi:type="dcterms:W3CDTF">2019-08-28T18:27:45Z</dcterms:created>
  <dcterms:modified xsi:type="dcterms:W3CDTF">2026-09-14T17:05:01Z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wner - Department">
    <vt:lpwstr>197;#Brand|943f07b5-0abf-4eba-9a92-bb911ec4797c</vt:lpwstr>
  </property>
  <property fmtid="{D5CDD505-2E9C-101B-9397-08002B2CF9AE}" pid="3" name="Topic">
    <vt:lpwstr>114;#NAIT Brand|56c3f36a-7bf3-46f3-a4b0-bb3df19b2675</vt:lpwstr>
  </property>
  <property fmtid="{D5CDD505-2E9C-101B-9397-08002B2CF9AE}" pid="4" name="Building">
    <vt:lpwstr/>
  </property>
  <property fmtid="{D5CDD505-2E9C-101B-9397-08002B2CF9AE}" pid="5" name="ContentTypeId">
    <vt:lpwstr>0x0101007BB085E912FEB648B2192060B32B0D81</vt:lpwstr>
  </property>
  <property fmtid="{D5CDD505-2E9C-101B-9397-08002B2CF9AE}" pid="6" name="Target Audience">
    <vt:lpwstr/>
  </property>
  <property fmtid="{D5CDD505-2E9C-101B-9397-08002B2CF9AE}" pid="7" name="_dlc_DocIdItemGuid">
    <vt:lpwstr>fb17ffeb-f9e3-4da5-8986-98ba4c89698a</vt:lpwstr>
  </property>
  <property fmtid="{D5CDD505-2E9C-101B-9397-08002B2CF9AE}" pid="8" name="PublishedDocument.Location">
    <vt:lpwstr/>
  </property>
  <property fmtid="{D5CDD505-2E9C-101B-9397-08002B2CF9AE}" pid="9" name="Program">
    <vt:lpwstr/>
  </property>
  <property fmtid="{D5CDD505-2E9C-101B-9397-08002B2CF9AE}" pid="10" name="MediaServiceImageTags">
    <vt:lpwstr/>
  </property>
  <property fmtid="{D5CDD505-2E9C-101B-9397-08002B2CF9AE}" pid="11" name="MSIP_Label_10877899-02b0-462c-b2a9-b7d15c4f96fe_Enabled">
    <vt:lpwstr>true</vt:lpwstr>
  </property>
  <property fmtid="{D5CDD505-2E9C-101B-9397-08002B2CF9AE}" pid="12" name="MSIP_Label_10877899-02b0-462c-b2a9-b7d15c4f96fe_SetDate">
    <vt:lpwstr>2025-04-25T04:19:52Z</vt:lpwstr>
  </property>
  <property fmtid="{D5CDD505-2E9C-101B-9397-08002B2CF9AE}" pid="13" name="MSIP_Label_10877899-02b0-462c-b2a9-b7d15c4f96fe_Method">
    <vt:lpwstr>Standard</vt:lpwstr>
  </property>
  <property fmtid="{D5CDD505-2E9C-101B-9397-08002B2CF9AE}" pid="14" name="MSIP_Label_10877899-02b0-462c-b2a9-b7d15c4f96fe_Name">
    <vt:lpwstr>Protected [Protected A]</vt:lpwstr>
  </property>
  <property fmtid="{D5CDD505-2E9C-101B-9397-08002B2CF9AE}" pid="15" name="MSIP_Label_10877899-02b0-462c-b2a9-b7d15c4f96fe_SiteId">
    <vt:lpwstr>5c98fb47-d3b9-4649-9d94-f88cbdd9729c</vt:lpwstr>
  </property>
  <property fmtid="{D5CDD505-2E9C-101B-9397-08002B2CF9AE}" pid="16" name="MSIP_Label_10877899-02b0-462c-b2a9-b7d15c4f96fe_ActionId">
    <vt:lpwstr>162fc8a6-e960-4808-9911-9227cb246ce1</vt:lpwstr>
  </property>
  <property fmtid="{D5CDD505-2E9C-101B-9397-08002B2CF9AE}" pid="17" name="MSIP_Label_10877899-02b0-462c-b2a9-b7d15c4f96fe_ContentBits">
    <vt:lpwstr>0</vt:lpwstr>
  </property>
  <property fmtid="{D5CDD505-2E9C-101B-9397-08002B2CF9AE}" pid="18" name="MSIP_Label_10877899-02b0-462c-b2a9-b7d15c4f96fe_Tag">
    <vt:lpwstr>10, 3, 0, 1</vt:lpwstr>
  </property>
</Properties>
</file>