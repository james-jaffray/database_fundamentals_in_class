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sldIdLst>
    <p:sldId id="271" r:id="rId5"/>
    <p:sldId id="282" r:id="rId6"/>
    <p:sldId id="257" r:id="rId7"/>
    <p:sldId id="367" r:id="rId8"/>
    <p:sldId id="368" r:id="rId9"/>
    <p:sldId id="369" r:id="rId10"/>
    <p:sldId id="370" r:id="rId11"/>
    <p:sldId id="371" r:id="rId12"/>
    <p:sldId id="366" r:id="rId13"/>
    <p:sldId id="372" r:id="rId14"/>
    <p:sldId id="373" r:id="rId15"/>
    <p:sldId id="374" r:id="rId16"/>
    <p:sldId id="375" r:id="rId17"/>
    <p:sldId id="376" r:id="rId18"/>
    <p:sldId id="377" r:id="rId19"/>
    <p:sldId id="378" r:id="rId20"/>
    <p:sldId id="379" r:id="rId21"/>
    <p:sldId id="284" r:id="rId22"/>
    <p:sldId id="380" r:id="rId23"/>
    <p:sldId id="381" r:id="rId24"/>
    <p:sldId id="382" r:id="rId25"/>
    <p:sldId id="365" r:id="rId26"/>
    <p:sldId id="383" r:id="rId27"/>
    <p:sldId id="384" r:id="rId28"/>
    <p:sldId id="385" r:id="rId29"/>
    <p:sldId id="386" r:id="rId30"/>
    <p:sldId id="387" r:id="rId31"/>
    <p:sldId id="388" r:id="rId32"/>
    <p:sldId id="389" r:id="rId33"/>
    <p:sldId id="390" r:id="rId34"/>
    <p:sldId id="286" r:id="rId35"/>
    <p:sldId id="391" r:id="rId36"/>
    <p:sldId id="392" r:id="rId37"/>
    <p:sldId id="393" r:id="rId38"/>
    <p:sldId id="39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23" autoAdjust="0"/>
    <p:restoredTop sz="89935" autoAdjust="0"/>
  </p:normalViewPr>
  <p:slideViewPr>
    <p:cSldViewPr snapToGrid="0" snapToObjects="1" showGuides="1">
      <p:cViewPr varScale="1">
        <p:scale>
          <a:sx n="74" d="100"/>
          <a:sy n="74" d="100"/>
        </p:scale>
        <p:origin x="763"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32709-1847-4F53-98E0-E379346D49D8}"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A85F0-2AA3-412D-B482-1445E370E3F6}" type="slidenum">
              <a:rPr lang="en-US" smtClean="0"/>
              <a:t>‹#›</a:t>
            </a:fld>
            <a:endParaRPr lang="en-US"/>
          </a:p>
        </p:txBody>
      </p:sp>
    </p:spTree>
    <p:extLst>
      <p:ext uri="{BB962C8B-B14F-4D97-AF65-F5344CB8AC3E}">
        <p14:creationId xmlns:p14="http://schemas.microsoft.com/office/powerpoint/2010/main" val="3205632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2A85F0-2AA3-412D-B482-1445E370E3F6}" type="slidenum">
              <a:rPr lang="en-US" smtClean="0"/>
              <a:t>1</a:t>
            </a:fld>
            <a:endParaRPr lang="en-US"/>
          </a:p>
        </p:txBody>
      </p:sp>
    </p:spTree>
    <p:extLst>
      <p:ext uri="{BB962C8B-B14F-4D97-AF65-F5344CB8AC3E}">
        <p14:creationId xmlns:p14="http://schemas.microsoft.com/office/powerpoint/2010/main" val="407686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6116db96f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6116db96f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Why Do We Need Databases?</a:t>
            </a:r>
          </a:p>
          <a:p>
            <a:r>
              <a:rPr lang="en-CA" dirty="0"/>
              <a:t>This is where I would slow down a little and make it practical.</a:t>
            </a:r>
          </a:p>
          <a:p>
            <a:r>
              <a:rPr lang="en-CA" dirty="0"/>
              <a:t>“But here's the more interesting question: </a:t>
            </a:r>
            <a:r>
              <a:rPr lang="en-CA" b="1" dirty="0"/>
              <a:t>Why do we need databases in the first place?</a:t>
            </a:r>
            <a:r>
              <a:rPr lang="en-CA" dirty="0"/>
              <a:t>”</a:t>
            </a:r>
          </a:p>
          <a:p>
            <a:r>
              <a:rPr lang="en-CA" dirty="0"/>
              <a:t>“If I only have five customers, I could probably keep their information in a spreadsheet. I could even write it down on paper.”</a:t>
            </a:r>
          </a:p>
          <a:p>
            <a:r>
              <a:rPr lang="en-CA" dirty="0"/>
              <a:t>“But what happens when I have 5,000 customers? Or 5 million?”</a:t>
            </a:r>
          </a:p>
          <a:p>
            <a:r>
              <a:rPr lang="en-CA" dirty="0"/>
              <a:t>“Now I have a problem.”</a:t>
            </a:r>
          </a:p>
          <a:p>
            <a:r>
              <a:rPr lang="en-CA" b="1" dirty="0"/>
              <a:t>Problem 1 — Finding information</a:t>
            </a:r>
          </a:p>
          <a:p>
            <a:r>
              <a:rPr lang="en-CA" dirty="0"/>
              <a:t>“Imagine a company has 100,000 customers and someone asks, </a:t>
            </a:r>
            <a:r>
              <a:rPr lang="en-CA" i="1" dirty="0"/>
              <a:t>‘Show me every customer who placed an order in the last 30 days.’</a:t>
            </a:r>
            <a:r>
              <a:rPr lang="en-CA" dirty="0"/>
              <a:t>”</a:t>
            </a:r>
          </a:p>
          <a:p>
            <a:r>
              <a:rPr lang="en-CA" dirty="0"/>
              <a:t>“You don't want an employee manually searching through thousands of records.”</a:t>
            </a:r>
          </a:p>
          <a:p>
            <a:r>
              <a:rPr lang="en-CA" dirty="0"/>
              <a:t>“A database allows us to </a:t>
            </a:r>
            <a:r>
              <a:rPr lang="en-CA" b="1" dirty="0"/>
              <a:t>find specific information quickly</a:t>
            </a:r>
            <a:r>
              <a:rPr lang="en-CA" dirty="0"/>
              <a:t>.”</a:t>
            </a:r>
          </a:p>
          <a:p>
            <a:r>
              <a:rPr lang="en-CA" b="1" dirty="0"/>
              <a:t>Problem 2 — Updating information</a:t>
            </a:r>
          </a:p>
          <a:p>
            <a:r>
              <a:rPr lang="en-CA" dirty="0"/>
              <a:t>“Now imagine a customer moves and changes their address.”</a:t>
            </a:r>
          </a:p>
          <a:p>
            <a:r>
              <a:rPr lang="en-CA" dirty="0"/>
              <a:t>“We don't want their old address sitting in five different places and someone having to remember to update all five.”</a:t>
            </a:r>
          </a:p>
          <a:p>
            <a:r>
              <a:rPr lang="en-CA" dirty="0"/>
              <a:t>“A well-designed database helps us </a:t>
            </a:r>
            <a:r>
              <a:rPr lang="en-CA" b="1" dirty="0"/>
              <a:t>store information in a structured way and update it consistently</a:t>
            </a:r>
            <a:r>
              <a:rPr lang="en-CA" dirty="0"/>
              <a:t>.”</a:t>
            </a:r>
          </a:p>
          <a:p>
            <a:endParaRPr lang="en-CA"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72363054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Likely answers:</a:t>
            </a:r>
          </a:p>
          <a:p>
            <a:pPr lvl="0"/>
            <a:r>
              <a:rPr lang="en-CA" dirty="0"/>
              <a:t>Instagram </a:t>
            </a:r>
          </a:p>
          <a:p>
            <a:pPr lvl="0"/>
            <a:r>
              <a:rPr lang="en-CA" dirty="0"/>
              <a:t>TikTok </a:t>
            </a:r>
          </a:p>
          <a:p>
            <a:pPr lvl="0"/>
            <a:r>
              <a:rPr lang="en-CA" dirty="0"/>
              <a:t>banking </a:t>
            </a:r>
          </a:p>
          <a:p>
            <a:pPr lvl="0"/>
            <a:r>
              <a:rPr lang="en-CA" dirty="0"/>
              <a:t>Amazon </a:t>
            </a:r>
          </a:p>
          <a:p>
            <a:pPr lvl="0"/>
            <a:r>
              <a:rPr lang="en-CA" dirty="0"/>
              <a:t>Netflix </a:t>
            </a:r>
          </a:p>
          <a:p>
            <a:pPr lvl="0"/>
            <a:r>
              <a:rPr lang="en-CA" dirty="0"/>
              <a:t>Google </a:t>
            </a:r>
          </a:p>
          <a:p>
            <a:pPr lvl="0"/>
            <a:r>
              <a:rPr lang="en-CA" dirty="0"/>
              <a:t>school registration </a:t>
            </a:r>
          </a:p>
          <a:p>
            <a:pPr lvl="0"/>
            <a:r>
              <a:rPr lang="en-CA" dirty="0"/>
              <a:t>healthcare </a:t>
            </a:r>
          </a:p>
          <a:p>
            <a:pPr lvl="0"/>
            <a:r>
              <a:rPr lang="en-CA" dirty="0"/>
              <a:t>Uber </a:t>
            </a:r>
          </a:p>
          <a:p>
            <a:pPr lvl="0"/>
            <a:r>
              <a:rPr lang="en-CA" dirty="0"/>
              <a:t>Spotify </a:t>
            </a:r>
          </a:p>
          <a:p>
            <a:pPr lvl="0"/>
            <a:r>
              <a:rPr lang="en-CA" dirty="0"/>
              <a:t>email </a:t>
            </a:r>
          </a:p>
          <a:p>
            <a:r>
              <a:rPr lang="en-CA" dirty="0"/>
              <a:t>Almost every one of those systems needs to store and retrieve information about users, transactions, content, or activity.</a:t>
            </a:r>
          </a:p>
          <a:p>
            <a:r>
              <a:rPr lang="en-CA" b="1" dirty="0"/>
              <a:t>“The interesting part of databases isn't just storing data. It's figuring out how to organize information so that a computer — and the people using it — can actually make sense of it.”</a:t>
            </a:r>
            <a:endParaRPr lang="en-CA" dirty="0"/>
          </a:p>
          <a:p>
            <a:endParaRPr lang="en-CA" dirty="0"/>
          </a:p>
        </p:txBody>
      </p:sp>
      <p:sp>
        <p:nvSpPr>
          <p:cNvPr id="4" name="Slide Number Placeholder 3"/>
          <p:cNvSpPr>
            <a:spLocks noGrp="1"/>
          </p:cNvSpPr>
          <p:nvPr>
            <p:ph type="sldNum" sz="quarter" idx="5"/>
          </p:nvPr>
        </p:nvSpPr>
        <p:spPr/>
        <p:txBody>
          <a:bodyPr/>
          <a:lstStyle/>
          <a:p>
            <a:fld id="{622A85F0-2AA3-412D-B482-1445E370E3F6}" type="slidenum">
              <a:rPr lang="en-US" smtClean="0"/>
              <a:t>4</a:t>
            </a:fld>
            <a:endParaRPr lang="en-US"/>
          </a:p>
        </p:txBody>
      </p:sp>
    </p:spTree>
    <p:extLst>
      <p:ext uri="{BB962C8B-B14F-4D97-AF65-F5344CB8AC3E}">
        <p14:creationId xmlns:p14="http://schemas.microsoft.com/office/powerpoint/2010/main" val="2843145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F36E8885-8512-8A6C-E206-72B2DADED6A7}"/>
            </a:ext>
          </a:extLst>
        </p:cNvPr>
        <p:cNvGrpSpPr/>
        <p:nvPr/>
      </p:nvGrpSpPr>
      <p:grpSpPr>
        <a:xfrm>
          <a:off x="0" y="0"/>
          <a:ext cx="0" cy="0"/>
          <a:chOff x="0" y="0"/>
          <a:chExt cx="0" cy="0"/>
        </a:xfrm>
      </p:grpSpPr>
      <p:sp>
        <p:nvSpPr>
          <p:cNvPr id="228" name="Google Shape;228;g6116db96f5_1_0:notes">
            <a:extLst>
              <a:ext uri="{FF2B5EF4-FFF2-40B4-BE49-F238E27FC236}">
                <a16:creationId xmlns:a16="http://schemas.microsoft.com/office/drawing/2014/main" id="{372B1C8D-5706-4087-3D38-D829BB43D2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6116db96f5_1_0:notes">
            <a:extLst>
              <a:ext uri="{FF2B5EF4-FFF2-40B4-BE49-F238E27FC236}">
                <a16:creationId xmlns:a16="http://schemas.microsoft.com/office/drawing/2014/main" id="{7A54CCDE-049F-FD5A-E908-DEA89F2FA1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What is a Database? — Speaking Notes</a:t>
            </a:r>
          </a:p>
          <a:p>
            <a:r>
              <a:rPr lang="en-CA" dirty="0"/>
              <a:t>“Before we get into all the technical terminology, let's start with a very simple question: </a:t>
            </a:r>
            <a:r>
              <a:rPr lang="en-CA" b="1" dirty="0"/>
              <a:t>What is a database?</a:t>
            </a:r>
            <a:r>
              <a:rPr lang="en-CA" dirty="0"/>
              <a:t>”</a:t>
            </a:r>
          </a:p>
          <a:p>
            <a:r>
              <a:rPr lang="en-CA" dirty="0"/>
              <a:t>“When you hear the word database, you might immediately think of something complicated — servers, SQL, tables, code. But at its most basic level, a database is simply </a:t>
            </a:r>
            <a:r>
              <a:rPr lang="en-CA" b="1" dirty="0"/>
              <a:t>an organized collection of data</a:t>
            </a:r>
            <a:r>
              <a:rPr lang="en-CA" dirty="0"/>
              <a:t>.”</a:t>
            </a:r>
          </a:p>
          <a:p>
            <a:r>
              <a:rPr lang="en-CA" dirty="0"/>
              <a:t>“The important word here is </a:t>
            </a:r>
            <a:r>
              <a:rPr lang="en-CA" i="1" dirty="0"/>
              <a:t>organized</a:t>
            </a:r>
            <a:r>
              <a:rPr lang="en-CA" dirty="0"/>
              <a:t>. We don't just want to have a huge pile of information. We want that information stored in a way that allows us to find it, update it, manage it, and use it.”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65947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familiar example</a:t>
            </a:r>
          </a:p>
          <a:p>
            <a:r>
              <a:rPr lang="en-CA" dirty="0"/>
              <a:t>“Let's say I have a list of 10,000 customers.”</a:t>
            </a:r>
          </a:p>
          <a:p>
            <a:r>
              <a:rPr lang="en-CA" dirty="0"/>
              <a:t>“For each customer, I might have their customer number, first name, last name, address, phone number, email, and maybe their order history.”</a:t>
            </a:r>
          </a:p>
          <a:p>
            <a:r>
              <a:rPr lang="en-CA" dirty="0"/>
              <a:t>“That information is data. If I organize and store it so that I can efficiently work with it, I have a database.”</a:t>
            </a:r>
          </a:p>
          <a:p>
            <a:endParaRPr lang="en-CA" dirty="0"/>
          </a:p>
        </p:txBody>
      </p:sp>
      <p:sp>
        <p:nvSpPr>
          <p:cNvPr id="4" name="Slide Number Placeholder 3"/>
          <p:cNvSpPr>
            <a:spLocks noGrp="1"/>
          </p:cNvSpPr>
          <p:nvPr>
            <p:ph type="sldNum" sz="quarter" idx="5"/>
          </p:nvPr>
        </p:nvSpPr>
        <p:spPr/>
        <p:txBody>
          <a:bodyPr/>
          <a:lstStyle/>
          <a:p>
            <a:fld id="{622A85F0-2AA3-412D-B482-1445E370E3F6}" type="slidenum">
              <a:rPr lang="en-US" smtClean="0"/>
              <a:t>11</a:t>
            </a:fld>
            <a:endParaRPr lang="en-US"/>
          </a:p>
        </p:txBody>
      </p:sp>
    </p:spTree>
    <p:extLst>
      <p:ext uri="{BB962C8B-B14F-4D97-AF65-F5344CB8AC3E}">
        <p14:creationId xmlns:p14="http://schemas.microsoft.com/office/powerpoint/2010/main" val="783378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6116db96f5_2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6116db96f5_2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“This is a very simple example of what data might look like inside a relational database. We have rows representing individual customers, and columns representing the different pieces of information we store about them.”</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116db96f5_2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116db96f5_2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Transition to DBMS</a:t>
            </a:r>
          </a:p>
          <a:p>
            <a:r>
              <a:rPr lang="en-CA" dirty="0"/>
              <a:t>Now you can move naturally to the first diagram:</a:t>
            </a:r>
          </a:p>
          <a:p>
            <a:r>
              <a:rPr lang="en-CA" dirty="0"/>
              <a:t>“But there's an important distinction we need to make.”</a:t>
            </a:r>
          </a:p>
          <a:p>
            <a:r>
              <a:rPr lang="en-CA" dirty="0"/>
              <a:t>“A </a:t>
            </a:r>
            <a:r>
              <a:rPr lang="en-CA" b="1" dirty="0"/>
              <a:t>database</a:t>
            </a:r>
            <a:r>
              <a:rPr lang="en-CA" dirty="0"/>
              <a:t> is where the data is stored.”</a:t>
            </a:r>
          </a:p>
          <a:p>
            <a:r>
              <a:rPr lang="en-CA" dirty="0"/>
              <a:t>“A </a:t>
            </a:r>
            <a:r>
              <a:rPr lang="en-CA" b="1" dirty="0"/>
              <a:t>DBMS</a:t>
            </a:r>
            <a:r>
              <a:rPr lang="en-CA" dirty="0"/>
              <a:t>, or Database Management System, is the software that allows us to create, manage, access, and work with that data.”</a:t>
            </a:r>
          </a:p>
          <a:p>
            <a:r>
              <a:rPr lang="en-CA" dirty="0"/>
              <a:t>“Think of the database as the organized collection of information, and the DBMS as the system that lets us interact with it.”</a:t>
            </a:r>
          </a:p>
          <a:p>
            <a:r>
              <a:rPr lang="en-CA" dirty="0"/>
              <a:t>You can give them a simple analogy:</a:t>
            </a:r>
          </a:p>
          <a:p>
            <a:r>
              <a:rPr lang="en-CA" dirty="0"/>
              <a:t>“If the database is the library's collection of books, the DBMS is the system that lets you catalog the books, search for a book, check it out, update information, and manage who has access to it.”</a:t>
            </a:r>
          </a:p>
          <a:p>
            <a:r>
              <a:rPr lang="en-CA" dirty="0"/>
              <a:t>“And that's what we're going to be learning how to work with in this course.”</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6116db96f5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6116db96f5_2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Problem 3 — Relationships between information</a:t>
            </a:r>
          </a:p>
          <a:p>
            <a:r>
              <a:rPr lang="en-CA" dirty="0"/>
              <a:t>“And here's where databases become really useful.”</a:t>
            </a:r>
          </a:p>
          <a:p>
            <a:r>
              <a:rPr lang="en-CA" dirty="0"/>
              <a:t>“Customers don't exist in isolation. Customers place orders. Orders contain products. Products have prices and descriptions.”</a:t>
            </a:r>
          </a:p>
          <a:p>
            <a:r>
              <a:rPr lang="en-CA" dirty="0"/>
              <a:t>Point to the ERD:</a:t>
            </a:r>
          </a:p>
          <a:p>
            <a:r>
              <a:rPr lang="en-CA" dirty="0"/>
              <a:t>“So instead of putting absolutely everything into one giant table, we can organize our information into related entities.”</a:t>
            </a:r>
          </a:p>
          <a:p>
            <a:r>
              <a:rPr lang="en-CA" dirty="0"/>
              <a:t>“Here we have a </a:t>
            </a:r>
            <a:r>
              <a:rPr lang="en-CA" b="1" dirty="0"/>
              <a:t>Customer</a:t>
            </a:r>
            <a:r>
              <a:rPr lang="en-CA" dirty="0"/>
              <a:t>, an </a:t>
            </a:r>
            <a:r>
              <a:rPr lang="en-CA" b="1" dirty="0"/>
              <a:t>Order</a:t>
            </a:r>
            <a:r>
              <a:rPr lang="en-CA" dirty="0"/>
              <a:t>, and an </a:t>
            </a:r>
            <a:r>
              <a:rPr lang="en-CA" b="1" dirty="0"/>
              <a:t>Item</a:t>
            </a:r>
            <a:r>
              <a:rPr lang="en-CA" dirty="0"/>
              <a:t>. The database keeps track of how those pieces of information relate to one another.”</a:t>
            </a:r>
          </a:p>
          <a:p>
            <a:r>
              <a:rPr lang="en-CA" dirty="0"/>
              <a:t>“That's where the word </a:t>
            </a:r>
            <a:r>
              <a:rPr lang="en-CA" b="1" dirty="0"/>
              <a:t>relational</a:t>
            </a:r>
            <a:r>
              <a:rPr lang="en-CA" dirty="0"/>
              <a:t> comes from. We're not just storing data — we're storing the relationships between pieces of data.”</a:t>
            </a: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830438" y="2624442"/>
            <a:ext cx="8531123" cy="1471612"/>
          </a:xfrm>
        </p:spPr>
        <p:txBody>
          <a:bodyPr>
            <a:normAutofit/>
          </a:bodyPr>
          <a:lstStyle>
            <a:lvl1pPr marL="0" indent="0" algn="ctr">
              <a:buNone/>
              <a:defRPr sz="4400">
                <a:solidFill>
                  <a:schemeClr val="bg1"/>
                </a:solidFill>
              </a:defRPr>
            </a:lvl1pPr>
          </a:lstStyle>
          <a:p>
            <a:pPr lvl="0"/>
            <a:r>
              <a:rPr lang="en-US" dirty="0"/>
              <a:t>PRESENTATION TITLE</a:t>
            </a:r>
          </a:p>
        </p:txBody>
      </p:sp>
      <p:pic>
        <p:nvPicPr>
          <p:cNvPr id="3" name="Picture 4">
            <a:extLst>
              <a:ext uri="{FF2B5EF4-FFF2-40B4-BE49-F238E27FC236}">
                <a16:creationId xmlns:a16="http://schemas.microsoft.com/office/drawing/2014/main" id="{D20DFF8B-0CA2-444E-B3B8-516B41CBECB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bwMode="auto">
          <a:xfrm>
            <a:off x="5397231" y="745523"/>
            <a:ext cx="1168573" cy="143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a:extLst>
              <a:ext uri="{FF2B5EF4-FFF2-40B4-BE49-F238E27FC236}">
                <a16:creationId xmlns:a16="http://schemas.microsoft.com/office/drawing/2014/main" id="{415C5819-15D5-134D-9ACE-EB35435DDD73}"/>
              </a:ext>
            </a:extLst>
          </p:cNvPr>
          <p:cNvSpPr>
            <a:spLocks noGrp="1"/>
          </p:cNvSpPr>
          <p:nvPr>
            <p:ph type="body" sz="quarter" idx="12" hasCustomPrompt="1"/>
          </p:nvPr>
        </p:nvSpPr>
        <p:spPr>
          <a:xfrm>
            <a:off x="2933914" y="4598843"/>
            <a:ext cx="6337921" cy="536921"/>
          </a:xfrm>
        </p:spPr>
        <p:txBody>
          <a:bodyPr/>
          <a:lstStyle>
            <a:lvl1pPr marL="0" indent="0" algn="ctr">
              <a:buNone/>
              <a:defRPr>
                <a:solidFill>
                  <a:schemeClr val="bg1"/>
                </a:solidFill>
              </a:defRPr>
            </a:lvl1pPr>
          </a:lstStyle>
          <a:p>
            <a:pPr lvl="0"/>
            <a:r>
              <a:rPr lang="en-US" dirty="0"/>
              <a:t>Presenter Information</a:t>
            </a:r>
          </a:p>
        </p:txBody>
      </p:sp>
    </p:spTree>
    <p:extLst>
      <p:ext uri="{BB962C8B-B14F-4D97-AF65-F5344CB8AC3E}">
        <p14:creationId xmlns:p14="http://schemas.microsoft.com/office/powerpoint/2010/main" val="674987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223" y="335242"/>
            <a:ext cx="10630647" cy="1069679"/>
          </a:xfrm>
        </p:spPr>
        <p:txBody>
          <a:bodyPr>
            <a:normAutofit/>
          </a:bodyPr>
          <a:lstStyle>
            <a:lvl1pPr>
              <a:defRPr sz="4400"/>
            </a:lvl1pPr>
          </a:lstStyle>
          <a:p>
            <a:r>
              <a:rPr lang="en-US" dirty="0"/>
              <a:t>CLICK TO EDIT TITLE</a:t>
            </a:r>
          </a:p>
        </p:txBody>
      </p:sp>
      <p:sp>
        <p:nvSpPr>
          <p:cNvPr id="3" name="Content Placeholder 2"/>
          <p:cNvSpPr>
            <a:spLocks noGrp="1"/>
          </p:cNvSpPr>
          <p:nvPr>
            <p:ph idx="1" hasCustomPrompt="1"/>
          </p:nvPr>
        </p:nvSpPr>
        <p:spPr>
          <a:xfrm>
            <a:off x="324224" y="1795742"/>
            <a:ext cx="10654552" cy="3511364"/>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1836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400"/>
            </a:lvl1pPr>
          </a:lstStyle>
          <a:p>
            <a:r>
              <a:rPr lang="en-US" dirty="0"/>
              <a:t>CLICK TO EDIT TITLE</a:t>
            </a:r>
          </a:p>
        </p:txBody>
      </p:sp>
      <p:sp>
        <p:nvSpPr>
          <p:cNvPr id="3" name="Content Placeholder 2"/>
          <p:cNvSpPr>
            <a:spLocks noGrp="1"/>
          </p:cNvSpPr>
          <p:nvPr>
            <p:ph sz="half" idx="1" hasCustomPrompt="1"/>
          </p:nvPr>
        </p:nvSpPr>
        <p:spPr>
          <a:xfrm>
            <a:off x="838200" y="1825625"/>
            <a:ext cx="5181600" cy="339781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3385857"/>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2222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400"/>
            </a:lvl1pPr>
          </a:lstStyle>
          <a:p>
            <a:r>
              <a:rPr lang="en-US" dirty="0"/>
              <a:t>CLICK TO EDIT TITLE</a:t>
            </a:r>
          </a:p>
        </p:txBody>
      </p:sp>
    </p:spTree>
    <p:extLst>
      <p:ext uri="{BB962C8B-B14F-4D97-AF65-F5344CB8AC3E}">
        <p14:creationId xmlns:p14="http://schemas.microsoft.com/office/powerpoint/2010/main" val="1404494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97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B934B5-63C9-2842-AB2D-E575537010AA}"/>
              </a:ext>
            </a:extLst>
          </p:cNvPr>
          <p:cNvSpPr>
            <a:spLocks noGrp="1"/>
          </p:cNvSpPr>
          <p:nvPr>
            <p:ph type="body" sz="quarter" idx="10" hasCustomPrompt="1"/>
          </p:nvPr>
        </p:nvSpPr>
        <p:spPr>
          <a:xfrm>
            <a:off x="2919937" y="3045791"/>
            <a:ext cx="6365875" cy="928687"/>
          </a:xfrm>
        </p:spPr>
        <p:txBody>
          <a:bodyPr>
            <a:normAutofit/>
          </a:bodyPr>
          <a:lstStyle>
            <a:lvl1pPr marL="0" indent="0" algn="ctr">
              <a:buNone/>
              <a:defRPr sz="4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TITLE</a:t>
            </a:r>
          </a:p>
        </p:txBody>
      </p:sp>
    </p:spTree>
    <p:extLst>
      <p:ext uri="{BB962C8B-B14F-4D97-AF65-F5344CB8AC3E}">
        <p14:creationId xmlns:p14="http://schemas.microsoft.com/office/powerpoint/2010/main" val="7052175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7697788" y="2603500"/>
            <a:ext cx="4214812" cy="1873250"/>
          </a:xfrm>
        </p:spPr>
        <p:txBody>
          <a:bodyPr>
            <a:normAutofit/>
          </a:bodyPr>
          <a:lstStyle>
            <a:lvl1pPr marL="0" indent="0">
              <a:buNone/>
              <a:defRPr sz="2800" baseline="0"/>
            </a:lvl1pPr>
          </a:lstStyle>
          <a:p>
            <a:pPr lvl="0"/>
            <a:r>
              <a:rPr lang="en-US" dirty="0"/>
              <a:t>INSERT PRESENTATION TITLE HERE</a:t>
            </a:r>
          </a:p>
        </p:txBody>
      </p:sp>
    </p:spTree>
    <p:extLst>
      <p:ext uri="{BB962C8B-B14F-4D97-AF65-F5344CB8AC3E}">
        <p14:creationId xmlns:p14="http://schemas.microsoft.com/office/powerpoint/2010/main" val="817891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for Large Graphics A">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71932" y="5791200"/>
            <a:ext cx="3552445" cy="746742"/>
          </a:xfrm>
          <a:prstGeom prst="rect">
            <a:avLst/>
          </a:prstGeom>
        </p:spPr>
      </p:pic>
    </p:spTree>
    <p:extLst>
      <p:ext uri="{BB962C8B-B14F-4D97-AF65-F5344CB8AC3E}">
        <p14:creationId xmlns:p14="http://schemas.microsoft.com/office/powerpoint/2010/main" val="145424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for Large Graphics B">
    <p:bg>
      <p:bgRef idx="1001">
        <a:schemeClr val="bg1"/>
      </p:bgRef>
    </p:bg>
    <p:spTree>
      <p:nvGrpSpPr>
        <p:cNvPr id="1" name=""/>
        <p:cNvGrpSpPr/>
        <p:nvPr/>
      </p:nvGrpSpPr>
      <p:grpSpPr>
        <a:xfrm>
          <a:off x="0" y="0"/>
          <a:ext cx="0" cy="0"/>
          <a:chOff x="0" y="0"/>
          <a:chExt cx="0" cy="0"/>
        </a:xfrm>
      </p:grpSpPr>
      <p:pic>
        <p:nvPicPr>
          <p:cNvPr id="4" name="Picture 4"/>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bwMode="auto">
          <a:xfrm>
            <a:off x="11209866" y="5780616"/>
            <a:ext cx="607785" cy="74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85216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3592-B9CD-7AF8-2531-D88D3E9DBD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943C0C-F99B-8C9C-5380-BAC668129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0613D1-0C16-8026-7BD4-926A51626FA2}"/>
              </a:ext>
            </a:extLst>
          </p:cNvPr>
          <p:cNvSpPr>
            <a:spLocks noGrp="1"/>
          </p:cNvSpPr>
          <p:nvPr>
            <p:ph type="dt" sz="half" idx="10"/>
          </p:nvPr>
        </p:nvSpPr>
        <p:spPr/>
        <p:txBody>
          <a:bodyPr/>
          <a:lstStyle/>
          <a:p>
            <a:fld id="{E16BFFFE-D9D4-D649-9D1F-5FA64CDC0CC2}" type="datetimeFigureOut">
              <a:rPr lang="en-US" smtClean="0"/>
              <a:t>9/1/2026</a:t>
            </a:fld>
            <a:endParaRPr lang="en-US"/>
          </a:p>
        </p:txBody>
      </p:sp>
      <p:sp>
        <p:nvSpPr>
          <p:cNvPr id="5" name="Footer Placeholder 4">
            <a:extLst>
              <a:ext uri="{FF2B5EF4-FFF2-40B4-BE49-F238E27FC236}">
                <a16:creationId xmlns:a16="http://schemas.microsoft.com/office/drawing/2014/main" id="{1755E5B1-A151-0420-61EC-F4B8FC23D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78DDD1-36BF-D966-84CD-8EE8543EB425}"/>
              </a:ext>
            </a:extLst>
          </p:cNvPr>
          <p:cNvSpPr>
            <a:spLocks noGrp="1"/>
          </p:cNvSpPr>
          <p:nvPr>
            <p:ph type="sldNum" sz="quarter" idx="12"/>
          </p:nvPr>
        </p:nvSpPr>
        <p:spPr/>
        <p:txBody>
          <a:bodyPr/>
          <a:lstStyle/>
          <a:p>
            <a:fld id="{4CFE898C-0EB9-3C44-9E25-661E8EC4CBA6}" type="slidenum">
              <a:rPr lang="en-US" smtClean="0"/>
              <a:t>‹#›</a:t>
            </a:fld>
            <a:endParaRPr lang="en-US"/>
          </a:p>
        </p:txBody>
      </p:sp>
    </p:spTree>
    <p:extLst>
      <p:ext uri="{BB962C8B-B14F-4D97-AF65-F5344CB8AC3E}">
        <p14:creationId xmlns:p14="http://schemas.microsoft.com/office/powerpoint/2010/main" val="334106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rgbClr val="353535"/>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377471" y="949521"/>
            <a:ext cx="8325600" cy="5114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47" name="Google Shape;47;p8"/>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199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cxnSp>
        <p:nvCxnSpPr>
          <p:cNvPr id="22" name="Google Shape;22;p4"/>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3213483" y="2127701"/>
            <a:ext cx="8428800" cy="4003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27" name="Google Shape;27;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27665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224" y="335242"/>
            <a:ext cx="10515600" cy="1069679"/>
          </a:xfrm>
          <a:prstGeom prst="rect">
            <a:avLst/>
          </a:prstGeom>
        </p:spPr>
        <p:txBody>
          <a:bodyPr vert="horz" lIns="91440" tIns="45720" rIns="91440" bIns="45720" rtlCol="0" anchor="ctr">
            <a:normAutofit/>
          </a:bodyPr>
          <a:lstStyle/>
          <a:p>
            <a:r>
              <a:rPr lang="en-US" dirty="0"/>
              <a:t>CLICK TO EDIT TITLE</a:t>
            </a:r>
          </a:p>
        </p:txBody>
      </p:sp>
      <p:sp>
        <p:nvSpPr>
          <p:cNvPr id="3" name="Text Placeholder 2"/>
          <p:cNvSpPr>
            <a:spLocks noGrp="1"/>
          </p:cNvSpPr>
          <p:nvPr>
            <p:ph type="body" idx="1"/>
          </p:nvPr>
        </p:nvSpPr>
        <p:spPr>
          <a:xfrm>
            <a:off x="324224" y="1795742"/>
            <a:ext cx="10515600" cy="3511364"/>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6BFFFE-D9D4-D649-9D1F-5FA64CDC0CC2}"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FE898C-0EB9-3C44-9E25-661E8EC4CBA6}" type="slidenum">
              <a:rPr lang="en-US" smtClean="0"/>
              <a:t>‹#›</a:t>
            </a:fld>
            <a:endParaRPr lang="en-US"/>
          </a:p>
        </p:txBody>
      </p:sp>
      <p:pic>
        <p:nvPicPr>
          <p:cNvPr id="7" name="Picture 3" descr="ppt screen_Header_6-9_1920x1080 Wide.p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5473171"/>
            <a:ext cx="12196659" cy="138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264526" y="5780616"/>
            <a:ext cx="3553126" cy="74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7979232"/>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2" r:id="rId3"/>
    <p:sldLayoutId id="2147483654" r:id="rId4"/>
    <p:sldLayoutId id="2147483655" r:id="rId5"/>
    <p:sldLayoutId id="2147483663" r:id="rId6"/>
    <p:sldLayoutId id="2147483660" r:id="rId7"/>
    <p:sldLayoutId id="2147483662" r:id="rId8"/>
    <p:sldLayoutId id="2147483664" r:id="rId9"/>
    <p:sldLayoutId id="2147483665" r:id="rId10"/>
    <p:sldLayoutId id="2147483666"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1830438" y="3429000"/>
            <a:ext cx="8531123" cy="1471612"/>
          </a:xfrm>
        </p:spPr>
        <p:txBody>
          <a:bodyPr>
            <a:normAutofit/>
          </a:bodyPr>
          <a:lstStyle/>
          <a:p>
            <a:r>
              <a:rPr lang="en-US" b="1" dirty="0"/>
              <a:t>Introduction to Database </a:t>
            </a:r>
          </a:p>
        </p:txBody>
      </p:sp>
    </p:spTree>
    <p:extLst>
      <p:ext uri="{BB962C8B-B14F-4D97-AF65-F5344CB8AC3E}">
        <p14:creationId xmlns:p14="http://schemas.microsoft.com/office/powerpoint/2010/main" val="2569066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9"/>
          <p:cNvSpPr txBox="1">
            <a:spLocks noGrp="1"/>
          </p:cNvSpPr>
          <p:nvPr>
            <p:ph type="body" sz="quarter" idx="10"/>
          </p:nvPr>
        </p:nvSpPr>
        <p:spPr>
          <a:xfrm>
            <a:off x="2919937" y="3045791"/>
            <a:ext cx="6365875" cy="928687"/>
          </a:xfrm>
        </p:spPr>
        <p:txBody>
          <a:bodyPr spcFirstLastPara="1" vert="horz" lIns="121900" tIns="121900" rIns="121900" bIns="121900" rtlCol="0" anchorCtr="0">
            <a:normAutofit/>
          </a:bodyPr>
          <a:lstStyle/>
          <a:p>
            <a:r>
              <a:rPr lang="en-CA" sz="3700"/>
              <a:t>Why databases?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4"/>
          <p:cNvPicPr preferRelativeResize="0"/>
          <p:nvPr/>
        </p:nvPicPr>
        <p:blipFill>
          <a:blip r:embed="rId3">
            <a:alphaModFix/>
          </a:blip>
          <a:stretch>
            <a:fillRect/>
          </a:stretch>
        </p:blipFill>
        <p:spPr>
          <a:xfrm>
            <a:off x="1660534" y="-144354"/>
            <a:ext cx="8868697" cy="6232977"/>
          </a:xfrm>
          <a:prstGeom prst="rect">
            <a:avLst/>
          </a:prstGeom>
          <a:noFill/>
          <a:ln>
            <a:noFill/>
          </a:ln>
        </p:spPr>
      </p:pic>
      <p:pic>
        <p:nvPicPr>
          <p:cNvPr id="79" name="Google Shape;79;p14" descr="Piece of duct tape sticking a note to the slide"/>
          <p:cNvPicPr preferRelativeResize="0"/>
          <p:nvPr/>
        </p:nvPicPr>
        <p:blipFill rotWithShape="1">
          <a:blip r:embed="rId4">
            <a:alphaModFix/>
          </a:blip>
          <a:srcRect l="9244" t="5926" r="2118" b="10011"/>
          <a:stretch/>
        </p:blipFill>
        <p:spPr>
          <a:xfrm rot="154828">
            <a:off x="4577015" y="-82660"/>
            <a:ext cx="2762667" cy="981400"/>
          </a:xfrm>
          <a:prstGeom prst="rect">
            <a:avLst/>
          </a:prstGeom>
          <a:noFill/>
          <a:ln>
            <a:noFill/>
          </a:ln>
        </p:spPr>
      </p:pic>
      <p:sp>
        <p:nvSpPr>
          <p:cNvPr id="80" name="Google Shape;80;p14"/>
          <p:cNvSpPr txBox="1"/>
          <p:nvPr/>
        </p:nvSpPr>
        <p:spPr>
          <a:xfrm>
            <a:off x="3806282" y="646584"/>
            <a:ext cx="4577200" cy="1016800"/>
          </a:xfrm>
          <a:prstGeom prst="rect">
            <a:avLst/>
          </a:prstGeom>
          <a:noFill/>
          <a:ln>
            <a:noFill/>
          </a:ln>
        </p:spPr>
        <p:txBody>
          <a:bodyPr spcFirstLastPara="1" wrap="square" lIns="121900" tIns="121900" rIns="121900" bIns="121900" anchor="b" anchorCtr="0">
            <a:noAutofit/>
          </a:bodyPr>
          <a:lstStyle/>
          <a:p>
            <a:r>
              <a:rPr lang="en" sz="4000" b="1" dirty="0">
                <a:solidFill>
                  <a:schemeClr val="accent2"/>
                </a:solidFill>
                <a:latin typeface="Raleway"/>
                <a:ea typeface="Raleway"/>
                <a:cs typeface="Raleway"/>
                <a:sym typeface="Raleway"/>
              </a:rPr>
              <a:t>Today’s agenda</a:t>
            </a:r>
            <a:endParaRPr sz="4000" b="1" dirty="0">
              <a:solidFill>
                <a:schemeClr val="accent2"/>
              </a:solidFill>
              <a:latin typeface="Raleway"/>
              <a:ea typeface="Raleway"/>
              <a:cs typeface="Raleway"/>
              <a:sym typeface="Raleway"/>
            </a:endParaRPr>
          </a:p>
        </p:txBody>
      </p:sp>
      <p:sp>
        <p:nvSpPr>
          <p:cNvPr id="81" name="Google Shape;81;p14"/>
          <p:cNvSpPr txBox="1">
            <a:spLocks noGrp="1"/>
          </p:cNvSpPr>
          <p:nvPr>
            <p:ph type="body" idx="4294967295"/>
          </p:nvPr>
        </p:nvSpPr>
        <p:spPr>
          <a:xfrm>
            <a:off x="2744398" y="1571169"/>
            <a:ext cx="6763395" cy="4437200"/>
          </a:xfrm>
          <a:prstGeom prst="rect">
            <a:avLst/>
          </a:prstGeom>
        </p:spPr>
        <p:txBody>
          <a:bodyPr spcFirstLastPara="1" vert="horz" wrap="square" lIns="121900" tIns="121900" rIns="121900" bIns="121900" rtlCol="0" anchor="t" anchorCtr="0">
            <a:normAutofit fontScale="85000" lnSpcReduction="20000"/>
          </a:bodyPr>
          <a:lstStyle/>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Define databases and database management systems (DBMS)</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Explain the importance of databases in modern organizations</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Distinguish between data and information</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Identify problems associated with spreadsheets and text-file storage</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Describe the roles of DDL, DML, and Query Languages</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Explain the structure of relational databases using tables, rows, and columns</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Describe the high-level database design process</a:t>
            </a:r>
          </a:p>
          <a:p>
            <a:pPr marL="609585" indent="-457189">
              <a:lnSpc>
                <a:spcPct val="115000"/>
              </a:lnSpc>
              <a:spcBef>
                <a:spcPts val="0"/>
              </a:spcBef>
              <a:buClr>
                <a:schemeClr val="dk1"/>
              </a:buClr>
              <a:buSzPts val="1800"/>
              <a:buFont typeface="Raleway"/>
              <a:buChar char="❏"/>
            </a:pPr>
            <a:r>
              <a:rPr lang="en-US" sz="2400" dirty="0">
                <a:latin typeface="Raleway"/>
                <a:ea typeface="Raleway"/>
                <a:cs typeface="Raleway"/>
                <a:sym typeface="Raleway"/>
              </a:rPr>
              <a:t>Explain the purpose and importance of normalization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33D5D8-B367-1589-9761-368B4E0CAD74}"/>
              </a:ext>
            </a:extLst>
          </p:cNvPr>
          <p:cNvSpPr>
            <a:spLocks noGrp="1"/>
          </p:cNvSpPr>
          <p:nvPr>
            <p:ph type="body" idx="1"/>
          </p:nvPr>
        </p:nvSpPr>
        <p:spPr>
          <a:xfrm>
            <a:off x="2182705" y="2027948"/>
            <a:ext cx="8428800" cy="4003200"/>
          </a:xfrm>
        </p:spPr>
        <p:txBody>
          <a:bodyPr/>
          <a:lstStyle/>
          <a:p>
            <a:pPr marL="152396" indent="0" algn="ctr">
              <a:buNone/>
            </a:pPr>
            <a:r>
              <a:rPr lang="en-US" sz="4000" dirty="0"/>
              <a:t>“What are some databases you interacted with today without necessarily realizing it?”</a:t>
            </a:r>
            <a:endParaRPr lang="en-CA" sz="4000" dirty="0"/>
          </a:p>
        </p:txBody>
      </p:sp>
    </p:spTree>
    <p:extLst>
      <p:ext uri="{BB962C8B-B14F-4D97-AF65-F5344CB8AC3E}">
        <p14:creationId xmlns:p14="http://schemas.microsoft.com/office/powerpoint/2010/main" val="218761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278B4C-A70E-362A-06D1-894476F80607}"/>
              </a:ext>
            </a:extLst>
          </p:cNvPr>
          <p:cNvSpPr>
            <a:spLocks noGrp="1"/>
          </p:cNvSpPr>
          <p:nvPr>
            <p:ph type="body" idx="1"/>
          </p:nvPr>
        </p:nvSpPr>
        <p:spPr/>
        <p:txBody>
          <a:bodyPr/>
          <a:lstStyle/>
          <a:p>
            <a:endParaRPr lang="en-CA"/>
          </a:p>
        </p:txBody>
      </p:sp>
      <p:pic>
        <p:nvPicPr>
          <p:cNvPr id="5" name="Picture 4">
            <a:extLst>
              <a:ext uri="{FF2B5EF4-FFF2-40B4-BE49-F238E27FC236}">
                <a16:creationId xmlns:a16="http://schemas.microsoft.com/office/drawing/2014/main" id="{1BB8C9AB-66D4-200A-7343-AFEEA0954903}"/>
              </a:ext>
            </a:extLst>
          </p:cNvPr>
          <p:cNvPicPr>
            <a:picLocks noChangeAspect="1"/>
          </p:cNvPicPr>
          <p:nvPr/>
        </p:nvPicPr>
        <p:blipFill>
          <a:blip r:embed="rId2"/>
          <a:stretch>
            <a:fillRect/>
          </a:stretch>
        </p:blipFill>
        <p:spPr>
          <a:xfrm>
            <a:off x="1334006" y="985155"/>
            <a:ext cx="8730518" cy="4370615"/>
          </a:xfrm>
          <a:prstGeom prst="rect">
            <a:avLst/>
          </a:prstGeom>
        </p:spPr>
      </p:pic>
    </p:spTree>
    <p:extLst>
      <p:ext uri="{BB962C8B-B14F-4D97-AF65-F5344CB8AC3E}">
        <p14:creationId xmlns:p14="http://schemas.microsoft.com/office/powerpoint/2010/main" val="949424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8E3B-953D-C5A8-A98C-995692E058B9}"/>
              </a:ext>
            </a:extLst>
          </p:cNvPr>
          <p:cNvSpPr>
            <a:spLocks noGrp="1"/>
          </p:cNvSpPr>
          <p:nvPr>
            <p:ph type="title"/>
          </p:nvPr>
        </p:nvSpPr>
        <p:spPr/>
        <p:txBody>
          <a:bodyPr/>
          <a:lstStyle/>
          <a:p>
            <a:r>
              <a:rPr lang="en-CA" b="1" dirty="0"/>
              <a:t>Data in Everyday Life</a:t>
            </a:r>
            <a:br>
              <a:rPr lang="en-CA" b="1" dirty="0"/>
            </a:br>
            <a:endParaRPr lang="en-CA" dirty="0"/>
          </a:p>
        </p:txBody>
      </p:sp>
      <p:sp>
        <p:nvSpPr>
          <p:cNvPr id="3" name="Text Placeholder 2">
            <a:extLst>
              <a:ext uri="{FF2B5EF4-FFF2-40B4-BE49-F238E27FC236}">
                <a16:creationId xmlns:a16="http://schemas.microsoft.com/office/drawing/2014/main" id="{FB845B57-F3B5-2AE5-358F-36F986A8FC8E}"/>
              </a:ext>
            </a:extLst>
          </p:cNvPr>
          <p:cNvSpPr>
            <a:spLocks noGrp="1"/>
          </p:cNvSpPr>
          <p:nvPr>
            <p:ph type="body" idx="1"/>
          </p:nvPr>
        </p:nvSpPr>
        <p:spPr>
          <a:xfrm>
            <a:off x="314419" y="1743237"/>
            <a:ext cx="4579699" cy="3511101"/>
          </a:xfrm>
        </p:spPr>
        <p:txBody>
          <a:bodyPr/>
          <a:lstStyle/>
          <a:p>
            <a:r>
              <a:rPr lang="en-CA" sz="2000" b="1" dirty="0"/>
              <a:t>Organizations depend on data.</a:t>
            </a:r>
            <a:endParaRPr lang="en-CA" sz="2000" dirty="0"/>
          </a:p>
          <a:p>
            <a:r>
              <a:rPr lang="en-CA" sz="2000" dirty="0"/>
              <a:t>Data is used to maintain a business. For many businesses, </a:t>
            </a:r>
            <a:r>
              <a:rPr lang="en-CA" sz="2000" b="1" dirty="0"/>
              <a:t>the data IS the business.</a:t>
            </a:r>
            <a:endParaRPr lang="en-CA" sz="2000" dirty="0"/>
          </a:p>
          <a:p>
            <a:r>
              <a:rPr lang="en-CA" sz="2000" b="1" dirty="0"/>
              <a:t>What kinds of data might an organization need to store?</a:t>
            </a:r>
            <a:endParaRPr lang="en-CA" sz="2000" dirty="0"/>
          </a:p>
          <a:p>
            <a:endParaRPr lang="en-CA" dirty="0"/>
          </a:p>
        </p:txBody>
      </p:sp>
      <p:graphicFrame>
        <p:nvGraphicFramePr>
          <p:cNvPr id="4" name="Table 3">
            <a:extLst>
              <a:ext uri="{FF2B5EF4-FFF2-40B4-BE49-F238E27FC236}">
                <a16:creationId xmlns:a16="http://schemas.microsoft.com/office/drawing/2014/main" id="{E3AB694D-F959-712D-8E3C-5A42BC4CC5DE}"/>
              </a:ext>
            </a:extLst>
          </p:cNvPr>
          <p:cNvGraphicFramePr>
            <a:graphicFrameLocks noGrp="1"/>
          </p:cNvGraphicFramePr>
          <p:nvPr>
            <p:extLst>
              <p:ext uri="{D42A27DB-BD31-4B8C-83A1-F6EECF244321}">
                <p14:modId xmlns:p14="http://schemas.microsoft.com/office/powerpoint/2010/main" val="1290765623"/>
              </p:ext>
            </p:extLst>
          </p:nvPr>
        </p:nvGraphicFramePr>
        <p:xfrm>
          <a:off x="5324925" y="1858621"/>
          <a:ext cx="6552656" cy="3280332"/>
        </p:xfrm>
        <a:graphic>
          <a:graphicData uri="http://schemas.openxmlformats.org/drawingml/2006/table">
            <a:tbl>
              <a:tblPr>
                <a:tableStyleId>{5C22544A-7EE6-4342-B048-85BDC9FD1C3A}</a:tableStyleId>
              </a:tblPr>
              <a:tblGrid>
                <a:gridCol w="3276328">
                  <a:extLst>
                    <a:ext uri="{9D8B030D-6E8A-4147-A177-3AD203B41FA5}">
                      <a16:colId xmlns:a16="http://schemas.microsoft.com/office/drawing/2014/main" val="3146258355"/>
                    </a:ext>
                  </a:extLst>
                </a:gridCol>
                <a:gridCol w="3276328">
                  <a:extLst>
                    <a:ext uri="{9D8B030D-6E8A-4147-A177-3AD203B41FA5}">
                      <a16:colId xmlns:a16="http://schemas.microsoft.com/office/drawing/2014/main" val="2961315726"/>
                    </a:ext>
                  </a:extLst>
                </a:gridCol>
              </a:tblGrid>
              <a:tr h="412921">
                <a:tc>
                  <a:txBody>
                    <a:bodyPr/>
                    <a:lstStyle/>
                    <a:p>
                      <a:pPr algn="l">
                        <a:lnSpc>
                          <a:spcPct val="138889"/>
                        </a:lnSpc>
                        <a:buNone/>
                      </a:pPr>
                      <a:r>
                        <a:rPr lang="en-CA" sz="1125">
                          <a:effectLst/>
                        </a:rPr>
                        <a:t>Business Type</a:t>
                      </a:r>
                      <a:endParaRPr lang="en-CA" sz="1125" b="0">
                        <a:effectLst/>
                        <a:latin typeface="quote-cjk-patch"/>
                      </a:endParaRPr>
                    </a:p>
                  </a:txBody>
                  <a:tcPr marR="121920" marT="76200" marB="76200" anchor="ctr"/>
                </a:tc>
                <a:tc>
                  <a:txBody>
                    <a:bodyPr/>
                    <a:lstStyle/>
                    <a:p>
                      <a:pPr algn="l">
                        <a:lnSpc>
                          <a:spcPct val="138889"/>
                        </a:lnSpc>
                        <a:buNone/>
                      </a:pPr>
                      <a:r>
                        <a:rPr lang="en-CA" sz="1125" dirty="0">
                          <a:effectLst/>
                        </a:rPr>
                        <a:t>Data They Store</a:t>
                      </a:r>
                      <a:endParaRPr lang="en-CA" sz="1125" b="0" dirty="0">
                        <a:effectLst/>
                        <a:latin typeface="quote-cjk-patch"/>
                      </a:endParaRPr>
                    </a:p>
                  </a:txBody>
                  <a:tcPr marL="121920" marR="121920" marT="76200" marB="76200" anchor="ctr"/>
                </a:tc>
                <a:extLst>
                  <a:ext uri="{0D108BD9-81ED-4DB2-BD59-A6C34878D82A}">
                    <a16:rowId xmlns:a16="http://schemas.microsoft.com/office/drawing/2014/main" val="2499135935"/>
                  </a:ext>
                </a:extLst>
              </a:tr>
              <a:tr h="412921">
                <a:tc>
                  <a:txBody>
                    <a:bodyPr/>
                    <a:lstStyle/>
                    <a:p>
                      <a:pPr>
                        <a:lnSpc>
                          <a:spcPct val="138889"/>
                        </a:lnSpc>
                        <a:buNone/>
                      </a:pPr>
                      <a:r>
                        <a:rPr lang="en-CA" sz="1125">
                          <a:effectLst/>
                        </a:rPr>
                        <a:t>Retail Store</a:t>
                      </a:r>
                      <a:endParaRPr lang="en-CA" sz="1125" b="0">
                        <a:effectLst/>
                        <a:latin typeface="quote-cjk-patch"/>
                      </a:endParaRPr>
                    </a:p>
                  </a:txBody>
                  <a:tcPr marR="121920" marT="76200" marB="76200" anchor="ctr"/>
                </a:tc>
                <a:tc>
                  <a:txBody>
                    <a:bodyPr/>
                    <a:lstStyle/>
                    <a:p>
                      <a:pPr>
                        <a:lnSpc>
                          <a:spcPct val="138889"/>
                        </a:lnSpc>
                        <a:buNone/>
                      </a:pPr>
                      <a:r>
                        <a:rPr lang="en-CA" sz="1125">
                          <a:effectLst/>
                        </a:rPr>
                        <a:t>Customers, Products, Orders, Employees</a:t>
                      </a:r>
                      <a:endParaRPr lang="en-CA" sz="1125" b="0">
                        <a:effectLst/>
                        <a:latin typeface="quote-cjk-patch"/>
                      </a:endParaRPr>
                    </a:p>
                  </a:txBody>
                  <a:tcPr marL="121920" marT="76200" marB="76200" anchor="ctr"/>
                </a:tc>
                <a:extLst>
                  <a:ext uri="{0D108BD9-81ED-4DB2-BD59-A6C34878D82A}">
                    <a16:rowId xmlns:a16="http://schemas.microsoft.com/office/drawing/2014/main" val="1964483488"/>
                  </a:ext>
                </a:extLst>
              </a:tr>
              <a:tr h="680523">
                <a:tc>
                  <a:txBody>
                    <a:bodyPr/>
                    <a:lstStyle/>
                    <a:p>
                      <a:pPr>
                        <a:lnSpc>
                          <a:spcPct val="138889"/>
                        </a:lnSpc>
                        <a:buNone/>
                      </a:pPr>
                      <a:r>
                        <a:rPr lang="en-CA" sz="1125">
                          <a:effectLst/>
                        </a:rPr>
                        <a:t>Bank</a:t>
                      </a:r>
                      <a:endParaRPr lang="en-CA" sz="1125" b="0">
                        <a:effectLst/>
                        <a:latin typeface="quote-cjk-patch"/>
                      </a:endParaRPr>
                    </a:p>
                  </a:txBody>
                  <a:tcPr marR="121920" marT="76200" marB="76200" anchor="ctr"/>
                </a:tc>
                <a:tc>
                  <a:txBody>
                    <a:bodyPr/>
                    <a:lstStyle/>
                    <a:p>
                      <a:pPr>
                        <a:lnSpc>
                          <a:spcPct val="138889"/>
                        </a:lnSpc>
                        <a:buNone/>
                      </a:pPr>
                      <a:r>
                        <a:rPr lang="en-CA" sz="1125" dirty="0">
                          <a:effectLst/>
                        </a:rPr>
                        <a:t>Accounts, Transactions, Customers, Loans</a:t>
                      </a:r>
                      <a:endParaRPr lang="en-CA" sz="1125" b="0" dirty="0">
                        <a:effectLst/>
                        <a:latin typeface="quote-cjk-patch"/>
                      </a:endParaRPr>
                    </a:p>
                  </a:txBody>
                  <a:tcPr marL="121920" marT="76200" marB="76200" anchor="ctr"/>
                </a:tc>
                <a:extLst>
                  <a:ext uri="{0D108BD9-81ED-4DB2-BD59-A6C34878D82A}">
                    <a16:rowId xmlns:a16="http://schemas.microsoft.com/office/drawing/2014/main" val="2730289875"/>
                  </a:ext>
                </a:extLst>
              </a:tr>
              <a:tr h="680523">
                <a:tc>
                  <a:txBody>
                    <a:bodyPr/>
                    <a:lstStyle/>
                    <a:p>
                      <a:pPr>
                        <a:lnSpc>
                          <a:spcPct val="138889"/>
                        </a:lnSpc>
                        <a:buNone/>
                      </a:pPr>
                      <a:r>
                        <a:rPr lang="en-CA" sz="1125">
                          <a:effectLst/>
                        </a:rPr>
                        <a:t>Hospital</a:t>
                      </a:r>
                      <a:endParaRPr lang="en-CA" sz="1125" b="0">
                        <a:effectLst/>
                        <a:latin typeface="quote-cjk-patch"/>
                      </a:endParaRPr>
                    </a:p>
                  </a:txBody>
                  <a:tcPr marR="121920" marT="76200" marB="76200" anchor="ctr"/>
                </a:tc>
                <a:tc>
                  <a:txBody>
                    <a:bodyPr/>
                    <a:lstStyle/>
                    <a:p>
                      <a:pPr>
                        <a:lnSpc>
                          <a:spcPct val="138889"/>
                        </a:lnSpc>
                        <a:buNone/>
                      </a:pPr>
                      <a:r>
                        <a:rPr lang="en-CA" sz="1125" dirty="0">
                          <a:effectLst/>
                        </a:rPr>
                        <a:t>Patients, Doctors, Appointments, Medical Records</a:t>
                      </a:r>
                      <a:endParaRPr lang="en-CA" sz="1125" b="0" dirty="0">
                        <a:effectLst/>
                        <a:latin typeface="quote-cjk-patch"/>
                      </a:endParaRPr>
                    </a:p>
                  </a:txBody>
                  <a:tcPr marL="121920" marT="76200" marB="76200" anchor="ctr"/>
                </a:tc>
                <a:extLst>
                  <a:ext uri="{0D108BD9-81ED-4DB2-BD59-A6C34878D82A}">
                    <a16:rowId xmlns:a16="http://schemas.microsoft.com/office/drawing/2014/main" val="533050277"/>
                  </a:ext>
                </a:extLst>
              </a:tr>
              <a:tr h="412921">
                <a:tc>
                  <a:txBody>
                    <a:bodyPr/>
                    <a:lstStyle/>
                    <a:p>
                      <a:pPr>
                        <a:lnSpc>
                          <a:spcPct val="138889"/>
                        </a:lnSpc>
                        <a:buNone/>
                      </a:pPr>
                      <a:r>
                        <a:rPr lang="en-CA" sz="1125">
                          <a:effectLst/>
                        </a:rPr>
                        <a:t>University</a:t>
                      </a:r>
                      <a:endParaRPr lang="en-CA" sz="1125" b="0">
                        <a:effectLst/>
                        <a:latin typeface="quote-cjk-patch"/>
                      </a:endParaRPr>
                    </a:p>
                  </a:txBody>
                  <a:tcPr marR="121920" marT="76200" marB="76200" anchor="ctr"/>
                </a:tc>
                <a:tc>
                  <a:txBody>
                    <a:bodyPr/>
                    <a:lstStyle/>
                    <a:p>
                      <a:pPr>
                        <a:lnSpc>
                          <a:spcPct val="138889"/>
                        </a:lnSpc>
                        <a:buNone/>
                      </a:pPr>
                      <a:r>
                        <a:rPr lang="en-CA" sz="1125">
                          <a:effectLst/>
                        </a:rPr>
                        <a:t>Students, Courses, Instructors, Grades</a:t>
                      </a:r>
                      <a:endParaRPr lang="en-CA" sz="1125" b="0">
                        <a:effectLst/>
                        <a:latin typeface="quote-cjk-patch"/>
                      </a:endParaRPr>
                    </a:p>
                  </a:txBody>
                  <a:tcPr marL="121920" marT="76200" marB="76200" anchor="ctr"/>
                </a:tc>
                <a:extLst>
                  <a:ext uri="{0D108BD9-81ED-4DB2-BD59-A6C34878D82A}">
                    <a16:rowId xmlns:a16="http://schemas.microsoft.com/office/drawing/2014/main" val="4022181290"/>
                  </a:ext>
                </a:extLst>
              </a:tr>
              <a:tr h="680523">
                <a:tc>
                  <a:txBody>
                    <a:bodyPr/>
                    <a:lstStyle/>
                    <a:p>
                      <a:pPr>
                        <a:lnSpc>
                          <a:spcPct val="138889"/>
                        </a:lnSpc>
                        <a:buNone/>
                      </a:pPr>
                      <a:r>
                        <a:rPr lang="en-CA" sz="1125">
                          <a:effectLst/>
                        </a:rPr>
                        <a:t>Streaming Service</a:t>
                      </a:r>
                      <a:endParaRPr lang="en-CA" sz="1125" b="0">
                        <a:effectLst/>
                        <a:latin typeface="quote-cjk-patch"/>
                      </a:endParaRPr>
                    </a:p>
                  </a:txBody>
                  <a:tcPr marR="121920" marT="76200" marB="76200" anchor="ctr"/>
                </a:tc>
                <a:tc>
                  <a:txBody>
                    <a:bodyPr/>
                    <a:lstStyle/>
                    <a:p>
                      <a:pPr>
                        <a:lnSpc>
                          <a:spcPct val="138889"/>
                        </a:lnSpc>
                        <a:buNone/>
                      </a:pPr>
                      <a:r>
                        <a:rPr lang="en-CA" sz="1125" dirty="0">
                          <a:effectLst/>
                        </a:rPr>
                        <a:t>Users, Shows, Viewing History, Subscriptions</a:t>
                      </a:r>
                      <a:endParaRPr lang="en-CA" sz="1125" b="0" dirty="0">
                        <a:effectLst/>
                        <a:latin typeface="quote-cjk-patch"/>
                      </a:endParaRPr>
                    </a:p>
                  </a:txBody>
                  <a:tcPr marL="121920" marT="76200" marB="76200" anchor="ctr"/>
                </a:tc>
                <a:extLst>
                  <a:ext uri="{0D108BD9-81ED-4DB2-BD59-A6C34878D82A}">
                    <a16:rowId xmlns:a16="http://schemas.microsoft.com/office/drawing/2014/main" val="2906361748"/>
                  </a:ext>
                </a:extLst>
              </a:tr>
            </a:tbl>
          </a:graphicData>
        </a:graphic>
      </p:graphicFrame>
    </p:spTree>
    <p:extLst>
      <p:ext uri="{BB962C8B-B14F-4D97-AF65-F5344CB8AC3E}">
        <p14:creationId xmlns:p14="http://schemas.microsoft.com/office/powerpoint/2010/main" val="114481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40B9-76EB-B760-A548-E90BF3D10A76}"/>
              </a:ext>
            </a:extLst>
          </p:cNvPr>
          <p:cNvSpPr>
            <a:spLocks noGrp="1"/>
          </p:cNvSpPr>
          <p:nvPr>
            <p:ph type="title"/>
          </p:nvPr>
        </p:nvSpPr>
        <p:spPr>
          <a:xfrm>
            <a:off x="3314633" y="616923"/>
            <a:ext cx="8428800" cy="847200"/>
          </a:xfrm>
        </p:spPr>
        <p:txBody>
          <a:bodyPr/>
          <a:lstStyle/>
          <a:p>
            <a:r>
              <a:rPr lang="en-CA" b="1" dirty="0"/>
              <a:t>Data vs. Information</a:t>
            </a:r>
          </a:p>
        </p:txBody>
      </p:sp>
      <p:sp>
        <p:nvSpPr>
          <p:cNvPr id="3" name="Text Placeholder 2">
            <a:extLst>
              <a:ext uri="{FF2B5EF4-FFF2-40B4-BE49-F238E27FC236}">
                <a16:creationId xmlns:a16="http://schemas.microsoft.com/office/drawing/2014/main" id="{8F881FEA-11D8-25B7-A1CD-80B2BD9313B5}"/>
              </a:ext>
            </a:extLst>
          </p:cNvPr>
          <p:cNvSpPr>
            <a:spLocks noGrp="1"/>
          </p:cNvSpPr>
          <p:nvPr>
            <p:ph type="body" idx="1"/>
          </p:nvPr>
        </p:nvSpPr>
        <p:spPr>
          <a:xfrm>
            <a:off x="602673" y="1693719"/>
            <a:ext cx="11039610" cy="3657600"/>
          </a:xfrm>
        </p:spPr>
        <p:txBody>
          <a:bodyPr>
            <a:normAutofit fontScale="55000" lnSpcReduction="20000"/>
          </a:bodyPr>
          <a:lstStyle/>
          <a:p>
            <a:pPr marL="152396" indent="0">
              <a:lnSpc>
                <a:spcPct val="120000"/>
              </a:lnSpc>
              <a:buNone/>
            </a:pPr>
            <a:r>
              <a:rPr lang="en-CA" b="1" dirty="0"/>
              <a:t>What's the difference between data and information?</a:t>
            </a:r>
            <a:endParaRPr lang="en-CA" dirty="0"/>
          </a:p>
          <a:p>
            <a:pPr marL="152396" indent="0">
              <a:lnSpc>
                <a:spcPct val="120000"/>
              </a:lnSpc>
              <a:buNone/>
            </a:pPr>
            <a:r>
              <a:rPr lang="en-CA" b="1" dirty="0"/>
              <a:t>DATA</a:t>
            </a:r>
            <a:endParaRPr lang="en-CA" dirty="0"/>
          </a:p>
          <a:p>
            <a:pPr>
              <a:lnSpc>
                <a:spcPct val="120000"/>
              </a:lnSpc>
            </a:pPr>
            <a:r>
              <a:rPr lang="en-CA" dirty="0"/>
              <a:t>Raw, unorganized facts or figures</a:t>
            </a:r>
          </a:p>
          <a:p>
            <a:pPr>
              <a:lnSpc>
                <a:spcPct val="120000"/>
              </a:lnSpc>
            </a:pPr>
            <a:r>
              <a:rPr lang="en-CA" dirty="0"/>
              <a:t>Lacks context and meaning</a:t>
            </a:r>
          </a:p>
          <a:p>
            <a:pPr>
              <a:lnSpc>
                <a:spcPct val="120000"/>
              </a:lnSpc>
            </a:pPr>
            <a:r>
              <a:rPr lang="en-CA" dirty="0"/>
              <a:t>The most basic form</a:t>
            </a:r>
          </a:p>
          <a:p>
            <a:pPr marL="152396" indent="0">
              <a:lnSpc>
                <a:spcPct val="120000"/>
              </a:lnSpc>
              <a:buNone/>
            </a:pPr>
            <a:r>
              <a:rPr lang="en-CA" b="1" dirty="0"/>
              <a:t>Examples:</a:t>
            </a:r>
            <a:r>
              <a:rPr lang="en-CA" dirty="0"/>
              <a:t> 13, 15, 18</a:t>
            </a:r>
          </a:p>
          <a:p>
            <a:pPr marL="152396" indent="0">
              <a:lnSpc>
                <a:spcPct val="120000"/>
              </a:lnSpc>
              <a:buNone/>
            </a:pPr>
            <a:endParaRPr lang="en-CA" dirty="0"/>
          </a:p>
          <a:p>
            <a:pPr marL="152396" indent="0">
              <a:lnSpc>
                <a:spcPct val="120000"/>
              </a:lnSpc>
              <a:buNone/>
            </a:pPr>
            <a:r>
              <a:rPr lang="en-CA" b="1" dirty="0"/>
              <a:t>INFORMATION</a:t>
            </a:r>
            <a:endParaRPr lang="en-CA" dirty="0"/>
          </a:p>
          <a:p>
            <a:pPr>
              <a:lnSpc>
                <a:spcPct val="120000"/>
              </a:lnSpc>
            </a:pPr>
            <a:r>
              <a:rPr lang="en-CA" dirty="0"/>
              <a:t>Processed and organized form of data</a:t>
            </a:r>
          </a:p>
          <a:p>
            <a:pPr>
              <a:lnSpc>
                <a:spcPct val="120000"/>
              </a:lnSpc>
            </a:pPr>
            <a:r>
              <a:rPr lang="en-CA" dirty="0"/>
              <a:t>Data that has been analyzed and given context</a:t>
            </a:r>
          </a:p>
          <a:p>
            <a:pPr>
              <a:lnSpc>
                <a:spcPct val="120000"/>
              </a:lnSpc>
            </a:pPr>
            <a:r>
              <a:rPr lang="en-CA" dirty="0"/>
              <a:t>Provides meaning and can be used to answer questions</a:t>
            </a:r>
          </a:p>
          <a:p>
            <a:pPr>
              <a:lnSpc>
                <a:spcPct val="120000"/>
              </a:lnSpc>
            </a:pPr>
            <a:endParaRPr lang="en-CA" dirty="0"/>
          </a:p>
          <a:p>
            <a:pPr marL="152396" indent="0">
              <a:lnSpc>
                <a:spcPct val="120000"/>
              </a:lnSpc>
              <a:buNone/>
            </a:pPr>
            <a:r>
              <a:rPr lang="en-CA" b="1" dirty="0"/>
              <a:t>Examples:</a:t>
            </a:r>
            <a:r>
              <a:rPr lang="en-CA" dirty="0"/>
              <a:t> "The temperatures over the last three days are 13°, 15°, and 18°."</a:t>
            </a:r>
          </a:p>
          <a:p>
            <a:pPr marL="152396" indent="0">
              <a:lnSpc>
                <a:spcPct val="120000"/>
              </a:lnSpc>
              <a:buNone/>
            </a:pPr>
            <a:r>
              <a:rPr lang="en-CA" b="1" dirty="0"/>
              <a:t>Key Point:</a:t>
            </a:r>
            <a:r>
              <a:rPr lang="en-CA" dirty="0"/>
              <a:t> Data + Context = Information</a:t>
            </a:r>
          </a:p>
          <a:p>
            <a:endParaRPr lang="en-CA" dirty="0"/>
          </a:p>
        </p:txBody>
      </p:sp>
    </p:spTree>
    <p:extLst>
      <p:ext uri="{BB962C8B-B14F-4D97-AF65-F5344CB8AC3E}">
        <p14:creationId xmlns:p14="http://schemas.microsoft.com/office/powerpoint/2010/main" val="422542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1EA3-E419-4E2D-C59B-5DECDA4DE346}"/>
              </a:ext>
            </a:extLst>
          </p:cNvPr>
          <p:cNvSpPr>
            <a:spLocks noGrp="1"/>
          </p:cNvSpPr>
          <p:nvPr>
            <p:ph type="title"/>
          </p:nvPr>
        </p:nvSpPr>
        <p:spPr/>
        <p:txBody>
          <a:bodyPr/>
          <a:lstStyle/>
          <a:p>
            <a:r>
              <a:rPr lang="en-CA" b="1" dirty="0"/>
              <a:t>Quick Check</a:t>
            </a:r>
            <a:br>
              <a:rPr lang="en-CA" b="1" dirty="0"/>
            </a:br>
            <a:endParaRPr lang="en-CA" dirty="0"/>
          </a:p>
        </p:txBody>
      </p:sp>
      <p:sp>
        <p:nvSpPr>
          <p:cNvPr id="3" name="Text Placeholder 2">
            <a:extLst>
              <a:ext uri="{FF2B5EF4-FFF2-40B4-BE49-F238E27FC236}">
                <a16:creationId xmlns:a16="http://schemas.microsoft.com/office/drawing/2014/main" id="{3C0C2837-333B-06E3-3E52-892921CFB9C0}"/>
              </a:ext>
            </a:extLst>
          </p:cNvPr>
          <p:cNvSpPr>
            <a:spLocks noGrp="1"/>
          </p:cNvSpPr>
          <p:nvPr>
            <p:ph type="body" idx="1"/>
          </p:nvPr>
        </p:nvSpPr>
        <p:spPr>
          <a:xfrm>
            <a:off x="365760" y="1909491"/>
            <a:ext cx="4714781" cy="2577946"/>
          </a:xfrm>
        </p:spPr>
        <p:txBody>
          <a:bodyPr/>
          <a:lstStyle/>
          <a:p>
            <a:pPr marL="0" indent="0">
              <a:spcBef>
                <a:spcPts val="1200"/>
              </a:spcBef>
              <a:spcAft>
                <a:spcPts val="1200"/>
              </a:spcAft>
              <a:buNone/>
            </a:pPr>
            <a:r>
              <a:rPr lang="en-CA" b="1" dirty="0"/>
              <a:t>Which one is data? Which one is information?</a:t>
            </a:r>
            <a:endParaRPr lang="en-CA" dirty="0"/>
          </a:p>
          <a:p>
            <a:pPr marL="0" indent="0">
              <a:spcBef>
                <a:spcPts val="1200"/>
              </a:spcBef>
              <a:buNone/>
            </a:pPr>
            <a:r>
              <a:rPr lang="en-CA" dirty="0"/>
              <a:t>"What makes something information rather than just data?"</a:t>
            </a:r>
            <a:endParaRPr lang="en-CA" dirty="0">
              <a:solidFill>
                <a:srgbClr val="0F1115"/>
              </a:solidFill>
              <a:latin typeface="quote-cjk-patch"/>
            </a:endParaRPr>
          </a:p>
          <a:p>
            <a:endParaRPr lang="en-CA" dirty="0"/>
          </a:p>
        </p:txBody>
      </p:sp>
      <p:graphicFrame>
        <p:nvGraphicFramePr>
          <p:cNvPr id="4" name="Table 3">
            <a:extLst>
              <a:ext uri="{FF2B5EF4-FFF2-40B4-BE49-F238E27FC236}">
                <a16:creationId xmlns:a16="http://schemas.microsoft.com/office/drawing/2014/main" id="{7AAA4BAC-B224-B122-D6D3-EBABEB16E049}"/>
              </a:ext>
            </a:extLst>
          </p:cNvPr>
          <p:cNvGraphicFramePr>
            <a:graphicFrameLocks noGrp="1"/>
          </p:cNvGraphicFramePr>
          <p:nvPr>
            <p:extLst>
              <p:ext uri="{D42A27DB-BD31-4B8C-83A1-F6EECF244321}">
                <p14:modId xmlns:p14="http://schemas.microsoft.com/office/powerpoint/2010/main" val="2279359214"/>
              </p:ext>
            </p:extLst>
          </p:nvPr>
        </p:nvGraphicFramePr>
        <p:xfrm>
          <a:off x="5898893" y="2303601"/>
          <a:ext cx="5730240" cy="706819"/>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1933632153"/>
                    </a:ext>
                  </a:extLst>
                </a:gridCol>
                <a:gridCol w="2865120">
                  <a:extLst>
                    <a:ext uri="{9D8B030D-6E8A-4147-A177-3AD203B41FA5}">
                      <a16:colId xmlns:a16="http://schemas.microsoft.com/office/drawing/2014/main" val="2311308800"/>
                    </a:ext>
                  </a:extLst>
                </a:gridCol>
              </a:tblGrid>
              <a:tr h="0">
                <a:tc>
                  <a:txBody>
                    <a:bodyPr/>
                    <a:lstStyle/>
                    <a:p>
                      <a:pPr algn="l">
                        <a:lnSpc>
                          <a:spcPct val="138889"/>
                        </a:lnSpc>
                        <a:buNone/>
                      </a:pPr>
                      <a:r>
                        <a:rPr lang="en-CA" sz="1125" dirty="0">
                          <a:effectLst/>
                        </a:rPr>
                        <a:t>A</a:t>
                      </a:r>
                      <a:endParaRPr lang="en-CA" sz="1125" b="0" dirty="0">
                        <a:effectLst/>
                        <a:latin typeface="quote-cjk-patch"/>
                      </a:endParaRPr>
                    </a:p>
                  </a:txBody>
                  <a:tcPr marR="121920" marT="76200" marB="76200" anchor="ctr"/>
                </a:tc>
                <a:tc>
                  <a:txBody>
                    <a:bodyPr/>
                    <a:lstStyle/>
                    <a:p>
                      <a:pPr algn="l">
                        <a:lnSpc>
                          <a:spcPct val="138889"/>
                        </a:lnSpc>
                        <a:buNone/>
                      </a:pPr>
                      <a:r>
                        <a:rPr lang="en-CA" sz="1125">
                          <a:effectLst/>
                        </a:rPr>
                        <a:t>B</a:t>
                      </a:r>
                      <a:endParaRPr lang="en-CA" sz="1125" b="0">
                        <a:effectLst/>
                        <a:latin typeface="quote-cjk-patch"/>
                      </a:endParaRPr>
                    </a:p>
                  </a:txBody>
                  <a:tcPr marL="121920" marR="121920" marT="76200" marB="76200" anchor="ctr"/>
                </a:tc>
                <a:extLst>
                  <a:ext uri="{0D108BD9-81ED-4DB2-BD59-A6C34878D82A}">
                    <a16:rowId xmlns:a16="http://schemas.microsoft.com/office/drawing/2014/main" val="2014829319"/>
                  </a:ext>
                </a:extLst>
              </a:tr>
              <a:tr h="0">
                <a:tc>
                  <a:txBody>
                    <a:bodyPr/>
                    <a:lstStyle/>
                    <a:p>
                      <a:pPr>
                        <a:lnSpc>
                          <a:spcPct val="138889"/>
                        </a:lnSpc>
                        <a:buNone/>
                      </a:pPr>
                      <a:r>
                        <a:rPr lang="en-CA" sz="975">
                          <a:effectLst/>
                        </a:rPr>
                        <a:t>42</a:t>
                      </a:r>
                      <a:endParaRPr lang="en-CA" sz="1125" b="0">
                        <a:effectLst/>
                        <a:latin typeface="quote-cjk-patch"/>
                      </a:endParaRPr>
                    </a:p>
                  </a:txBody>
                  <a:tcPr marR="121920" marT="76200" marB="76200" anchor="ctr"/>
                </a:tc>
                <a:tc>
                  <a:txBody>
                    <a:bodyPr/>
                    <a:lstStyle/>
                    <a:p>
                      <a:pPr>
                        <a:lnSpc>
                          <a:spcPct val="138889"/>
                        </a:lnSpc>
                        <a:buNone/>
                      </a:pPr>
                      <a:r>
                        <a:rPr lang="en-CA" sz="975" dirty="0">
                          <a:effectLst/>
                        </a:rPr>
                        <a:t>42 students are enrolled in the class.</a:t>
                      </a:r>
                      <a:endParaRPr lang="en-CA" sz="1125" b="0" dirty="0">
                        <a:effectLst/>
                        <a:latin typeface="quote-cjk-patch"/>
                      </a:endParaRPr>
                    </a:p>
                  </a:txBody>
                  <a:tcPr marL="121920" marT="76200" marB="76200" anchor="ctr"/>
                </a:tc>
                <a:extLst>
                  <a:ext uri="{0D108BD9-81ED-4DB2-BD59-A6C34878D82A}">
                    <a16:rowId xmlns:a16="http://schemas.microsoft.com/office/drawing/2014/main" val="3731656627"/>
                  </a:ext>
                </a:extLst>
              </a:tr>
            </a:tbl>
          </a:graphicData>
        </a:graphic>
      </p:graphicFrame>
      <p:graphicFrame>
        <p:nvGraphicFramePr>
          <p:cNvPr id="5" name="Table 4">
            <a:extLst>
              <a:ext uri="{FF2B5EF4-FFF2-40B4-BE49-F238E27FC236}">
                <a16:creationId xmlns:a16="http://schemas.microsoft.com/office/drawing/2014/main" id="{00E81160-9780-2EC1-125D-87F4B4789074}"/>
              </a:ext>
            </a:extLst>
          </p:cNvPr>
          <p:cNvGraphicFramePr>
            <a:graphicFrameLocks noGrp="1"/>
          </p:cNvGraphicFramePr>
          <p:nvPr>
            <p:extLst>
              <p:ext uri="{D42A27DB-BD31-4B8C-83A1-F6EECF244321}">
                <p14:modId xmlns:p14="http://schemas.microsoft.com/office/powerpoint/2010/main" val="1502219470"/>
              </p:ext>
            </p:extLst>
          </p:nvPr>
        </p:nvGraphicFramePr>
        <p:xfrm>
          <a:off x="5898893" y="3010420"/>
          <a:ext cx="5730240" cy="706819"/>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1959632374"/>
                    </a:ext>
                  </a:extLst>
                </a:gridCol>
                <a:gridCol w="2865120">
                  <a:extLst>
                    <a:ext uri="{9D8B030D-6E8A-4147-A177-3AD203B41FA5}">
                      <a16:colId xmlns:a16="http://schemas.microsoft.com/office/drawing/2014/main" val="1675200557"/>
                    </a:ext>
                  </a:extLst>
                </a:gridCol>
              </a:tblGrid>
              <a:tr h="0">
                <a:tc>
                  <a:txBody>
                    <a:bodyPr/>
                    <a:lstStyle/>
                    <a:p>
                      <a:pPr algn="l">
                        <a:lnSpc>
                          <a:spcPct val="138889"/>
                        </a:lnSpc>
                        <a:buNone/>
                      </a:pPr>
                      <a:r>
                        <a:rPr lang="en-CA" sz="1125" dirty="0">
                          <a:effectLst/>
                        </a:rPr>
                        <a:t>C</a:t>
                      </a:r>
                      <a:endParaRPr lang="en-CA" sz="1125" b="0" dirty="0">
                        <a:effectLst/>
                        <a:latin typeface="quote-cjk-patch"/>
                      </a:endParaRPr>
                    </a:p>
                  </a:txBody>
                  <a:tcPr marR="121920" marT="76200" marB="76200" anchor="ctr"/>
                </a:tc>
                <a:tc>
                  <a:txBody>
                    <a:bodyPr/>
                    <a:lstStyle/>
                    <a:p>
                      <a:pPr algn="l">
                        <a:lnSpc>
                          <a:spcPct val="138889"/>
                        </a:lnSpc>
                        <a:buNone/>
                      </a:pPr>
                      <a:r>
                        <a:rPr lang="en-CA" sz="1125">
                          <a:effectLst/>
                        </a:rPr>
                        <a:t>D</a:t>
                      </a:r>
                      <a:endParaRPr lang="en-CA" sz="1125" b="0">
                        <a:effectLst/>
                        <a:latin typeface="quote-cjk-patch"/>
                      </a:endParaRPr>
                    </a:p>
                  </a:txBody>
                  <a:tcPr marL="121920" marR="121920" marT="76200" marB="76200" anchor="ctr"/>
                </a:tc>
                <a:extLst>
                  <a:ext uri="{0D108BD9-81ED-4DB2-BD59-A6C34878D82A}">
                    <a16:rowId xmlns:a16="http://schemas.microsoft.com/office/drawing/2014/main" val="570498565"/>
                  </a:ext>
                </a:extLst>
              </a:tr>
              <a:tr h="0">
                <a:tc>
                  <a:txBody>
                    <a:bodyPr/>
                    <a:lstStyle/>
                    <a:p>
                      <a:pPr>
                        <a:lnSpc>
                          <a:spcPct val="138889"/>
                        </a:lnSpc>
                        <a:buNone/>
                      </a:pPr>
                      <a:r>
                        <a:rPr lang="en-CA" sz="975" dirty="0">
                          <a:effectLst/>
                        </a:rPr>
                        <a:t>2026-09-02</a:t>
                      </a:r>
                      <a:endParaRPr lang="en-CA" sz="1125" b="0" dirty="0">
                        <a:effectLst/>
                        <a:latin typeface="quote-cjk-patch"/>
                      </a:endParaRPr>
                    </a:p>
                  </a:txBody>
                  <a:tcPr marR="121920" marT="76200" marB="76200" anchor="ctr"/>
                </a:tc>
                <a:tc>
                  <a:txBody>
                    <a:bodyPr/>
                    <a:lstStyle/>
                    <a:p>
                      <a:pPr>
                        <a:lnSpc>
                          <a:spcPct val="138889"/>
                        </a:lnSpc>
                        <a:buNone/>
                      </a:pPr>
                      <a:r>
                        <a:rPr lang="en-CA" sz="975" dirty="0">
                          <a:effectLst/>
                        </a:rPr>
                        <a:t>The assignment is due September 2, 2026.</a:t>
                      </a:r>
                      <a:endParaRPr lang="en-CA" sz="1125" b="0" dirty="0">
                        <a:effectLst/>
                        <a:latin typeface="quote-cjk-patch"/>
                      </a:endParaRPr>
                    </a:p>
                  </a:txBody>
                  <a:tcPr marL="121920" marT="76200" marB="76200" anchor="ctr"/>
                </a:tc>
                <a:extLst>
                  <a:ext uri="{0D108BD9-81ED-4DB2-BD59-A6C34878D82A}">
                    <a16:rowId xmlns:a16="http://schemas.microsoft.com/office/drawing/2014/main" val="746656962"/>
                  </a:ext>
                </a:extLst>
              </a:tr>
            </a:tbl>
          </a:graphicData>
        </a:graphic>
      </p:graphicFrame>
    </p:spTree>
    <p:extLst>
      <p:ext uri="{BB962C8B-B14F-4D97-AF65-F5344CB8AC3E}">
        <p14:creationId xmlns:p14="http://schemas.microsoft.com/office/powerpoint/2010/main" val="1222718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27337AD8-D615-60C0-0F64-5BD75626A9AD}"/>
            </a:ext>
          </a:extLst>
        </p:cNvPr>
        <p:cNvGrpSpPr/>
        <p:nvPr/>
      </p:nvGrpSpPr>
      <p:grpSpPr>
        <a:xfrm>
          <a:off x="0" y="0"/>
          <a:ext cx="0" cy="0"/>
          <a:chOff x="0" y="0"/>
          <a:chExt cx="0" cy="0"/>
        </a:xfrm>
      </p:grpSpPr>
      <p:sp>
        <p:nvSpPr>
          <p:cNvPr id="231" name="Google Shape;231;p39">
            <a:extLst>
              <a:ext uri="{FF2B5EF4-FFF2-40B4-BE49-F238E27FC236}">
                <a16:creationId xmlns:a16="http://schemas.microsoft.com/office/drawing/2014/main" id="{6CE30626-48D2-6E3C-0F54-A6289924B7B7}"/>
              </a:ext>
            </a:extLst>
          </p:cNvPr>
          <p:cNvSpPr txBox="1">
            <a:spLocks noGrp="1"/>
          </p:cNvSpPr>
          <p:nvPr>
            <p:ph type="body" sz="quarter" idx="10"/>
          </p:nvPr>
        </p:nvSpPr>
        <p:spPr>
          <a:xfrm>
            <a:off x="2919937" y="3045791"/>
            <a:ext cx="6365875" cy="928687"/>
          </a:xfrm>
        </p:spPr>
        <p:txBody>
          <a:bodyPr spcFirstLastPara="1" vert="horz" lIns="121900" tIns="121900" rIns="121900" bIns="121900" rtlCol="0" anchorCtr="0">
            <a:normAutofit/>
          </a:bodyPr>
          <a:lstStyle/>
          <a:p>
            <a:r>
              <a:rPr lang="en-CA" sz="3700" dirty="0"/>
              <a:t>What is a database?</a:t>
            </a:r>
          </a:p>
        </p:txBody>
      </p:sp>
    </p:spTree>
    <p:extLst>
      <p:ext uri="{BB962C8B-B14F-4D97-AF65-F5344CB8AC3E}">
        <p14:creationId xmlns:p14="http://schemas.microsoft.com/office/powerpoint/2010/main" val="348299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271D4-EEC2-64AF-F09A-4EAE6197352E}"/>
              </a:ext>
            </a:extLst>
          </p:cNvPr>
          <p:cNvSpPr>
            <a:spLocks noGrp="1"/>
          </p:cNvSpPr>
          <p:nvPr>
            <p:ph type="title"/>
          </p:nvPr>
        </p:nvSpPr>
        <p:spPr/>
        <p:txBody>
          <a:bodyPr/>
          <a:lstStyle/>
          <a:p>
            <a:r>
              <a:rPr lang="en-CA" b="1" dirty="0"/>
              <a:t>What is a Database?</a:t>
            </a:r>
            <a:br>
              <a:rPr lang="en-CA" b="1" dirty="0"/>
            </a:br>
            <a:endParaRPr lang="en-CA" dirty="0"/>
          </a:p>
        </p:txBody>
      </p:sp>
      <p:sp>
        <p:nvSpPr>
          <p:cNvPr id="3" name="Text Placeholder 2">
            <a:extLst>
              <a:ext uri="{FF2B5EF4-FFF2-40B4-BE49-F238E27FC236}">
                <a16:creationId xmlns:a16="http://schemas.microsoft.com/office/drawing/2014/main" id="{285D5549-60DB-C842-493E-AEAA7B490610}"/>
              </a:ext>
            </a:extLst>
          </p:cNvPr>
          <p:cNvSpPr>
            <a:spLocks noGrp="1"/>
          </p:cNvSpPr>
          <p:nvPr>
            <p:ph type="body" idx="1"/>
          </p:nvPr>
        </p:nvSpPr>
        <p:spPr>
          <a:xfrm>
            <a:off x="200119" y="1843733"/>
            <a:ext cx="4579699" cy="3590712"/>
          </a:xfrm>
        </p:spPr>
        <p:txBody>
          <a:bodyPr>
            <a:normAutofit/>
          </a:bodyPr>
          <a:lstStyle/>
          <a:p>
            <a:pPr marL="152396" indent="0">
              <a:buNone/>
            </a:pPr>
            <a:r>
              <a:rPr lang="en-CA" sz="2400" b="1" dirty="0"/>
              <a:t>A database is an organized collection of data.</a:t>
            </a:r>
            <a:endParaRPr lang="en-CA" sz="2400" dirty="0"/>
          </a:p>
          <a:p>
            <a:pPr marL="152396" indent="0">
              <a:buNone/>
            </a:pPr>
            <a:r>
              <a:rPr lang="en-CA" sz="1800" dirty="0"/>
              <a:t>That's it. But the </a:t>
            </a:r>
            <a:r>
              <a:rPr lang="en-CA" sz="1800" b="1" dirty="0"/>
              <a:t>organization</a:t>
            </a:r>
            <a:r>
              <a:rPr lang="en-CA" sz="1800" dirty="0"/>
              <a:t> matters.</a:t>
            </a:r>
          </a:p>
          <a:p>
            <a:pPr marL="152396" indent="0">
              <a:buNone/>
            </a:pPr>
            <a:endParaRPr lang="en-CA" dirty="0"/>
          </a:p>
          <a:p>
            <a:pPr marL="152396" indent="0">
              <a:buNone/>
            </a:pPr>
            <a:r>
              <a:rPr lang="en-CA" sz="2400" b="1" dirty="0"/>
              <a:t>Examples of data stored in databases-&gt;</a:t>
            </a:r>
          </a:p>
          <a:p>
            <a:pPr marL="152396" indent="0">
              <a:buNone/>
            </a:pPr>
            <a:endParaRPr lang="en-CA" sz="1900" dirty="0"/>
          </a:p>
          <a:p>
            <a:pPr marL="152396" indent="0">
              <a:buNone/>
            </a:pPr>
            <a:r>
              <a:rPr lang="en-CA" sz="1900" dirty="0"/>
              <a:t>"So, is an Excel spreadsheet a database?"</a:t>
            </a:r>
          </a:p>
          <a:p>
            <a:endParaRPr lang="en-CA" dirty="0"/>
          </a:p>
        </p:txBody>
      </p:sp>
      <p:graphicFrame>
        <p:nvGraphicFramePr>
          <p:cNvPr id="4" name="Table 3">
            <a:extLst>
              <a:ext uri="{FF2B5EF4-FFF2-40B4-BE49-F238E27FC236}">
                <a16:creationId xmlns:a16="http://schemas.microsoft.com/office/drawing/2014/main" id="{FAC3CF68-AB49-ED24-AC2A-91A0C419F6E2}"/>
              </a:ext>
            </a:extLst>
          </p:cNvPr>
          <p:cNvGraphicFramePr>
            <a:graphicFrameLocks noGrp="1"/>
          </p:cNvGraphicFramePr>
          <p:nvPr>
            <p:extLst>
              <p:ext uri="{D42A27DB-BD31-4B8C-83A1-F6EECF244321}">
                <p14:modId xmlns:p14="http://schemas.microsoft.com/office/powerpoint/2010/main" val="1619253059"/>
              </p:ext>
            </p:extLst>
          </p:nvPr>
        </p:nvGraphicFramePr>
        <p:xfrm>
          <a:off x="5281325" y="1843733"/>
          <a:ext cx="6347808" cy="2765730"/>
        </p:xfrm>
        <a:graphic>
          <a:graphicData uri="http://schemas.openxmlformats.org/drawingml/2006/table">
            <a:tbl>
              <a:tblPr>
                <a:tableStyleId>{5C22544A-7EE6-4342-B048-85BDC9FD1C3A}</a:tableStyleId>
              </a:tblPr>
              <a:tblGrid>
                <a:gridCol w="3173904">
                  <a:extLst>
                    <a:ext uri="{9D8B030D-6E8A-4147-A177-3AD203B41FA5}">
                      <a16:colId xmlns:a16="http://schemas.microsoft.com/office/drawing/2014/main" val="473386203"/>
                    </a:ext>
                  </a:extLst>
                </a:gridCol>
                <a:gridCol w="3173904">
                  <a:extLst>
                    <a:ext uri="{9D8B030D-6E8A-4147-A177-3AD203B41FA5}">
                      <a16:colId xmlns:a16="http://schemas.microsoft.com/office/drawing/2014/main" val="370659437"/>
                    </a:ext>
                  </a:extLst>
                </a:gridCol>
              </a:tblGrid>
              <a:tr h="460955">
                <a:tc>
                  <a:txBody>
                    <a:bodyPr/>
                    <a:lstStyle/>
                    <a:p>
                      <a:pPr algn="l">
                        <a:lnSpc>
                          <a:spcPct val="138889"/>
                        </a:lnSpc>
                        <a:buNone/>
                      </a:pPr>
                      <a:r>
                        <a:rPr lang="en-CA" sz="1125" b="1" dirty="0">
                          <a:effectLst/>
                        </a:rPr>
                        <a:t>Type</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b="1" dirty="0">
                          <a:effectLst/>
                        </a:rPr>
                        <a:t>Examples</a:t>
                      </a:r>
                      <a:endParaRPr lang="en-CA" sz="1125" b="1" i="0" dirty="0">
                        <a:solidFill>
                          <a:srgbClr val="0F1115"/>
                        </a:solidFill>
                        <a:effectLst/>
                        <a:latin typeface="quote-cjk-patch"/>
                      </a:endParaRPr>
                    </a:p>
                  </a:txBody>
                  <a:tcPr marL="121920" marR="121920" marT="76200" marB="76200" anchor="ctr"/>
                </a:tc>
                <a:extLst>
                  <a:ext uri="{0D108BD9-81ED-4DB2-BD59-A6C34878D82A}">
                    <a16:rowId xmlns:a16="http://schemas.microsoft.com/office/drawing/2014/main" val="426071972"/>
                  </a:ext>
                </a:extLst>
              </a:tr>
              <a:tr h="460955">
                <a:tc>
                  <a:txBody>
                    <a:bodyPr/>
                    <a:lstStyle/>
                    <a:p>
                      <a:pPr algn="l">
                        <a:lnSpc>
                          <a:spcPct val="138889"/>
                        </a:lnSpc>
                        <a:buNone/>
                      </a:pPr>
                      <a:r>
                        <a:rPr lang="en-CA" sz="1125">
                          <a:effectLst/>
                        </a:rPr>
                        <a:t>Customer Information</a:t>
                      </a:r>
                      <a:endParaRPr lang="en-CA" sz="1125" b="0" i="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Name, Address, Phone Number</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3599122807"/>
                  </a:ext>
                </a:extLst>
              </a:tr>
              <a:tr h="460955">
                <a:tc>
                  <a:txBody>
                    <a:bodyPr/>
                    <a:lstStyle/>
                    <a:p>
                      <a:pPr algn="l">
                        <a:lnSpc>
                          <a:spcPct val="138889"/>
                        </a:lnSpc>
                        <a:buNone/>
                      </a:pPr>
                      <a:r>
                        <a:rPr lang="en-CA" sz="1125" dirty="0">
                          <a:effectLst/>
                        </a:rPr>
                        <a:t>Products</a:t>
                      </a:r>
                      <a:endParaRPr lang="en-CA" sz="1125" b="0" i="0" dirty="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Description, Price, Quantity</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4116546304"/>
                  </a:ext>
                </a:extLst>
              </a:tr>
              <a:tr h="460955">
                <a:tc>
                  <a:txBody>
                    <a:bodyPr/>
                    <a:lstStyle/>
                    <a:p>
                      <a:pPr algn="l">
                        <a:lnSpc>
                          <a:spcPct val="138889"/>
                        </a:lnSpc>
                        <a:buNone/>
                      </a:pPr>
                      <a:r>
                        <a:rPr lang="en-CA" sz="1125" dirty="0">
                          <a:effectLst/>
                        </a:rPr>
                        <a:t>Orders</a:t>
                      </a:r>
                      <a:endParaRPr lang="en-CA" sz="1125" b="0" i="0" dirty="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Order Date, Customer, Total</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1588544653"/>
                  </a:ext>
                </a:extLst>
              </a:tr>
              <a:tr h="460955">
                <a:tc>
                  <a:txBody>
                    <a:bodyPr/>
                    <a:lstStyle/>
                    <a:p>
                      <a:pPr algn="l">
                        <a:lnSpc>
                          <a:spcPct val="138889"/>
                        </a:lnSpc>
                        <a:buNone/>
                      </a:pPr>
                      <a:r>
                        <a:rPr lang="en-CA" sz="1125" dirty="0">
                          <a:effectLst/>
                        </a:rPr>
                        <a:t>Employees</a:t>
                      </a:r>
                      <a:endParaRPr lang="en-CA" sz="1125" b="0" i="0" dirty="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Name, Position, Salary</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1508996914"/>
                  </a:ext>
                </a:extLst>
              </a:tr>
              <a:tr h="460955">
                <a:tc>
                  <a:txBody>
                    <a:bodyPr/>
                    <a:lstStyle/>
                    <a:p>
                      <a:pPr algn="l">
                        <a:lnSpc>
                          <a:spcPct val="138889"/>
                        </a:lnSpc>
                        <a:buNone/>
                      </a:pPr>
                      <a:r>
                        <a:rPr lang="en-CA" sz="1125">
                          <a:effectLst/>
                        </a:rPr>
                        <a:t>Student Records</a:t>
                      </a:r>
                      <a:endParaRPr lang="en-CA" sz="1125" b="0" i="0">
                        <a:solidFill>
                          <a:srgbClr val="0F1115"/>
                        </a:solidFill>
                        <a:effectLst/>
                        <a:latin typeface="quote-cjk-patch"/>
                      </a:endParaRPr>
                    </a:p>
                  </a:txBody>
                  <a:tcPr marR="121920" marT="76200" marB="76200" anchor="ctr"/>
                </a:tc>
                <a:tc>
                  <a:txBody>
                    <a:bodyPr/>
                    <a:lstStyle/>
                    <a:p>
                      <a:pPr algn="l">
                        <a:lnSpc>
                          <a:spcPct val="138889"/>
                        </a:lnSpc>
                        <a:buNone/>
                      </a:pPr>
                      <a:r>
                        <a:rPr lang="en-CA" sz="1125" dirty="0">
                          <a:effectLst/>
                        </a:rPr>
                        <a:t>ID, Name, Grades, Courses</a:t>
                      </a:r>
                      <a:endParaRPr lang="en-CA" sz="1125"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3658257191"/>
                  </a:ext>
                </a:extLst>
              </a:tr>
            </a:tbl>
          </a:graphicData>
        </a:graphic>
      </p:graphicFrame>
    </p:spTree>
    <p:extLst>
      <p:ext uri="{BB962C8B-B14F-4D97-AF65-F5344CB8AC3E}">
        <p14:creationId xmlns:p14="http://schemas.microsoft.com/office/powerpoint/2010/main" val="1142829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76067-4A89-57E6-0B84-6FBE0D39EF6C}"/>
              </a:ext>
            </a:extLst>
          </p:cNvPr>
          <p:cNvSpPr>
            <a:spLocks noGrp="1"/>
          </p:cNvSpPr>
          <p:nvPr>
            <p:ph type="title"/>
          </p:nvPr>
        </p:nvSpPr>
        <p:spPr>
          <a:xfrm>
            <a:off x="3345806" y="539333"/>
            <a:ext cx="8428800" cy="847200"/>
          </a:xfrm>
        </p:spPr>
        <p:txBody>
          <a:bodyPr/>
          <a:lstStyle/>
          <a:p>
            <a:r>
              <a:rPr lang="en-CA" b="1" dirty="0"/>
              <a:t>Why Not Just Use Excel?</a:t>
            </a:r>
            <a:br>
              <a:rPr lang="en-CA" b="1" dirty="0"/>
            </a:br>
            <a:endParaRPr lang="en-CA" dirty="0"/>
          </a:p>
        </p:txBody>
      </p:sp>
      <p:sp>
        <p:nvSpPr>
          <p:cNvPr id="3" name="Text Placeholder 2">
            <a:extLst>
              <a:ext uri="{FF2B5EF4-FFF2-40B4-BE49-F238E27FC236}">
                <a16:creationId xmlns:a16="http://schemas.microsoft.com/office/drawing/2014/main" id="{7D15A01B-A00C-8780-A303-76BEDD5F35D0}"/>
              </a:ext>
            </a:extLst>
          </p:cNvPr>
          <p:cNvSpPr>
            <a:spLocks noGrp="1"/>
          </p:cNvSpPr>
          <p:nvPr>
            <p:ph type="body" idx="1"/>
          </p:nvPr>
        </p:nvSpPr>
        <p:spPr>
          <a:xfrm>
            <a:off x="685800" y="1615134"/>
            <a:ext cx="10956483" cy="3632276"/>
          </a:xfrm>
        </p:spPr>
        <p:txBody>
          <a:bodyPr>
            <a:normAutofit fontScale="70000" lnSpcReduction="20000"/>
          </a:bodyPr>
          <a:lstStyle/>
          <a:p>
            <a:pPr marL="152396" indent="0">
              <a:lnSpc>
                <a:spcPct val="120000"/>
              </a:lnSpc>
              <a:buNone/>
            </a:pPr>
            <a:r>
              <a:rPr lang="en-CA" b="1" dirty="0"/>
              <a:t>For small amounts of similar data, a spreadsheet works fine. </a:t>
            </a:r>
            <a:r>
              <a:rPr lang="en-CA" dirty="0"/>
              <a:t>But what happens when the data grows?</a:t>
            </a:r>
          </a:p>
          <a:p>
            <a:pPr marL="152396" indent="0">
              <a:lnSpc>
                <a:spcPct val="120000"/>
              </a:lnSpc>
              <a:buNone/>
            </a:pPr>
            <a:r>
              <a:rPr lang="en-CA" b="1" dirty="0"/>
              <a:t>Scenario:</a:t>
            </a:r>
            <a:endParaRPr lang="en-CA" dirty="0"/>
          </a:p>
          <a:p>
            <a:pPr>
              <a:lnSpc>
                <a:spcPct val="120000"/>
              </a:lnSpc>
            </a:pPr>
            <a:r>
              <a:rPr lang="en-CA" dirty="0"/>
              <a:t>10 customers → 1,000 customers → 1,000,000 customers</a:t>
            </a:r>
          </a:p>
          <a:p>
            <a:pPr marL="152396" indent="0">
              <a:lnSpc>
                <a:spcPct val="120000"/>
              </a:lnSpc>
              <a:buNone/>
            </a:pPr>
            <a:r>
              <a:rPr lang="en-CA" b="1" dirty="0"/>
              <a:t>Now consider:</a:t>
            </a:r>
            <a:endParaRPr lang="en-CA" dirty="0"/>
          </a:p>
          <a:p>
            <a:pPr lvl="0">
              <a:lnSpc>
                <a:spcPct val="120000"/>
              </a:lnSpc>
            </a:pPr>
            <a:r>
              <a:rPr lang="en-CA" dirty="0"/>
              <a:t>Multiple people need to edit the data</a:t>
            </a:r>
          </a:p>
          <a:p>
            <a:pPr lvl="0">
              <a:lnSpc>
                <a:spcPct val="120000"/>
              </a:lnSpc>
            </a:pPr>
            <a:r>
              <a:rPr lang="en-CA" dirty="0"/>
              <a:t>Data needs to be secure</a:t>
            </a:r>
          </a:p>
          <a:p>
            <a:pPr lvl="0">
              <a:lnSpc>
                <a:spcPct val="120000"/>
              </a:lnSpc>
            </a:pPr>
            <a:r>
              <a:rPr lang="en-CA" dirty="0"/>
              <a:t>Information must stay accurate</a:t>
            </a:r>
          </a:p>
          <a:p>
            <a:pPr lvl="0">
              <a:lnSpc>
                <a:spcPct val="120000"/>
              </a:lnSpc>
            </a:pPr>
            <a:r>
              <a:rPr lang="en-CA" dirty="0"/>
              <a:t>The same information appears in multiple places</a:t>
            </a:r>
          </a:p>
          <a:p>
            <a:pPr lvl="0">
              <a:lnSpc>
                <a:spcPct val="120000"/>
              </a:lnSpc>
            </a:pPr>
            <a:r>
              <a:rPr lang="en-CA" dirty="0"/>
              <a:t>People need to find information quickly</a:t>
            </a:r>
          </a:p>
          <a:p>
            <a:pPr marL="152396" indent="0">
              <a:lnSpc>
                <a:spcPct val="120000"/>
              </a:lnSpc>
              <a:buNone/>
            </a:pPr>
            <a:r>
              <a:rPr lang="en-CA" b="1" dirty="0"/>
              <a:t>Question: </a:t>
            </a:r>
            <a:r>
              <a:rPr lang="en-CA" dirty="0"/>
              <a:t>"At what point does a spreadsheet become a problem?"</a:t>
            </a:r>
          </a:p>
          <a:p>
            <a:endParaRPr lang="en-CA" dirty="0"/>
          </a:p>
        </p:txBody>
      </p:sp>
    </p:spTree>
    <p:extLst>
      <p:ext uri="{BB962C8B-B14F-4D97-AF65-F5344CB8AC3E}">
        <p14:creationId xmlns:p14="http://schemas.microsoft.com/office/powerpoint/2010/main" val="411440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A670-E6EB-CEC1-6A57-D7EECDC0CF64}"/>
              </a:ext>
            </a:extLst>
          </p:cNvPr>
          <p:cNvSpPr>
            <a:spLocks noGrp="1"/>
          </p:cNvSpPr>
          <p:nvPr>
            <p:ph type="title"/>
          </p:nvPr>
        </p:nvSpPr>
        <p:spPr>
          <a:xfrm>
            <a:off x="3325024" y="612070"/>
            <a:ext cx="8428800" cy="847200"/>
          </a:xfrm>
        </p:spPr>
        <p:txBody>
          <a:bodyPr/>
          <a:lstStyle/>
          <a:p>
            <a:r>
              <a:rPr lang="en-CA" b="1" dirty="0"/>
              <a:t>Problems with Spreadsheets</a:t>
            </a:r>
            <a:br>
              <a:rPr lang="en-CA" b="1" dirty="0"/>
            </a:br>
            <a:endParaRPr lang="en-CA" dirty="0"/>
          </a:p>
        </p:txBody>
      </p:sp>
      <p:sp>
        <p:nvSpPr>
          <p:cNvPr id="3" name="Text Placeholder 2">
            <a:extLst>
              <a:ext uri="{FF2B5EF4-FFF2-40B4-BE49-F238E27FC236}">
                <a16:creationId xmlns:a16="http://schemas.microsoft.com/office/drawing/2014/main" id="{97886E46-D25A-4B04-F58A-92B1D253AA1F}"/>
              </a:ext>
            </a:extLst>
          </p:cNvPr>
          <p:cNvSpPr>
            <a:spLocks noGrp="1"/>
          </p:cNvSpPr>
          <p:nvPr>
            <p:ph type="body" idx="1"/>
          </p:nvPr>
        </p:nvSpPr>
        <p:spPr>
          <a:xfrm>
            <a:off x="646927" y="1427400"/>
            <a:ext cx="9629681" cy="4003200"/>
          </a:xfrm>
        </p:spPr>
        <p:txBody>
          <a:bodyPr/>
          <a:lstStyle/>
          <a:p>
            <a:pPr marL="152396" indent="0">
              <a:buNone/>
            </a:pPr>
            <a:r>
              <a:rPr lang="en-CA" sz="1800" b="1" dirty="0"/>
              <a:t>Storing data is easy. Managing data well is harder.</a:t>
            </a:r>
            <a:endParaRPr lang="en-CA" sz="1800" dirty="0"/>
          </a:p>
        </p:txBody>
      </p:sp>
      <p:graphicFrame>
        <p:nvGraphicFramePr>
          <p:cNvPr id="4" name="Table 3">
            <a:extLst>
              <a:ext uri="{FF2B5EF4-FFF2-40B4-BE49-F238E27FC236}">
                <a16:creationId xmlns:a16="http://schemas.microsoft.com/office/drawing/2014/main" id="{061D1ED5-61FD-00FB-4FAA-F74EF57FA60C}"/>
              </a:ext>
            </a:extLst>
          </p:cNvPr>
          <p:cNvGraphicFramePr>
            <a:graphicFrameLocks noGrp="1"/>
          </p:cNvGraphicFramePr>
          <p:nvPr>
            <p:extLst>
              <p:ext uri="{D42A27DB-BD31-4B8C-83A1-F6EECF244321}">
                <p14:modId xmlns:p14="http://schemas.microsoft.com/office/powerpoint/2010/main" val="775840528"/>
              </p:ext>
            </p:extLst>
          </p:nvPr>
        </p:nvGraphicFramePr>
        <p:xfrm>
          <a:off x="872836" y="1916518"/>
          <a:ext cx="8260773" cy="3514082"/>
        </p:xfrm>
        <a:graphic>
          <a:graphicData uri="http://schemas.openxmlformats.org/drawingml/2006/table">
            <a:tbl>
              <a:tblPr>
                <a:tableStyleId>{5C22544A-7EE6-4342-B048-85BDC9FD1C3A}</a:tableStyleId>
              </a:tblPr>
              <a:tblGrid>
                <a:gridCol w="1512899">
                  <a:extLst>
                    <a:ext uri="{9D8B030D-6E8A-4147-A177-3AD203B41FA5}">
                      <a16:colId xmlns:a16="http://schemas.microsoft.com/office/drawing/2014/main" val="2197254823"/>
                    </a:ext>
                  </a:extLst>
                </a:gridCol>
                <a:gridCol w="6747874">
                  <a:extLst>
                    <a:ext uri="{9D8B030D-6E8A-4147-A177-3AD203B41FA5}">
                      <a16:colId xmlns:a16="http://schemas.microsoft.com/office/drawing/2014/main" val="2460157981"/>
                    </a:ext>
                  </a:extLst>
                </a:gridCol>
              </a:tblGrid>
              <a:tr h="327576">
                <a:tc>
                  <a:txBody>
                    <a:bodyPr/>
                    <a:lstStyle/>
                    <a:p>
                      <a:pPr algn="l">
                        <a:lnSpc>
                          <a:spcPct val="138889"/>
                        </a:lnSpc>
                        <a:buNone/>
                      </a:pPr>
                      <a:r>
                        <a:rPr lang="en-CA" sz="1100" b="1" dirty="0">
                          <a:effectLst/>
                        </a:rPr>
                        <a:t>Problem</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b="1" dirty="0">
                          <a:effectLst/>
                        </a:rPr>
                        <a:t>Explanation</a:t>
                      </a:r>
                      <a:endParaRPr lang="en-CA" sz="1100" b="1" i="0" dirty="0">
                        <a:solidFill>
                          <a:srgbClr val="0F1115"/>
                        </a:solidFill>
                        <a:effectLst/>
                        <a:latin typeface="quote-cjk-patch"/>
                      </a:endParaRPr>
                    </a:p>
                  </a:txBody>
                  <a:tcPr marL="100729" marR="100729" marT="62955" marB="62955" anchor="ctr"/>
                </a:tc>
                <a:extLst>
                  <a:ext uri="{0D108BD9-81ED-4DB2-BD59-A6C34878D82A}">
                    <a16:rowId xmlns:a16="http://schemas.microsoft.com/office/drawing/2014/main" val="2911694756"/>
                  </a:ext>
                </a:extLst>
              </a:tr>
              <a:tr h="327576">
                <a:tc>
                  <a:txBody>
                    <a:bodyPr/>
                    <a:lstStyle/>
                    <a:p>
                      <a:pPr algn="l">
                        <a:lnSpc>
                          <a:spcPct val="138889"/>
                        </a:lnSpc>
                        <a:buNone/>
                      </a:pPr>
                      <a:r>
                        <a:rPr lang="en-CA" sz="1100" b="1" dirty="0">
                          <a:effectLst/>
                        </a:rPr>
                        <a:t>Size</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a:effectLst/>
                        </a:rPr>
                        <a:t>A little data tends to grow into a lot more.</a:t>
                      </a:r>
                      <a:endParaRPr lang="en-CA" sz="1100" b="0" i="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2610369438"/>
                  </a:ext>
                </a:extLst>
              </a:tr>
              <a:tr h="457644">
                <a:tc>
                  <a:txBody>
                    <a:bodyPr/>
                    <a:lstStyle/>
                    <a:p>
                      <a:pPr algn="l">
                        <a:lnSpc>
                          <a:spcPct val="138889"/>
                        </a:lnSpc>
                        <a:buNone/>
                      </a:pPr>
                      <a:r>
                        <a:rPr lang="en-CA" sz="1100" b="1" dirty="0">
                          <a:effectLst/>
                        </a:rPr>
                        <a:t>Updating</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a:effectLst/>
                        </a:rPr>
                        <a:t>What if many people need to work with the data at the same time?</a:t>
                      </a:r>
                      <a:endParaRPr lang="en-CA" sz="1100" b="0" i="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2997304733"/>
                  </a:ext>
                </a:extLst>
              </a:tr>
              <a:tr h="554413">
                <a:tc>
                  <a:txBody>
                    <a:bodyPr/>
                    <a:lstStyle/>
                    <a:p>
                      <a:pPr algn="l">
                        <a:lnSpc>
                          <a:spcPct val="138889"/>
                        </a:lnSpc>
                        <a:buNone/>
                      </a:pPr>
                      <a:r>
                        <a:rPr lang="en-CA" sz="1100" b="1" dirty="0">
                          <a:effectLst/>
                        </a:rPr>
                        <a:t>Accuracy</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a:effectLst/>
                        </a:rPr>
                        <a:t>Is there something to prevent incorrect data being entered? Not usually in a spreadsheet.</a:t>
                      </a:r>
                      <a:endParaRPr lang="en-CA" sz="1100" b="0" i="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1933399162"/>
                  </a:ext>
                </a:extLst>
              </a:tr>
              <a:tr h="637266">
                <a:tc>
                  <a:txBody>
                    <a:bodyPr/>
                    <a:lstStyle/>
                    <a:p>
                      <a:pPr algn="l">
                        <a:lnSpc>
                          <a:spcPct val="138889"/>
                        </a:lnSpc>
                        <a:buNone/>
                      </a:pPr>
                      <a:r>
                        <a:rPr lang="en-CA" sz="1100" b="1" dirty="0">
                          <a:effectLst/>
                        </a:rPr>
                        <a:t>Security</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a:effectLst/>
                        </a:rPr>
                        <a:t>Who gets to view certain data? What mechanisms ensure only authorized people access it?</a:t>
                      </a:r>
                      <a:endParaRPr lang="en-CA" sz="1100" b="0" i="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1818701221"/>
                  </a:ext>
                </a:extLst>
              </a:tr>
              <a:tr h="637266">
                <a:tc>
                  <a:txBody>
                    <a:bodyPr/>
                    <a:lstStyle/>
                    <a:p>
                      <a:pPr algn="l">
                        <a:lnSpc>
                          <a:spcPct val="138889"/>
                        </a:lnSpc>
                        <a:buNone/>
                      </a:pPr>
                      <a:r>
                        <a:rPr lang="en-CA" sz="1100" b="1" dirty="0">
                          <a:effectLst/>
                        </a:rPr>
                        <a:t>Redundancy</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a:effectLst/>
                        </a:rPr>
                        <a:t>Is the data stored in only one location? Having data in many places leads to maintenance problems.</a:t>
                      </a:r>
                      <a:endParaRPr lang="en-CA" sz="1100" b="0" i="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2313370430"/>
                  </a:ext>
                </a:extLst>
              </a:tr>
              <a:tr h="554413">
                <a:tc>
                  <a:txBody>
                    <a:bodyPr/>
                    <a:lstStyle/>
                    <a:p>
                      <a:pPr algn="l">
                        <a:lnSpc>
                          <a:spcPct val="138889"/>
                        </a:lnSpc>
                        <a:buNone/>
                      </a:pPr>
                      <a:r>
                        <a:rPr lang="en-CA" sz="1100" b="1" dirty="0">
                          <a:effectLst/>
                        </a:rPr>
                        <a:t>Importance</a:t>
                      </a:r>
                      <a:endParaRPr lang="en-CA" sz="1100" b="1" i="0" dirty="0">
                        <a:solidFill>
                          <a:srgbClr val="0F1115"/>
                        </a:solidFill>
                        <a:effectLst/>
                        <a:latin typeface="quote-cjk-patch"/>
                      </a:endParaRPr>
                    </a:p>
                  </a:txBody>
                  <a:tcPr marL="75546" marR="100729" marT="62955" marB="62955" anchor="ctr"/>
                </a:tc>
                <a:tc>
                  <a:txBody>
                    <a:bodyPr/>
                    <a:lstStyle/>
                    <a:p>
                      <a:pPr algn="l">
                        <a:lnSpc>
                          <a:spcPct val="138889"/>
                        </a:lnSpc>
                        <a:buNone/>
                      </a:pPr>
                      <a:r>
                        <a:rPr lang="en-CA" sz="1100" dirty="0">
                          <a:effectLst/>
                        </a:rPr>
                        <a:t>Data is important. It can be the entire business, and it must be maintained properly.</a:t>
                      </a:r>
                      <a:endParaRPr lang="en-CA" sz="1100" b="0" i="0" dirty="0">
                        <a:solidFill>
                          <a:srgbClr val="0F1115"/>
                        </a:solidFill>
                        <a:effectLst/>
                        <a:latin typeface="quote-cjk-patch"/>
                      </a:endParaRPr>
                    </a:p>
                  </a:txBody>
                  <a:tcPr marL="100729" marR="75546" marT="62955" marB="62955" anchor="ctr"/>
                </a:tc>
                <a:extLst>
                  <a:ext uri="{0D108BD9-81ED-4DB2-BD59-A6C34878D82A}">
                    <a16:rowId xmlns:a16="http://schemas.microsoft.com/office/drawing/2014/main" val="3073631680"/>
                  </a:ext>
                </a:extLst>
              </a:tr>
            </a:tbl>
          </a:graphicData>
        </a:graphic>
      </p:graphicFrame>
    </p:spTree>
    <p:extLst>
      <p:ext uri="{BB962C8B-B14F-4D97-AF65-F5344CB8AC3E}">
        <p14:creationId xmlns:p14="http://schemas.microsoft.com/office/powerpoint/2010/main" val="2404960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41ECE-867E-CD3F-20C5-C7F70DB2E7AB}"/>
              </a:ext>
            </a:extLst>
          </p:cNvPr>
          <p:cNvSpPr>
            <a:spLocks noGrp="1"/>
          </p:cNvSpPr>
          <p:nvPr>
            <p:ph type="title"/>
          </p:nvPr>
        </p:nvSpPr>
        <p:spPr>
          <a:xfrm>
            <a:off x="3345805" y="622461"/>
            <a:ext cx="8428800" cy="847200"/>
          </a:xfrm>
        </p:spPr>
        <p:txBody>
          <a:bodyPr/>
          <a:lstStyle/>
          <a:p>
            <a:r>
              <a:rPr lang="en-CA" b="1" dirty="0"/>
              <a:t>The Problem with Redundancy</a:t>
            </a:r>
            <a:br>
              <a:rPr lang="en-CA" b="1" dirty="0"/>
            </a:br>
            <a:endParaRPr lang="en-CA" dirty="0"/>
          </a:p>
        </p:txBody>
      </p:sp>
      <p:sp>
        <p:nvSpPr>
          <p:cNvPr id="3" name="Text Placeholder 2">
            <a:extLst>
              <a:ext uri="{FF2B5EF4-FFF2-40B4-BE49-F238E27FC236}">
                <a16:creationId xmlns:a16="http://schemas.microsoft.com/office/drawing/2014/main" id="{2356686E-3BF2-28E2-111A-BC3A989E67BC}"/>
              </a:ext>
            </a:extLst>
          </p:cNvPr>
          <p:cNvSpPr>
            <a:spLocks noGrp="1"/>
          </p:cNvSpPr>
          <p:nvPr>
            <p:ph type="body" idx="1"/>
          </p:nvPr>
        </p:nvSpPr>
        <p:spPr>
          <a:xfrm>
            <a:off x="727364" y="1488007"/>
            <a:ext cx="10468110" cy="4003200"/>
          </a:xfrm>
        </p:spPr>
        <p:txBody>
          <a:bodyPr>
            <a:normAutofit fontScale="85000" lnSpcReduction="20000"/>
          </a:bodyPr>
          <a:lstStyle/>
          <a:p>
            <a:pPr marL="152396" indent="0">
              <a:lnSpc>
                <a:spcPct val="120000"/>
              </a:lnSpc>
              <a:buNone/>
            </a:pPr>
            <a:r>
              <a:rPr lang="en-CA" sz="2600" b="1" dirty="0"/>
              <a:t>A Simple Example: </a:t>
            </a:r>
            <a:r>
              <a:rPr lang="en-CA" sz="2600" dirty="0"/>
              <a:t>Imagine we store the same customer in three spreadsheets:</a:t>
            </a:r>
          </a:p>
          <a:p>
            <a:pPr marL="152396" indent="0">
              <a:lnSpc>
                <a:spcPct val="120000"/>
              </a:lnSpc>
              <a:buNone/>
            </a:pPr>
            <a:r>
              <a:rPr lang="en-CA" sz="2600" b="1" dirty="0"/>
              <a:t>Sales.xlsx</a:t>
            </a:r>
            <a:endParaRPr lang="en-CA" sz="2600" dirty="0"/>
          </a:p>
          <a:p>
            <a:pPr>
              <a:lnSpc>
                <a:spcPct val="120000"/>
              </a:lnSpc>
            </a:pPr>
            <a:r>
              <a:rPr lang="en-CA" sz="2600" dirty="0"/>
              <a:t>Joan Adams — 780-488-8712</a:t>
            </a:r>
          </a:p>
          <a:p>
            <a:pPr marL="152396" indent="0">
              <a:lnSpc>
                <a:spcPct val="120000"/>
              </a:lnSpc>
              <a:buNone/>
            </a:pPr>
            <a:r>
              <a:rPr lang="en-CA" sz="2600" b="1" dirty="0"/>
              <a:t>Shipping.xlsx</a:t>
            </a:r>
            <a:endParaRPr lang="en-CA" sz="2600" dirty="0"/>
          </a:p>
          <a:p>
            <a:pPr>
              <a:lnSpc>
                <a:spcPct val="120000"/>
              </a:lnSpc>
            </a:pPr>
            <a:r>
              <a:rPr lang="en-CA" sz="2600" dirty="0"/>
              <a:t>Joan Adams — 780-488-8712</a:t>
            </a:r>
          </a:p>
          <a:p>
            <a:pPr marL="152396" indent="0">
              <a:lnSpc>
                <a:spcPct val="120000"/>
              </a:lnSpc>
              <a:buNone/>
            </a:pPr>
            <a:r>
              <a:rPr lang="en-CA" sz="2600" b="1" dirty="0"/>
              <a:t>Support.xlsx</a:t>
            </a:r>
            <a:endParaRPr lang="en-CA" sz="2600" dirty="0"/>
          </a:p>
          <a:p>
            <a:pPr>
              <a:lnSpc>
                <a:spcPct val="120000"/>
              </a:lnSpc>
            </a:pPr>
            <a:r>
              <a:rPr lang="en-CA" sz="2600" dirty="0"/>
              <a:t>Joan Adams — 780-555-1234</a:t>
            </a:r>
          </a:p>
          <a:p>
            <a:pPr marL="152396" indent="0">
              <a:lnSpc>
                <a:spcPct val="120000"/>
              </a:lnSpc>
              <a:buNone/>
            </a:pPr>
            <a:r>
              <a:rPr lang="en-CA" sz="2600" b="1" dirty="0"/>
              <a:t>Which phone number is correct?</a:t>
            </a:r>
          </a:p>
          <a:p>
            <a:pPr lvl="0">
              <a:lnSpc>
                <a:spcPct val="120000"/>
              </a:lnSpc>
            </a:pPr>
            <a:r>
              <a:rPr lang="en-CA" sz="2600" dirty="0"/>
              <a:t>"How did this happen?"</a:t>
            </a:r>
          </a:p>
          <a:p>
            <a:pPr lvl="0">
              <a:lnSpc>
                <a:spcPct val="120000"/>
              </a:lnSpc>
            </a:pPr>
            <a:r>
              <a:rPr lang="en-CA" sz="2600" dirty="0"/>
              <a:t>"What if Joan changes her phone number?"</a:t>
            </a:r>
          </a:p>
          <a:p>
            <a:pPr lvl="0">
              <a:lnSpc>
                <a:spcPct val="120000"/>
              </a:lnSpc>
            </a:pPr>
            <a:r>
              <a:rPr lang="en-CA" sz="2600" dirty="0"/>
              <a:t>"Wouldn't it be better if we stored Joan's phone number in one place?"</a:t>
            </a:r>
          </a:p>
          <a:p>
            <a:pPr marL="152396" indent="0">
              <a:lnSpc>
                <a:spcPct val="100000"/>
              </a:lnSpc>
              <a:buNone/>
            </a:pPr>
            <a:endParaRPr lang="en-CA" sz="2400" dirty="0"/>
          </a:p>
          <a:p>
            <a:endParaRPr lang="en-CA" dirty="0"/>
          </a:p>
        </p:txBody>
      </p:sp>
    </p:spTree>
    <p:extLst>
      <p:ext uri="{BB962C8B-B14F-4D97-AF65-F5344CB8AC3E}">
        <p14:creationId xmlns:p14="http://schemas.microsoft.com/office/powerpoint/2010/main" val="2165949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1854-E7DA-BB45-5AAC-E16790CB05E2}"/>
              </a:ext>
            </a:extLst>
          </p:cNvPr>
          <p:cNvSpPr>
            <a:spLocks noGrp="1"/>
          </p:cNvSpPr>
          <p:nvPr>
            <p:ph type="title"/>
          </p:nvPr>
        </p:nvSpPr>
        <p:spPr>
          <a:xfrm>
            <a:off x="3200332" y="767933"/>
            <a:ext cx="8991667" cy="847200"/>
          </a:xfrm>
        </p:spPr>
        <p:txBody>
          <a:bodyPr/>
          <a:lstStyle/>
          <a:p>
            <a:r>
              <a:rPr lang="en-US" b="1" dirty="0"/>
              <a:t>What Makes a Database Useful?</a:t>
            </a:r>
            <a:endParaRPr lang="en-CA" b="1" dirty="0"/>
          </a:p>
        </p:txBody>
      </p:sp>
      <p:sp>
        <p:nvSpPr>
          <p:cNvPr id="3" name="Text Placeholder 2">
            <a:extLst>
              <a:ext uri="{FF2B5EF4-FFF2-40B4-BE49-F238E27FC236}">
                <a16:creationId xmlns:a16="http://schemas.microsoft.com/office/drawing/2014/main" id="{34D84111-ECB2-92CE-9E29-05C8B5780DD2}"/>
              </a:ext>
            </a:extLst>
          </p:cNvPr>
          <p:cNvSpPr>
            <a:spLocks noGrp="1"/>
          </p:cNvSpPr>
          <p:nvPr>
            <p:ph type="body" idx="1"/>
          </p:nvPr>
        </p:nvSpPr>
        <p:spPr>
          <a:xfrm>
            <a:off x="282288" y="1615133"/>
            <a:ext cx="8428800" cy="577349"/>
          </a:xfrm>
        </p:spPr>
        <p:txBody>
          <a:bodyPr/>
          <a:lstStyle/>
          <a:p>
            <a:pPr marL="152396" indent="0">
              <a:buNone/>
            </a:pPr>
            <a:r>
              <a:rPr lang="en-US" dirty="0"/>
              <a:t>A good database allows data to:</a:t>
            </a:r>
          </a:p>
          <a:p>
            <a:pPr marL="152396" indent="0">
              <a:buNone/>
            </a:pPr>
            <a:endParaRPr lang="en-CA" dirty="0"/>
          </a:p>
        </p:txBody>
      </p:sp>
      <p:graphicFrame>
        <p:nvGraphicFramePr>
          <p:cNvPr id="4" name="Table 3">
            <a:extLst>
              <a:ext uri="{FF2B5EF4-FFF2-40B4-BE49-F238E27FC236}">
                <a16:creationId xmlns:a16="http://schemas.microsoft.com/office/drawing/2014/main" id="{E417106C-8DDD-8B19-1626-4FE1B2FA0EE2}"/>
              </a:ext>
            </a:extLst>
          </p:cNvPr>
          <p:cNvGraphicFramePr>
            <a:graphicFrameLocks noGrp="1"/>
          </p:cNvGraphicFramePr>
          <p:nvPr>
            <p:extLst>
              <p:ext uri="{D42A27DB-BD31-4B8C-83A1-F6EECF244321}">
                <p14:modId xmlns:p14="http://schemas.microsoft.com/office/powerpoint/2010/main" val="412104886"/>
              </p:ext>
            </p:extLst>
          </p:nvPr>
        </p:nvGraphicFramePr>
        <p:xfrm>
          <a:off x="466898" y="2192482"/>
          <a:ext cx="6463838" cy="2396304"/>
        </p:xfrm>
        <a:graphic>
          <a:graphicData uri="http://schemas.openxmlformats.org/drawingml/2006/table">
            <a:tbl>
              <a:tblPr>
                <a:tableStyleId>{5C22544A-7EE6-4342-B048-85BDC9FD1C3A}</a:tableStyleId>
              </a:tblPr>
              <a:tblGrid>
                <a:gridCol w="3231919">
                  <a:extLst>
                    <a:ext uri="{9D8B030D-6E8A-4147-A177-3AD203B41FA5}">
                      <a16:colId xmlns:a16="http://schemas.microsoft.com/office/drawing/2014/main" val="4187611543"/>
                    </a:ext>
                  </a:extLst>
                </a:gridCol>
                <a:gridCol w="3231919">
                  <a:extLst>
                    <a:ext uri="{9D8B030D-6E8A-4147-A177-3AD203B41FA5}">
                      <a16:colId xmlns:a16="http://schemas.microsoft.com/office/drawing/2014/main" val="1773602481"/>
                    </a:ext>
                  </a:extLst>
                </a:gridCol>
              </a:tblGrid>
              <a:tr h="399384">
                <a:tc>
                  <a:txBody>
                    <a:bodyPr/>
                    <a:lstStyle/>
                    <a:p>
                      <a:pPr algn="l">
                        <a:lnSpc>
                          <a:spcPct val="138889"/>
                        </a:lnSpc>
                        <a:buNone/>
                      </a:pPr>
                      <a:r>
                        <a:rPr lang="en-CA" sz="1125" b="1" dirty="0">
                          <a:effectLst/>
                        </a:rPr>
                        <a:t>Quality</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b="1" dirty="0">
                          <a:effectLst/>
                        </a:rPr>
                        <a:t>Description</a:t>
                      </a:r>
                      <a:endParaRPr lang="en-CA" sz="1125" b="1" i="0" dirty="0">
                        <a:solidFill>
                          <a:srgbClr val="0F1115"/>
                        </a:solidFill>
                        <a:effectLst/>
                        <a:latin typeface="quote-cjk-patch"/>
                      </a:endParaRPr>
                    </a:p>
                  </a:txBody>
                  <a:tcPr marL="121920" marR="121920" marT="76200" marB="76200" anchor="ctr"/>
                </a:tc>
                <a:extLst>
                  <a:ext uri="{0D108BD9-81ED-4DB2-BD59-A6C34878D82A}">
                    <a16:rowId xmlns:a16="http://schemas.microsoft.com/office/drawing/2014/main" val="3066594860"/>
                  </a:ext>
                </a:extLst>
              </a:tr>
              <a:tr h="399384">
                <a:tc>
                  <a:txBody>
                    <a:bodyPr/>
                    <a:lstStyle/>
                    <a:p>
                      <a:pPr algn="l">
                        <a:lnSpc>
                          <a:spcPct val="138889"/>
                        </a:lnSpc>
                        <a:buNone/>
                      </a:pPr>
                      <a:r>
                        <a:rPr lang="en-CA" sz="1125" b="1" dirty="0">
                          <a:effectLst/>
                        </a:rPr>
                        <a:t>Grow</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dirty="0">
                          <a:effectLst/>
                        </a:rPr>
                        <a:t>without becoming unmanageable</a:t>
                      </a:r>
                      <a:endParaRPr lang="en-CA" sz="1125"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2094203983"/>
                  </a:ext>
                </a:extLst>
              </a:tr>
              <a:tr h="399384">
                <a:tc>
                  <a:txBody>
                    <a:bodyPr/>
                    <a:lstStyle/>
                    <a:p>
                      <a:pPr algn="l">
                        <a:lnSpc>
                          <a:spcPct val="138889"/>
                        </a:lnSpc>
                        <a:buNone/>
                      </a:pPr>
                      <a:r>
                        <a:rPr lang="en-CA" sz="1125" b="1" dirty="0">
                          <a:effectLst/>
                        </a:rPr>
                        <a:t>Stay accurate</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through rules and constraints</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3107735845"/>
                  </a:ext>
                </a:extLst>
              </a:tr>
              <a:tr h="399384">
                <a:tc>
                  <a:txBody>
                    <a:bodyPr/>
                    <a:lstStyle/>
                    <a:p>
                      <a:pPr algn="l">
                        <a:lnSpc>
                          <a:spcPct val="138889"/>
                        </a:lnSpc>
                        <a:buNone/>
                      </a:pPr>
                      <a:r>
                        <a:rPr lang="en-CA" sz="1125" b="1" dirty="0">
                          <a:effectLst/>
                        </a:rPr>
                        <a:t>Stay consistent</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a:effectLst/>
                        </a:rPr>
                        <a:t>without unnecessary duplication</a:t>
                      </a:r>
                      <a:endParaRPr lang="en-CA" sz="1125" b="0" i="0">
                        <a:solidFill>
                          <a:srgbClr val="0F1115"/>
                        </a:solidFill>
                        <a:effectLst/>
                        <a:latin typeface="quote-cjk-patch"/>
                      </a:endParaRPr>
                    </a:p>
                  </a:txBody>
                  <a:tcPr marL="121920" marT="76200" marB="76200" anchor="ctr"/>
                </a:tc>
                <a:extLst>
                  <a:ext uri="{0D108BD9-81ED-4DB2-BD59-A6C34878D82A}">
                    <a16:rowId xmlns:a16="http://schemas.microsoft.com/office/drawing/2014/main" val="2786266472"/>
                  </a:ext>
                </a:extLst>
              </a:tr>
              <a:tr h="399384">
                <a:tc>
                  <a:txBody>
                    <a:bodyPr/>
                    <a:lstStyle/>
                    <a:p>
                      <a:pPr algn="l">
                        <a:lnSpc>
                          <a:spcPct val="138889"/>
                        </a:lnSpc>
                        <a:buNone/>
                      </a:pPr>
                      <a:r>
                        <a:rPr lang="en-CA" sz="1125" b="1" dirty="0">
                          <a:effectLst/>
                        </a:rPr>
                        <a:t>Stay secure</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dirty="0">
                          <a:effectLst/>
                        </a:rPr>
                        <a:t>by controlling access</a:t>
                      </a:r>
                      <a:endParaRPr lang="en-CA" sz="1125"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1510247417"/>
                  </a:ext>
                </a:extLst>
              </a:tr>
              <a:tr h="399384">
                <a:tc>
                  <a:txBody>
                    <a:bodyPr/>
                    <a:lstStyle/>
                    <a:p>
                      <a:pPr algn="l">
                        <a:lnSpc>
                          <a:spcPct val="138889"/>
                        </a:lnSpc>
                        <a:buNone/>
                      </a:pPr>
                      <a:r>
                        <a:rPr lang="en-CA" sz="1125" b="1" dirty="0">
                          <a:effectLst/>
                        </a:rPr>
                        <a:t>Be accessible</a:t>
                      </a:r>
                      <a:endParaRPr lang="en-CA" sz="1125" b="1" i="0" dirty="0">
                        <a:solidFill>
                          <a:srgbClr val="0F1115"/>
                        </a:solidFill>
                        <a:effectLst/>
                        <a:latin typeface="quote-cjk-patch"/>
                      </a:endParaRPr>
                    </a:p>
                  </a:txBody>
                  <a:tcPr marR="121920" marT="76200" marB="76200" anchor="ctr"/>
                </a:tc>
                <a:tc>
                  <a:txBody>
                    <a:bodyPr/>
                    <a:lstStyle/>
                    <a:p>
                      <a:pPr algn="l">
                        <a:lnSpc>
                          <a:spcPct val="138889"/>
                        </a:lnSpc>
                        <a:buNone/>
                      </a:pPr>
                      <a:r>
                        <a:rPr lang="en-CA" sz="1125" dirty="0">
                          <a:effectLst/>
                        </a:rPr>
                        <a:t>to the people and applications that need it</a:t>
                      </a:r>
                      <a:endParaRPr lang="en-CA" sz="1125"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3514548543"/>
                  </a:ext>
                </a:extLst>
              </a:tr>
            </a:tbl>
          </a:graphicData>
        </a:graphic>
      </p:graphicFrame>
      <p:sp>
        <p:nvSpPr>
          <p:cNvPr id="6" name="TextBox 5">
            <a:extLst>
              <a:ext uri="{FF2B5EF4-FFF2-40B4-BE49-F238E27FC236}">
                <a16:creationId xmlns:a16="http://schemas.microsoft.com/office/drawing/2014/main" id="{5DCBECE1-C3A7-1D18-4251-6D827CE7C35C}"/>
              </a:ext>
            </a:extLst>
          </p:cNvPr>
          <p:cNvSpPr txBox="1"/>
          <p:nvPr/>
        </p:nvSpPr>
        <p:spPr>
          <a:xfrm>
            <a:off x="322659" y="4706645"/>
            <a:ext cx="8348057" cy="646331"/>
          </a:xfrm>
          <a:prstGeom prst="rect">
            <a:avLst/>
          </a:prstGeom>
          <a:noFill/>
        </p:spPr>
        <p:txBody>
          <a:bodyPr wrap="square">
            <a:spAutoFit/>
          </a:bodyPr>
          <a:lstStyle/>
          <a:p>
            <a:r>
              <a:rPr lang="en-CA" sz="1800" b="0" i="0" dirty="0">
                <a:solidFill>
                  <a:schemeClr val="tx1"/>
                </a:solidFill>
                <a:effectLst/>
                <a:latin typeface="+mn-lt"/>
              </a:rPr>
              <a:t>It's not just about placing data somewhere. It's about making data </a:t>
            </a:r>
            <a:r>
              <a:rPr lang="en-CA" sz="1800" b="1" i="0" dirty="0">
                <a:solidFill>
                  <a:schemeClr val="tx1"/>
                </a:solidFill>
                <a:effectLst/>
                <a:latin typeface="+mn-lt"/>
              </a:rPr>
              <a:t>maintainable, secure, accurate, and appropriately accessible.</a:t>
            </a:r>
            <a:endParaRPr lang="en-CA" dirty="0"/>
          </a:p>
        </p:txBody>
      </p:sp>
    </p:spTree>
    <p:extLst>
      <p:ext uri="{BB962C8B-B14F-4D97-AF65-F5344CB8AC3E}">
        <p14:creationId xmlns:p14="http://schemas.microsoft.com/office/powerpoint/2010/main" val="3975886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E5D4-7B82-AEF4-087B-620F422A1C4A}"/>
              </a:ext>
            </a:extLst>
          </p:cNvPr>
          <p:cNvSpPr>
            <a:spLocks noGrp="1"/>
          </p:cNvSpPr>
          <p:nvPr>
            <p:ph type="title"/>
          </p:nvPr>
        </p:nvSpPr>
        <p:spPr>
          <a:xfrm>
            <a:off x="3335415" y="632851"/>
            <a:ext cx="8428800" cy="847200"/>
          </a:xfrm>
        </p:spPr>
        <p:txBody>
          <a:bodyPr/>
          <a:lstStyle/>
          <a:p>
            <a:r>
              <a:rPr lang="en-CA" b="1" dirty="0"/>
              <a:t>Databases Are Everywhere</a:t>
            </a:r>
            <a:br>
              <a:rPr lang="en-CA" b="1" dirty="0"/>
            </a:br>
            <a:endParaRPr lang="en-CA" dirty="0"/>
          </a:p>
        </p:txBody>
      </p:sp>
      <p:sp>
        <p:nvSpPr>
          <p:cNvPr id="3" name="Text Placeholder 2">
            <a:extLst>
              <a:ext uri="{FF2B5EF4-FFF2-40B4-BE49-F238E27FC236}">
                <a16:creationId xmlns:a16="http://schemas.microsoft.com/office/drawing/2014/main" id="{0EEC1431-88F0-AE0A-3919-02C5D8B4E496}"/>
              </a:ext>
            </a:extLst>
          </p:cNvPr>
          <p:cNvSpPr>
            <a:spLocks noGrp="1"/>
          </p:cNvSpPr>
          <p:nvPr>
            <p:ph type="body" idx="1"/>
          </p:nvPr>
        </p:nvSpPr>
        <p:spPr>
          <a:xfrm>
            <a:off x="594973" y="1494287"/>
            <a:ext cx="11169242" cy="4003200"/>
          </a:xfrm>
        </p:spPr>
        <p:txBody>
          <a:bodyPr>
            <a:normAutofit fontScale="92500" lnSpcReduction="10000"/>
          </a:bodyPr>
          <a:lstStyle/>
          <a:p>
            <a:pPr marL="152396" indent="0">
              <a:lnSpc>
                <a:spcPct val="110000"/>
              </a:lnSpc>
              <a:buNone/>
            </a:pPr>
            <a:r>
              <a:rPr lang="en-CA" b="1" dirty="0"/>
              <a:t>Why are databases important?</a:t>
            </a:r>
            <a:endParaRPr lang="en-CA" dirty="0"/>
          </a:p>
          <a:p>
            <a:pPr lvl="0">
              <a:lnSpc>
                <a:spcPct val="110000"/>
              </a:lnSpc>
            </a:pPr>
            <a:r>
              <a:rPr lang="en-CA" dirty="0"/>
              <a:t>Data is used to maintain a business</a:t>
            </a:r>
          </a:p>
          <a:p>
            <a:pPr lvl="0">
              <a:lnSpc>
                <a:spcPct val="110000"/>
              </a:lnSpc>
            </a:pPr>
            <a:r>
              <a:rPr lang="en-CA" dirty="0"/>
              <a:t>For many businesses, data IS their business</a:t>
            </a:r>
          </a:p>
          <a:p>
            <a:pPr lvl="0">
              <a:lnSpc>
                <a:spcPct val="110000"/>
              </a:lnSpc>
            </a:pPr>
            <a:r>
              <a:rPr lang="en-CA" dirty="0"/>
              <a:t>Good database skills are valuable for years or decades</a:t>
            </a:r>
          </a:p>
          <a:p>
            <a:pPr lvl="0">
              <a:lnSpc>
                <a:spcPct val="110000"/>
              </a:lnSpc>
            </a:pPr>
            <a:r>
              <a:rPr lang="en-CA" dirty="0"/>
              <a:t>Fundamental database concepts have been tested for decades and are very solid</a:t>
            </a:r>
          </a:p>
          <a:p>
            <a:pPr marL="152396" indent="0">
              <a:lnSpc>
                <a:spcPct val="110000"/>
              </a:lnSpc>
              <a:buNone/>
            </a:pPr>
            <a:r>
              <a:rPr lang="en-CA" b="1" dirty="0"/>
              <a:t>What happens behind the scenes?</a:t>
            </a:r>
            <a:endParaRPr lang="en-CA" dirty="0"/>
          </a:p>
          <a:p>
            <a:pPr>
              <a:lnSpc>
                <a:spcPct val="110000"/>
              </a:lnSpc>
            </a:pPr>
            <a:r>
              <a:rPr lang="en-CA" dirty="0"/>
              <a:t>Much of what is involved with a database is created behind the scenes. Users only see how well it works. All the good stuff is invisible!</a:t>
            </a:r>
          </a:p>
          <a:p>
            <a:pPr>
              <a:lnSpc>
                <a:spcPct val="110000"/>
              </a:lnSpc>
            </a:pPr>
            <a:endParaRPr lang="en-CA" dirty="0"/>
          </a:p>
        </p:txBody>
      </p:sp>
    </p:spTree>
    <p:extLst>
      <p:ext uri="{BB962C8B-B14F-4D97-AF65-F5344CB8AC3E}">
        <p14:creationId xmlns:p14="http://schemas.microsoft.com/office/powerpoint/2010/main" val="2946917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64D5E-1F69-C2D7-47D8-F7E023EA13F5}"/>
              </a:ext>
            </a:extLst>
          </p:cNvPr>
          <p:cNvSpPr>
            <a:spLocks noGrp="1"/>
          </p:cNvSpPr>
          <p:nvPr>
            <p:ph type="title"/>
          </p:nvPr>
        </p:nvSpPr>
        <p:spPr>
          <a:xfrm>
            <a:off x="3335415" y="601679"/>
            <a:ext cx="8428800" cy="847200"/>
          </a:xfrm>
        </p:spPr>
        <p:txBody>
          <a:bodyPr/>
          <a:lstStyle/>
          <a:p>
            <a:r>
              <a:rPr lang="en-CA" b="1" dirty="0"/>
              <a:t>How Can We Organize Data?</a:t>
            </a:r>
            <a:br>
              <a:rPr lang="en-CA" b="1" dirty="0"/>
            </a:br>
            <a:endParaRPr lang="en-CA" dirty="0"/>
          </a:p>
        </p:txBody>
      </p:sp>
      <p:sp>
        <p:nvSpPr>
          <p:cNvPr id="3" name="Text Placeholder 2">
            <a:extLst>
              <a:ext uri="{FF2B5EF4-FFF2-40B4-BE49-F238E27FC236}">
                <a16:creationId xmlns:a16="http://schemas.microsoft.com/office/drawing/2014/main" id="{BCB20DB2-8B40-0BA0-9A5F-4EC4043B37AF}"/>
              </a:ext>
            </a:extLst>
          </p:cNvPr>
          <p:cNvSpPr>
            <a:spLocks noGrp="1"/>
          </p:cNvSpPr>
          <p:nvPr>
            <p:ph type="body" idx="1"/>
          </p:nvPr>
        </p:nvSpPr>
        <p:spPr>
          <a:xfrm>
            <a:off x="1031392" y="1576982"/>
            <a:ext cx="8428800" cy="4003200"/>
          </a:xfrm>
        </p:spPr>
        <p:txBody>
          <a:bodyPr>
            <a:normAutofit fontScale="70000" lnSpcReduction="20000"/>
          </a:bodyPr>
          <a:lstStyle/>
          <a:p>
            <a:pPr marL="152396" indent="0">
              <a:buNone/>
            </a:pPr>
            <a:r>
              <a:rPr lang="en-CA" b="1" dirty="0"/>
              <a:t>Imagine we have this information:</a:t>
            </a:r>
          </a:p>
          <a:p>
            <a:pPr marL="152396" indent="0">
              <a:lnSpc>
                <a:spcPct val="120000"/>
              </a:lnSpc>
              <a:buNone/>
            </a:pPr>
            <a:r>
              <a:rPr lang="en-CA" dirty="0"/>
              <a:t>Customer #100</a:t>
            </a:r>
            <a:br>
              <a:rPr lang="en-CA" dirty="0"/>
            </a:br>
            <a:r>
              <a:rPr lang="en-CA" dirty="0"/>
              <a:t>Joan Adams</a:t>
            </a:r>
            <a:br>
              <a:rPr lang="en-CA" dirty="0"/>
            </a:br>
            <a:r>
              <a:rPr lang="en-CA" dirty="0"/>
              <a:t>9825-77 Ave</a:t>
            </a:r>
            <a:br>
              <a:rPr lang="en-CA" dirty="0"/>
            </a:br>
            <a:r>
              <a:rPr lang="en-CA" dirty="0"/>
              <a:t>Edmonton</a:t>
            </a:r>
            <a:br>
              <a:rPr lang="en-CA" dirty="0"/>
            </a:br>
            <a:r>
              <a:rPr lang="en-CA" dirty="0"/>
              <a:t>Alberta</a:t>
            </a:r>
            <a:br>
              <a:rPr lang="en-CA" dirty="0"/>
            </a:br>
            <a:r>
              <a:rPr lang="en-CA" dirty="0"/>
              <a:t>T5C 8E2</a:t>
            </a:r>
            <a:br>
              <a:rPr lang="en-CA" dirty="0"/>
            </a:br>
            <a:r>
              <a:rPr lang="en-CA" dirty="0"/>
              <a:t>780-488-8712</a:t>
            </a:r>
          </a:p>
          <a:p>
            <a:pPr marL="152396" indent="0">
              <a:buNone/>
            </a:pPr>
            <a:endParaRPr lang="en-CA" dirty="0"/>
          </a:p>
          <a:p>
            <a:pPr marL="152396" indent="0">
              <a:lnSpc>
                <a:spcPct val="120000"/>
              </a:lnSpc>
              <a:buNone/>
            </a:pPr>
            <a:r>
              <a:rPr lang="en-CA" dirty="0"/>
              <a:t>That's useful information. But imagine having </a:t>
            </a:r>
            <a:r>
              <a:rPr lang="en-CA" b="1" dirty="0"/>
              <a:t>10,000 customers</a:t>
            </a:r>
            <a:r>
              <a:rPr lang="en-CA" dirty="0"/>
              <a:t>. We need a </a:t>
            </a:r>
            <a:r>
              <a:rPr lang="en-CA" b="1" dirty="0"/>
              <a:t>consistent way</a:t>
            </a:r>
            <a:r>
              <a:rPr lang="en-CA" dirty="0"/>
              <a:t> to organize it.</a:t>
            </a:r>
          </a:p>
          <a:p>
            <a:pPr marL="152396" indent="0">
              <a:lnSpc>
                <a:spcPct val="120000"/>
              </a:lnSpc>
              <a:buNone/>
            </a:pPr>
            <a:r>
              <a:rPr lang="en-CA" b="1" dirty="0"/>
              <a:t>A relational database organizes data into tables.</a:t>
            </a:r>
            <a:endParaRPr lang="en-CA" dirty="0"/>
          </a:p>
          <a:p>
            <a:pPr>
              <a:lnSpc>
                <a:spcPct val="110000"/>
              </a:lnSpc>
            </a:pPr>
            <a:endParaRPr lang="en-CA" dirty="0"/>
          </a:p>
        </p:txBody>
      </p:sp>
    </p:spTree>
    <p:extLst>
      <p:ext uri="{BB962C8B-B14F-4D97-AF65-F5344CB8AC3E}">
        <p14:creationId xmlns:p14="http://schemas.microsoft.com/office/powerpoint/2010/main" val="189445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C947-8533-DA53-8D6D-23991EAF0FD1}"/>
              </a:ext>
            </a:extLst>
          </p:cNvPr>
          <p:cNvSpPr>
            <a:spLocks noGrp="1"/>
          </p:cNvSpPr>
          <p:nvPr>
            <p:ph type="title"/>
          </p:nvPr>
        </p:nvSpPr>
        <p:spPr/>
        <p:txBody>
          <a:bodyPr/>
          <a:lstStyle/>
          <a:p>
            <a:r>
              <a:rPr lang="en-CA" b="1" dirty="0"/>
              <a:t>The Relational Database</a:t>
            </a:r>
            <a:br>
              <a:rPr lang="en-CA" b="1" dirty="0"/>
            </a:br>
            <a:endParaRPr lang="en-CA" dirty="0"/>
          </a:p>
        </p:txBody>
      </p:sp>
      <p:sp>
        <p:nvSpPr>
          <p:cNvPr id="3" name="Text Placeholder 2">
            <a:extLst>
              <a:ext uri="{FF2B5EF4-FFF2-40B4-BE49-F238E27FC236}">
                <a16:creationId xmlns:a16="http://schemas.microsoft.com/office/drawing/2014/main" id="{A3B26C78-D9D4-0D6C-53EC-7CF88E8EE6F8}"/>
              </a:ext>
            </a:extLst>
          </p:cNvPr>
          <p:cNvSpPr>
            <a:spLocks noGrp="1"/>
          </p:cNvSpPr>
          <p:nvPr>
            <p:ph type="body" idx="1"/>
          </p:nvPr>
        </p:nvSpPr>
        <p:spPr>
          <a:xfrm>
            <a:off x="562867" y="1525029"/>
            <a:ext cx="8428800" cy="4003200"/>
          </a:xfrm>
        </p:spPr>
        <p:txBody>
          <a:bodyPr/>
          <a:lstStyle/>
          <a:p>
            <a:pPr marL="152396" indent="0">
              <a:lnSpc>
                <a:spcPct val="100000"/>
              </a:lnSpc>
              <a:buNone/>
            </a:pPr>
            <a:r>
              <a:rPr lang="en-CA" sz="1800" b="1" dirty="0"/>
              <a:t>A relational database stores data in tables.</a:t>
            </a:r>
            <a:br>
              <a:rPr lang="en-CA" sz="1800" b="1" dirty="0"/>
            </a:br>
            <a:r>
              <a:rPr lang="en-CA" sz="1800" b="1" dirty="0"/>
              <a:t>Key Terms:</a:t>
            </a:r>
            <a:br>
              <a:rPr lang="en-CA" b="1" dirty="0"/>
            </a:br>
            <a:endParaRPr lang="en-CA" dirty="0"/>
          </a:p>
        </p:txBody>
      </p:sp>
      <p:graphicFrame>
        <p:nvGraphicFramePr>
          <p:cNvPr id="4" name="Table 3">
            <a:extLst>
              <a:ext uri="{FF2B5EF4-FFF2-40B4-BE49-F238E27FC236}">
                <a16:creationId xmlns:a16="http://schemas.microsoft.com/office/drawing/2014/main" id="{DDD064E4-E772-7090-97B6-9C1F175D8764}"/>
              </a:ext>
            </a:extLst>
          </p:cNvPr>
          <p:cNvGraphicFramePr>
            <a:graphicFrameLocks noGrp="1"/>
          </p:cNvGraphicFramePr>
          <p:nvPr>
            <p:extLst>
              <p:ext uri="{D42A27DB-BD31-4B8C-83A1-F6EECF244321}">
                <p14:modId xmlns:p14="http://schemas.microsoft.com/office/powerpoint/2010/main" val="1533577883"/>
              </p:ext>
            </p:extLst>
          </p:nvPr>
        </p:nvGraphicFramePr>
        <p:xfrm>
          <a:off x="794210" y="2403402"/>
          <a:ext cx="8557608" cy="2598866"/>
        </p:xfrm>
        <a:graphic>
          <a:graphicData uri="http://schemas.openxmlformats.org/drawingml/2006/table">
            <a:tbl>
              <a:tblPr>
                <a:tableStyleId>{5C22544A-7EE6-4342-B048-85BDC9FD1C3A}</a:tableStyleId>
              </a:tblPr>
              <a:tblGrid>
                <a:gridCol w="1611157">
                  <a:extLst>
                    <a:ext uri="{9D8B030D-6E8A-4147-A177-3AD203B41FA5}">
                      <a16:colId xmlns:a16="http://schemas.microsoft.com/office/drawing/2014/main" val="3221023645"/>
                    </a:ext>
                  </a:extLst>
                </a:gridCol>
                <a:gridCol w="4093915">
                  <a:extLst>
                    <a:ext uri="{9D8B030D-6E8A-4147-A177-3AD203B41FA5}">
                      <a16:colId xmlns:a16="http://schemas.microsoft.com/office/drawing/2014/main" val="3430842617"/>
                    </a:ext>
                  </a:extLst>
                </a:gridCol>
                <a:gridCol w="2852536">
                  <a:extLst>
                    <a:ext uri="{9D8B030D-6E8A-4147-A177-3AD203B41FA5}">
                      <a16:colId xmlns:a16="http://schemas.microsoft.com/office/drawing/2014/main" val="3923922110"/>
                    </a:ext>
                  </a:extLst>
                </a:gridCol>
              </a:tblGrid>
              <a:tr h="490709">
                <a:tc>
                  <a:txBody>
                    <a:bodyPr/>
                    <a:lstStyle/>
                    <a:p>
                      <a:pPr algn="l">
                        <a:lnSpc>
                          <a:spcPct val="138889"/>
                        </a:lnSpc>
                        <a:buNone/>
                      </a:pPr>
                      <a:r>
                        <a:rPr lang="en-CA" sz="1600" b="1" dirty="0">
                          <a:effectLst/>
                        </a:rPr>
                        <a:t>Term</a:t>
                      </a:r>
                      <a:endParaRPr lang="en-CA" sz="1600" b="1" i="0" dirty="0">
                        <a:solidFill>
                          <a:srgbClr val="0F1115"/>
                        </a:solidFill>
                        <a:effectLst/>
                        <a:latin typeface="quote-cjk-patch"/>
                      </a:endParaRPr>
                    </a:p>
                  </a:txBody>
                  <a:tcPr marR="121920" marT="76200" marB="76200" anchor="ctr"/>
                </a:tc>
                <a:tc>
                  <a:txBody>
                    <a:bodyPr/>
                    <a:lstStyle/>
                    <a:p>
                      <a:pPr algn="l">
                        <a:lnSpc>
                          <a:spcPct val="138889"/>
                        </a:lnSpc>
                        <a:buNone/>
                      </a:pPr>
                      <a:r>
                        <a:rPr lang="en-CA" sz="1600" b="1">
                          <a:effectLst/>
                        </a:rPr>
                        <a:t>Definition</a:t>
                      </a:r>
                      <a:endParaRPr lang="en-CA" sz="1600" b="1" i="0">
                        <a:solidFill>
                          <a:srgbClr val="0F1115"/>
                        </a:solidFill>
                        <a:effectLst/>
                        <a:latin typeface="quote-cjk-patch"/>
                      </a:endParaRPr>
                    </a:p>
                  </a:txBody>
                  <a:tcPr marL="121920" marR="121920" marT="76200" marB="76200" anchor="ctr"/>
                </a:tc>
                <a:tc>
                  <a:txBody>
                    <a:bodyPr/>
                    <a:lstStyle/>
                    <a:p>
                      <a:pPr algn="l">
                        <a:lnSpc>
                          <a:spcPct val="138889"/>
                        </a:lnSpc>
                        <a:buNone/>
                      </a:pPr>
                      <a:r>
                        <a:rPr lang="en-CA" sz="1600" b="1" dirty="0">
                          <a:effectLst/>
                        </a:rPr>
                        <a:t>In this example</a:t>
                      </a:r>
                      <a:endParaRPr lang="en-CA" sz="1600" b="1" i="0" dirty="0">
                        <a:solidFill>
                          <a:srgbClr val="0F1115"/>
                        </a:solidFill>
                        <a:effectLst/>
                        <a:latin typeface="quote-cjk-patch"/>
                      </a:endParaRPr>
                    </a:p>
                  </a:txBody>
                  <a:tcPr marL="121920" marR="121920" marT="76200" marB="76200" anchor="ctr"/>
                </a:tc>
                <a:extLst>
                  <a:ext uri="{0D108BD9-81ED-4DB2-BD59-A6C34878D82A}">
                    <a16:rowId xmlns:a16="http://schemas.microsoft.com/office/drawing/2014/main" val="2547500373"/>
                  </a:ext>
                </a:extLst>
              </a:tr>
              <a:tr h="808724">
                <a:tc>
                  <a:txBody>
                    <a:bodyPr/>
                    <a:lstStyle/>
                    <a:p>
                      <a:pPr algn="l">
                        <a:lnSpc>
                          <a:spcPct val="138889"/>
                        </a:lnSpc>
                        <a:buNone/>
                      </a:pPr>
                      <a:r>
                        <a:rPr lang="en-CA" sz="1600" b="1" dirty="0">
                          <a:effectLst/>
                        </a:rPr>
                        <a:t>Table</a:t>
                      </a:r>
                      <a:endParaRPr lang="en-CA" sz="1600" b="1" i="0" dirty="0">
                        <a:solidFill>
                          <a:srgbClr val="0F1115"/>
                        </a:solidFill>
                        <a:effectLst/>
                        <a:latin typeface="quote-cjk-patch"/>
                      </a:endParaRPr>
                    </a:p>
                  </a:txBody>
                  <a:tcPr marR="121920" marT="76200" marB="76200" anchor="ctr"/>
                </a:tc>
                <a:tc>
                  <a:txBody>
                    <a:bodyPr/>
                    <a:lstStyle/>
                    <a:p>
                      <a:pPr algn="l">
                        <a:lnSpc>
                          <a:spcPct val="138889"/>
                        </a:lnSpc>
                        <a:buNone/>
                      </a:pPr>
                      <a:r>
                        <a:rPr lang="en-CA" sz="1600" dirty="0">
                          <a:effectLst/>
                        </a:rPr>
                        <a:t>Stores information about a particular subject</a:t>
                      </a:r>
                      <a:endParaRPr lang="en-CA" sz="1600" b="0" i="0" dirty="0">
                        <a:solidFill>
                          <a:srgbClr val="0F1115"/>
                        </a:solidFill>
                        <a:effectLst/>
                        <a:latin typeface="quote-cjk-patch"/>
                      </a:endParaRPr>
                    </a:p>
                  </a:txBody>
                  <a:tcPr marL="121920" marR="121920" marT="76200" marB="76200" anchor="ctr"/>
                </a:tc>
                <a:tc>
                  <a:txBody>
                    <a:bodyPr/>
                    <a:lstStyle/>
                    <a:p>
                      <a:pPr algn="l">
                        <a:lnSpc>
                          <a:spcPct val="138889"/>
                        </a:lnSpc>
                        <a:buNone/>
                      </a:pPr>
                      <a:r>
                        <a:rPr lang="en-CA" sz="1600">
                          <a:effectLst/>
                        </a:rPr>
                        <a:t>Customer table</a:t>
                      </a:r>
                      <a:endParaRPr lang="en-CA"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2470008929"/>
                  </a:ext>
                </a:extLst>
              </a:tr>
              <a:tr h="490709">
                <a:tc>
                  <a:txBody>
                    <a:bodyPr/>
                    <a:lstStyle/>
                    <a:p>
                      <a:pPr algn="l">
                        <a:lnSpc>
                          <a:spcPct val="138889"/>
                        </a:lnSpc>
                        <a:buNone/>
                      </a:pPr>
                      <a:r>
                        <a:rPr lang="en-CA" sz="1600" b="1">
                          <a:effectLst/>
                        </a:rPr>
                        <a:t>Row</a:t>
                      </a:r>
                      <a:endParaRPr lang="en-CA" sz="1600" b="1" i="0">
                        <a:solidFill>
                          <a:srgbClr val="0F1115"/>
                        </a:solidFill>
                        <a:effectLst/>
                        <a:latin typeface="quote-cjk-patch"/>
                      </a:endParaRPr>
                    </a:p>
                  </a:txBody>
                  <a:tcPr marR="121920" marT="76200" marB="76200" anchor="ctr"/>
                </a:tc>
                <a:tc>
                  <a:txBody>
                    <a:bodyPr/>
                    <a:lstStyle/>
                    <a:p>
                      <a:pPr algn="l">
                        <a:lnSpc>
                          <a:spcPct val="138889"/>
                        </a:lnSpc>
                        <a:buNone/>
                      </a:pPr>
                      <a:r>
                        <a:rPr lang="en-CA" sz="1600">
                          <a:effectLst/>
                        </a:rPr>
                        <a:t>One individual record</a:t>
                      </a:r>
                      <a:endParaRPr lang="en-CA" sz="1600" b="0" i="0">
                        <a:solidFill>
                          <a:srgbClr val="0F1115"/>
                        </a:solidFill>
                        <a:effectLst/>
                        <a:latin typeface="quote-cjk-patch"/>
                      </a:endParaRPr>
                    </a:p>
                  </a:txBody>
                  <a:tcPr marL="121920" marR="121920" marT="76200" marB="76200" anchor="ctr"/>
                </a:tc>
                <a:tc>
                  <a:txBody>
                    <a:bodyPr/>
                    <a:lstStyle/>
                    <a:p>
                      <a:pPr algn="l">
                        <a:lnSpc>
                          <a:spcPct val="138889"/>
                        </a:lnSpc>
                        <a:buNone/>
                      </a:pPr>
                      <a:r>
                        <a:rPr lang="en-CA" sz="1600">
                          <a:effectLst/>
                        </a:rPr>
                        <a:t>Each customer's row</a:t>
                      </a:r>
                      <a:endParaRPr lang="en-CA"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2671895828"/>
                  </a:ext>
                </a:extLst>
              </a:tr>
              <a:tr h="808724">
                <a:tc>
                  <a:txBody>
                    <a:bodyPr/>
                    <a:lstStyle/>
                    <a:p>
                      <a:pPr algn="l">
                        <a:lnSpc>
                          <a:spcPct val="138889"/>
                        </a:lnSpc>
                        <a:buNone/>
                      </a:pPr>
                      <a:r>
                        <a:rPr lang="en-CA" sz="1600" b="1" dirty="0">
                          <a:effectLst/>
                        </a:rPr>
                        <a:t>Column</a:t>
                      </a:r>
                      <a:endParaRPr lang="en-CA" sz="1600" b="1" i="0" dirty="0">
                        <a:solidFill>
                          <a:srgbClr val="0F1115"/>
                        </a:solidFill>
                        <a:effectLst/>
                        <a:latin typeface="quote-cjk-patch"/>
                      </a:endParaRPr>
                    </a:p>
                  </a:txBody>
                  <a:tcPr marR="121920" marT="76200" marB="76200" anchor="ctr"/>
                </a:tc>
                <a:tc>
                  <a:txBody>
                    <a:bodyPr/>
                    <a:lstStyle/>
                    <a:p>
                      <a:pPr algn="l">
                        <a:lnSpc>
                          <a:spcPct val="138889"/>
                        </a:lnSpc>
                        <a:buNone/>
                      </a:pPr>
                      <a:r>
                        <a:rPr lang="en-CA" sz="1600">
                          <a:effectLst/>
                        </a:rPr>
                        <a:t>One type of information</a:t>
                      </a:r>
                      <a:endParaRPr lang="en-CA" sz="1600" b="0" i="0">
                        <a:solidFill>
                          <a:srgbClr val="0F1115"/>
                        </a:solidFill>
                        <a:effectLst/>
                        <a:latin typeface="quote-cjk-patch"/>
                      </a:endParaRPr>
                    </a:p>
                  </a:txBody>
                  <a:tcPr marL="121920" marR="121920" marT="76200" marB="76200" anchor="ctr"/>
                </a:tc>
                <a:tc>
                  <a:txBody>
                    <a:bodyPr/>
                    <a:lstStyle/>
                    <a:p>
                      <a:pPr algn="l">
                        <a:lnSpc>
                          <a:spcPct val="138889"/>
                        </a:lnSpc>
                        <a:buNone/>
                      </a:pPr>
                      <a:r>
                        <a:rPr lang="en-CA" sz="1600" dirty="0">
                          <a:effectLst/>
                        </a:rPr>
                        <a:t>Customer Number, Last Name, etc.</a:t>
                      </a:r>
                      <a:endParaRPr lang="en-CA"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2608639031"/>
                  </a:ext>
                </a:extLst>
              </a:tr>
            </a:tbl>
          </a:graphicData>
        </a:graphic>
      </p:graphicFrame>
    </p:spTree>
    <p:extLst>
      <p:ext uri="{BB962C8B-B14F-4D97-AF65-F5344CB8AC3E}">
        <p14:creationId xmlns:p14="http://schemas.microsoft.com/office/powerpoint/2010/main" val="3102488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1"/>
          <p:cNvSpPr txBox="1">
            <a:spLocks noGrp="1"/>
          </p:cNvSpPr>
          <p:nvPr>
            <p:ph type="title"/>
          </p:nvPr>
        </p:nvSpPr>
        <p:spPr>
          <a:xfrm>
            <a:off x="404400" y="548767"/>
            <a:ext cx="11360800" cy="852800"/>
          </a:xfrm>
          <a:prstGeom prst="rect">
            <a:avLst/>
          </a:prstGeom>
        </p:spPr>
        <p:txBody>
          <a:bodyPr spcFirstLastPara="1" vert="horz" wrap="square" lIns="121900" tIns="121900" rIns="121900" bIns="121900" rtlCol="0" anchor="t" anchorCtr="0">
            <a:noAutofit/>
          </a:bodyPr>
          <a:lstStyle/>
          <a:p>
            <a:pPr>
              <a:spcBef>
                <a:spcPts val="0"/>
              </a:spcBef>
            </a:pPr>
            <a:r>
              <a:rPr lang="en"/>
              <a:t>The Relational DBMS</a:t>
            </a:r>
            <a:endParaRPr/>
          </a:p>
        </p:txBody>
      </p:sp>
      <p:graphicFrame>
        <p:nvGraphicFramePr>
          <p:cNvPr id="242" name="Google Shape;242;p41"/>
          <p:cNvGraphicFramePr/>
          <p:nvPr/>
        </p:nvGraphicFramePr>
        <p:xfrm>
          <a:off x="213367" y="2231367"/>
          <a:ext cx="11742867" cy="3182620"/>
        </p:xfrm>
        <a:graphic>
          <a:graphicData uri="http://schemas.openxmlformats.org/drawingml/2006/table">
            <a:tbl>
              <a:tblPr>
                <a:noFill/>
              </a:tblPr>
              <a:tblGrid>
                <a:gridCol w="1426433">
                  <a:extLst>
                    <a:ext uri="{9D8B030D-6E8A-4147-A177-3AD203B41FA5}">
                      <a16:colId xmlns:a16="http://schemas.microsoft.com/office/drawing/2014/main" val="20000"/>
                    </a:ext>
                  </a:extLst>
                </a:gridCol>
                <a:gridCol w="1516467">
                  <a:extLst>
                    <a:ext uri="{9D8B030D-6E8A-4147-A177-3AD203B41FA5}">
                      <a16:colId xmlns:a16="http://schemas.microsoft.com/office/drawing/2014/main" val="20001"/>
                    </a:ext>
                  </a:extLst>
                </a:gridCol>
                <a:gridCol w="1409600">
                  <a:extLst>
                    <a:ext uri="{9D8B030D-6E8A-4147-A177-3AD203B41FA5}">
                      <a16:colId xmlns:a16="http://schemas.microsoft.com/office/drawing/2014/main" val="20002"/>
                    </a:ext>
                  </a:extLst>
                </a:gridCol>
                <a:gridCol w="5452767">
                  <a:extLst>
                    <a:ext uri="{9D8B030D-6E8A-4147-A177-3AD203B41FA5}">
                      <a16:colId xmlns:a16="http://schemas.microsoft.com/office/drawing/2014/main" val="20003"/>
                    </a:ext>
                  </a:extLst>
                </a:gridCol>
                <a:gridCol w="1937600">
                  <a:extLst>
                    <a:ext uri="{9D8B030D-6E8A-4147-A177-3AD203B41FA5}">
                      <a16:colId xmlns:a16="http://schemas.microsoft.com/office/drawing/2014/main" val="20004"/>
                    </a:ext>
                  </a:extLst>
                </a:gridCol>
              </a:tblGrid>
              <a:tr h="1476756">
                <a:tc>
                  <a:txBody>
                    <a:bodyPr/>
                    <a:lstStyle/>
                    <a:p>
                      <a:pPr marL="0" lvl="0" indent="0" algn="ctr" rtl="0">
                        <a:lnSpc>
                          <a:spcPct val="115000"/>
                        </a:lnSpc>
                        <a:spcBef>
                          <a:spcPts val="1200"/>
                        </a:spcBef>
                        <a:spcAft>
                          <a:spcPts val="0"/>
                        </a:spcAft>
                        <a:buNone/>
                      </a:pPr>
                      <a:r>
                        <a:rPr lang="en" sz="2400" b="1">
                          <a:latin typeface="Courier New"/>
                          <a:ea typeface="Courier New"/>
                          <a:cs typeface="Courier New"/>
                          <a:sym typeface="Courier New"/>
                        </a:rPr>
                        <a:t>Customer</a:t>
                      </a:r>
                      <a:endParaRPr sz="2400" b="1">
                        <a:latin typeface="Courier New"/>
                        <a:ea typeface="Courier New"/>
                        <a:cs typeface="Courier New"/>
                        <a:sym typeface="Courier New"/>
                      </a:endParaRPr>
                    </a:p>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Number</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Last Name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First Name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Address</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Phone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0"/>
                  </a:ext>
                </a:extLst>
              </a:tr>
              <a:tr h="852932">
                <a:tc>
                  <a:txBody>
                    <a:bodyPr/>
                    <a:lstStyle/>
                    <a:p>
                      <a:pPr marL="0" lvl="0" indent="0" algn="r" rtl="0">
                        <a:lnSpc>
                          <a:spcPct val="115000"/>
                        </a:lnSpc>
                        <a:spcBef>
                          <a:spcPts val="1200"/>
                        </a:spcBef>
                        <a:spcAft>
                          <a:spcPts val="1200"/>
                        </a:spcAft>
                        <a:buNone/>
                      </a:pPr>
                      <a:r>
                        <a:rPr lang="en" sz="2400">
                          <a:latin typeface="Courier New"/>
                          <a:ea typeface="Courier New"/>
                          <a:cs typeface="Courier New"/>
                          <a:sym typeface="Courier New"/>
                        </a:rPr>
                        <a:t>100</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Adams</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Joan</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9825-77 Ave Edmonton Alberta T5C 8E2</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780-488-8712</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852932">
                <a:tc>
                  <a:txBody>
                    <a:bodyPr/>
                    <a:lstStyle/>
                    <a:p>
                      <a:pPr marL="0" lvl="0" indent="0" algn="r" rtl="0">
                        <a:lnSpc>
                          <a:spcPct val="115000"/>
                        </a:lnSpc>
                        <a:spcBef>
                          <a:spcPts val="1200"/>
                        </a:spcBef>
                        <a:spcAft>
                          <a:spcPts val="1200"/>
                        </a:spcAft>
                        <a:buNone/>
                      </a:pPr>
                      <a:r>
                        <a:rPr lang="en" sz="2400">
                          <a:latin typeface="Courier New"/>
                          <a:ea typeface="Courier New"/>
                          <a:cs typeface="Courier New"/>
                          <a:sym typeface="Courier New"/>
                        </a:rPr>
                        <a:t>200</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Smith</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Miles</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4308-133 Ave Edmonton Alberta T5C 8E9</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780-438-9523</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147B3-3129-17F9-C4F0-1A78AFB4477D}"/>
              </a:ext>
            </a:extLst>
          </p:cNvPr>
          <p:cNvSpPr>
            <a:spLocks noGrp="1"/>
          </p:cNvSpPr>
          <p:nvPr>
            <p:ph type="title"/>
          </p:nvPr>
        </p:nvSpPr>
        <p:spPr>
          <a:xfrm>
            <a:off x="1115290" y="330975"/>
            <a:ext cx="10515600" cy="984403"/>
          </a:xfrm>
        </p:spPr>
        <p:txBody>
          <a:bodyPr>
            <a:normAutofit fontScale="90000"/>
          </a:bodyPr>
          <a:lstStyle/>
          <a:p>
            <a:r>
              <a:rPr lang="en-CA" b="1" dirty="0"/>
              <a:t>Anatomy of a Table</a:t>
            </a:r>
            <a:br>
              <a:rPr lang="en-CA" b="1" dirty="0"/>
            </a:br>
            <a:endParaRPr lang="en-CA" dirty="0"/>
          </a:p>
        </p:txBody>
      </p:sp>
      <p:graphicFrame>
        <p:nvGraphicFramePr>
          <p:cNvPr id="3" name="Table 2">
            <a:extLst>
              <a:ext uri="{FF2B5EF4-FFF2-40B4-BE49-F238E27FC236}">
                <a16:creationId xmlns:a16="http://schemas.microsoft.com/office/drawing/2014/main" id="{5635D97F-D177-40B9-0F6E-51DB441ADE31}"/>
              </a:ext>
            </a:extLst>
          </p:cNvPr>
          <p:cNvGraphicFramePr>
            <a:graphicFrameLocks noGrp="1"/>
          </p:cNvGraphicFramePr>
          <p:nvPr>
            <p:extLst>
              <p:ext uri="{D42A27DB-BD31-4B8C-83A1-F6EECF244321}">
                <p14:modId xmlns:p14="http://schemas.microsoft.com/office/powerpoint/2010/main" val="2992937489"/>
              </p:ext>
            </p:extLst>
          </p:nvPr>
        </p:nvGraphicFramePr>
        <p:xfrm>
          <a:off x="1115291" y="1803990"/>
          <a:ext cx="10515600" cy="1579817"/>
        </p:xfrm>
        <a:graphic>
          <a:graphicData uri="http://schemas.openxmlformats.org/drawingml/2006/table">
            <a:tbl>
              <a:tblPr>
                <a:tableStyleId>{5C22544A-7EE6-4342-B048-85BDC9FD1C3A}</a:tableStyleId>
              </a:tblPr>
              <a:tblGrid>
                <a:gridCol w="1908236">
                  <a:extLst>
                    <a:ext uri="{9D8B030D-6E8A-4147-A177-3AD203B41FA5}">
                      <a16:colId xmlns:a16="http://schemas.microsoft.com/office/drawing/2014/main" val="209775794"/>
                    </a:ext>
                  </a:extLst>
                </a:gridCol>
                <a:gridCol w="2151841">
                  <a:extLst>
                    <a:ext uri="{9D8B030D-6E8A-4147-A177-3AD203B41FA5}">
                      <a16:colId xmlns:a16="http://schemas.microsoft.com/office/drawing/2014/main" val="3358622778"/>
                    </a:ext>
                  </a:extLst>
                </a:gridCol>
                <a:gridCol w="2151841">
                  <a:extLst>
                    <a:ext uri="{9D8B030D-6E8A-4147-A177-3AD203B41FA5}">
                      <a16:colId xmlns:a16="http://schemas.microsoft.com/office/drawing/2014/main" val="1682671219"/>
                    </a:ext>
                  </a:extLst>
                </a:gridCol>
                <a:gridCol w="2151841">
                  <a:extLst>
                    <a:ext uri="{9D8B030D-6E8A-4147-A177-3AD203B41FA5}">
                      <a16:colId xmlns:a16="http://schemas.microsoft.com/office/drawing/2014/main" val="1144528991"/>
                    </a:ext>
                  </a:extLst>
                </a:gridCol>
                <a:gridCol w="2151841">
                  <a:extLst>
                    <a:ext uri="{9D8B030D-6E8A-4147-A177-3AD203B41FA5}">
                      <a16:colId xmlns:a16="http://schemas.microsoft.com/office/drawing/2014/main" val="3360310794"/>
                    </a:ext>
                  </a:extLst>
                </a:gridCol>
              </a:tblGrid>
              <a:tr h="0">
                <a:tc>
                  <a:txBody>
                    <a:bodyPr/>
                    <a:lstStyle/>
                    <a:p>
                      <a:pPr algn="l">
                        <a:lnSpc>
                          <a:spcPct val="138889"/>
                        </a:lnSpc>
                        <a:buNone/>
                      </a:pPr>
                      <a:r>
                        <a:rPr lang="en-CA" sz="1125" b="1">
                          <a:effectLst/>
                        </a:rPr>
                        <a:t>Customer Number</a:t>
                      </a:r>
                      <a:endParaRPr lang="en-CA" sz="1125" b="1">
                        <a:effectLst/>
                        <a:latin typeface="quote-cjk-patch"/>
                      </a:endParaRPr>
                    </a:p>
                  </a:txBody>
                  <a:tcPr marR="121920" marT="76200" marB="76200" anchor="ctr"/>
                </a:tc>
                <a:tc>
                  <a:txBody>
                    <a:bodyPr/>
                    <a:lstStyle/>
                    <a:p>
                      <a:pPr algn="l">
                        <a:lnSpc>
                          <a:spcPct val="138889"/>
                        </a:lnSpc>
                        <a:buNone/>
                      </a:pPr>
                      <a:r>
                        <a:rPr lang="en-CA" sz="1125" b="1">
                          <a:effectLst/>
                        </a:rPr>
                        <a:t>Last Name</a:t>
                      </a:r>
                      <a:endParaRPr lang="en-CA" sz="1125" b="1">
                        <a:effectLst/>
                        <a:latin typeface="quote-cjk-patch"/>
                      </a:endParaRPr>
                    </a:p>
                  </a:txBody>
                  <a:tcPr marL="121920" marR="121920" marT="76200" marB="76200" anchor="ctr"/>
                </a:tc>
                <a:tc>
                  <a:txBody>
                    <a:bodyPr/>
                    <a:lstStyle/>
                    <a:p>
                      <a:pPr algn="l">
                        <a:lnSpc>
                          <a:spcPct val="138889"/>
                        </a:lnSpc>
                        <a:buNone/>
                      </a:pPr>
                      <a:r>
                        <a:rPr lang="en-CA" sz="1125" b="1">
                          <a:effectLst/>
                        </a:rPr>
                        <a:t>First Name</a:t>
                      </a:r>
                      <a:endParaRPr lang="en-CA" sz="1125" b="1">
                        <a:effectLst/>
                        <a:latin typeface="quote-cjk-patch"/>
                      </a:endParaRPr>
                    </a:p>
                  </a:txBody>
                  <a:tcPr marL="121920" marR="121920" marT="76200" marB="76200" anchor="ctr"/>
                </a:tc>
                <a:tc>
                  <a:txBody>
                    <a:bodyPr/>
                    <a:lstStyle/>
                    <a:p>
                      <a:pPr algn="l">
                        <a:lnSpc>
                          <a:spcPct val="138889"/>
                        </a:lnSpc>
                        <a:buNone/>
                      </a:pPr>
                      <a:r>
                        <a:rPr lang="en-CA" sz="1125" b="1">
                          <a:effectLst/>
                        </a:rPr>
                        <a:t>Address</a:t>
                      </a:r>
                      <a:endParaRPr lang="en-CA" sz="1125" b="1">
                        <a:effectLst/>
                        <a:latin typeface="quote-cjk-patch"/>
                      </a:endParaRPr>
                    </a:p>
                  </a:txBody>
                  <a:tcPr marL="121920" marR="121920" marT="76200" marB="76200" anchor="ctr"/>
                </a:tc>
                <a:tc>
                  <a:txBody>
                    <a:bodyPr/>
                    <a:lstStyle/>
                    <a:p>
                      <a:pPr algn="l">
                        <a:lnSpc>
                          <a:spcPct val="138889"/>
                        </a:lnSpc>
                        <a:buNone/>
                      </a:pPr>
                      <a:r>
                        <a:rPr lang="en-CA" sz="1125" b="1" dirty="0">
                          <a:effectLst/>
                        </a:rPr>
                        <a:t>Phone</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2654552671"/>
                  </a:ext>
                </a:extLst>
              </a:tr>
              <a:tr h="0">
                <a:tc>
                  <a:txBody>
                    <a:bodyPr/>
                    <a:lstStyle/>
                    <a:p>
                      <a:pPr>
                        <a:lnSpc>
                          <a:spcPct val="138889"/>
                        </a:lnSpc>
                        <a:buNone/>
                      </a:pPr>
                      <a:r>
                        <a:rPr lang="en-CA" sz="1125" dirty="0">
                          <a:effectLst/>
                        </a:rPr>
                        <a:t>100</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Adams</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Joan</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9825-77 Ave Edmonton AB T5C 8E2</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780-488-8712</a:t>
                      </a:r>
                      <a:endParaRPr lang="en-CA" sz="1125" b="0" dirty="0">
                        <a:effectLst/>
                        <a:latin typeface="quote-cjk-patch"/>
                      </a:endParaRPr>
                    </a:p>
                  </a:txBody>
                  <a:tcPr marL="121920" marT="76200" marB="76200" anchor="ctr"/>
                </a:tc>
                <a:extLst>
                  <a:ext uri="{0D108BD9-81ED-4DB2-BD59-A6C34878D82A}">
                    <a16:rowId xmlns:a16="http://schemas.microsoft.com/office/drawing/2014/main" val="232747818"/>
                  </a:ext>
                </a:extLst>
              </a:tr>
              <a:tr h="0">
                <a:tc>
                  <a:txBody>
                    <a:bodyPr/>
                    <a:lstStyle/>
                    <a:p>
                      <a:pPr>
                        <a:lnSpc>
                          <a:spcPct val="138889"/>
                        </a:lnSpc>
                        <a:buNone/>
                      </a:pPr>
                      <a:r>
                        <a:rPr lang="en-CA" sz="1125">
                          <a:effectLst/>
                        </a:rPr>
                        <a:t>200</a:t>
                      </a:r>
                      <a:endParaRPr lang="en-CA" sz="1125" b="0">
                        <a:effectLst/>
                        <a:latin typeface="quote-cjk-patch"/>
                      </a:endParaRPr>
                    </a:p>
                  </a:txBody>
                  <a:tcPr marR="121920" marT="76200" marB="76200" anchor="ctr"/>
                </a:tc>
                <a:tc>
                  <a:txBody>
                    <a:bodyPr/>
                    <a:lstStyle/>
                    <a:p>
                      <a:pPr>
                        <a:lnSpc>
                          <a:spcPct val="138889"/>
                        </a:lnSpc>
                        <a:buNone/>
                      </a:pPr>
                      <a:r>
                        <a:rPr lang="en-CA" sz="1125">
                          <a:effectLst/>
                        </a:rPr>
                        <a:t>Smith</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Miles</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4308-133 Ave Edmonton AB T5C 8E9</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780-438-9523</a:t>
                      </a:r>
                      <a:endParaRPr lang="en-CA" sz="1125" b="0" dirty="0">
                        <a:effectLst/>
                        <a:latin typeface="quote-cjk-patch"/>
                      </a:endParaRPr>
                    </a:p>
                  </a:txBody>
                  <a:tcPr marL="121920" marT="76200" marB="76200" anchor="ctr"/>
                </a:tc>
                <a:extLst>
                  <a:ext uri="{0D108BD9-81ED-4DB2-BD59-A6C34878D82A}">
                    <a16:rowId xmlns:a16="http://schemas.microsoft.com/office/drawing/2014/main" val="2582444148"/>
                  </a:ext>
                </a:extLst>
              </a:tr>
            </a:tbl>
          </a:graphicData>
        </a:graphic>
      </p:graphicFrame>
      <p:graphicFrame>
        <p:nvGraphicFramePr>
          <p:cNvPr id="4" name="Table 3">
            <a:extLst>
              <a:ext uri="{FF2B5EF4-FFF2-40B4-BE49-F238E27FC236}">
                <a16:creationId xmlns:a16="http://schemas.microsoft.com/office/drawing/2014/main" id="{35A360BD-E37A-EB03-61DA-1D6567F4673F}"/>
              </a:ext>
            </a:extLst>
          </p:cNvPr>
          <p:cNvGraphicFramePr>
            <a:graphicFrameLocks noGrp="1"/>
          </p:cNvGraphicFramePr>
          <p:nvPr>
            <p:extLst>
              <p:ext uri="{D42A27DB-BD31-4B8C-83A1-F6EECF244321}">
                <p14:modId xmlns:p14="http://schemas.microsoft.com/office/powerpoint/2010/main" val="899463977"/>
              </p:ext>
            </p:extLst>
          </p:nvPr>
        </p:nvGraphicFramePr>
        <p:xfrm>
          <a:off x="1115290" y="3641526"/>
          <a:ext cx="5514110" cy="1470916"/>
        </p:xfrm>
        <a:graphic>
          <a:graphicData uri="http://schemas.openxmlformats.org/drawingml/2006/table">
            <a:tbl>
              <a:tblPr>
                <a:tableStyleId>{5C22544A-7EE6-4342-B048-85BDC9FD1C3A}</a:tableStyleId>
              </a:tblPr>
              <a:tblGrid>
                <a:gridCol w="915831">
                  <a:extLst>
                    <a:ext uri="{9D8B030D-6E8A-4147-A177-3AD203B41FA5}">
                      <a16:colId xmlns:a16="http://schemas.microsoft.com/office/drawing/2014/main" val="1488511857"/>
                    </a:ext>
                  </a:extLst>
                </a:gridCol>
                <a:gridCol w="4598279">
                  <a:extLst>
                    <a:ext uri="{9D8B030D-6E8A-4147-A177-3AD203B41FA5}">
                      <a16:colId xmlns:a16="http://schemas.microsoft.com/office/drawing/2014/main" val="3184112711"/>
                    </a:ext>
                  </a:extLst>
                </a:gridCol>
              </a:tblGrid>
              <a:tr h="0">
                <a:tc>
                  <a:txBody>
                    <a:bodyPr/>
                    <a:lstStyle/>
                    <a:p>
                      <a:pPr algn="l">
                        <a:lnSpc>
                          <a:spcPct val="138889"/>
                        </a:lnSpc>
                        <a:buNone/>
                      </a:pPr>
                      <a:r>
                        <a:rPr lang="en-CA" sz="1125" b="1">
                          <a:effectLst/>
                        </a:rPr>
                        <a:t>Term</a:t>
                      </a:r>
                      <a:endParaRPr lang="en-CA" sz="1125" b="1">
                        <a:effectLst/>
                        <a:latin typeface="quote-cjk-patch"/>
                      </a:endParaRPr>
                    </a:p>
                  </a:txBody>
                  <a:tcPr marR="121920" marT="76200" marB="76200" anchor="ctr"/>
                </a:tc>
                <a:tc>
                  <a:txBody>
                    <a:bodyPr/>
                    <a:lstStyle/>
                    <a:p>
                      <a:pPr algn="l">
                        <a:lnSpc>
                          <a:spcPct val="138889"/>
                        </a:lnSpc>
                        <a:buNone/>
                      </a:pPr>
                      <a:r>
                        <a:rPr lang="en-CA" sz="1125">
                          <a:effectLst/>
                        </a:rPr>
                        <a:t>Definition</a:t>
                      </a:r>
                      <a:endParaRPr lang="en-CA" sz="1125" b="0">
                        <a:effectLst/>
                        <a:latin typeface="quote-cjk-patch"/>
                      </a:endParaRPr>
                    </a:p>
                  </a:txBody>
                  <a:tcPr marL="121920" marR="121920" marT="76200" marB="76200" anchor="ctr"/>
                </a:tc>
                <a:extLst>
                  <a:ext uri="{0D108BD9-81ED-4DB2-BD59-A6C34878D82A}">
                    <a16:rowId xmlns:a16="http://schemas.microsoft.com/office/drawing/2014/main" val="3522128519"/>
                  </a:ext>
                </a:extLst>
              </a:tr>
              <a:tr h="0">
                <a:tc>
                  <a:txBody>
                    <a:bodyPr/>
                    <a:lstStyle/>
                    <a:p>
                      <a:pPr>
                        <a:lnSpc>
                          <a:spcPct val="138889"/>
                        </a:lnSpc>
                        <a:buNone/>
                      </a:pPr>
                      <a:r>
                        <a:rPr lang="en-CA" sz="1125" b="1" dirty="0">
                          <a:effectLst/>
                        </a:rPr>
                        <a:t>Column</a:t>
                      </a:r>
                      <a:endParaRPr lang="en-CA" sz="1125" b="1" dirty="0">
                        <a:effectLst/>
                        <a:latin typeface="quote-cjk-patch"/>
                      </a:endParaRPr>
                    </a:p>
                  </a:txBody>
                  <a:tcPr marR="121920" marT="76200" marB="76200" anchor="ctr"/>
                </a:tc>
                <a:tc>
                  <a:txBody>
                    <a:bodyPr/>
                    <a:lstStyle/>
                    <a:p>
                      <a:pPr>
                        <a:lnSpc>
                          <a:spcPct val="138889"/>
                        </a:lnSpc>
                        <a:buNone/>
                      </a:pPr>
                      <a:r>
                        <a:rPr lang="en-CA" sz="1125" dirty="0">
                          <a:effectLst/>
                        </a:rPr>
                        <a:t>One piece of information about a customer (attribute)</a:t>
                      </a:r>
                      <a:endParaRPr lang="en-CA" sz="1125" b="0" dirty="0">
                        <a:effectLst/>
                        <a:latin typeface="quote-cjk-patch"/>
                      </a:endParaRPr>
                    </a:p>
                  </a:txBody>
                  <a:tcPr marL="121920" marT="76200" marB="76200" anchor="ctr"/>
                </a:tc>
                <a:extLst>
                  <a:ext uri="{0D108BD9-81ED-4DB2-BD59-A6C34878D82A}">
                    <a16:rowId xmlns:a16="http://schemas.microsoft.com/office/drawing/2014/main" val="1198131808"/>
                  </a:ext>
                </a:extLst>
              </a:tr>
              <a:tr h="0">
                <a:tc>
                  <a:txBody>
                    <a:bodyPr/>
                    <a:lstStyle/>
                    <a:p>
                      <a:pPr>
                        <a:lnSpc>
                          <a:spcPct val="138889"/>
                        </a:lnSpc>
                        <a:buNone/>
                      </a:pPr>
                      <a:r>
                        <a:rPr lang="en-CA" sz="1125" b="1">
                          <a:effectLst/>
                        </a:rPr>
                        <a:t>Row</a:t>
                      </a:r>
                      <a:endParaRPr lang="en-CA" sz="1125" b="1">
                        <a:effectLst/>
                        <a:latin typeface="quote-cjk-patch"/>
                      </a:endParaRPr>
                    </a:p>
                  </a:txBody>
                  <a:tcPr marR="121920" marT="76200" marB="76200" anchor="ctr"/>
                </a:tc>
                <a:tc>
                  <a:txBody>
                    <a:bodyPr/>
                    <a:lstStyle/>
                    <a:p>
                      <a:pPr>
                        <a:lnSpc>
                          <a:spcPct val="138889"/>
                        </a:lnSpc>
                        <a:buNone/>
                      </a:pPr>
                      <a:r>
                        <a:rPr lang="en-CA" sz="1125" dirty="0">
                          <a:effectLst/>
                        </a:rPr>
                        <a:t>A collection of information for one specific customer (record)</a:t>
                      </a:r>
                      <a:endParaRPr lang="en-CA" sz="1125" b="0" dirty="0">
                        <a:effectLst/>
                        <a:latin typeface="quote-cjk-patch"/>
                      </a:endParaRPr>
                    </a:p>
                  </a:txBody>
                  <a:tcPr marL="121920" marT="76200" marB="76200" anchor="ctr"/>
                </a:tc>
                <a:extLst>
                  <a:ext uri="{0D108BD9-81ED-4DB2-BD59-A6C34878D82A}">
                    <a16:rowId xmlns:a16="http://schemas.microsoft.com/office/drawing/2014/main" val="2816486443"/>
                  </a:ext>
                </a:extLst>
              </a:tr>
              <a:tr h="0">
                <a:tc>
                  <a:txBody>
                    <a:bodyPr/>
                    <a:lstStyle/>
                    <a:p>
                      <a:pPr>
                        <a:lnSpc>
                          <a:spcPct val="138889"/>
                        </a:lnSpc>
                        <a:buNone/>
                      </a:pPr>
                      <a:r>
                        <a:rPr lang="en-CA" sz="1125" b="1" dirty="0">
                          <a:effectLst/>
                        </a:rPr>
                        <a:t>Table</a:t>
                      </a:r>
                      <a:endParaRPr lang="en-CA" sz="1125" b="1" dirty="0">
                        <a:effectLst/>
                        <a:latin typeface="quote-cjk-patch"/>
                      </a:endParaRPr>
                    </a:p>
                  </a:txBody>
                  <a:tcPr marR="121920" marT="76200" marB="76200" anchor="ctr"/>
                </a:tc>
                <a:tc>
                  <a:txBody>
                    <a:bodyPr/>
                    <a:lstStyle/>
                    <a:p>
                      <a:pPr>
                        <a:lnSpc>
                          <a:spcPct val="138889"/>
                        </a:lnSpc>
                        <a:buNone/>
                      </a:pPr>
                      <a:r>
                        <a:rPr lang="en-CA" sz="1125" dirty="0">
                          <a:effectLst/>
                        </a:rPr>
                        <a:t>A collection of related records</a:t>
                      </a:r>
                      <a:endParaRPr lang="en-CA" sz="1125" b="0" dirty="0">
                        <a:effectLst/>
                        <a:latin typeface="quote-cjk-patch"/>
                      </a:endParaRPr>
                    </a:p>
                  </a:txBody>
                  <a:tcPr marL="121920" marT="76200" marB="76200" anchor="ctr"/>
                </a:tc>
                <a:extLst>
                  <a:ext uri="{0D108BD9-81ED-4DB2-BD59-A6C34878D82A}">
                    <a16:rowId xmlns:a16="http://schemas.microsoft.com/office/drawing/2014/main" val="1276724015"/>
                  </a:ext>
                </a:extLst>
              </a:tr>
            </a:tbl>
          </a:graphicData>
        </a:graphic>
      </p:graphicFrame>
      <p:sp>
        <p:nvSpPr>
          <p:cNvPr id="6" name="TextBox 5">
            <a:extLst>
              <a:ext uri="{FF2B5EF4-FFF2-40B4-BE49-F238E27FC236}">
                <a16:creationId xmlns:a16="http://schemas.microsoft.com/office/drawing/2014/main" id="{78E920C4-8CA5-110B-1C7B-1AE5073DAB97}"/>
              </a:ext>
            </a:extLst>
          </p:cNvPr>
          <p:cNvSpPr txBox="1"/>
          <p:nvPr/>
        </p:nvSpPr>
        <p:spPr>
          <a:xfrm>
            <a:off x="1019349" y="1033568"/>
            <a:ext cx="6099462" cy="646331"/>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Let's label the parts</a:t>
            </a:r>
            <a:r>
              <a:rPr lang="en-CA" b="1" dirty="0"/>
              <a:t>. </a:t>
            </a:r>
            <a:r>
              <a:rPr lang="en-CA" sz="1800" b="1" i="0" dirty="0">
                <a:solidFill>
                  <a:schemeClr val="tx1"/>
                </a:solidFill>
                <a:effectLst/>
                <a:latin typeface="+mn-lt"/>
              </a:rPr>
              <a:t>We will use these terms throughout the course.</a:t>
            </a:r>
            <a:endParaRPr lang="en-CA" sz="1800" b="0" i="0" dirty="0">
              <a:solidFill>
                <a:srgbClr val="0F1115"/>
              </a:solidFill>
              <a:effectLst/>
              <a:latin typeface="quote-cjk-patch"/>
            </a:endParaRPr>
          </a:p>
        </p:txBody>
      </p:sp>
    </p:spTree>
    <p:extLst>
      <p:ext uri="{BB962C8B-B14F-4D97-AF65-F5344CB8AC3E}">
        <p14:creationId xmlns:p14="http://schemas.microsoft.com/office/powerpoint/2010/main" val="4261495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194AD-ABB3-CD22-406F-85E3202282FB}"/>
              </a:ext>
            </a:extLst>
          </p:cNvPr>
          <p:cNvSpPr>
            <a:spLocks noGrp="1"/>
          </p:cNvSpPr>
          <p:nvPr>
            <p:ph type="title"/>
          </p:nvPr>
        </p:nvSpPr>
        <p:spPr/>
        <p:txBody>
          <a:bodyPr>
            <a:normAutofit/>
          </a:bodyPr>
          <a:lstStyle/>
          <a:p>
            <a:r>
              <a:rPr lang="en-US" b="1" dirty="0"/>
              <a:t>What Makes a Database "Relational"?</a:t>
            </a:r>
            <a:endParaRPr lang="en-CA" b="1" dirty="0"/>
          </a:p>
        </p:txBody>
      </p:sp>
      <p:graphicFrame>
        <p:nvGraphicFramePr>
          <p:cNvPr id="3" name="Table 2">
            <a:extLst>
              <a:ext uri="{FF2B5EF4-FFF2-40B4-BE49-F238E27FC236}">
                <a16:creationId xmlns:a16="http://schemas.microsoft.com/office/drawing/2014/main" id="{0D366607-768B-7834-20DE-1B2370834923}"/>
              </a:ext>
            </a:extLst>
          </p:cNvPr>
          <p:cNvGraphicFramePr>
            <a:graphicFrameLocks noGrp="1"/>
          </p:cNvGraphicFramePr>
          <p:nvPr>
            <p:extLst>
              <p:ext uri="{D42A27DB-BD31-4B8C-83A1-F6EECF244321}">
                <p14:modId xmlns:p14="http://schemas.microsoft.com/office/powerpoint/2010/main" val="3712104704"/>
              </p:ext>
            </p:extLst>
          </p:nvPr>
        </p:nvGraphicFramePr>
        <p:xfrm>
          <a:off x="4946073" y="1887440"/>
          <a:ext cx="6982691" cy="2571880"/>
        </p:xfrm>
        <a:graphic>
          <a:graphicData uri="http://schemas.openxmlformats.org/drawingml/2006/table">
            <a:tbl>
              <a:tblPr>
                <a:tableStyleId>{5C22544A-7EE6-4342-B048-85BDC9FD1C3A}</a:tableStyleId>
              </a:tblPr>
              <a:tblGrid>
                <a:gridCol w="1297180">
                  <a:extLst>
                    <a:ext uri="{9D8B030D-6E8A-4147-A177-3AD203B41FA5}">
                      <a16:colId xmlns:a16="http://schemas.microsoft.com/office/drawing/2014/main" val="3949534244"/>
                    </a:ext>
                  </a:extLst>
                </a:gridCol>
                <a:gridCol w="1462777">
                  <a:extLst>
                    <a:ext uri="{9D8B030D-6E8A-4147-A177-3AD203B41FA5}">
                      <a16:colId xmlns:a16="http://schemas.microsoft.com/office/drawing/2014/main" val="3873990717"/>
                    </a:ext>
                  </a:extLst>
                </a:gridCol>
                <a:gridCol w="1462777">
                  <a:extLst>
                    <a:ext uri="{9D8B030D-6E8A-4147-A177-3AD203B41FA5}">
                      <a16:colId xmlns:a16="http://schemas.microsoft.com/office/drawing/2014/main" val="3173658437"/>
                    </a:ext>
                  </a:extLst>
                </a:gridCol>
                <a:gridCol w="1462777">
                  <a:extLst>
                    <a:ext uri="{9D8B030D-6E8A-4147-A177-3AD203B41FA5}">
                      <a16:colId xmlns:a16="http://schemas.microsoft.com/office/drawing/2014/main" val="554671982"/>
                    </a:ext>
                  </a:extLst>
                </a:gridCol>
                <a:gridCol w="1297180">
                  <a:extLst>
                    <a:ext uri="{9D8B030D-6E8A-4147-A177-3AD203B41FA5}">
                      <a16:colId xmlns:a16="http://schemas.microsoft.com/office/drawing/2014/main" val="1397050177"/>
                    </a:ext>
                  </a:extLst>
                </a:gridCol>
              </a:tblGrid>
              <a:tr h="514376">
                <a:tc>
                  <a:txBody>
                    <a:bodyPr/>
                    <a:lstStyle/>
                    <a:p>
                      <a:pPr algn="l">
                        <a:lnSpc>
                          <a:spcPct val="138889"/>
                        </a:lnSpc>
                        <a:buNone/>
                      </a:pPr>
                      <a:r>
                        <a:rPr lang="en-CA" sz="1400" b="1" dirty="0">
                          <a:effectLst/>
                        </a:rPr>
                        <a:t>CUSTOMER</a:t>
                      </a:r>
                      <a:endParaRPr lang="en-CA" sz="1400" b="1" dirty="0">
                        <a:effectLst/>
                        <a:latin typeface="quote-cjk-patch"/>
                      </a:endParaRPr>
                    </a:p>
                  </a:txBody>
                  <a:tcPr marR="121920" marT="76200" marB="76200" anchor="ctr"/>
                </a:tc>
                <a:tc>
                  <a:txBody>
                    <a:bodyPr/>
                    <a:lstStyle/>
                    <a:p>
                      <a:pPr algn="l">
                        <a:lnSpc>
                          <a:spcPct val="138889"/>
                        </a:lnSpc>
                        <a:buNone/>
                      </a:pPr>
                      <a:endParaRPr lang="en-CA" sz="1400" b="1">
                        <a:effectLst/>
                        <a:latin typeface="quote-cjk-patch"/>
                      </a:endParaRPr>
                    </a:p>
                  </a:txBody>
                  <a:tcPr marL="121920" marR="121920" marT="76200" marB="76200" anchor="ctr"/>
                </a:tc>
                <a:tc>
                  <a:txBody>
                    <a:bodyPr/>
                    <a:lstStyle/>
                    <a:p>
                      <a:pPr algn="l">
                        <a:lnSpc>
                          <a:spcPct val="138889"/>
                        </a:lnSpc>
                        <a:buNone/>
                      </a:pPr>
                      <a:r>
                        <a:rPr lang="en-CA" sz="1400" b="1" dirty="0">
                          <a:effectLst/>
                        </a:rPr>
                        <a:t>ORDER</a:t>
                      </a:r>
                      <a:endParaRPr lang="en-CA" sz="1400" b="1" dirty="0">
                        <a:effectLst/>
                        <a:latin typeface="quote-cjk-patch"/>
                      </a:endParaRPr>
                    </a:p>
                  </a:txBody>
                  <a:tcPr marL="121920" marR="121920" marT="76200" marB="76200" anchor="ctr"/>
                </a:tc>
                <a:tc>
                  <a:txBody>
                    <a:bodyPr/>
                    <a:lstStyle/>
                    <a:p>
                      <a:endParaRPr lang="en-CA" sz="1400"/>
                    </a:p>
                  </a:txBody>
                  <a:tcPr/>
                </a:tc>
                <a:tc>
                  <a:txBody>
                    <a:bodyPr/>
                    <a:lstStyle/>
                    <a:p>
                      <a:endParaRPr lang="en-CA" sz="1400"/>
                    </a:p>
                  </a:txBody>
                  <a:tcPr/>
                </a:tc>
                <a:extLst>
                  <a:ext uri="{0D108BD9-81ED-4DB2-BD59-A6C34878D82A}">
                    <a16:rowId xmlns:a16="http://schemas.microsoft.com/office/drawing/2014/main" val="1937574719"/>
                  </a:ext>
                </a:extLst>
              </a:tr>
              <a:tr h="514376">
                <a:tc>
                  <a:txBody>
                    <a:bodyPr/>
                    <a:lstStyle/>
                    <a:p>
                      <a:pPr>
                        <a:lnSpc>
                          <a:spcPct val="138889"/>
                        </a:lnSpc>
                        <a:buNone/>
                      </a:pPr>
                      <a:r>
                        <a:rPr lang="en-CA" sz="1400" b="1" dirty="0">
                          <a:effectLst/>
                        </a:rPr>
                        <a:t>Customer #</a:t>
                      </a:r>
                      <a:endParaRPr lang="en-CA" sz="1400" b="1" dirty="0">
                        <a:effectLst/>
                        <a:latin typeface="quote-cjk-patch"/>
                      </a:endParaRPr>
                    </a:p>
                  </a:txBody>
                  <a:tcPr marR="121920" marT="76200" marB="76200" anchor="ctr"/>
                </a:tc>
                <a:tc>
                  <a:txBody>
                    <a:bodyPr/>
                    <a:lstStyle/>
                    <a:p>
                      <a:pPr>
                        <a:lnSpc>
                          <a:spcPct val="138889"/>
                        </a:lnSpc>
                        <a:buNone/>
                      </a:pPr>
                      <a:r>
                        <a:rPr lang="en-CA" sz="1400" b="1">
                          <a:effectLst/>
                        </a:rPr>
                        <a:t>Name</a:t>
                      </a:r>
                      <a:endParaRPr lang="en-CA" sz="1400" b="1">
                        <a:effectLst/>
                        <a:latin typeface="quote-cjk-patch"/>
                      </a:endParaRPr>
                    </a:p>
                  </a:txBody>
                  <a:tcPr marL="121920" marR="121920" marT="76200" marB="76200" anchor="ctr"/>
                </a:tc>
                <a:tc>
                  <a:txBody>
                    <a:bodyPr/>
                    <a:lstStyle/>
                    <a:p>
                      <a:pPr>
                        <a:lnSpc>
                          <a:spcPct val="138889"/>
                        </a:lnSpc>
                        <a:buNone/>
                      </a:pPr>
                      <a:r>
                        <a:rPr lang="en-CA" sz="1400" b="1" dirty="0">
                          <a:effectLst/>
                        </a:rPr>
                        <a:t>Order #</a:t>
                      </a:r>
                      <a:endParaRPr lang="en-CA" sz="1400" b="1" dirty="0">
                        <a:effectLst/>
                        <a:latin typeface="quote-cjk-patch"/>
                      </a:endParaRPr>
                    </a:p>
                  </a:txBody>
                  <a:tcPr marL="121920" marR="121920" marT="76200" marB="76200" anchor="ctr"/>
                </a:tc>
                <a:tc>
                  <a:txBody>
                    <a:bodyPr/>
                    <a:lstStyle/>
                    <a:p>
                      <a:pPr>
                        <a:lnSpc>
                          <a:spcPct val="138889"/>
                        </a:lnSpc>
                        <a:buNone/>
                      </a:pPr>
                      <a:r>
                        <a:rPr lang="en-CA" sz="1400" b="1">
                          <a:effectLst/>
                        </a:rPr>
                        <a:t>Date</a:t>
                      </a:r>
                      <a:endParaRPr lang="en-CA" sz="1400" b="1">
                        <a:effectLst/>
                        <a:latin typeface="quote-cjk-patch"/>
                      </a:endParaRPr>
                    </a:p>
                  </a:txBody>
                  <a:tcPr marL="121920" marR="121920" marT="76200" marB="76200" anchor="ctr"/>
                </a:tc>
                <a:tc>
                  <a:txBody>
                    <a:bodyPr/>
                    <a:lstStyle/>
                    <a:p>
                      <a:pPr>
                        <a:lnSpc>
                          <a:spcPct val="138889"/>
                        </a:lnSpc>
                        <a:buNone/>
                      </a:pPr>
                      <a:r>
                        <a:rPr lang="en-CA" sz="1400" b="1" dirty="0">
                          <a:effectLst/>
                        </a:rPr>
                        <a:t>Customer #</a:t>
                      </a:r>
                      <a:endParaRPr lang="en-CA" sz="1400" b="1" dirty="0">
                        <a:effectLst/>
                        <a:latin typeface="quote-cjk-patch"/>
                      </a:endParaRPr>
                    </a:p>
                  </a:txBody>
                  <a:tcPr marL="121920" marT="76200" marB="76200" anchor="ctr"/>
                </a:tc>
                <a:extLst>
                  <a:ext uri="{0D108BD9-81ED-4DB2-BD59-A6C34878D82A}">
                    <a16:rowId xmlns:a16="http://schemas.microsoft.com/office/drawing/2014/main" val="1988321134"/>
                  </a:ext>
                </a:extLst>
              </a:tr>
              <a:tr h="514376">
                <a:tc>
                  <a:txBody>
                    <a:bodyPr/>
                    <a:lstStyle/>
                    <a:p>
                      <a:pPr>
                        <a:lnSpc>
                          <a:spcPct val="138889"/>
                        </a:lnSpc>
                        <a:buNone/>
                      </a:pPr>
                      <a:r>
                        <a:rPr lang="en-CA" sz="1400" dirty="0">
                          <a:effectLst/>
                        </a:rPr>
                        <a:t>100</a:t>
                      </a:r>
                      <a:endParaRPr lang="en-CA" sz="1400" b="0" dirty="0">
                        <a:effectLst/>
                        <a:latin typeface="quote-cjk-patch"/>
                      </a:endParaRPr>
                    </a:p>
                  </a:txBody>
                  <a:tcPr marR="121920" marT="76200" marB="76200" anchor="ctr"/>
                </a:tc>
                <a:tc>
                  <a:txBody>
                    <a:bodyPr/>
                    <a:lstStyle/>
                    <a:p>
                      <a:pPr>
                        <a:lnSpc>
                          <a:spcPct val="138889"/>
                        </a:lnSpc>
                        <a:buNone/>
                      </a:pPr>
                      <a:r>
                        <a:rPr lang="en-CA" sz="1400">
                          <a:effectLst/>
                        </a:rPr>
                        <a:t>Joan Adams</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501</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Sept. 3</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100</a:t>
                      </a:r>
                      <a:endParaRPr lang="en-CA" sz="1400" b="0">
                        <a:effectLst/>
                        <a:latin typeface="quote-cjk-patch"/>
                      </a:endParaRPr>
                    </a:p>
                  </a:txBody>
                  <a:tcPr marL="121920" marT="76200" marB="76200" anchor="ctr"/>
                </a:tc>
                <a:extLst>
                  <a:ext uri="{0D108BD9-81ED-4DB2-BD59-A6C34878D82A}">
                    <a16:rowId xmlns:a16="http://schemas.microsoft.com/office/drawing/2014/main" val="551768936"/>
                  </a:ext>
                </a:extLst>
              </a:tr>
              <a:tr h="514376">
                <a:tc>
                  <a:txBody>
                    <a:bodyPr/>
                    <a:lstStyle/>
                    <a:p>
                      <a:pPr>
                        <a:lnSpc>
                          <a:spcPct val="138889"/>
                        </a:lnSpc>
                        <a:buNone/>
                      </a:pPr>
                      <a:r>
                        <a:rPr lang="en-CA" sz="1400" dirty="0">
                          <a:effectLst/>
                        </a:rPr>
                        <a:t>200</a:t>
                      </a:r>
                      <a:endParaRPr lang="en-CA" sz="1400" b="0" dirty="0">
                        <a:effectLst/>
                        <a:latin typeface="quote-cjk-patch"/>
                      </a:endParaRPr>
                    </a:p>
                  </a:txBody>
                  <a:tcPr marR="121920" marT="76200" marB="76200" anchor="ctr"/>
                </a:tc>
                <a:tc>
                  <a:txBody>
                    <a:bodyPr/>
                    <a:lstStyle/>
                    <a:p>
                      <a:pPr>
                        <a:lnSpc>
                          <a:spcPct val="138889"/>
                        </a:lnSpc>
                        <a:buNone/>
                      </a:pPr>
                      <a:r>
                        <a:rPr lang="en-CA" sz="1400" dirty="0">
                          <a:effectLst/>
                        </a:rPr>
                        <a:t>Miles Smith</a:t>
                      </a:r>
                      <a:endParaRPr lang="en-CA" sz="1400" b="0" dirty="0">
                        <a:effectLst/>
                        <a:latin typeface="quote-cjk-patch"/>
                      </a:endParaRPr>
                    </a:p>
                  </a:txBody>
                  <a:tcPr marL="121920" marR="121920" marT="76200" marB="76200" anchor="ctr"/>
                </a:tc>
                <a:tc>
                  <a:txBody>
                    <a:bodyPr/>
                    <a:lstStyle/>
                    <a:p>
                      <a:pPr>
                        <a:lnSpc>
                          <a:spcPct val="138889"/>
                        </a:lnSpc>
                        <a:buNone/>
                      </a:pPr>
                      <a:r>
                        <a:rPr lang="en-CA" sz="1400">
                          <a:effectLst/>
                        </a:rPr>
                        <a:t>502</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Sept. 5</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100</a:t>
                      </a:r>
                      <a:endParaRPr lang="en-CA" sz="1400" b="0">
                        <a:effectLst/>
                        <a:latin typeface="quote-cjk-patch"/>
                      </a:endParaRPr>
                    </a:p>
                  </a:txBody>
                  <a:tcPr marL="121920" marT="76200" marB="76200" anchor="ctr"/>
                </a:tc>
                <a:extLst>
                  <a:ext uri="{0D108BD9-81ED-4DB2-BD59-A6C34878D82A}">
                    <a16:rowId xmlns:a16="http://schemas.microsoft.com/office/drawing/2014/main" val="2030505076"/>
                  </a:ext>
                </a:extLst>
              </a:tr>
              <a:tr h="514376">
                <a:tc>
                  <a:txBody>
                    <a:bodyPr/>
                    <a:lstStyle/>
                    <a:p>
                      <a:pPr>
                        <a:lnSpc>
                          <a:spcPct val="138889"/>
                        </a:lnSpc>
                        <a:buNone/>
                      </a:pPr>
                      <a:endParaRPr lang="en-CA" sz="1400" b="0">
                        <a:effectLst/>
                        <a:latin typeface="quote-cjk-patch"/>
                      </a:endParaRPr>
                    </a:p>
                  </a:txBody>
                  <a:tcPr marR="121920" marT="76200" marB="76200" anchor="ctr"/>
                </a:tc>
                <a:tc>
                  <a:txBody>
                    <a:bodyPr/>
                    <a:lstStyle/>
                    <a:p>
                      <a:pPr>
                        <a:lnSpc>
                          <a:spcPct val="138889"/>
                        </a:lnSpc>
                        <a:buNone/>
                      </a:pP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503</a:t>
                      </a:r>
                      <a:endParaRPr lang="en-CA" sz="1400" b="0">
                        <a:effectLst/>
                        <a:latin typeface="quote-cjk-patch"/>
                      </a:endParaRPr>
                    </a:p>
                  </a:txBody>
                  <a:tcPr marL="121920" marR="121920" marT="76200" marB="76200" anchor="ctr"/>
                </a:tc>
                <a:tc>
                  <a:txBody>
                    <a:bodyPr/>
                    <a:lstStyle/>
                    <a:p>
                      <a:pPr>
                        <a:lnSpc>
                          <a:spcPct val="138889"/>
                        </a:lnSpc>
                        <a:buNone/>
                      </a:pPr>
                      <a:r>
                        <a:rPr lang="en-CA" sz="1400">
                          <a:effectLst/>
                        </a:rPr>
                        <a:t>Sept. 6</a:t>
                      </a:r>
                      <a:endParaRPr lang="en-CA" sz="1400" b="0">
                        <a:effectLst/>
                        <a:latin typeface="quote-cjk-patch"/>
                      </a:endParaRPr>
                    </a:p>
                  </a:txBody>
                  <a:tcPr marL="121920" marR="121920" marT="76200" marB="76200" anchor="ctr"/>
                </a:tc>
                <a:tc>
                  <a:txBody>
                    <a:bodyPr/>
                    <a:lstStyle/>
                    <a:p>
                      <a:pPr>
                        <a:lnSpc>
                          <a:spcPct val="138889"/>
                        </a:lnSpc>
                        <a:buNone/>
                      </a:pPr>
                      <a:r>
                        <a:rPr lang="en-CA" sz="1400" dirty="0">
                          <a:effectLst/>
                        </a:rPr>
                        <a:t>200</a:t>
                      </a:r>
                      <a:endParaRPr lang="en-CA" sz="1400" b="0" dirty="0">
                        <a:effectLst/>
                        <a:latin typeface="quote-cjk-patch"/>
                      </a:endParaRPr>
                    </a:p>
                  </a:txBody>
                  <a:tcPr marL="121920" marT="76200" marB="76200" anchor="ctr"/>
                </a:tc>
                <a:extLst>
                  <a:ext uri="{0D108BD9-81ED-4DB2-BD59-A6C34878D82A}">
                    <a16:rowId xmlns:a16="http://schemas.microsoft.com/office/drawing/2014/main" val="1995039225"/>
                  </a:ext>
                </a:extLst>
              </a:tr>
            </a:tbl>
          </a:graphicData>
        </a:graphic>
      </p:graphicFrame>
      <p:sp>
        <p:nvSpPr>
          <p:cNvPr id="5" name="TextBox 4">
            <a:extLst>
              <a:ext uri="{FF2B5EF4-FFF2-40B4-BE49-F238E27FC236}">
                <a16:creationId xmlns:a16="http://schemas.microsoft.com/office/drawing/2014/main" id="{C3684940-8B3E-1501-C144-672396C23065}"/>
              </a:ext>
            </a:extLst>
          </p:cNvPr>
          <p:cNvSpPr txBox="1"/>
          <p:nvPr/>
        </p:nvSpPr>
        <p:spPr>
          <a:xfrm>
            <a:off x="571499" y="1432043"/>
            <a:ext cx="4374574" cy="3939540"/>
          </a:xfrm>
          <a:prstGeom prst="rect">
            <a:avLst/>
          </a:prstGeom>
          <a:noFill/>
        </p:spPr>
        <p:txBody>
          <a:bodyPr wrap="square">
            <a:spAutoFit/>
          </a:bodyPr>
          <a:lstStyle/>
          <a:p>
            <a:pPr marL="0" marR="0" indent="0" algn="l">
              <a:spcBef>
                <a:spcPts val="1200"/>
              </a:spcBef>
              <a:spcAft>
                <a:spcPts val="1200"/>
              </a:spcAft>
              <a:buNone/>
            </a:pPr>
            <a:r>
              <a:rPr lang="en-CA" sz="1600" b="1" i="0" dirty="0">
                <a:solidFill>
                  <a:schemeClr val="tx1"/>
                </a:solidFill>
                <a:effectLst/>
                <a:latin typeface="+mn-lt"/>
              </a:rPr>
              <a:t>A relational database doesn't just store isolated tables.</a:t>
            </a:r>
            <a:endParaRPr lang="en-CA" sz="1600" b="0" i="0" dirty="0">
              <a:solidFill>
                <a:schemeClr val="tx1"/>
              </a:solidFill>
              <a:effectLst/>
              <a:latin typeface="+mn-lt"/>
            </a:endParaRPr>
          </a:p>
          <a:p>
            <a:pPr marL="0" marR="0" indent="0" algn="l">
              <a:spcBef>
                <a:spcPts val="1200"/>
              </a:spcBef>
              <a:spcAft>
                <a:spcPts val="1200"/>
              </a:spcAft>
              <a:buNone/>
            </a:pPr>
            <a:r>
              <a:rPr lang="en-CA" sz="1600" b="0" i="0" dirty="0">
                <a:solidFill>
                  <a:schemeClr val="tx1"/>
                </a:solidFill>
                <a:effectLst/>
                <a:latin typeface="+mn-lt"/>
              </a:rPr>
              <a:t>It allows us to </a:t>
            </a:r>
            <a:r>
              <a:rPr lang="en-CA" sz="1600" b="1" i="0" dirty="0">
                <a:solidFill>
                  <a:schemeClr val="tx1"/>
                </a:solidFill>
                <a:effectLst/>
                <a:latin typeface="+mn-lt"/>
              </a:rPr>
              <a:t>connect related information</a:t>
            </a:r>
            <a:r>
              <a:rPr lang="en-CA" sz="1600" b="0" i="0" dirty="0">
                <a:solidFill>
                  <a:schemeClr val="tx1"/>
                </a:solidFill>
                <a:effectLst/>
                <a:latin typeface="+mn-lt"/>
              </a:rPr>
              <a:t>.</a:t>
            </a:r>
          </a:p>
          <a:p>
            <a:pPr marL="0" marR="0" indent="0" algn="l">
              <a:spcBef>
                <a:spcPts val="1200"/>
              </a:spcBef>
              <a:spcAft>
                <a:spcPts val="1200"/>
              </a:spcAft>
              <a:buNone/>
            </a:pPr>
            <a:r>
              <a:rPr lang="en-CA" sz="1600" b="1" i="0" dirty="0">
                <a:solidFill>
                  <a:schemeClr val="tx1"/>
                </a:solidFill>
                <a:effectLst/>
                <a:latin typeface="+mn-lt"/>
              </a:rPr>
              <a:t>Question:</a:t>
            </a:r>
            <a:endParaRPr lang="en-CA" sz="1600" b="0" i="0" dirty="0">
              <a:solidFill>
                <a:schemeClr val="tx1"/>
              </a:solidFill>
              <a:effectLst/>
              <a:latin typeface="+mn-lt"/>
            </a:endParaRPr>
          </a:p>
          <a:p>
            <a:pPr marL="0" marR="0" indent="0" algn="l">
              <a:spcBef>
                <a:spcPts val="1200"/>
              </a:spcBef>
              <a:buNone/>
            </a:pPr>
            <a:r>
              <a:rPr lang="en-CA" sz="1600" b="0" i="0" dirty="0">
                <a:solidFill>
                  <a:schemeClr val="tx1"/>
                </a:solidFill>
                <a:effectLst/>
                <a:latin typeface="+mn-lt"/>
              </a:rPr>
              <a:t>"How do we know which customer placed Order 501?"</a:t>
            </a:r>
          </a:p>
          <a:p>
            <a:pPr marL="0" marR="0" indent="0" algn="l">
              <a:spcBef>
                <a:spcPts val="1200"/>
              </a:spcBef>
              <a:spcAft>
                <a:spcPts val="1200"/>
              </a:spcAft>
              <a:buNone/>
            </a:pPr>
            <a:r>
              <a:rPr lang="en-CA" sz="1600" b="1" i="0" dirty="0">
                <a:solidFill>
                  <a:schemeClr val="tx1"/>
                </a:solidFill>
                <a:effectLst/>
                <a:latin typeface="+mn-lt"/>
              </a:rPr>
              <a:t>Answer:</a:t>
            </a:r>
            <a:r>
              <a:rPr lang="en-CA" sz="1600" b="0" i="0" dirty="0">
                <a:solidFill>
                  <a:schemeClr val="tx1"/>
                </a:solidFill>
                <a:effectLst/>
                <a:latin typeface="+mn-lt"/>
              </a:rPr>
              <a:t> Because the tables contain a connection through </a:t>
            </a:r>
            <a:r>
              <a:rPr lang="en-CA" sz="1600" b="1" i="0" dirty="0">
                <a:solidFill>
                  <a:schemeClr val="tx1"/>
                </a:solidFill>
                <a:effectLst/>
                <a:latin typeface="+mn-lt"/>
              </a:rPr>
              <a:t>Customer #</a:t>
            </a:r>
            <a:r>
              <a:rPr lang="en-CA" sz="1600" b="0" i="0" dirty="0">
                <a:solidFill>
                  <a:schemeClr val="tx1"/>
                </a:solidFill>
                <a:effectLst/>
                <a:latin typeface="+mn-lt"/>
              </a:rPr>
              <a:t>.</a:t>
            </a:r>
          </a:p>
          <a:p>
            <a:pPr marL="0" marR="0" indent="0" algn="l">
              <a:spcBef>
                <a:spcPts val="1200"/>
              </a:spcBef>
              <a:buNone/>
            </a:pPr>
            <a:r>
              <a:rPr lang="en-CA" sz="1600" b="1" i="0" dirty="0">
                <a:solidFill>
                  <a:schemeClr val="tx1"/>
                </a:solidFill>
                <a:effectLst/>
                <a:latin typeface="+mn-lt"/>
              </a:rPr>
              <a:t>A relational database stores information in related tables.</a:t>
            </a:r>
            <a:endParaRPr lang="en-CA" sz="1600" b="0" i="0" dirty="0">
              <a:solidFill>
                <a:srgbClr val="0F1115"/>
              </a:solidFill>
              <a:effectLst/>
              <a:latin typeface="quote-cjk-patch"/>
            </a:endParaRPr>
          </a:p>
        </p:txBody>
      </p:sp>
    </p:spTree>
    <p:extLst>
      <p:ext uri="{BB962C8B-B14F-4D97-AF65-F5344CB8AC3E}">
        <p14:creationId xmlns:p14="http://schemas.microsoft.com/office/powerpoint/2010/main" val="127681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61C53-A409-EC4E-E517-33F7F8242FF5}"/>
              </a:ext>
            </a:extLst>
          </p:cNvPr>
          <p:cNvSpPr>
            <a:spLocks noGrp="1"/>
          </p:cNvSpPr>
          <p:nvPr>
            <p:ph type="title"/>
          </p:nvPr>
        </p:nvSpPr>
        <p:spPr/>
        <p:txBody>
          <a:bodyPr>
            <a:normAutofit/>
          </a:bodyPr>
          <a:lstStyle/>
          <a:p>
            <a:r>
              <a:rPr lang="en-CA" b="1" dirty="0"/>
              <a:t>Database vs. DBMS</a:t>
            </a:r>
            <a:endParaRPr lang="en-CA" dirty="0"/>
          </a:p>
        </p:txBody>
      </p:sp>
      <p:graphicFrame>
        <p:nvGraphicFramePr>
          <p:cNvPr id="3" name="Table 2">
            <a:extLst>
              <a:ext uri="{FF2B5EF4-FFF2-40B4-BE49-F238E27FC236}">
                <a16:creationId xmlns:a16="http://schemas.microsoft.com/office/drawing/2014/main" id="{0E3093F7-6FDC-85B4-D7B2-4CD2D03692D0}"/>
              </a:ext>
            </a:extLst>
          </p:cNvPr>
          <p:cNvGraphicFramePr>
            <a:graphicFrameLocks noGrp="1"/>
          </p:cNvGraphicFramePr>
          <p:nvPr>
            <p:extLst>
              <p:ext uri="{D42A27DB-BD31-4B8C-83A1-F6EECF244321}">
                <p14:modId xmlns:p14="http://schemas.microsoft.com/office/powerpoint/2010/main" val="3918061629"/>
              </p:ext>
            </p:extLst>
          </p:nvPr>
        </p:nvGraphicFramePr>
        <p:xfrm>
          <a:off x="365760" y="1855207"/>
          <a:ext cx="4538749" cy="2166074"/>
        </p:xfrm>
        <a:graphic>
          <a:graphicData uri="http://schemas.openxmlformats.org/drawingml/2006/table">
            <a:tbl>
              <a:tblPr>
                <a:tableStyleId>{5C22544A-7EE6-4342-B048-85BDC9FD1C3A}</a:tableStyleId>
              </a:tblPr>
              <a:tblGrid>
                <a:gridCol w="1789349">
                  <a:extLst>
                    <a:ext uri="{9D8B030D-6E8A-4147-A177-3AD203B41FA5}">
                      <a16:colId xmlns:a16="http://schemas.microsoft.com/office/drawing/2014/main" val="2429081995"/>
                    </a:ext>
                  </a:extLst>
                </a:gridCol>
                <a:gridCol w="2749400">
                  <a:extLst>
                    <a:ext uri="{9D8B030D-6E8A-4147-A177-3AD203B41FA5}">
                      <a16:colId xmlns:a16="http://schemas.microsoft.com/office/drawing/2014/main" val="3300035565"/>
                    </a:ext>
                  </a:extLst>
                </a:gridCol>
              </a:tblGrid>
              <a:tr h="504190">
                <a:tc>
                  <a:txBody>
                    <a:bodyPr/>
                    <a:lstStyle/>
                    <a:p>
                      <a:pPr algn="l">
                        <a:lnSpc>
                          <a:spcPct val="138889"/>
                        </a:lnSpc>
                        <a:buNone/>
                      </a:pPr>
                      <a:r>
                        <a:rPr lang="en-CA" sz="1125" b="1">
                          <a:effectLst/>
                        </a:rPr>
                        <a:t>DATABASE</a:t>
                      </a:r>
                      <a:endParaRPr lang="en-CA" sz="1125" b="1">
                        <a:effectLst/>
                        <a:latin typeface="quote-cjk-patch"/>
                      </a:endParaRPr>
                    </a:p>
                  </a:txBody>
                  <a:tcPr marR="121920" marT="76200" marB="76200" anchor="ctr"/>
                </a:tc>
                <a:tc>
                  <a:txBody>
                    <a:bodyPr/>
                    <a:lstStyle/>
                    <a:p>
                      <a:pPr algn="l">
                        <a:lnSpc>
                          <a:spcPct val="138889"/>
                        </a:lnSpc>
                        <a:buNone/>
                      </a:pPr>
                      <a:r>
                        <a:rPr lang="en-CA" sz="1125" b="1" dirty="0">
                          <a:effectLst/>
                        </a:rPr>
                        <a:t>DBMS</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2770926671"/>
                  </a:ext>
                </a:extLst>
              </a:tr>
              <a:tr h="830942">
                <a:tc>
                  <a:txBody>
                    <a:bodyPr/>
                    <a:lstStyle/>
                    <a:p>
                      <a:pPr>
                        <a:lnSpc>
                          <a:spcPct val="138889"/>
                        </a:lnSpc>
                        <a:buNone/>
                      </a:pPr>
                      <a:r>
                        <a:rPr lang="en-CA" sz="1125" dirty="0">
                          <a:effectLst/>
                        </a:rPr>
                        <a:t>Stores the data</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Manages and provides access to the database</a:t>
                      </a:r>
                      <a:endParaRPr lang="en-CA" sz="1125" b="0">
                        <a:effectLst/>
                        <a:latin typeface="quote-cjk-patch"/>
                      </a:endParaRPr>
                    </a:p>
                  </a:txBody>
                  <a:tcPr marL="121920" marT="76200" marB="76200" anchor="ctr"/>
                </a:tc>
                <a:extLst>
                  <a:ext uri="{0D108BD9-81ED-4DB2-BD59-A6C34878D82A}">
                    <a16:rowId xmlns:a16="http://schemas.microsoft.com/office/drawing/2014/main" val="4050070385"/>
                  </a:ext>
                </a:extLst>
              </a:tr>
              <a:tr h="830942">
                <a:tc>
                  <a:txBody>
                    <a:bodyPr/>
                    <a:lstStyle/>
                    <a:p>
                      <a:pPr>
                        <a:lnSpc>
                          <a:spcPct val="138889"/>
                        </a:lnSpc>
                        <a:buNone/>
                      </a:pPr>
                      <a:r>
                        <a:rPr lang="en-CA" sz="1125">
                          <a:effectLst/>
                        </a:rPr>
                        <a:t>The data and the rules</a:t>
                      </a:r>
                      <a:endParaRPr lang="en-CA" sz="1125" b="0">
                        <a:effectLst/>
                        <a:latin typeface="quote-cjk-patch"/>
                      </a:endParaRPr>
                    </a:p>
                  </a:txBody>
                  <a:tcPr marR="121920" marT="76200" marB="76200" anchor="ctr"/>
                </a:tc>
                <a:tc>
                  <a:txBody>
                    <a:bodyPr/>
                    <a:lstStyle/>
                    <a:p>
                      <a:pPr>
                        <a:lnSpc>
                          <a:spcPct val="138889"/>
                        </a:lnSpc>
                        <a:buNone/>
                      </a:pPr>
                      <a:r>
                        <a:rPr lang="en-CA" sz="1125" dirty="0">
                          <a:effectLst/>
                        </a:rPr>
                        <a:t>The software that allows us to interact with the data</a:t>
                      </a:r>
                      <a:endParaRPr lang="en-CA" sz="1125" b="0" dirty="0">
                        <a:effectLst/>
                        <a:latin typeface="quote-cjk-patch"/>
                      </a:endParaRPr>
                    </a:p>
                  </a:txBody>
                  <a:tcPr marL="121920" marT="76200" marB="76200" anchor="ctr"/>
                </a:tc>
                <a:extLst>
                  <a:ext uri="{0D108BD9-81ED-4DB2-BD59-A6C34878D82A}">
                    <a16:rowId xmlns:a16="http://schemas.microsoft.com/office/drawing/2014/main" val="2183078984"/>
                  </a:ext>
                </a:extLst>
              </a:tr>
            </a:tbl>
          </a:graphicData>
        </a:graphic>
      </p:graphicFrame>
      <p:sp>
        <p:nvSpPr>
          <p:cNvPr id="5" name="TextBox 4">
            <a:extLst>
              <a:ext uri="{FF2B5EF4-FFF2-40B4-BE49-F238E27FC236}">
                <a16:creationId xmlns:a16="http://schemas.microsoft.com/office/drawing/2014/main" id="{1DAAC848-4D09-F8B5-663A-5A10BFDD50CF}"/>
              </a:ext>
            </a:extLst>
          </p:cNvPr>
          <p:cNvSpPr txBox="1"/>
          <p:nvPr/>
        </p:nvSpPr>
        <p:spPr>
          <a:xfrm>
            <a:off x="324224" y="1404921"/>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This distinction is important.</a:t>
            </a:r>
            <a:endParaRPr lang="en-CA" sz="1800" b="0" i="0" dirty="0">
              <a:solidFill>
                <a:srgbClr val="0F1115"/>
              </a:solidFill>
              <a:effectLst/>
              <a:latin typeface="quote-cjk-patch"/>
            </a:endParaRPr>
          </a:p>
        </p:txBody>
      </p:sp>
      <p:graphicFrame>
        <p:nvGraphicFramePr>
          <p:cNvPr id="6" name="Table 5">
            <a:extLst>
              <a:ext uri="{FF2B5EF4-FFF2-40B4-BE49-F238E27FC236}">
                <a16:creationId xmlns:a16="http://schemas.microsoft.com/office/drawing/2014/main" id="{3228D76C-D7DA-D949-A284-1B285DD376FD}"/>
              </a:ext>
            </a:extLst>
          </p:cNvPr>
          <p:cNvGraphicFramePr>
            <a:graphicFrameLocks noGrp="1"/>
          </p:cNvGraphicFramePr>
          <p:nvPr>
            <p:extLst>
              <p:ext uri="{D42A27DB-BD31-4B8C-83A1-F6EECF244321}">
                <p14:modId xmlns:p14="http://schemas.microsoft.com/office/powerpoint/2010/main" val="4287674665"/>
              </p:ext>
            </p:extLst>
          </p:nvPr>
        </p:nvGraphicFramePr>
        <p:xfrm>
          <a:off x="5841770" y="2059699"/>
          <a:ext cx="5730240" cy="1838645"/>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300629419"/>
                    </a:ext>
                  </a:extLst>
                </a:gridCol>
                <a:gridCol w="2865120">
                  <a:extLst>
                    <a:ext uri="{9D8B030D-6E8A-4147-A177-3AD203B41FA5}">
                      <a16:colId xmlns:a16="http://schemas.microsoft.com/office/drawing/2014/main" val="3449107597"/>
                    </a:ext>
                  </a:extLst>
                </a:gridCol>
              </a:tblGrid>
              <a:tr h="0">
                <a:tc>
                  <a:txBody>
                    <a:bodyPr/>
                    <a:lstStyle/>
                    <a:p>
                      <a:pPr algn="l">
                        <a:lnSpc>
                          <a:spcPct val="138889"/>
                        </a:lnSpc>
                        <a:buNone/>
                      </a:pPr>
                      <a:r>
                        <a:rPr lang="en-CA" sz="1125" b="1">
                          <a:effectLst/>
                        </a:rPr>
                        <a:t>DBMS</a:t>
                      </a:r>
                      <a:endParaRPr lang="en-CA" sz="1125" b="1">
                        <a:effectLst/>
                        <a:latin typeface="quote-cjk-patch"/>
                      </a:endParaRPr>
                    </a:p>
                  </a:txBody>
                  <a:tcPr marR="121920" marT="76200" marB="76200" anchor="ctr"/>
                </a:tc>
                <a:tc>
                  <a:txBody>
                    <a:bodyPr/>
                    <a:lstStyle/>
                    <a:p>
                      <a:pPr algn="l">
                        <a:lnSpc>
                          <a:spcPct val="138889"/>
                        </a:lnSpc>
                        <a:buNone/>
                      </a:pPr>
                      <a:r>
                        <a:rPr lang="en-CA" sz="1125" b="1" dirty="0">
                          <a:effectLst/>
                        </a:rPr>
                        <a:t>Description</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1017415807"/>
                  </a:ext>
                </a:extLst>
              </a:tr>
              <a:tr h="0">
                <a:tc>
                  <a:txBody>
                    <a:bodyPr/>
                    <a:lstStyle/>
                    <a:p>
                      <a:pPr>
                        <a:lnSpc>
                          <a:spcPct val="138889"/>
                        </a:lnSpc>
                        <a:buNone/>
                      </a:pPr>
                      <a:r>
                        <a:rPr lang="en-CA" sz="1125">
                          <a:effectLst/>
                        </a:rPr>
                        <a:t>PostgreSQL</a:t>
                      </a:r>
                      <a:endParaRPr lang="en-CA" sz="1125" b="0">
                        <a:effectLst/>
                        <a:latin typeface="quote-cjk-patch"/>
                      </a:endParaRPr>
                    </a:p>
                  </a:txBody>
                  <a:tcPr marR="121920" marT="76200" marB="76200" anchor="ctr"/>
                </a:tc>
                <a:tc>
                  <a:txBody>
                    <a:bodyPr/>
                    <a:lstStyle/>
                    <a:p>
                      <a:pPr>
                        <a:lnSpc>
                          <a:spcPct val="138889"/>
                        </a:lnSpc>
                        <a:buNone/>
                      </a:pPr>
                      <a:r>
                        <a:rPr lang="en-CA" sz="1125">
                          <a:effectLst/>
                        </a:rPr>
                        <a:t>Open-source, powerful</a:t>
                      </a:r>
                      <a:endParaRPr lang="en-CA" sz="1125" b="0">
                        <a:effectLst/>
                        <a:latin typeface="quote-cjk-patch"/>
                      </a:endParaRPr>
                    </a:p>
                  </a:txBody>
                  <a:tcPr marL="121920" marT="76200" marB="76200" anchor="ctr"/>
                </a:tc>
                <a:extLst>
                  <a:ext uri="{0D108BD9-81ED-4DB2-BD59-A6C34878D82A}">
                    <a16:rowId xmlns:a16="http://schemas.microsoft.com/office/drawing/2014/main" val="2311649386"/>
                  </a:ext>
                </a:extLst>
              </a:tr>
              <a:tr h="0">
                <a:tc>
                  <a:txBody>
                    <a:bodyPr/>
                    <a:lstStyle/>
                    <a:p>
                      <a:pPr>
                        <a:lnSpc>
                          <a:spcPct val="138889"/>
                        </a:lnSpc>
                        <a:buNone/>
                      </a:pPr>
                      <a:r>
                        <a:rPr lang="en-CA" sz="1125">
                          <a:effectLst/>
                        </a:rPr>
                        <a:t>SQLite</a:t>
                      </a:r>
                      <a:endParaRPr lang="en-CA" sz="1125" b="0">
                        <a:effectLst/>
                        <a:latin typeface="quote-cjk-patch"/>
                      </a:endParaRPr>
                    </a:p>
                  </a:txBody>
                  <a:tcPr marR="121920" marT="76200" marB="76200" anchor="ctr"/>
                </a:tc>
                <a:tc>
                  <a:txBody>
                    <a:bodyPr/>
                    <a:lstStyle/>
                    <a:p>
                      <a:pPr>
                        <a:lnSpc>
                          <a:spcPct val="138889"/>
                        </a:lnSpc>
                        <a:buNone/>
                      </a:pPr>
                      <a:r>
                        <a:rPr lang="en-CA" sz="1125">
                          <a:effectLst/>
                        </a:rPr>
                        <a:t>Lightweight, embedded</a:t>
                      </a:r>
                      <a:endParaRPr lang="en-CA" sz="1125" b="0">
                        <a:effectLst/>
                        <a:latin typeface="quote-cjk-patch"/>
                      </a:endParaRPr>
                    </a:p>
                  </a:txBody>
                  <a:tcPr marL="121920" marT="76200" marB="76200" anchor="ctr"/>
                </a:tc>
                <a:extLst>
                  <a:ext uri="{0D108BD9-81ED-4DB2-BD59-A6C34878D82A}">
                    <a16:rowId xmlns:a16="http://schemas.microsoft.com/office/drawing/2014/main" val="1223856907"/>
                  </a:ext>
                </a:extLst>
              </a:tr>
              <a:tr h="0">
                <a:tc>
                  <a:txBody>
                    <a:bodyPr/>
                    <a:lstStyle/>
                    <a:p>
                      <a:pPr>
                        <a:lnSpc>
                          <a:spcPct val="138889"/>
                        </a:lnSpc>
                        <a:buNone/>
                      </a:pPr>
                      <a:r>
                        <a:rPr lang="en-CA" sz="1125" dirty="0">
                          <a:effectLst/>
                        </a:rPr>
                        <a:t>Oracle</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Enterprise, large-scale</a:t>
                      </a:r>
                      <a:endParaRPr lang="en-CA" sz="1125" b="0">
                        <a:effectLst/>
                        <a:latin typeface="quote-cjk-patch"/>
                      </a:endParaRPr>
                    </a:p>
                  </a:txBody>
                  <a:tcPr marL="121920" marT="76200" marB="76200" anchor="ctr"/>
                </a:tc>
                <a:extLst>
                  <a:ext uri="{0D108BD9-81ED-4DB2-BD59-A6C34878D82A}">
                    <a16:rowId xmlns:a16="http://schemas.microsoft.com/office/drawing/2014/main" val="463117910"/>
                  </a:ext>
                </a:extLst>
              </a:tr>
              <a:tr h="0">
                <a:tc>
                  <a:txBody>
                    <a:bodyPr/>
                    <a:lstStyle/>
                    <a:p>
                      <a:pPr>
                        <a:lnSpc>
                          <a:spcPct val="138889"/>
                        </a:lnSpc>
                        <a:buNone/>
                      </a:pPr>
                      <a:r>
                        <a:rPr lang="en-CA" sz="1125">
                          <a:effectLst/>
                        </a:rPr>
                        <a:t>SQL Server</a:t>
                      </a:r>
                      <a:endParaRPr lang="en-CA" sz="1125" b="0">
                        <a:effectLst/>
                        <a:latin typeface="quote-cjk-patch"/>
                      </a:endParaRPr>
                    </a:p>
                  </a:txBody>
                  <a:tcPr marR="121920" marT="76200" marB="76200" anchor="ctr"/>
                </a:tc>
                <a:tc>
                  <a:txBody>
                    <a:bodyPr/>
                    <a:lstStyle/>
                    <a:p>
                      <a:pPr>
                        <a:lnSpc>
                          <a:spcPct val="138889"/>
                        </a:lnSpc>
                        <a:buNone/>
                      </a:pPr>
                      <a:r>
                        <a:rPr lang="en-CA" sz="1125" dirty="0">
                          <a:effectLst/>
                        </a:rPr>
                        <a:t>Microsoft's DBMS</a:t>
                      </a:r>
                      <a:endParaRPr lang="en-CA" sz="1125" b="0" dirty="0">
                        <a:effectLst/>
                        <a:latin typeface="quote-cjk-patch"/>
                      </a:endParaRPr>
                    </a:p>
                  </a:txBody>
                  <a:tcPr marL="121920" marT="76200" marB="76200" anchor="ctr"/>
                </a:tc>
                <a:extLst>
                  <a:ext uri="{0D108BD9-81ED-4DB2-BD59-A6C34878D82A}">
                    <a16:rowId xmlns:a16="http://schemas.microsoft.com/office/drawing/2014/main" val="308797733"/>
                  </a:ext>
                </a:extLst>
              </a:tr>
            </a:tbl>
          </a:graphicData>
        </a:graphic>
      </p:graphicFrame>
      <p:sp>
        <p:nvSpPr>
          <p:cNvPr id="8" name="TextBox 7">
            <a:extLst>
              <a:ext uri="{FF2B5EF4-FFF2-40B4-BE49-F238E27FC236}">
                <a16:creationId xmlns:a16="http://schemas.microsoft.com/office/drawing/2014/main" id="{293121C0-4331-C208-AC1E-197E54E5EFD6}"/>
              </a:ext>
            </a:extLst>
          </p:cNvPr>
          <p:cNvSpPr txBox="1"/>
          <p:nvPr/>
        </p:nvSpPr>
        <p:spPr>
          <a:xfrm>
            <a:off x="5841770" y="1403630"/>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Examples of DBMS:</a:t>
            </a:r>
            <a:endParaRPr lang="en-CA" sz="1800" b="0" i="0" dirty="0">
              <a:solidFill>
                <a:srgbClr val="0F1115"/>
              </a:solidFill>
              <a:effectLst/>
              <a:latin typeface="quote-cjk-patch"/>
            </a:endParaRPr>
          </a:p>
        </p:txBody>
      </p:sp>
      <p:sp>
        <p:nvSpPr>
          <p:cNvPr id="10" name="TextBox 9">
            <a:extLst>
              <a:ext uri="{FF2B5EF4-FFF2-40B4-BE49-F238E27FC236}">
                <a16:creationId xmlns:a16="http://schemas.microsoft.com/office/drawing/2014/main" id="{638419DE-A880-5466-D09D-7AD3DE95EFD9}"/>
              </a:ext>
            </a:extLst>
          </p:cNvPr>
          <p:cNvSpPr txBox="1"/>
          <p:nvPr/>
        </p:nvSpPr>
        <p:spPr>
          <a:xfrm>
            <a:off x="365760" y="4437417"/>
            <a:ext cx="8525741" cy="646331"/>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Key Idea:</a:t>
            </a:r>
            <a:r>
              <a:rPr lang="en-CA" dirty="0"/>
              <a:t> </a:t>
            </a:r>
            <a:r>
              <a:rPr lang="en-CA" sz="1800" b="0" i="0" dirty="0">
                <a:solidFill>
                  <a:schemeClr val="tx1"/>
                </a:solidFill>
                <a:effectLst/>
                <a:latin typeface="+mn-lt"/>
              </a:rPr>
              <a:t>You don't normally walk up to the database and talk to it directly. You make a request to the DBMS, and the DBMS handles the work.</a:t>
            </a:r>
            <a:endParaRPr lang="en-CA" sz="1200" b="0" i="0" dirty="0">
              <a:solidFill>
                <a:srgbClr val="0F1115"/>
              </a:solidFill>
              <a:effectLst/>
              <a:latin typeface="quote-cjk-patch"/>
            </a:endParaRPr>
          </a:p>
        </p:txBody>
      </p:sp>
    </p:spTree>
    <p:extLst>
      <p:ext uri="{BB962C8B-B14F-4D97-AF65-F5344CB8AC3E}">
        <p14:creationId xmlns:p14="http://schemas.microsoft.com/office/powerpoint/2010/main" val="1543400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p:cNvPicPr preferRelativeResize="0"/>
          <p:nvPr/>
        </p:nvPicPr>
        <p:blipFill>
          <a:blip r:embed="rId3">
            <a:alphaModFix/>
          </a:blip>
          <a:stretch>
            <a:fillRect/>
          </a:stretch>
        </p:blipFill>
        <p:spPr>
          <a:xfrm>
            <a:off x="2926084" y="203200"/>
            <a:ext cx="6185259" cy="528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E82E-E4F4-D5D7-0D5C-8A52D3DE5B31}"/>
              </a:ext>
            </a:extLst>
          </p:cNvPr>
          <p:cNvSpPr>
            <a:spLocks noGrp="1"/>
          </p:cNvSpPr>
          <p:nvPr>
            <p:ph type="title"/>
          </p:nvPr>
        </p:nvSpPr>
        <p:spPr/>
        <p:txBody>
          <a:bodyPr>
            <a:normAutofit fontScale="90000"/>
          </a:bodyPr>
          <a:lstStyle/>
          <a:p>
            <a:r>
              <a:rPr lang="en-CA" b="1" dirty="0"/>
              <a:t>How Do We Interact With a Database?</a:t>
            </a:r>
            <a:br>
              <a:rPr lang="en-CA" b="1" dirty="0"/>
            </a:br>
            <a:endParaRPr lang="en-CA" dirty="0"/>
          </a:p>
        </p:txBody>
      </p:sp>
      <p:graphicFrame>
        <p:nvGraphicFramePr>
          <p:cNvPr id="3" name="Table 2">
            <a:extLst>
              <a:ext uri="{FF2B5EF4-FFF2-40B4-BE49-F238E27FC236}">
                <a16:creationId xmlns:a16="http://schemas.microsoft.com/office/drawing/2014/main" id="{F9492BBA-2C23-1278-A6A7-1D937EBD0C16}"/>
              </a:ext>
            </a:extLst>
          </p:cNvPr>
          <p:cNvGraphicFramePr>
            <a:graphicFrameLocks noGrp="1"/>
          </p:cNvGraphicFramePr>
          <p:nvPr>
            <p:extLst>
              <p:ext uri="{D42A27DB-BD31-4B8C-83A1-F6EECF244321}">
                <p14:modId xmlns:p14="http://schemas.microsoft.com/office/powerpoint/2010/main" val="3427465195"/>
              </p:ext>
            </p:extLst>
          </p:nvPr>
        </p:nvGraphicFramePr>
        <p:xfrm>
          <a:off x="513656" y="1665072"/>
          <a:ext cx="8329008" cy="3042007"/>
        </p:xfrm>
        <a:graphic>
          <a:graphicData uri="http://schemas.openxmlformats.org/drawingml/2006/table">
            <a:tbl>
              <a:tblPr>
                <a:tableStyleId>{5C22544A-7EE6-4342-B048-85BDC9FD1C3A}</a:tableStyleId>
              </a:tblPr>
              <a:tblGrid>
                <a:gridCol w="4164504">
                  <a:extLst>
                    <a:ext uri="{9D8B030D-6E8A-4147-A177-3AD203B41FA5}">
                      <a16:colId xmlns:a16="http://schemas.microsoft.com/office/drawing/2014/main" val="252988196"/>
                    </a:ext>
                  </a:extLst>
                </a:gridCol>
                <a:gridCol w="4164504">
                  <a:extLst>
                    <a:ext uri="{9D8B030D-6E8A-4147-A177-3AD203B41FA5}">
                      <a16:colId xmlns:a16="http://schemas.microsoft.com/office/drawing/2014/main" val="3382842315"/>
                    </a:ext>
                  </a:extLst>
                </a:gridCol>
              </a:tblGrid>
              <a:tr h="538592">
                <a:tc>
                  <a:txBody>
                    <a:bodyPr/>
                    <a:lstStyle/>
                    <a:p>
                      <a:pPr algn="l">
                        <a:lnSpc>
                          <a:spcPct val="138889"/>
                        </a:lnSpc>
                        <a:buNone/>
                      </a:pPr>
                      <a:r>
                        <a:rPr lang="en-CA" sz="1800" b="1" dirty="0">
                          <a:effectLst/>
                        </a:rPr>
                        <a:t>Language</a:t>
                      </a:r>
                      <a:endParaRPr lang="en-CA" sz="1800" b="1" dirty="0">
                        <a:effectLst/>
                        <a:latin typeface="quote-cjk-patch"/>
                      </a:endParaRPr>
                    </a:p>
                  </a:txBody>
                  <a:tcPr marR="121920" marT="76200" marB="76200" anchor="ctr"/>
                </a:tc>
                <a:tc>
                  <a:txBody>
                    <a:bodyPr/>
                    <a:lstStyle/>
                    <a:p>
                      <a:pPr algn="l">
                        <a:lnSpc>
                          <a:spcPct val="138889"/>
                        </a:lnSpc>
                        <a:buNone/>
                      </a:pPr>
                      <a:r>
                        <a:rPr lang="en-CA" sz="1800" b="1" dirty="0">
                          <a:effectLst/>
                        </a:rPr>
                        <a:t>What does it do?</a:t>
                      </a:r>
                      <a:endParaRPr lang="en-CA" sz="1800" b="1" dirty="0">
                        <a:effectLst/>
                        <a:latin typeface="quote-cjk-patch"/>
                      </a:endParaRPr>
                    </a:p>
                  </a:txBody>
                  <a:tcPr marL="121920" marR="121920" marT="76200" marB="76200" anchor="ctr"/>
                </a:tc>
                <a:extLst>
                  <a:ext uri="{0D108BD9-81ED-4DB2-BD59-A6C34878D82A}">
                    <a16:rowId xmlns:a16="http://schemas.microsoft.com/office/drawing/2014/main" val="2670147148"/>
                  </a:ext>
                </a:extLst>
              </a:tr>
              <a:tr h="887639">
                <a:tc>
                  <a:txBody>
                    <a:bodyPr/>
                    <a:lstStyle/>
                    <a:p>
                      <a:pPr>
                        <a:lnSpc>
                          <a:spcPct val="138889"/>
                        </a:lnSpc>
                        <a:buNone/>
                      </a:pPr>
                      <a:r>
                        <a:rPr lang="en-CA" sz="1800">
                          <a:effectLst/>
                        </a:rPr>
                        <a:t>DDL (Data Definition Language)</a:t>
                      </a:r>
                      <a:endParaRPr lang="en-CA" sz="1800" b="0">
                        <a:effectLst/>
                        <a:latin typeface="quote-cjk-patch"/>
                      </a:endParaRPr>
                    </a:p>
                  </a:txBody>
                  <a:tcPr marR="121920" marT="76200" marB="76200" anchor="ctr"/>
                </a:tc>
                <a:tc>
                  <a:txBody>
                    <a:bodyPr/>
                    <a:lstStyle/>
                    <a:p>
                      <a:pPr>
                        <a:lnSpc>
                          <a:spcPct val="138889"/>
                        </a:lnSpc>
                        <a:buNone/>
                      </a:pPr>
                      <a:r>
                        <a:rPr lang="en-CA" sz="1800" dirty="0">
                          <a:effectLst/>
                        </a:rPr>
                        <a:t>Defines the database structure (metadata)</a:t>
                      </a:r>
                      <a:endParaRPr lang="en-CA" sz="1800" b="0" dirty="0">
                        <a:effectLst/>
                        <a:latin typeface="quote-cjk-patch"/>
                      </a:endParaRPr>
                    </a:p>
                  </a:txBody>
                  <a:tcPr marL="121920" marT="76200" marB="76200" anchor="ctr"/>
                </a:tc>
                <a:extLst>
                  <a:ext uri="{0D108BD9-81ED-4DB2-BD59-A6C34878D82A}">
                    <a16:rowId xmlns:a16="http://schemas.microsoft.com/office/drawing/2014/main" val="667679410"/>
                  </a:ext>
                </a:extLst>
              </a:tr>
              <a:tr h="538592">
                <a:tc>
                  <a:txBody>
                    <a:bodyPr/>
                    <a:lstStyle/>
                    <a:p>
                      <a:pPr>
                        <a:lnSpc>
                          <a:spcPct val="138889"/>
                        </a:lnSpc>
                        <a:buNone/>
                      </a:pPr>
                      <a:r>
                        <a:rPr lang="en-CA" sz="1800">
                          <a:effectLst/>
                        </a:rPr>
                        <a:t>DML (Data Manipulation Language)</a:t>
                      </a:r>
                      <a:endParaRPr lang="en-CA" sz="1800" b="0">
                        <a:effectLst/>
                        <a:latin typeface="quote-cjk-patch"/>
                      </a:endParaRPr>
                    </a:p>
                  </a:txBody>
                  <a:tcPr marR="121920" marT="76200" marB="76200" anchor="ctr"/>
                </a:tc>
                <a:tc>
                  <a:txBody>
                    <a:bodyPr/>
                    <a:lstStyle/>
                    <a:p>
                      <a:pPr>
                        <a:lnSpc>
                          <a:spcPct val="138889"/>
                        </a:lnSpc>
                        <a:buNone/>
                      </a:pPr>
                      <a:r>
                        <a:rPr lang="en-CA" sz="1800">
                          <a:effectLst/>
                        </a:rPr>
                        <a:t>Creates and manipulates data</a:t>
                      </a:r>
                      <a:endParaRPr lang="en-CA" sz="1800" b="0">
                        <a:effectLst/>
                        <a:latin typeface="quote-cjk-patch"/>
                      </a:endParaRPr>
                    </a:p>
                  </a:txBody>
                  <a:tcPr marL="121920" marT="76200" marB="76200" anchor="ctr"/>
                </a:tc>
                <a:extLst>
                  <a:ext uri="{0D108BD9-81ED-4DB2-BD59-A6C34878D82A}">
                    <a16:rowId xmlns:a16="http://schemas.microsoft.com/office/drawing/2014/main" val="61658675"/>
                  </a:ext>
                </a:extLst>
              </a:tr>
              <a:tr h="538592">
                <a:tc>
                  <a:txBody>
                    <a:bodyPr/>
                    <a:lstStyle/>
                    <a:p>
                      <a:pPr>
                        <a:lnSpc>
                          <a:spcPct val="138889"/>
                        </a:lnSpc>
                        <a:buNone/>
                      </a:pPr>
                      <a:r>
                        <a:rPr lang="en-CA" sz="1800">
                          <a:effectLst/>
                        </a:rPr>
                        <a:t>DCL (Data Control Language)</a:t>
                      </a:r>
                      <a:endParaRPr lang="en-CA" sz="1800" b="0">
                        <a:effectLst/>
                        <a:latin typeface="quote-cjk-patch"/>
                      </a:endParaRPr>
                    </a:p>
                  </a:txBody>
                  <a:tcPr marR="121920" marT="76200" marB="76200" anchor="ctr"/>
                </a:tc>
                <a:tc>
                  <a:txBody>
                    <a:bodyPr/>
                    <a:lstStyle/>
                    <a:p>
                      <a:pPr>
                        <a:lnSpc>
                          <a:spcPct val="138889"/>
                        </a:lnSpc>
                        <a:buNone/>
                      </a:pPr>
                      <a:r>
                        <a:rPr lang="en-CA" sz="1800">
                          <a:effectLst/>
                        </a:rPr>
                        <a:t>Controls access and security</a:t>
                      </a:r>
                      <a:endParaRPr lang="en-CA" sz="1800" b="0">
                        <a:effectLst/>
                        <a:latin typeface="quote-cjk-patch"/>
                      </a:endParaRPr>
                    </a:p>
                  </a:txBody>
                  <a:tcPr marL="121920" marT="76200" marB="76200" anchor="ctr"/>
                </a:tc>
                <a:extLst>
                  <a:ext uri="{0D108BD9-81ED-4DB2-BD59-A6C34878D82A}">
                    <a16:rowId xmlns:a16="http://schemas.microsoft.com/office/drawing/2014/main" val="3800248124"/>
                  </a:ext>
                </a:extLst>
              </a:tr>
              <a:tr h="538592">
                <a:tc>
                  <a:txBody>
                    <a:bodyPr/>
                    <a:lstStyle/>
                    <a:p>
                      <a:pPr>
                        <a:lnSpc>
                          <a:spcPct val="138889"/>
                        </a:lnSpc>
                        <a:buNone/>
                      </a:pPr>
                      <a:r>
                        <a:rPr lang="en-CA" sz="1800">
                          <a:effectLst/>
                        </a:rPr>
                        <a:t>Query Language</a:t>
                      </a:r>
                      <a:endParaRPr lang="en-CA" sz="1800" b="0">
                        <a:effectLst/>
                        <a:latin typeface="quote-cjk-patch"/>
                      </a:endParaRPr>
                    </a:p>
                  </a:txBody>
                  <a:tcPr marR="121920" marT="76200" marB="76200" anchor="ctr"/>
                </a:tc>
                <a:tc>
                  <a:txBody>
                    <a:bodyPr/>
                    <a:lstStyle/>
                    <a:p>
                      <a:pPr>
                        <a:lnSpc>
                          <a:spcPct val="138889"/>
                        </a:lnSpc>
                        <a:buNone/>
                      </a:pPr>
                      <a:r>
                        <a:rPr lang="en-CA" sz="1800" dirty="0">
                          <a:effectLst/>
                        </a:rPr>
                        <a:t>Retrieves data from the database</a:t>
                      </a:r>
                      <a:endParaRPr lang="en-CA" sz="1800" b="0" dirty="0">
                        <a:effectLst/>
                        <a:latin typeface="quote-cjk-patch"/>
                      </a:endParaRPr>
                    </a:p>
                  </a:txBody>
                  <a:tcPr marL="121920" marT="76200" marB="76200" anchor="ctr"/>
                </a:tc>
                <a:extLst>
                  <a:ext uri="{0D108BD9-81ED-4DB2-BD59-A6C34878D82A}">
                    <a16:rowId xmlns:a16="http://schemas.microsoft.com/office/drawing/2014/main" val="512485487"/>
                  </a:ext>
                </a:extLst>
              </a:tr>
            </a:tbl>
          </a:graphicData>
        </a:graphic>
      </p:graphicFrame>
      <p:sp>
        <p:nvSpPr>
          <p:cNvPr id="5" name="TextBox 4">
            <a:extLst>
              <a:ext uri="{FF2B5EF4-FFF2-40B4-BE49-F238E27FC236}">
                <a16:creationId xmlns:a16="http://schemas.microsoft.com/office/drawing/2014/main" id="{0F5C31CE-99BD-F4FE-6C69-73B63E7F776E}"/>
              </a:ext>
            </a:extLst>
          </p:cNvPr>
          <p:cNvSpPr txBox="1"/>
          <p:nvPr/>
        </p:nvSpPr>
        <p:spPr>
          <a:xfrm>
            <a:off x="410440" y="1061111"/>
            <a:ext cx="6520295" cy="461665"/>
          </a:xfrm>
          <a:prstGeom prst="rect">
            <a:avLst/>
          </a:prstGeom>
          <a:noFill/>
        </p:spPr>
        <p:txBody>
          <a:bodyPr wrap="square">
            <a:spAutoFit/>
          </a:bodyPr>
          <a:lstStyle/>
          <a:p>
            <a:pPr marL="0" marR="0" indent="0" algn="l">
              <a:spcBef>
                <a:spcPts val="1200"/>
              </a:spcBef>
              <a:spcAft>
                <a:spcPts val="1200"/>
              </a:spcAft>
              <a:buNone/>
            </a:pPr>
            <a:r>
              <a:rPr lang="en-CA" sz="2400" b="1" i="0" dirty="0">
                <a:solidFill>
                  <a:schemeClr val="tx1"/>
                </a:solidFill>
                <a:effectLst/>
                <a:latin typeface="+mn-lt"/>
              </a:rPr>
              <a:t>Four Ways We Work With a Database:</a:t>
            </a:r>
            <a:endParaRPr lang="en-CA" sz="2400" b="0" i="0" dirty="0">
              <a:solidFill>
                <a:srgbClr val="0F1115"/>
              </a:solidFill>
              <a:effectLst/>
              <a:latin typeface="quote-cjk-patch"/>
            </a:endParaRPr>
          </a:p>
        </p:txBody>
      </p:sp>
    </p:spTree>
    <p:extLst>
      <p:ext uri="{BB962C8B-B14F-4D97-AF65-F5344CB8AC3E}">
        <p14:creationId xmlns:p14="http://schemas.microsoft.com/office/powerpoint/2010/main" val="775904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B10E-CD5D-BA16-D6BB-F8B8AE1DDDEC}"/>
              </a:ext>
            </a:extLst>
          </p:cNvPr>
          <p:cNvSpPr>
            <a:spLocks noGrp="1"/>
          </p:cNvSpPr>
          <p:nvPr>
            <p:ph type="title"/>
          </p:nvPr>
        </p:nvSpPr>
        <p:spPr/>
        <p:txBody>
          <a:bodyPr>
            <a:normAutofit/>
          </a:bodyPr>
          <a:lstStyle/>
          <a:p>
            <a:r>
              <a:rPr lang="en-CA" b="1" dirty="0"/>
              <a:t>Think of It This Way</a:t>
            </a:r>
            <a:endParaRPr lang="en-CA" dirty="0"/>
          </a:p>
        </p:txBody>
      </p:sp>
      <p:graphicFrame>
        <p:nvGraphicFramePr>
          <p:cNvPr id="3" name="Table 2">
            <a:extLst>
              <a:ext uri="{FF2B5EF4-FFF2-40B4-BE49-F238E27FC236}">
                <a16:creationId xmlns:a16="http://schemas.microsoft.com/office/drawing/2014/main" id="{2A1F39CE-0EB2-75F0-6CD2-DFB23281AC84}"/>
              </a:ext>
            </a:extLst>
          </p:cNvPr>
          <p:cNvGraphicFramePr>
            <a:graphicFrameLocks noGrp="1"/>
          </p:cNvGraphicFramePr>
          <p:nvPr>
            <p:extLst>
              <p:ext uri="{D42A27DB-BD31-4B8C-83A1-F6EECF244321}">
                <p14:modId xmlns:p14="http://schemas.microsoft.com/office/powerpoint/2010/main" val="343888921"/>
              </p:ext>
            </p:extLst>
          </p:nvPr>
        </p:nvGraphicFramePr>
        <p:xfrm>
          <a:off x="420832" y="1924609"/>
          <a:ext cx="6665768" cy="2366835"/>
        </p:xfrm>
        <a:graphic>
          <a:graphicData uri="http://schemas.openxmlformats.org/drawingml/2006/table">
            <a:tbl>
              <a:tblPr>
                <a:tableStyleId>{5C22544A-7EE6-4342-B048-85BDC9FD1C3A}</a:tableStyleId>
              </a:tblPr>
              <a:tblGrid>
                <a:gridCol w="3332884">
                  <a:extLst>
                    <a:ext uri="{9D8B030D-6E8A-4147-A177-3AD203B41FA5}">
                      <a16:colId xmlns:a16="http://schemas.microsoft.com/office/drawing/2014/main" val="3366442617"/>
                    </a:ext>
                  </a:extLst>
                </a:gridCol>
                <a:gridCol w="3332884">
                  <a:extLst>
                    <a:ext uri="{9D8B030D-6E8A-4147-A177-3AD203B41FA5}">
                      <a16:colId xmlns:a16="http://schemas.microsoft.com/office/drawing/2014/main" val="4289695931"/>
                    </a:ext>
                  </a:extLst>
                </a:gridCol>
              </a:tblGrid>
              <a:tr h="473367">
                <a:tc>
                  <a:txBody>
                    <a:bodyPr/>
                    <a:lstStyle/>
                    <a:p>
                      <a:pPr algn="l">
                        <a:lnSpc>
                          <a:spcPct val="138889"/>
                        </a:lnSpc>
                        <a:buNone/>
                      </a:pPr>
                      <a:r>
                        <a:rPr lang="en-CA" sz="1400" b="1">
                          <a:effectLst/>
                        </a:rPr>
                        <a:t>Language</a:t>
                      </a:r>
                      <a:endParaRPr lang="en-CA" sz="1400" b="1">
                        <a:effectLst/>
                        <a:latin typeface="quote-cjk-patch"/>
                      </a:endParaRPr>
                    </a:p>
                  </a:txBody>
                  <a:tcPr marR="121920" marT="76200" marB="76200" anchor="ctr"/>
                </a:tc>
                <a:tc>
                  <a:txBody>
                    <a:bodyPr/>
                    <a:lstStyle/>
                    <a:p>
                      <a:pPr algn="l">
                        <a:lnSpc>
                          <a:spcPct val="138889"/>
                        </a:lnSpc>
                        <a:buNone/>
                      </a:pPr>
                      <a:r>
                        <a:rPr lang="en-CA" sz="1400" b="1" dirty="0">
                          <a:effectLst/>
                        </a:rPr>
                        <a:t>Think of it as...</a:t>
                      </a:r>
                      <a:endParaRPr lang="en-CA" sz="1400" b="1" dirty="0">
                        <a:effectLst/>
                        <a:latin typeface="quote-cjk-patch"/>
                      </a:endParaRPr>
                    </a:p>
                  </a:txBody>
                  <a:tcPr marL="121920" marR="121920" marT="76200" marB="76200" anchor="ctr"/>
                </a:tc>
                <a:extLst>
                  <a:ext uri="{0D108BD9-81ED-4DB2-BD59-A6C34878D82A}">
                    <a16:rowId xmlns:a16="http://schemas.microsoft.com/office/drawing/2014/main" val="791793265"/>
                  </a:ext>
                </a:extLst>
              </a:tr>
              <a:tr h="473367">
                <a:tc>
                  <a:txBody>
                    <a:bodyPr/>
                    <a:lstStyle/>
                    <a:p>
                      <a:pPr>
                        <a:lnSpc>
                          <a:spcPct val="138889"/>
                        </a:lnSpc>
                        <a:buNone/>
                      </a:pPr>
                      <a:r>
                        <a:rPr lang="en-CA" sz="1400" b="1" dirty="0">
                          <a:effectLst/>
                        </a:rPr>
                        <a:t>DDL</a:t>
                      </a:r>
                      <a:endParaRPr lang="en-CA" sz="1400" b="1" dirty="0">
                        <a:effectLst/>
                        <a:latin typeface="quote-cjk-patch"/>
                      </a:endParaRPr>
                    </a:p>
                  </a:txBody>
                  <a:tcPr marR="121920" marT="76200" marB="76200" anchor="ctr"/>
                </a:tc>
                <a:tc>
                  <a:txBody>
                    <a:bodyPr/>
                    <a:lstStyle/>
                    <a:p>
                      <a:pPr>
                        <a:lnSpc>
                          <a:spcPct val="138889"/>
                        </a:lnSpc>
                        <a:buNone/>
                      </a:pPr>
                      <a:r>
                        <a:rPr lang="en-CA" sz="1400">
                          <a:effectLst/>
                        </a:rPr>
                        <a:t>"Build the structure."</a:t>
                      </a:r>
                      <a:endParaRPr lang="en-CA" sz="1400" b="0">
                        <a:effectLst/>
                        <a:latin typeface="quote-cjk-patch"/>
                      </a:endParaRPr>
                    </a:p>
                  </a:txBody>
                  <a:tcPr marL="121920" marT="76200" marB="76200" anchor="ctr"/>
                </a:tc>
                <a:extLst>
                  <a:ext uri="{0D108BD9-81ED-4DB2-BD59-A6C34878D82A}">
                    <a16:rowId xmlns:a16="http://schemas.microsoft.com/office/drawing/2014/main" val="3242719992"/>
                  </a:ext>
                </a:extLst>
              </a:tr>
              <a:tr h="473367">
                <a:tc>
                  <a:txBody>
                    <a:bodyPr/>
                    <a:lstStyle/>
                    <a:p>
                      <a:pPr>
                        <a:lnSpc>
                          <a:spcPct val="138889"/>
                        </a:lnSpc>
                        <a:buNone/>
                      </a:pPr>
                      <a:r>
                        <a:rPr lang="en-CA" sz="1400" b="1" dirty="0">
                          <a:effectLst/>
                        </a:rPr>
                        <a:t>DML</a:t>
                      </a:r>
                      <a:endParaRPr lang="en-CA" sz="1400" b="1" dirty="0">
                        <a:effectLst/>
                        <a:latin typeface="quote-cjk-patch"/>
                      </a:endParaRPr>
                    </a:p>
                  </a:txBody>
                  <a:tcPr marR="121920" marT="76200" marB="76200" anchor="ctr"/>
                </a:tc>
                <a:tc>
                  <a:txBody>
                    <a:bodyPr/>
                    <a:lstStyle/>
                    <a:p>
                      <a:pPr>
                        <a:lnSpc>
                          <a:spcPct val="138889"/>
                        </a:lnSpc>
                        <a:buNone/>
                      </a:pPr>
                      <a:r>
                        <a:rPr lang="en-CA" sz="1400">
                          <a:effectLst/>
                        </a:rPr>
                        <a:t>"Change the data."</a:t>
                      </a:r>
                      <a:endParaRPr lang="en-CA" sz="1400" b="0">
                        <a:effectLst/>
                        <a:latin typeface="quote-cjk-patch"/>
                      </a:endParaRPr>
                    </a:p>
                  </a:txBody>
                  <a:tcPr marL="121920" marT="76200" marB="76200" anchor="ctr"/>
                </a:tc>
                <a:extLst>
                  <a:ext uri="{0D108BD9-81ED-4DB2-BD59-A6C34878D82A}">
                    <a16:rowId xmlns:a16="http://schemas.microsoft.com/office/drawing/2014/main" val="3453846548"/>
                  </a:ext>
                </a:extLst>
              </a:tr>
              <a:tr h="473367">
                <a:tc>
                  <a:txBody>
                    <a:bodyPr/>
                    <a:lstStyle/>
                    <a:p>
                      <a:pPr>
                        <a:lnSpc>
                          <a:spcPct val="138889"/>
                        </a:lnSpc>
                        <a:buNone/>
                      </a:pPr>
                      <a:r>
                        <a:rPr lang="en-CA" sz="1400" b="1" dirty="0">
                          <a:effectLst/>
                        </a:rPr>
                        <a:t>DCL</a:t>
                      </a:r>
                      <a:endParaRPr lang="en-CA" sz="1400" b="1" dirty="0">
                        <a:effectLst/>
                        <a:latin typeface="quote-cjk-patch"/>
                      </a:endParaRPr>
                    </a:p>
                  </a:txBody>
                  <a:tcPr marR="121920" marT="76200" marB="76200" anchor="ctr"/>
                </a:tc>
                <a:tc>
                  <a:txBody>
                    <a:bodyPr/>
                    <a:lstStyle/>
                    <a:p>
                      <a:pPr>
                        <a:lnSpc>
                          <a:spcPct val="138889"/>
                        </a:lnSpc>
                        <a:buNone/>
                      </a:pPr>
                      <a:r>
                        <a:rPr lang="en-CA" sz="1400">
                          <a:effectLst/>
                        </a:rPr>
                        <a:t>"Who is allowed to do what?"</a:t>
                      </a:r>
                      <a:endParaRPr lang="en-CA" sz="1400" b="0">
                        <a:effectLst/>
                        <a:latin typeface="quote-cjk-patch"/>
                      </a:endParaRPr>
                    </a:p>
                  </a:txBody>
                  <a:tcPr marL="121920" marT="76200" marB="76200" anchor="ctr"/>
                </a:tc>
                <a:extLst>
                  <a:ext uri="{0D108BD9-81ED-4DB2-BD59-A6C34878D82A}">
                    <a16:rowId xmlns:a16="http://schemas.microsoft.com/office/drawing/2014/main" val="1845252904"/>
                  </a:ext>
                </a:extLst>
              </a:tr>
              <a:tr h="473367">
                <a:tc>
                  <a:txBody>
                    <a:bodyPr/>
                    <a:lstStyle/>
                    <a:p>
                      <a:pPr>
                        <a:lnSpc>
                          <a:spcPct val="138889"/>
                        </a:lnSpc>
                        <a:buNone/>
                      </a:pPr>
                      <a:r>
                        <a:rPr lang="en-CA" sz="1400" b="1" dirty="0">
                          <a:effectLst/>
                        </a:rPr>
                        <a:t>Query</a:t>
                      </a:r>
                      <a:endParaRPr lang="en-CA" sz="1400" b="1" dirty="0">
                        <a:effectLst/>
                        <a:latin typeface="quote-cjk-patch"/>
                      </a:endParaRPr>
                    </a:p>
                  </a:txBody>
                  <a:tcPr marR="121920" marT="76200" marB="76200" anchor="ctr"/>
                </a:tc>
                <a:tc>
                  <a:txBody>
                    <a:bodyPr/>
                    <a:lstStyle/>
                    <a:p>
                      <a:pPr>
                        <a:lnSpc>
                          <a:spcPct val="138889"/>
                        </a:lnSpc>
                        <a:buNone/>
                      </a:pPr>
                      <a:r>
                        <a:rPr lang="en-CA" sz="1400" dirty="0">
                          <a:effectLst/>
                        </a:rPr>
                        <a:t>"Give me the information I need."</a:t>
                      </a:r>
                      <a:endParaRPr lang="en-CA" sz="1400" b="0" dirty="0">
                        <a:effectLst/>
                        <a:latin typeface="quote-cjk-patch"/>
                      </a:endParaRPr>
                    </a:p>
                  </a:txBody>
                  <a:tcPr marL="121920" marT="76200" marB="76200" anchor="ctr"/>
                </a:tc>
                <a:extLst>
                  <a:ext uri="{0D108BD9-81ED-4DB2-BD59-A6C34878D82A}">
                    <a16:rowId xmlns:a16="http://schemas.microsoft.com/office/drawing/2014/main" val="3573924199"/>
                  </a:ext>
                </a:extLst>
              </a:tr>
            </a:tbl>
          </a:graphicData>
        </a:graphic>
      </p:graphicFrame>
      <p:sp>
        <p:nvSpPr>
          <p:cNvPr id="5" name="TextBox 4">
            <a:extLst>
              <a:ext uri="{FF2B5EF4-FFF2-40B4-BE49-F238E27FC236}">
                <a16:creationId xmlns:a16="http://schemas.microsoft.com/office/drawing/2014/main" id="{BC7338AF-DE60-9235-ED5C-51E1DBBF0A03}"/>
              </a:ext>
            </a:extLst>
          </p:cNvPr>
          <p:cNvSpPr txBox="1"/>
          <p:nvPr/>
        </p:nvSpPr>
        <p:spPr>
          <a:xfrm>
            <a:off x="420832" y="1404921"/>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Simple way to remember:</a:t>
            </a:r>
            <a:endParaRPr lang="en-CA" sz="1800" b="0" i="0" dirty="0">
              <a:solidFill>
                <a:srgbClr val="0F1115"/>
              </a:solidFill>
              <a:effectLst/>
              <a:latin typeface="quote-cjk-patch"/>
            </a:endParaRPr>
          </a:p>
        </p:txBody>
      </p:sp>
      <p:sp>
        <p:nvSpPr>
          <p:cNvPr id="7" name="TextBox 6">
            <a:extLst>
              <a:ext uri="{FF2B5EF4-FFF2-40B4-BE49-F238E27FC236}">
                <a16:creationId xmlns:a16="http://schemas.microsoft.com/office/drawing/2014/main" id="{73E916C5-26D2-EDD4-883B-37F18EF0E7C9}"/>
              </a:ext>
            </a:extLst>
          </p:cNvPr>
          <p:cNvSpPr txBox="1"/>
          <p:nvPr/>
        </p:nvSpPr>
        <p:spPr>
          <a:xfrm>
            <a:off x="324224" y="4474854"/>
            <a:ext cx="11479849" cy="646331"/>
          </a:xfrm>
          <a:prstGeom prst="rect">
            <a:avLst/>
          </a:prstGeom>
          <a:noFill/>
        </p:spPr>
        <p:txBody>
          <a:bodyPr wrap="square">
            <a:spAutoFit/>
          </a:bodyPr>
          <a:lstStyle/>
          <a:p>
            <a:r>
              <a:rPr lang="en-CA" sz="1800" b="0" i="0" dirty="0">
                <a:solidFill>
                  <a:schemeClr val="tx1"/>
                </a:solidFill>
                <a:effectLst/>
                <a:latin typeface="+mn-lt"/>
              </a:rPr>
              <a:t>Developers and users do not interact directly with the database. Instead, they submit requests to the DBMS. The DBMS responds to requests and performs the tasks involved in creating, changing, and using a database.</a:t>
            </a:r>
            <a:endParaRPr lang="en-CA" dirty="0"/>
          </a:p>
        </p:txBody>
      </p:sp>
    </p:spTree>
    <p:extLst>
      <p:ext uri="{BB962C8B-B14F-4D97-AF65-F5344CB8AC3E}">
        <p14:creationId xmlns:p14="http://schemas.microsoft.com/office/powerpoint/2010/main" val="3419394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14F2-DB4B-8292-8041-C80DCBF0BA90}"/>
              </a:ext>
            </a:extLst>
          </p:cNvPr>
          <p:cNvSpPr>
            <a:spLocks noGrp="1"/>
          </p:cNvSpPr>
          <p:nvPr>
            <p:ph type="title"/>
          </p:nvPr>
        </p:nvSpPr>
        <p:spPr>
          <a:xfrm>
            <a:off x="324224" y="335242"/>
            <a:ext cx="10515600" cy="1069679"/>
          </a:xfrm>
        </p:spPr>
        <p:txBody>
          <a:bodyPr vert="horz" lIns="91440" tIns="45720" rIns="91440" bIns="45720" rtlCol="0" anchor="ctr">
            <a:normAutofit/>
          </a:bodyPr>
          <a:lstStyle/>
          <a:p>
            <a:r>
              <a:rPr lang="en-US" b="1" kern="1200">
                <a:latin typeface="+mj-lt"/>
                <a:ea typeface="+mj-ea"/>
                <a:cs typeface="+mj-cs"/>
              </a:rPr>
              <a:t>The Database Design Process</a:t>
            </a:r>
            <a:endParaRPr lang="en-US" kern="1200">
              <a:latin typeface="+mj-lt"/>
              <a:ea typeface="+mj-ea"/>
              <a:cs typeface="+mj-cs"/>
            </a:endParaRPr>
          </a:p>
        </p:txBody>
      </p:sp>
      <p:sp>
        <p:nvSpPr>
          <p:cNvPr id="4" name="TextBox 3">
            <a:extLst>
              <a:ext uri="{FF2B5EF4-FFF2-40B4-BE49-F238E27FC236}">
                <a16:creationId xmlns:a16="http://schemas.microsoft.com/office/drawing/2014/main" id="{109FA31C-1794-8771-EEE8-405F5FA4097F}"/>
              </a:ext>
            </a:extLst>
          </p:cNvPr>
          <p:cNvSpPr txBox="1"/>
          <p:nvPr/>
        </p:nvSpPr>
        <p:spPr>
          <a:xfrm>
            <a:off x="511629" y="1730095"/>
            <a:ext cx="5943600" cy="3397810"/>
          </a:xfrm>
          <a:prstGeom prst="rect">
            <a:avLst/>
          </a:prstGeom>
        </p:spPr>
        <p:txBody>
          <a:bodyPr vert="horz" lIns="91440" tIns="45720" rIns="91440" bIns="45720" rtlCol="0">
            <a:noAutofit/>
          </a:bodyPr>
          <a:lstStyle/>
          <a:p>
            <a:pPr marR="0">
              <a:lnSpc>
                <a:spcPct val="90000"/>
              </a:lnSpc>
              <a:spcBef>
                <a:spcPts val="1000"/>
              </a:spcBef>
              <a:spcAft>
                <a:spcPts val="1200"/>
              </a:spcAft>
            </a:pPr>
            <a:r>
              <a:rPr lang="en-US" sz="1600" b="1" i="0" dirty="0">
                <a:effectLst/>
              </a:rPr>
              <a:t>Before designing the database, we need to understand:</a:t>
            </a:r>
            <a:endParaRPr lang="en-US" sz="1600" b="0" i="0" dirty="0">
              <a:effectLst/>
            </a:endParaRPr>
          </a:p>
          <a:p>
            <a:pPr marL="228600" marR="0" lvl="0" indent="-228600">
              <a:lnSpc>
                <a:spcPct val="90000"/>
              </a:lnSpc>
              <a:spcBef>
                <a:spcPts val="1000"/>
              </a:spcBef>
              <a:spcAft>
                <a:spcPts val="1200"/>
              </a:spcAft>
              <a:buFont typeface="Arial"/>
              <a:buChar char="•"/>
            </a:pPr>
            <a:r>
              <a:rPr lang="en-US" sz="1600" b="1" i="0" dirty="0">
                <a:effectLst/>
              </a:rPr>
              <a:t>What</a:t>
            </a:r>
            <a:r>
              <a:rPr lang="en-US" sz="1600" b="0" i="0" dirty="0">
                <a:effectLst/>
              </a:rPr>
              <a:t> is the database for? (Purpose)</a:t>
            </a:r>
          </a:p>
          <a:p>
            <a:pPr marL="228600" marR="0" lvl="0" indent="-228600">
              <a:lnSpc>
                <a:spcPct val="90000"/>
              </a:lnSpc>
              <a:spcBef>
                <a:spcPts val="1000"/>
              </a:spcBef>
              <a:spcAft>
                <a:spcPts val="1200"/>
              </a:spcAft>
              <a:buFont typeface="Arial"/>
              <a:buChar char="•"/>
            </a:pPr>
            <a:r>
              <a:rPr lang="en-US" sz="1600" b="1" i="0" dirty="0">
                <a:effectLst/>
              </a:rPr>
              <a:t>What</a:t>
            </a:r>
            <a:r>
              <a:rPr lang="en-US" sz="1600" b="0" i="0" dirty="0">
                <a:effectLst/>
              </a:rPr>
              <a:t> data needs to be stored?</a:t>
            </a:r>
          </a:p>
          <a:p>
            <a:pPr marL="228600" marR="0" lvl="0" indent="-228600">
              <a:lnSpc>
                <a:spcPct val="90000"/>
              </a:lnSpc>
              <a:spcBef>
                <a:spcPts val="1000"/>
              </a:spcBef>
              <a:spcAft>
                <a:spcPts val="1200"/>
              </a:spcAft>
              <a:buFont typeface="Arial"/>
              <a:buChar char="•"/>
            </a:pPr>
            <a:r>
              <a:rPr lang="en-US" sz="1600" b="1" i="0" dirty="0">
                <a:effectLst/>
              </a:rPr>
              <a:t>What</a:t>
            </a:r>
            <a:r>
              <a:rPr lang="en-US" sz="1600" b="0" i="0" dirty="0">
                <a:effectLst/>
              </a:rPr>
              <a:t> functions will the database support?</a:t>
            </a:r>
          </a:p>
          <a:p>
            <a:pPr marR="0">
              <a:lnSpc>
                <a:spcPct val="90000"/>
              </a:lnSpc>
              <a:spcBef>
                <a:spcPts val="1000"/>
              </a:spcBef>
              <a:spcAft>
                <a:spcPts val="1200"/>
              </a:spcAft>
            </a:pPr>
            <a:r>
              <a:rPr lang="en-US" sz="1600" b="1" i="0" dirty="0">
                <a:effectLst/>
              </a:rPr>
              <a:t>How do we find this out?</a:t>
            </a:r>
            <a:endParaRPr lang="en-US" sz="1600" b="0" i="0" dirty="0">
              <a:effectLst/>
            </a:endParaRPr>
          </a:p>
          <a:p>
            <a:pPr marL="228600" marR="0" lvl="0" indent="-228600">
              <a:lnSpc>
                <a:spcPct val="90000"/>
              </a:lnSpc>
              <a:spcBef>
                <a:spcPts val="1000"/>
              </a:spcBef>
              <a:spcAft>
                <a:spcPts val="1200"/>
              </a:spcAft>
              <a:buFont typeface="Arial"/>
              <a:buChar char="•"/>
            </a:pPr>
            <a:r>
              <a:rPr lang="en-US" sz="1600" b="1" i="0" dirty="0">
                <a:effectLst/>
              </a:rPr>
              <a:t>Talk to users</a:t>
            </a:r>
            <a:r>
              <a:rPr lang="en-US" sz="1600" b="0" i="0" dirty="0">
                <a:effectLst/>
              </a:rPr>
              <a:t> to identify requirements</a:t>
            </a:r>
          </a:p>
          <a:p>
            <a:pPr marL="228600" marR="0" lvl="0" indent="-228600">
              <a:lnSpc>
                <a:spcPct val="90000"/>
              </a:lnSpc>
              <a:spcBef>
                <a:spcPts val="1000"/>
              </a:spcBef>
              <a:spcAft>
                <a:spcPts val="1200"/>
              </a:spcAft>
              <a:buFont typeface="Arial"/>
              <a:buChar char="•"/>
            </a:pPr>
            <a:r>
              <a:rPr lang="en-US" sz="1600" b="1" i="0" dirty="0">
                <a:effectLst/>
              </a:rPr>
              <a:t>Review source documents</a:t>
            </a:r>
            <a:r>
              <a:rPr lang="en-US" sz="1600" b="0" i="0" dirty="0">
                <a:effectLst/>
              </a:rPr>
              <a:t> (reports, forms, screen layouts)</a:t>
            </a:r>
          </a:p>
        </p:txBody>
      </p:sp>
      <p:pic>
        <p:nvPicPr>
          <p:cNvPr id="6" name="Google Shape;248;p42">
            <a:extLst>
              <a:ext uri="{FF2B5EF4-FFF2-40B4-BE49-F238E27FC236}">
                <a16:creationId xmlns:a16="http://schemas.microsoft.com/office/drawing/2014/main" id="{1B466F8B-7BB0-961E-E4D6-9D7CE9D0C6B8}"/>
              </a:ext>
            </a:extLst>
          </p:cNvPr>
          <p:cNvPicPr preferRelativeResize="0"/>
          <p:nvPr/>
        </p:nvPicPr>
        <p:blipFill>
          <a:blip r:embed="rId2"/>
          <a:stretch>
            <a:fillRect/>
          </a:stretch>
        </p:blipFill>
        <p:spPr>
          <a:xfrm>
            <a:off x="6692140" y="1825625"/>
            <a:ext cx="4141720" cy="3385857"/>
          </a:xfrm>
          <a:prstGeom prst="rect">
            <a:avLst/>
          </a:prstGeom>
          <a:noFill/>
          <a:ln>
            <a:noFill/>
          </a:ln>
        </p:spPr>
      </p:pic>
    </p:spTree>
    <p:extLst>
      <p:ext uri="{BB962C8B-B14F-4D97-AF65-F5344CB8AC3E}">
        <p14:creationId xmlns:p14="http://schemas.microsoft.com/office/powerpoint/2010/main" val="1786569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B89FE-0654-1028-3B0C-65DAD8EF4FC0}"/>
              </a:ext>
            </a:extLst>
          </p:cNvPr>
          <p:cNvSpPr>
            <a:spLocks noGrp="1"/>
          </p:cNvSpPr>
          <p:nvPr>
            <p:ph type="title"/>
          </p:nvPr>
        </p:nvSpPr>
        <p:spPr>
          <a:xfrm>
            <a:off x="453735" y="231333"/>
            <a:ext cx="10515600" cy="1069679"/>
          </a:xfrm>
        </p:spPr>
        <p:txBody>
          <a:bodyPr>
            <a:normAutofit/>
          </a:bodyPr>
          <a:lstStyle/>
          <a:p>
            <a:r>
              <a:rPr lang="en-CA" b="1" dirty="0"/>
              <a:t>Business Rules</a:t>
            </a:r>
            <a:endParaRPr lang="en-CA" dirty="0"/>
          </a:p>
        </p:txBody>
      </p:sp>
      <p:sp>
        <p:nvSpPr>
          <p:cNvPr id="3" name="Content Placeholder 2">
            <a:extLst>
              <a:ext uri="{FF2B5EF4-FFF2-40B4-BE49-F238E27FC236}">
                <a16:creationId xmlns:a16="http://schemas.microsoft.com/office/drawing/2014/main" id="{FB9A669E-2196-4F9A-262F-C3C5448E348B}"/>
              </a:ext>
            </a:extLst>
          </p:cNvPr>
          <p:cNvSpPr>
            <a:spLocks noGrp="1"/>
          </p:cNvSpPr>
          <p:nvPr>
            <p:ph sz="half" idx="1"/>
          </p:nvPr>
        </p:nvSpPr>
        <p:spPr>
          <a:xfrm>
            <a:off x="453735" y="1401162"/>
            <a:ext cx="8960427" cy="1069679"/>
          </a:xfrm>
        </p:spPr>
        <p:txBody>
          <a:bodyPr>
            <a:normAutofit fontScale="85000" lnSpcReduction="20000"/>
          </a:bodyPr>
          <a:lstStyle/>
          <a:p>
            <a:pPr marL="0" indent="0">
              <a:buNone/>
            </a:pPr>
            <a:r>
              <a:rPr lang="en-CA" sz="2300" b="1" dirty="0"/>
              <a:t>What are business rules?</a:t>
            </a:r>
            <a:endParaRPr lang="en-CA" sz="2300" dirty="0"/>
          </a:p>
          <a:p>
            <a:r>
              <a:rPr lang="en-CA" sz="2300" dirty="0"/>
              <a:t>A statement that defines or constrains some aspect of the business.</a:t>
            </a:r>
          </a:p>
          <a:p>
            <a:pPr marL="0" indent="0">
              <a:buNone/>
            </a:pPr>
            <a:r>
              <a:rPr lang="en-CA" sz="2300" b="1" dirty="0"/>
              <a:t>Examples:</a:t>
            </a:r>
            <a:endParaRPr lang="en-CA" sz="2300" dirty="0"/>
          </a:p>
          <a:p>
            <a:pPr marL="0" indent="0">
              <a:buNone/>
            </a:pPr>
            <a:endParaRPr lang="en-CA" dirty="0"/>
          </a:p>
        </p:txBody>
      </p:sp>
      <p:graphicFrame>
        <p:nvGraphicFramePr>
          <p:cNvPr id="5" name="Content Placeholder 4">
            <a:extLst>
              <a:ext uri="{FF2B5EF4-FFF2-40B4-BE49-F238E27FC236}">
                <a16:creationId xmlns:a16="http://schemas.microsoft.com/office/drawing/2014/main" id="{1E0040D1-ACF1-CB0C-92EF-34794D781101}"/>
              </a:ext>
            </a:extLst>
          </p:cNvPr>
          <p:cNvGraphicFramePr>
            <a:graphicFrameLocks noGrp="1"/>
          </p:cNvGraphicFramePr>
          <p:nvPr>
            <p:ph sz="half" idx="2"/>
            <p:extLst>
              <p:ext uri="{D42A27DB-BD31-4B8C-83A1-F6EECF244321}">
                <p14:modId xmlns:p14="http://schemas.microsoft.com/office/powerpoint/2010/main" val="1078059756"/>
              </p:ext>
            </p:extLst>
          </p:nvPr>
        </p:nvGraphicFramePr>
        <p:xfrm>
          <a:off x="566306" y="2479037"/>
          <a:ext cx="10723420" cy="2510807"/>
        </p:xfrm>
        <a:graphic>
          <a:graphicData uri="http://schemas.openxmlformats.org/drawingml/2006/table">
            <a:tbl>
              <a:tblPr>
                <a:tableStyleId>{5C22544A-7EE6-4342-B048-85BDC9FD1C3A}</a:tableStyleId>
              </a:tblPr>
              <a:tblGrid>
                <a:gridCol w="5361710">
                  <a:extLst>
                    <a:ext uri="{9D8B030D-6E8A-4147-A177-3AD203B41FA5}">
                      <a16:colId xmlns:a16="http://schemas.microsoft.com/office/drawing/2014/main" val="477472202"/>
                    </a:ext>
                  </a:extLst>
                </a:gridCol>
                <a:gridCol w="5361710">
                  <a:extLst>
                    <a:ext uri="{9D8B030D-6E8A-4147-A177-3AD203B41FA5}">
                      <a16:colId xmlns:a16="http://schemas.microsoft.com/office/drawing/2014/main" val="4074102218"/>
                    </a:ext>
                  </a:extLst>
                </a:gridCol>
              </a:tblGrid>
              <a:tr h="368391">
                <a:tc>
                  <a:txBody>
                    <a:bodyPr/>
                    <a:lstStyle/>
                    <a:p>
                      <a:pPr algn="l">
                        <a:lnSpc>
                          <a:spcPct val="138889"/>
                        </a:lnSpc>
                        <a:buNone/>
                      </a:pPr>
                      <a:r>
                        <a:rPr lang="en-CA" sz="1400" b="1">
                          <a:effectLst/>
                        </a:rPr>
                        <a:t>Business Rule</a:t>
                      </a:r>
                      <a:endParaRPr lang="en-CA" sz="1400" b="1">
                        <a:effectLst/>
                        <a:latin typeface="quote-cjk-patch"/>
                      </a:endParaRPr>
                    </a:p>
                  </a:txBody>
                  <a:tcPr marL="82685" marR="110247" marT="68904" marB="68904" anchor="ctr"/>
                </a:tc>
                <a:tc>
                  <a:txBody>
                    <a:bodyPr/>
                    <a:lstStyle/>
                    <a:p>
                      <a:pPr algn="l">
                        <a:lnSpc>
                          <a:spcPct val="138889"/>
                        </a:lnSpc>
                        <a:buNone/>
                      </a:pPr>
                      <a:r>
                        <a:rPr lang="en-CA" sz="1400" b="1" dirty="0">
                          <a:effectLst/>
                        </a:rPr>
                        <a:t>Why It Matters</a:t>
                      </a:r>
                      <a:endParaRPr lang="en-CA" sz="1400" b="1" dirty="0">
                        <a:effectLst/>
                        <a:latin typeface="quote-cjk-patch"/>
                      </a:endParaRPr>
                    </a:p>
                  </a:txBody>
                  <a:tcPr marL="110247" marR="110247" marT="68904" marB="68904" anchor="ctr"/>
                </a:tc>
                <a:extLst>
                  <a:ext uri="{0D108BD9-81ED-4DB2-BD59-A6C34878D82A}">
                    <a16:rowId xmlns:a16="http://schemas.microsoft.com/office/drawing/2014/main" val="2644651109"/>
                  </a:ext>
                </a:extLst>
              </a:tr>
              <a:tr h="498464">
                <a:tc>
                  <a:txBody>
                    <a:bodyPr/>
                    <a:lstStyle/>
                    <a:p>
                      <a:pPr>
                        <a:lnSpc>
                          <a:spcPct val="138889"/>
                        </a:lnSpc>
                        <a:buNone/>
                      </a:pPr>
                      <a:r>
                        <a:rPr lang="en-CA" sz="1400" dirty="0">
                          <a:effectLst/>
                        </a:rPr>
                        <a:t>An employee cannot work in two departments at the same time</a:t>
                      </a:r>
                      <a:endParaRPr lang="en-CA" sz="1400" b="0" dirty="0">
                        <a:effectLst/>
                        <a:latin typeface="quote-cjk-patch"/>
                      </a:endParaRPr>
                    </a:p>
                  </a:txBody>
                  <a:tcPr marL="82685" marR="110247" marT="68904" marB="68904" anchor="ctr"/>
                </a:tc>
                <a:tc>
                  <a:txBody>
                    <a:bodyPr/>
                    <a:lstStyle/>
                    <a:p>
                      <a:pPr>
                        <a:lnSpc>
                          <a:spcPct val="138889"/>
                        </a:lnSpc>
                        <a:buNone/>
                      </a:pPr>
                      <a:r>
                        <a:rPr lang="en-CA" sz="1400">
                          <a:effectLst/>
                        </a:rPr>
                        <a:t>Prevents scheduling conflicts</a:t>
                      </a:r>
                      <a:endParaRPr lang="en-CA" sz="1400" b="0">
                        <a:effectLst/>
                        <a:latin typeface="quote-cjk-patch"/>
                      </a:endParaRPr>
                    </a:p>
                  </a:txBody>
                  <a:tcPr marL="110247" marR="82685" marT="68904" marB="68904" anchor="ctr"/>
                </a:tc>
                <a:extLst>
                  <a:ext uri="{0D108BD9-81ED-4DB2-BD59-A6C34878D82A}">
                    <a16:rowId xmlns:a16="http://schemas.microsoft.com/office/drawing/2014/main" val="166524504"/>
                  </a:ext>
                </a:extLst>
              </a:tr>
              <a:tr h="498464">
                <a:tc>
                  <a:txBody>
                    <a:bodyPr/>
                    <a:lstStyle/>
                    <a:p>
                      <a:pPr>
                        <a:lnSpc>
                          <a:spcPct val="138889"/>
                        </a:lnSpc>
                        <a:buNone/>
                      </a:pPr>
                      <a:r>
                        <a:rPr lang="en-CA" sz="1400" dirty="0">
                          <a:effectLst/>
                        </a:rPr>
                        <a:t>A student's grade must be between 0 and 100</a:t>
                      </a:r>
                      <a:endParaRPr lang="en-CA" sz="1400" b="0" dirty="0">
                        <a:effectLst/>
                        <a:latin typeface="quote-cjk-patch"/>
                      </a:endParaRPr>
                    </a:p>
                  </a:txBody>
                  <a:tcPr marL="82685" marR="110247" marT="68904" marB="68904" anchor="ctr"/>
                </a:tc>
                <a:tc>
                  <a:txBody>
                    <a:bodyPr/>
                    <a:lstStyle/>
                    <a:p>
                      <a:pPr>
                        <a:lnSpc>
                          <a:spcPct val="138889"/>
                        </a:lnSpc>
                        <a:buNone/>
                      </a:pPr>
                      <a:r>
                        <a:rPr lang="en-CA" sz="1400">
                          <a:effectLst/>
                        </a:rPr>
                        <a:t>Ensures data validity</a:t>
                      </a:r>
                      <a:endParaRPr lang="en-CA" sz="1400" b="0">
                        <a:effectLst/>
                        <a:latin typeface="quote-cjk-patch"/>
                      </a:endParaRPr>
                    </a:p>
                  </a:txBody>
                  <a:tcPr marL="110247" marR="82685" marT="68904" marB="68904" anchor="ctr"/>
                </a:tc>
                <a:extLst>
                  <a:ext uri="{0D108BD9-81ED-4DB2-BD59-A6C34878D82A}">
                    <a16:rowId xmlns:a16="http://schemas.microsoft.com/office/drawing/2014/main" val="2587667132"/>
                  </a:ext>
                </a:extLst>
              </a:tr>
              <a:tr h="637613">
                <a:tc>
                  <a:txBody>
                    <a:bodyPr/>
                    <a:lstStyle/>
                    <a:p>
                      <a:pPr>
                        <a:lnSpc>
                          <a:spcPct val="138889"/>
                        </a:lnSpc>
                        <a:buNone/>
                      </a:pPr>
                      <a:r>
                        <a:rPr lang="en-CA" sz="1400" dirty="0">
                          <a:effectLst/>
                        </a:rPr>
                        <a:t>An order cannot be shipped to an address not in the customer's profile</a:t>
                      </a:r>
                      <a:endParaRPr lang="en-CA" sz="1400" b="0" dirty="0">
                        <a:effectLst/>
                        <a:latin typeface="quote-cjk-patch"/>
                      </a:endParaRPr>
                    </a:p>
                  </a:txBody>
                  <a:tcPr marL="82685" marR="110247" marT="68904" marB="68904" anchor="ctr"/>
                </a:tc>
                <a:tc>
                  <a:txBody>
                    <a:bodyPr/>
                    <a:lstStyle/>
                    <a:p>
                      <a:pPr>
                        <a:lnSpc>
                          <a:spcPct val="138889"/>
                        </a:lnSpc>
                        <a:buNone/>
                      </a:pPr>
                      <a:r>
                        <a:rPr lang="en-CA" sz="1400">
                          <a:effectLst/>
                        </a:rPr>
                        <a:t>Maintains data consistency</a:t>
                      </a:r>
                      <a:endParaRPr lang="en-CA" sz="1400" b="0">
                        <a:effectLst/>
                        <a:latin typeface="quote-cjk-patch"/>
                      </a:endParaRPr>
                    </a:p>
                  </a:txBody>
                  <a:tcPr marL="110247" marR="82685" marT="68904" marB="68904" anchor="ctr"/>
                </a:tc>
                <a:extLst>
                  <a:ext uri="{0D108BD9-81ED-4DB2-BD59-A6C34878D82A}">
                    <a16:rowId xmlns:a16="http://schemas.microsoft.com/office/drawing/2014/main" val="1539644901"/>
                  </a:ext>
                </a:extLst>
              </a:tr>
              <a:tr h="368391">
                <a:tc>
                  <a:txBody>
                    <a:bodyPr/>
                    <a:lstStyle/>
                    <a:p>
                      <a:pPr>
                        <a:lnSpc>
                          <a:spcPct val="138889"/>
                        </a:lnSpc>
                        <a:buNone/>
                      </a:pPr>
                      <a:r>
                        <a:rPr lang="en-CA" sz="1400" dirty="0">
                          <a:effectLst/>
                        </a:rPr>
                        <a:t>An order must have at least one item</a:t>
                      </a:r>
                      <a:endParaRPr lang="en-CA" sz="1400" b="0" dirty="0">
                        <a:effectLst/>
                        <a:latin typeface="quote-cjk-patch"/>
                      </a:endParaRPr>
                    </a:p>
                  </a:txBody>
                  <a:tcPr marL="82685" marR="110247" marT="68904" marB="68904" anchor="ctr"/>
                </a:tc>
                <a:tc>
                  <a:txBody>
                    <a:bodyPr/>
                    <a:lstStyle/>
                    <a:p>
                      <a:pPr>
                        <a:lnSpc>
                          <a:spcPct val="138889"/>
                        </a:lnSpc>
                        <a:buNone/>
                      </a:pPr>
                      <a:r>
                        <a:rPr lang="en-CA" sz="1400" dirty="0">
                          <a:effectLst/>
                        </a:rPr>
                        <a:t>Enforces business requirements</a:t>
                      </a:r>
                      <a:endParaRPr lang="en-CA" sz="1400" b="0" dirty="0">
                        <a:effectLst/>
                        <a:latin typeface="quote-cjk-patch"/>
                      </a:endParaRPr>
                    </a:p>
                  </a:txBody>
                  <a:tcPr marL="110247" marR="82685" marT="68904" marB="68904" anchor="ctr"/>
                </a:tc>
                <a:extLst>
                  <a:ext uri="{0D108BD9-81ED-4DB2-BD59-A6C34878D82A}">
                    <a16:rowId xmlns:a16="http://schemas.microsoft.com/office/drawing/2014/main" val="3917487072"/>
                  </a:ext>
                </a:extLst>
              </a:tr>
            </a:tbl>
          </a:graphicData>
        </a:graphic>
      </p:graphicFrame>
      <p:sp>
        <p:nvSpPr>
          <p:cNvPr id="7" name="TextBox 6">
            <a:extLst>
              <a:ext uri="{FF2B5EF4-FFF2-40B4-BE49-F238E27FC236}">
                <a16:creationId xmlns:a16="http://schemas.microsoft.com/office/drawing/2014/main" id="{CFB366BD-A8ED-986E-36D1-9C0D42A4CCC2}"/>
              </a:ext>
            </a:extLst>
          </p:cNvPr>
          <p:cNvSpPr txBox="1"/>
          <p:nvPr/>
        </p:nvSpPr>
        <p:spPr>
          <a:xfrm>
            <a:off x="453735" y="4998040"/>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The database design must account for these rules.</a:t>
            </a:r>
            <a:endParaRPr lang="en-CA" sz="1800" b="0" i="0" dirty="0">
              <a:solidFill>
                <a:srgbClr val="0F1115"/>
              </a:solidFill>
              <a:effectLst/>
              <a:latin typeface="quote-cjk-patch"/>
            </a:endParaRPr>
          </a:p>
        </p:txBody>
      </p:sp>
    </p:spTree>
    <p:extLst>
      <p:ext uri="{BB962C8B-B14F-4D97-AF65-F5344CB8AC3E}">
        <p14:creationId xmlns:p14="http://schemas.microsoft.com/office/powerpoint/2010/main" val="1868935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37EC-A1CB-C429-E17F-139C4D59A013}"/>
              </a:ext>
            </a:extLst>
          </p:cNvPr>
          <p:cNvSpPr>
            <a:spLocks noGrp="1"/>
          </p:cNvSpPr>
          <p:nvPr>
            <p:ph type="title"/>
          </p:nvPr>
        </p:nvSpPr>
        <p:spPr/>
        <p:txBody>
          <a:bodyPr>
            <a:normAutofit fontScale="90000"/>
          </a:bodyPr>
          <a:lstStyle/>
          <a:p>
            <a:r>
              <a:rPr lang="en-CA" b="1" dirty="0"/>
              <a:t>What is an Entity?</a:t>
            </a:r>
            <a:br>
              <a:rPr lang="en-CA" b="1" dirty="0"/>
            </a:br>
            <a:endParaRPr lang="en-CA" dirty="0"/>
          </a:p>
        </p:txBody>
      </p:sp>
      <p:sp>
        <p:nvSpPr>
          <p:cNvPr id="3" name="Content Placeholder 2">
            <a:extLst>
              <a:ext uri="{FF2B5EF4-FFF2-40B4-BE49-F238E27FC236}">
                <a16:creationId xmlns:a16="http://schemas.microsoft.com/office/drawing/2014/main" id="{9BF0E62E-9B98-D11F-587E-820582108781}"/>
              </a:ext>
            </a:extLst>
          </p:cNvPr>
          <p:cNvSpPr>
            <a:spLocks noGrp="1"/>
          </p:cNvSpPr>
          <p:nvPr>
            <p:ph sz="half" idx="1"/>
          </p:nvPr>
        </p:nvSpPr>
        <p:spPr>
          <a:xfrm>
            <a:off x="495299" y="1101869"/>
            <a:ext cx="9916391" cy="1447511"/>
          </a:xfrm>
        </p:spPr>
        <p:txBody>
          <a:bodyPr>
            <a:normAutofit fontScale="62500" lnSpcReduction="20000"/>
          </a:bodyPr>
          <a:lstStyle/>
          <a:p>
            <a:pPr marL="0" indent="0">
              <a:lnSpc>
                <a:spcPct val="120000"/>
              </a:lnSpc>
              <a:buNone/>
            </a:pPr>
            <a:r>
              <a:rPr lang="en-CA" b="1" dirty="0"/>
              <a:t>An entity is something about which we want to store information. </a:t>
            </a:r>
            <a:r>
              <a:rPr lang="en-CA" dirty="0"/>
              <a:t>Also called an </a:t>
            </a:r>
            <a:r>
              <a:rPr lang="en-CA" b="1" dirty="0"/>
              <a:t>entity class</a:t>
            </a:r>
            <a:r>
              <a:rPr lang="en-CA" dirty="0"/>
              <a:t> or </a:t>
            </a:r>
            <a:r>
              <a:rPr lang="en-CA" b="1" dirty="0"/>
              <a:t>entity type</a:t>
            </a:r>
            <a:endParaRPr lang="en-CA" dirty="0"/>
          </a:p>
          <a:p>
            <a:pPr marL="0" lvl="0" indent="0">
              <a:lnSpc>
                <a:spcPct val="120000"/>
              </a:lnSpc>
              <a:buNone/>
            </a:pPr>
            <a:r>
              <a:rPr lang="en-CA" dirty="0"/>
              <a:t>Think: "What is the 'thing' we're keeping track of?"</a:t>
            </a:r>
          </a:p>
          <a:p>
            <a:pPr marL="0" indent="0">
              <a:lnSpc>
                <a:spcPct val="120000"/>
              </a:lnSpc>
              <a:buNone/>
            </a:pPr>
            <a:r>
              <a:rPr lang="en-CA" b="1" dirty="0"/>
              <a:t>Examples:</a:t>
            </a:r>
            <a:endParaRPr lang="en-CA" dirty="0"/>
          </a:p>
          <a:p>
            <a:endParaRPr lang="en-CA" dirty="0"/>
          </a:p>
        </p:txBody>
      </p:sp>
      <p:graphicFrame>
        <p:nvGraphicFramePr>
          <p:cNvPr id="5" name="Table 4">
            <a:extLst>
              <a:ext uri="{FF2B5EF4-FFF2-40B4-BE49-F238E27FC236}">
                <a16:creationId xmlns:a16="http://schemas.microsoft.com/office/drawing/2014/main" id="{002296B9-0901-F407-FD29-73913B917F70}"/>
              </a:ext>
            </a:extLst>
          </p:cNvPr>
          <p:cNvGraphicFramePr>
            <a:graphicFrameLocks noGrp="1"/>
          </p:cNvGraphicFramePr>
          <p:nvPr>
            <p:extLst>
              <p:ext uri="{D42A27DB-BD31-4B8C-83A1-F6EECF244321}">
                <p14:modId xmlns:p14="http://schemas.microsoft.com/office/powerpoint/2010/main" val="1840606746"/>
              </p:ext>
            </p:extLst>
          </p:nvPr>
        </p:nvGraphicFramePr>
        <p:xfrm>
          <a:off x="576002" y="2549538"/>
          <a:ext cx="5730240" cy="2553590"/>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1976299248"/>
                    </a:ext>
                  </a:extLst>
                </a:gridCol>
                <a:gridCol w="2865120">
                  <a:extLst>
                    <a:ext uri="{9D8B030D-6E8A-4147-A177-3AD203B41FA5}">
                      <a16:colId xmlns:a16="http://schemas.microsoft.com/office/drawing/2014/main" val="3993708782"/>
                    </a:ext>
                  </a:extLst>
                </a:gridCol>
              </a:tblGrid>
              <a:tr h="0">
                <a:tc>
                  <a:txBody>
                    <a:bodyPr/>
                    <a:lstStyle/>
                    <a:p>
                      <a:pPr algn="l">
                        <a:lnSpc>
                          <a:spcPct val="138889"/>
                        </a:lnSpc>
                        <a:buNone/>
                      </a:pPr>
                      <a:r>
                        <a:rPr lang="en-CA" sz="1125" b="1">
                          <a:effectLst/>
                        </a:rPr>
                        <a:t>Industry</a:t>
                      </a:r>
                      <a:endParaRPr lang="en-CA" sz="1125" b="1">
                        <a:effectLst/>
                        <a:latin typeface="quote-cjk-patch"/>
                      </a:endParaRPr>
                    </a:p>
                  </a:txBody>
                  <a:tcPr marR="121920" marT="76200" marB="76200" anchor="ctr"/>
                </a:tc>
                <a:tc>
                  <a:txBody>
                    <a:bodyPr/>
                    <a:lstStyle/>
                    <a:p>
                      <a:pPr algn="l">
                        <a:lnSpc>
                          <a:spcPct val="138889"/>
                        </a:lnSpc>
                        <a:buNone/>
                      </a:pPr>
                      <a:r>
                        <a:rPr lang="en-CA" sz="1125" b="1" dirty="0">
                          <a:effectLst/>
                        </a:rPr>
                        <a:t>Entities</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2361360088"/>
                  </a:ext>
                </a:extLst>
              </a:tr>
              <a:tr h="0">
                <a:tc>
                  <a:txBody>
                    <a:bodyPr/>
                    <a:lstStyle/>
                    <a:p>
                      <a:pPr>
                        <a:lnSpc>
                          <a:spcPct val="138889"/>
                        </a:lnSpc>
                        <a:buNone/>
                      </a:pPr>
                      <a:r>
                        <a:rPr lang="en-CA" sz="1125">
                          <a:effectLst/>
                        </a:rPr>
                        <a:t>University</a:t>
                      </a:r>
                      <a:endParaRPr lang="en-CA" sz="1125" b="0">
                        <a:effectLst/>
                        <a:latin typeface="quote-cjk-patch"/>
                      </a:endParaRPr>
                    </a:p>
                  </a:txBody>
                  <a:tcPr marR="121920" marT="76200" marB="76200" anchor="ctr"/>
                </a:tc>
                <a:tc>
                  <a:txBody>
                    <a:bodyPr/>
                    <a:lstStyle/>
                    <a:p>
                      <a:pPr>
                        <a:lnSpc>
                          <a:spcPct val="138889"/>
                        </a:lnSpc>
                        <a:buNone/>
                      </a:pPr>
                      <a:r>
                        <a:rPr lang="en-CA" sz="1125">
                          <a:effectLst/>
                        </a:rPr>
                        <a:t>STUDENT, COURSE, INSTRUCTOR, PROGRAM</a:t>
                      </a:r>
                      <a:endParaRPr lang="en-CA" sz="1125" b="0">
                        <a:effectLst/>
                        <a:latin typeface="quote-cjk-patch"/>
                      </a:endParaRPr>
                    </a:p>
                  </a:txBody>
                  <a:tcPr marL="121920" marT="76200" marB="76200" anchor="ctr"/>
                </a:tc>
                <a:extLst>
                  <a:ext uri="{0D108BD9-81ED-4DB2-BD59-A6C34878D82A}">
                    <a16:rowId xmlns:a16="http://schemas.microsoft.com/office/drawing/2014/main" val="833005588"/>
                  </a:ext>
                </a:extLst>
              </a:tr>
              <a:tr h="0">
                <a:tc>
                  <a:txBody>
                    <a:bodyPr/>
                    <a:lstStyle/>
                    <a:p>
                      <a:pPr>
                        <a:lnSpc>
                          <a:spcPct val="138889"/>
                        </a:lnSpc>
                        <a:buNone/>
                      </a:pPr>
                      <a:r>
                        <a:rPr lang="en-CA" sz="1125">
                          <a:effectLst/>
                        </a:rPr>
                        <a:t>Retail</a:t>
                      </a:r>
                      <a:endParaRPr lang="en-CA" sz="1125" b="0">
                        <a:effectLst/>
                        <a:latin typeface="quote-cjk-patch"/>
                      </a:endParaRPr>
                    </a:p>
                  </a:txBody>
                  <a:tcPr marR="121920" marT="76200" marB="76200" anchor="ctr"/>
                </a:tc>
                <a:tc>
                  <a:txBody>
                    <a:bodyPr/>
                    <a:lstStyle/>
                    <a:p>
                      <a:pPr>
                        <a:lnSpc>
                          <a:spcPct val="138889"/>
                        </a:lnSpc>
                        <a:buNone/>
                      </a:pPr>
                      <a:r>
                        <a:rPr lang="en-CA" sz="1125">
                          <a:effectLst/>
                        </a:rPr>
                        <a:t>CUSTOMER, PRODUCT, ORDER, EMPLOYEE</a:t>
                      </a:r>
                      <a:endParaRPr lang="en-CA" sz="1125" b="0">
                        <a:effectLst/>
                        <a:latin typeface="quote-cjk-patch"/>
                      </a:endParaRPr>
                    </a:p>
                  </a:txBody>
                  <a:tcPr marL="121920" marT="76200" marB="76200" anchor="ctr"/>
                </a:tc>
                <a:extLst>
                  <a:ext uri="{0D108BD9-81ED-4DB2-BD59-A6C34878D82A}">
                    <a16:rowId xmlns:a16="http://schemas.microsoft.com/office/drawing/2014/main" val="2719831623"/>
                  </a:ext>
                </a:extLst>
              </a:tr>
              <a:tr h="0">
                <a:tc>
                  <a:txBody>
                    <a:bodyPr/>
                    <a:lstStyle/>
                    <a:p>
                      <a:pPr>
                        <a:lnSpc>
                          <a:spcPct val="138889"/>
                        </a:lnSpc>
                        <a:buNone/>
                      </a:pPr>
                      <a:r>
                        <a:rPr lang="en-CA" sz="1125" dirty="0">
                          <a:effectLst/>
                        </a:rPr>
                        <a:t>Bank</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ACCOUNT, CUSTOMER, TRANSACTION</a:t>
                      </a:r>
                      <a:endParaRPr lang="en-CA" sz="1125" b="0">
                        <a:effectLst/>
                        <a:latin typeface="quote-cjk-patch"/>
                      </a:endParaRPr>
                    </a:p>
                  </a:txBody>
                  <a:tcPr marL="121920" marT="76200" marB="76200" anchor="ctr"/>
                </a:tc>
                <a:extLst>
                  <a:ext uri="{0D108BD9-81ED-4DB2-BD59-A6C34878D82A}">
                    <a16:rowId xmlns:a16="http://schemas.microsoft.com/office/drawing/2014/main" val="1127441792"/>
                  </a:ext>
                </a:extLst>
              </a:tr>
              <a:tr h="0">
                <a:tc>
                  <a:txBody>
                    <a:bodyPr/>
                    <a:lstStyle/>
                    <a:p>
                      <a:pPr>
                        <a:lnSpc>
                          <a:spcPct val="138889"/>
                        </a:lnSpc>
                        <a:buNone/>
                      </a:pPr>
                      <a:r>
                        <a:rPr lang="en-CA" sz="1125" dirty="0">
                          <a:effectLst/>
                        </a:rPr>
                        <a:t>Gym</a:t>
                      </a:r>
                      <a:endParaRPr lang="en-CA" sz="1125" b="0" dirty="0">
                        <a:effectLst/>
                        <a:latin typeface="quote-cjk-patch"/>
                      </a:endParaRPr>
                    </a:p>
                  </a:txBody>
                  <a:tcPr marR="121920" marT="76200" marB="76200" anchor="ctr"/>
                </a:tc>
                <a:tc>
                  <a:txBody>
                    <a:bodyPr/>
                    <a:lstStyle/>
                    <a:p>
                      <a:pPr>
                        <a:lnSpc>
                          <a:spcPct val="138889"/>
                        </a:lnSpc>
                        <a:buNone/>
                      </a:pPr>
                      <a:r>
                        <a:rPr lang="en-CA" sz="1125" dirty="0">
                          <a:effectLst/>
                        </a:rPr>
                        <a:t>MEMBER, CLASS, INSTRUCTOR</a:t>
                      </a:r>
                      <a:endParaRPr lang="en-CA" sz="1125" b="0" dirty="0">
                        <a:effectLst/>
                        <a:latin typeface="quote-cjk-patch"/>
                      </a:endParaRPr>
                    </a:p>
                  </a:txBody>
                  <a:tcPr marL="121920" marT="76200" marB="76200" anchor="ctr"/>
                </a:tc>
                <a:extLst>
                  <a:ext uri="{0D108BD9-81ED-4DB2-BD59-A6C34878D82A}">
                    <a16:rowId xmlns:a16="http://schemas.microsoft.com/office/drawing/2014/main" val="1029051429"/>
                  </a:ext>
                </a:extLst>
              </a:tr>
            </a:tbl>
          </a:graphicData>
        </a:graphic>
      </p:graphicFrame>
      <p:sp>
        <p:nvSpPr>
          <p:cNvPr id="7" name="TextBox 6">
            <a:extLst>
              <a:ext uri="{FF2B5EF4-FFF2-40B4-BE49-F238E27FC236}">
                <a16:creationId xmlns:a16="http://schemas.microsoft.com/office/drawing/2014/main" id="{27DE53C7-6F0E-AF8B-6EFE-181E909773C7}"/>
              </a:ext>
            </a:extLst>
          </p:cNvPr>
          <p:cNvSpPr txBox="1"/>
          <p:nvPr/>
        </p:nvSpPr>
        <p:spPr>
          <a:xfrm>
            <a:off x="6686550" y="4462106"/>
            <a:ext cx="4597977" cy="646331"/>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Remember:</a:t>
            </a:r>
            <a:r>
              <a:rPr lang="en-CA" dirty="0"/>
              <a:t> </a:t>
            </a:r>
            <a:r>
              <a:rPr lang="en-CA" sz="1800" b="1" i="0" dirty="0">
                <a:solidFill>
                  <a:schemeClr val="tx1"/>
                </a:solidFill>
                <a:effectLst/>
                <a:latin typeface="+mn-lt"/>
              </a:rPr>
              <a:t>Entity = what we're storing information about</a:t>
            </a:r>
            <a:endParaRPr lang="en-CA" sz="1800" b="0" i="0" dirty="0">
              <a:solidFill>
                <a:srgbClr val="0F1115"/>
              </a:solidFill>
              <a:effectLst/>
              <a:latin typeface="quote-cjk-patch"/>
            </a:endParaRPr>
          </a:p>
        </p:txBody>
      </p:sp>
    </p:spTree>
    <p:extLst>
      <p:ext uri="{BB962C8B-B14F-4D97-AF65-F5344CB8AC3E}">
        <p14:creationId xmlns:p14="http://schemas.microsoft.com/office/powerpoint/2010/main" val="2988512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D81DA-E96A-330A-BF77-2D46CCABABB1}"/>
              </a:ext>
            </a:extLst>
          </p:cNvPr>
          <p:cNvSpPr>
            <a:spLocks noGrp="1"/>
          </p:cNvSpPr>
          <p:nvPr>
            <p:ph type="title"/>
          </p:nvPr>
        </p:nvSpPr>
        <p:spPr>
          <a:xfrm>
            <a:off x="607176" y="337975"/>
            <a:ext cx="10515600" cy="1069679"/>
          </a:xfrm>
        </p:spPr>
        <p:txBody>
          <a:bodyPr>
            <a:normAutofit/>
          </a:bodyPr>
          <a:lstStyle/>
          <a:p>
            <a:r>
              <a:rPr lang="en-CA" b="1" dirty="0"/>
              <a:t>What is an Attribute?</a:t>
            </a:r>
            <a:endParaRPr lang="en-CA" dirty="0"/>
          </a:p>
        </p:txBody>
      </p:sp>
      <p:sp>
        <p:nvSpPr>
          <p:cNvPr id="3" name="Content Placeholder 2">
            <a:extLst>
              <a:ext uri="{FF2B5EF4-FFF2-40B4-BE49-F238E27FC236}">
                <a16:creationId xmlns:a16="http://schemas.microsoft.com/office/drawing/2014/main" id="{EAF5F456-D0B9-9F3F-0273-785DAEC7264D}"/>
              </a:ext>
            </a:extLst>
          </p:cNvPr>
          <p:cNvSpPr>
            <a:spLocks noGrp="1"/>
          </p:cNvSpPr>
          <p:nvPr>
            <p:ph sz="half" idx="1"/>
          </p:nvPr>
        </p:nvSpPr>
        <p:spPr>
          <a:xfrm>
            <a:off x="526473" y="1348571"/>
            <a:ext cx="8637270" cy="954107"/>
          </a:xfrm>
        </p:spPr>
        <p:txBody>
          <a:bodyPr>
            <a:normAutofit fontScale="62500" lnSpcReduction="20000"/>
          </a:bodyPr>
          <a:lstStyle/>
          <a:p>
            <a:pPr marL="0" indent="0">
              <a:buNone/>
            </a:pPr>
            <a:r>
              <a:rPr lang="en-CA" b="1" dirty="0"/>
              <a:t>An attribute is a characteristic or piece of information about an entity.</a:t>
            </a:r>
            <a:endParaRPr lang="en-CA" dirty="0"/>
          </a:p>
          <a:p>
            <a:pPr marL="0" lvl="0" indent="0">
              <a:buNone/>
            </a:pPr>
            <a:r>
              <a:rPr lang="en-CA" dirty="0"/>
              <a:t>When stored in a table, an attribute becomes a </a:t>
            </a:r>
            <a:r>
              <a:rPr lang="en-CA" b="1" dirty="0"/>
              <a:t>column</a:t>
            </a:r>
            <a:endParaRPr lang="en-CA" dirty="0"/>
          </a:p>
          <a:p>
            <a:pPr marL="0" indent="0">
              <a:buNone/>
            </a:pPr>
            <a:r>
              <a:rPr lang="en-CA" b="1" dirty="0"/>
              <a:t>Example: STUDENT Entity</a:t>
            </a:r>
            <a:endParaRPr lang="en-CA" dirty="0"/>
          </a:p>
        </p:txBody>
      </p:sp>
      <p:graphicFrame>
        <p:nvGraphicFramePr>
          <p:cNvPr id="5" name="Table 4">
            <a:extLst>
              <a:ext uri="{FF2B5EF4-FFF2-40B4-BE49-F238E27FC236}">
                <a16:creationId xmlns:a16="http://schemas.microsoft.com/office/drawing/2014/main" id="{8CC66212-8939-23BB-EA23-C5AEEE2DF258}"/>
              </a:ext>
            </a:extLst>
          </p:cNvPr>
          <p:cNvGraphicFramePr>
            <a:graphicFrameLocks noGrp="1"/>
          </p:cNvGraphicFramePr>
          <p:nvPr>
            <p:extLst>
              <p:ext uri="{D42A27DB-BD31-4B8C-83A1-F6EECF244321}">
                <p14:modId xmlns:p14="http://schemas.microsoft.com/office/powerpoint/2010/main" val="729757171"/>
              </p:ext>
            </p:extLst>
          </p:nvPr>
        </p:nvGraphicFramePr>
        <p:xfrm>
          <a:off x="607176" y="2373650"/>
          <a:ext cx="5730240" cy="2921610"/>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3832031131"/>
                    </a:ext>
                  </a:extLst>
                </a:gridCol>
                <a:gridCol w="2865120">
                  <a:extLst>
                    <a:ext uri="{9D8B030D-6E8A-4147-A177-3AD203B41FA5}">
                      <a16:colId xmlns:a16="http://schemas.microsoft.com/office/drawing/2014/main" val="4140197484"/>
                    </a:ext>
                  </a:extLst>
                </a:gridCol>
              </a:tblGrid>
              <a:tr h="486935">
                <a:tc>
                  <a:txBody>
                    <a:bodyPr/>
                    <a:lstStyle/>
                    <a:p>
                      <a:pPr algn="l">
                        <a:lnSpc>
                          <a:spcPct val="138889"/>
                        </a:lnSpc>
                        <a:buNone/>
                      </a:pPr>
                      <a:r>
                        <a:rPr lang="en-CA" sz="1400" b="1">
                          <a:effectLst/>
                        </a:rPr>
                        <a:t>Attribute</a:t>
                      </a:r>
                      <a:endParaRPr lang="en-CA" sz="1400" b="1" i="0">
                        <a:solidFill>
                          <a:srgbClr val="0F1115"/>
                        </a:solidFill>
                        <a:effectLst/>
                        <a:latin typeface="quote-cjk-patch"/>
                      </a:endParaRPr>
                    </a:p>
                  </a:txBody>
                  <a:tcPr marR="121920" marT="76200" marB="76200" anchor="ctr"/>
                </a:tc>
                <a:tc>
                  <a:txBody>
                    <a:bodyPr/>
                    <a:lstStyle/>
                    <a:p>
                      <a:pPr algn="l">
                        <a:lnSpc>
                          <a:spcPct val="138889"/>
                        </a:lnSpc>
                        <a:buNone/>
                      </a:pPr>
                      <a:r>
                        <a:rPr lang="en-CA" sz="1400" b="1" dirty="0">
                          <a:effectLst/>
                        </a:rPr>
                        <a:t>Description</a:t>
                      </a:r>
                      <a:endParaRPr lang="en-CA" sz="1400" b="1" i="0" dirty="0">
                        <a:solidFill>
                          <a:srgbClr val="0F1115"/>
                        </a:solidFill>
                        <a:effectLst/>
                        <a:latin typeface="quote-cjk-patch"/>
                      </a:endParaRPr>
                    </a:p>
                  </a:txBody>
                  <a:tcPr marL="121920" marR="121920" marT="76200" marB="76200" anchor="ctr"/>
                </a:tc>
                <a:extLst>
                  <a:ext uri="{0D108BD9-81ED-4DB2-BD59-A6C34878D82A}">
                    <a16:rowId xmlns:a16="http://schemas.microsoft.com/office/drawing/2014/main" val="418354805"/>
                  </a:ext>
                </a:extLst>
              </a:tr>
              <a:tr h="486935">
                <a:tc>
                  <a:txBody>
                    <a:bodyPr/>
                    <a:lstStyle/>
                    <a:p>
                      <a:pPr algn="l">
                        <a:lnSpc>
                          <a:spcPct val="138889"/>
                        </a:lnSpc>
                        <a:buNone/>
                      </a:pPr>
                      <a:r>
                        <a:rPr lang="en-CA" sz="1400" b="1">
                          <a:effectLst/>
                        </a:rPr>
                        <a:t>Student ID</a:t>
                      </a:r>
                      <a:endParaRPr lang="en-CA" sz="1400" b="1" i="0">
                        <a:solidFill>
                          <a:srgbClr val="0F1115"/>
                        </a:solidFill>
                        <a:effectLst/>
                        <a:latin typeface="quote-cjk-patch"/>
                      </a:endParaRPr>
                    </a:p>
                  </a:txBody>
                  <a:tcPr marR="121920" marT="76200" marB="76200" anchor="ctr"/>
                </a:tc>
                <a:tc>
                  <a:txBody>
                    <a:bodyPr/>
                    <a:lstStyle/>
                    <a:p>
                      <a:pPr algn="l">
                        <a:lnSpc>
                          <a:spcPct val="138889"/>
                        </a:lnSpc>
                        <a:buNone/>
                      </a:pPr>
                      <a:r>
                        <a:rPr lang="en-CA" sz="1400">
                          <a:effectLst/>
                        </a:rPr>
                        <a:t>Unique identifier</a:t>
                      </a:r>
                      <a:endParaRPr lang="en-CA" sz="1400" b="0" i="0">
                        <a:solidFill>
                          <a:srgbClr val="0F1115"/>
                        </a:solidFill>
                        <a:effectLst/>
                        <a:latin typeface="quote-cjk-patch"/>
                      </a:endParaRPr>
                    </a:p>
                  </a:txBody>
                  <a:tcPr marL="121920" marT="76200" marB="76200" anchor="ctr"/>
                </a:tc>
                <a:extLst>
                  <a:ext uri="{0D108BD9-81ED-4DB2-BD59-A6C34878D82A}">
                    <a16:rowId xmlns:a16="http://schemas.microsoft.com/office/drawing/2014/main" val="888999015"/>
                  </a:ext>
                </a:extLst>
              </a:tr>
              <a:tr h="486935">
                <a:tc>
                  <a:txBody>
                    <a:bodyPr/>
                    <a:lstStyle/>
                    <a:p>
                      <a:pPr algn="l">
                        <a:lnSpc>
                          <a:spcPct val="138889"/>
                        </a:lnSpc>
                        <a:buNone/>
                      </a:pPr>
                      <a:r>
                        <a:rPr lang="en-CA" sz="1400" b="1">
                          <a:effectLst/>
                        </a:rPr>
                        <a:t>First Name</a:t>
                      </a:r>
                      <a:endParaRPr lang="en-CA" sz="1400" b="1" i="0">
                        <a:solidFill>
                          <a:srgbClr val="0F1115"/>
                        </a:solidFill>
                        <a:effectLst/>
                        <a:latin typeface="quote-cjk-patch"/>
                      </a:endParaRPr>
                    </a:p>
                  </a:txBody>
                  <a:tcPr marR="121920" marT="76200" marB="76200" anchor="ctr"/>
                </a:tc>
                <a:tc>
                  <a:txBody>
                    <a:bodyPr/>
                    <a:lstStyle/>
                    <a:p>
                      <a:pPr algn="l">
                        <a:lnSpc>
                          <a:spcPct val="138889"/>
                        </a:lnSpc>
                        <a:buNone/>
                      </a:pPr>
                      <a:r>
                        <a:rPr lang="en-CA" sz="1400" dirty="0">
                          <a:effectLst/>
                        </a:rPr>
                        <a:t>Student's first name</a:t>
                      </a:r>
                      <a:endParaRPr lang="en-CA" sz="14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4118630020"/>
                  </a:ext>
                </a:extLst>
              </a:tr>
              <a:tr h="486935">
                <a:tc>
                  <a:txBody>
                    <a:bodyPr/>
                    <a:lstStyle/>
                    <a:p>
                      <a:pPr algn="l">
                        <a:lnSpc>
                          <a:spcPct val="138889"/>
                        </a:lnSpc>
                        <a:buNone/>
                      </a:pPr>
                      <a:r>
                        <a:rPr lang="en-CA" sz="1400" b="1">
                          <a:effectLst/>
                        </a:rPr>
                        <a:t>Last Name</a:t>
                      </a:r>
                      <a:endParaRPr lang="en-CA" sz="1400" b="1" i="0">
                        <a:solidFill>
                          <a:srgbClr val="0F1115"/>
                        </a:solidFill>
                        <a:effectLst/>
                        <a:latin typeface="quote-cjk-patch"/>
                      </a:endParaRPr>
                    </a:p>
                  </a:txBody>
                  <a:tcPr marR="121920" marT="76200" marB="76200" anchor="ctr"/>
                </a:tc>
                <a:tc>
                  <a:txBody>
                    <a:bodyPr/>
                    <a:lstStyle/>
                    <a:p>
                      <a:pPr algn="l">
                        <a:lnSpc>
                          <a:spcPct val="138889"/>
                        </a:lnSpc>
                        <a:buNone/>
                      </a:pPr>
                      <a:r>
                        <a:rPr lang="en-CA" sz="1400">
                          <a:effectLst/>
                        </a:rPr>
                        <a:t>Student's last name</a:t>
                      </a:r>
                      <a:endParaRPr lang="en-CA" sz="1400" b="0" i="0">
                        <a:solidFill>
                          <a:srgbClr val="0F1115"/>
                        </a:solidFill>
                        <a:effectLst/>
                        <a:latin typeface="quote-cjk-patch"/>
                      </a:endParaRPr>
                    </a:p>
                  </a:txBody>
                  <a:tcPr marL="121920" marT="76200" marB="76200" anchor="ctr"/>
                </a:tc>
                <a:extLst>
                  <a:ext uri="{0D108BD9-81ED-4DB2-BD59-A6C34878D82A}">
                    <a16:rowId xmlns:a16="http://schemas.microsoft.com/office/drawing/2014/main" val="2383386964"/>
                  </a:ext>
                </a:extLst>
              </a:tr>
              <a:tr h="486935">
                <a:tc>
                  <a:txBody>
                    <a:bodyPr/>
                    <a:lstStyle/>
                    <a:p>
                      <a:pPr algn="l">
                        <a:lnSpc>
                          <a:spcPct val="138889"/>
                        </a:lnSpc>
                        <a:buNone/>
                      </a:pPr>
                      <a:r>
                        <a:rPr lang="en-CA" sz="1400" b="1">
                          <a:effectLst/>
                        </a:rPr>
                        <a:t>Email</a:t>
                      </a:r>
                      <a:endParaRPr lang="en-CA" sz="1400" b="1" i="0">
                        <a:solidFill>
                          <a:srgbClr val="0F1115"/>
                        </a:solidFill>
                        <a:effectLst/>
                        <a:latin typeface="quote-cjk-patch"/>
                      </a:endParaRPr>
                    </a:p>
                  </a:txBody>
                  <a:tcPr marR="121920" marT="76200" marB="76200" anchor="ctr"/>
                </a:tc>
                <a:tc>
                  <a:txBody>
                    <a:bodyPr/>
                    <a:lstStyle/>
                    <a:p>
                      <a:pPr algn="l">
                        <a:lnSpc>
                          <a:spcPct val="138889"/>
                        </a:lnSpc>
                        <a:buNone/>
                      </a:pPr>
                      <a:r>
                        <a:rPr lang="en-CA" sz="1400">
                          <a:effectLst/>
                        </a:rPr>
                        <a:t>Student's email address</a:t>
                      </a:r>
                      <a:endParaRPr lang="en-CA" sz="1400" b="0" i="0">
                        <a:solidFill>
                          <a:srgbClr val="0F1115"/>
                        </a:solidFill>
                        <a:effectLst/>
                        <a:latin typeface="quote-cjk-patch"/>
                      </a:endParaRPr>
                    </a:p>
                  </a:txBody>
                  <a:tcPr marL="121920" marT="76200" marB="76200" anchor="ctr"/>
                </a:tc>
                <a:extLst>
                  <a:ext uri="{0D108BD9-81ED-4DB2-BD59-A6C34878D82A}">
                    <a16:rowId xmlns:a16="http://schemas.microsoft.com/office/drawing/2014/main" val="3059350606"/>
                  </a:ext>
                </a:extLst>
              </a:tr>
              <a:tr h="486935">
                <a:tc>
                  <a:txBody>
                    <a:bodyPr/>
                    <a:lstStyle/>
                    <a:p>
                      <a:pPr algn="l">
                        <a:lnSpc>
                          <a:spcPct val="138889"/>
                        </a:lnSpc>
                        <a:buNone/>
                      </a:pPr>
                      <a:r>
                        <a:rPr lang="en-CA" sz="1400" b="1" dirty="0">
                          <a:effectLst/>
                        </a:rPr>
                        <a:t>Date of Birth</a:t>
                      </a:r>
                      <a:endParaRPr lang="en-CA" sz="1400" b="1" i="0" dirty="0">
                        <a:solidFill>
                          <a:srgbClr val="0F1115"/>
                        </a:solidFill>
                        <a:effectLst/>
                        <a:latin typeface="quote-cjk-patch"/>
                      </a:endParaRPr>
                    </a:p>
                  </a:txBody>
                  <a:tcPr marR="121920" marT="76200" marB="76200" anchor="ctr"/>
                </a:tc>
                <a:tc>
                  <a:txBody>
                    <a:bodyPr/>
                    <a:lstStyle/>
                    <a:p>
                      <a:pPr algn="l">
                        <a:lnSpc>
                          <a:spcPct val="138889"/>
                        </a:lnSpc>
                        <a:buNone/>
                      </a:pPr>
                      <a:r>
                        <a:rPr lang="en-CA" sz="1400" dirty="0">
                          <a:effectLst/>
                        </a:rPr>
                        <a:t>Student's birth date</a:t>
                      </a:r>
                      <a:endParaRPr lang="en-CA" sz="14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3373333937"/>
                  </a:ext>
                </a:extLst>
              </a:tr>
            </a:tbl>
          </a:graphicData>
        </a:graphic>
      </p:graphicFrame>
      <p:sp>
        <p:nvSpPr>
          <p:cNvPr id="7" name="TextBox 6">
            <a:extLst>
              <a:ext uri="{FF2B5EF4-FFF2-40B4-BE49-F238E27FC236}">
                <a16:creationId xmlns:a16="http://schemas.microsoft.com/office/drawing/2014/main" id="{E130F71A-0C94-9A74-81BE-24102251D25C}"/>
              </a:ext>
            </a:extLst>
          </p:cNvPr>
          <p:cNvSpPr txBox="1"/>
          <p:nvPr/>
        </p:nvSpPr>
        <p:spPr>
          <a:xfrm>
            <a:off x="6696942" y="4064152"/>
            <a:ext cx="5138304" cy="1231106"/>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Remember:</a:t>
            </a:r>
          </a:p>
          <a:p>
            <a:pPr marL="0" marR="0" indent="0" algn="l">
              <a:spcBef>
                <a:spcPts val="1200"/>
              </a:spcBef>
              <a:spcAft>
                <a:spcPts val="1200"/>
              </a:spcAft>
              <a:buNone/>
            </a:pPr>
            <a:r>
              <a:rPr lang="en-CA" sz="1800" b="1" i="0" dirty="0">
                <a:solidFill>
                  <a:schemeClr val="tx1"/>
                </a:solidFill>
                <a:effectLst/>
                <a:latin typeface="+mn-lt"/>
              </a:rPr>
              <a:t>Entity = what we're storing information about</a:t>
            </a:r>
            <a:br>
              <a:rPr lang="en-CA" sz="1800" b="0" i="0" dirty="0">
                <a:solidFill>
                  <a:schemeClr val="tx1"/>
                </a:solidFill>
                <a:effectLst/>
                <a:latin typeface="+mn-lt"/>
              </a:rPr>
            </a:br>
            <a:r>
              <a:rPr lang="en-CA" sz="1800" b="1" i="0" dirty="0">
                <a:solidFill>
                  <a:schemeClr val="tx1"/>
                </a:solidFill>
                <a:effectLst/>
                <a:latin typeface="+mn-lt"/>
              </a:rPr>
              <a:t>Attribute = information we store about it</a:t>
            </a:r>
            <a:endParaRPr lang="en-CA" sz="1200" b="0" i="0" dirty="0">
              <a:solidFill>
                <a:srgbClr val="0F1115"/>
              </a:solidFill>
              <a:effectLst/>
              <a:latin typeface="quote-cjk-patch"/>
            </a:endParaRPr>
          </a:p>
        </p:txBody>
      </p:sp>
    </p:spTree>
    <p:extLst>
      <p:ext uri="{BB962C8B-B14F-4D97-AF65-F5344CB8AC3E}">
        <p14:creationId xmlns:p14="http://schemas.microsoft.com/office/powerpoint/2010/main" val="2443395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E714-FECD-7D55-4669-DC60A8A90505}"/>
              </a:ext>
            </a:extLst>
          </p:cNvPr>
          <p:cNvSpPr>
            <a:spLocks noGrp="1"/>
          </p:cNvSpPr>
          <p:nvPr>
            <p:ph type="title"/>
          </p:nvPr>
        </p:nvSpPr>
        <p:spPr/>
        <p:txBody>
          <a:bodyPr>
            <a:normAutofit fontScale="90000"/>
          </a:bodyPr>
          <a:lstStyle/>
          <a:p>
            <a:r>
              <a:rPr lang="en-CA" b="1" dirty="0"/>
              <a:t>Entities Can Be Related</a:t>
            </a:r>
            <a:br>
              <a:rPr lang="en-CA" b="1" dirty="0"/>
            </a:br>
            <a:endParaRPr lang="en-CA" dirty="0"/>
          </a:p>
        </p:txBody>
      </p:sp>
      <p:sp>
        <p:nvSpPr>
          <p:cNvPr id="3" name="Content Placeholder 2">
            <a:extLst>
              <a:ext uri="{FF2B5EF4-FFF2-40B4-BE49-F238E27FC236}">
                <a16:creationId xmlns:a16="http://schemas.microsoft.com/office/drawing/2014/main" id="{3578B15F-081B-57E6-35F6-AFC5A1183F21}"/>
              </a:ext>
            </a:extLst>
          </p:cNvPr>
          <p:cNvSpPr>
            <a:spLocks noGrp="1"/>
          </p:cNvSpPr>
          <p:nvPr>
            <p:ph sz="half" idx="1"/>
          </p:nvPr>
        </p:nvSpPr>
        <p:spPr>
          <a:xfrm>
            <a:off x="525780" y="1639459"/>
            <a:ext cx="4700847" cy="2558468"/>
          </a:xfrm>
        </p:spPr>
        <p:txBody>
          <a:bodyPr>
            <a:normAutofit fontScale="62500" lnSpcReduction="20000"/>
          </a:bodyPr>
          <a:lstStyle/>
          <a:p>
            <a:pPr marL="0" indent="0">
              <a:lnSpc>
                <a:spcPct val="120000"/>
              </a:lnSpc>
              <a:buNone/>
            </a:pPr>
            <a:r>
              <a:rPr lang="en-CA" b="1" dirty="0"/>
              <a:t>Entities don't exist in isolation.</a:t>
            </a:r>
            <a:endParaRPr lang="en-CA" dirty="0"/>
          </a:p>
          <a:p>
            <a:pPr marL="0" indent="0">
              <a:lnSpc>
                <a:spcPct val="120000"/>
              </a:lnSpc>
              <a:buNone/>
            </a:pPr>
            <a:r>
              <a:rPr lang="en-CA" dirty="0"/>
              <a:t>A </a:t>
            </a:r>
            <a:r>
              <a:rPr lang="en-CA" b="1" dirty="0"/>
              <a:t>STUDENT</a:t>
            </a:r>
            <a:r>
              <a:rPr lang="en-CA" dirty="0"/>
              <a:t> can </a:t>
            </a:r>
            <a:r>
              <a:rPr lang="en-CA" b="1" dirty="0"/>
              <a:t>ENROLL IN</a:t>
            </a:r>
            <a:r>
              <a:rPr lang="en-CA" dirty="0"/>
              <a:t> a </a:t>
            </a:r>
            <a:r>
              <a:rPr lang="en-CA" b="1" dirty="0"/>
              <a:t>COURSE</a:t>
            </a:r>
            <a:endParaRPr lang="en-CA" dirty="0"/>
          </a:p>
          <a:p>
            <a:pPr marL="0" indent="0">
              <a:lnSpc>
                <a:spcPct val="120000"/>
              </a:lnSpc>
              <a:buNone/>
            </a:pPr>
            <a:r>
              <a:rPr lang="en-CA" dirty="0"/>
              <a:t>A </a:t>
            </a:r>
            <a:r>
              <a:rPr lang="en-CA" b="1" dirty="0"/>
              <a:t>CUSTOMER</a:t>
            </a:r>
            <a:r>
              <a:rPr lang="en-CA" dirty="0"/>
              <a:t> can </a:t>
            </a:r>
            <a:r>
              <a:rPr lang="en-CA" b="1" dirty="0"/>
              <a:t>PLACE</a:t>
            </a:r>
            <a:r>
              <a:rPr lang="en-CA" dirty="0"/>
              <a:t> an </a:t>
            </a:r>
            <a:r>
              <a:rPr lang="en-CA" b="1" dirty="0"/>
              <a:t>ORDER</a:t>
            </a:r>
            <a:endParaRPr lang="en-CA" dirty="0"/>
          </a:p>
          <a:p>
            <a:pPr marL="0" indent="0">
              <a:lnSpc>
                <a:spcPct val="120000"/>
              </a:lnSpc>
              <a:buNone/>
            </a:pPr>
            <a:r>
              <a:rPr lang="en-CA" dirty="0"/>
              <a:t>An </a:t>
            </a:r>
            <a:r>
              <a:rPr lang="en-CA" b="1" dirty="0"/>
              <a:t>ORDER</a:t>
            </a:r>
            <a:r>
              <a:rPr lang="en-CA" dirty="0"/>
              <a:t> can </a:t>
            </a:r>
            <a:r>
              <a:rPr lang="en-CA" b="1" dirty="0"/>
              <a:t>CONTAIN</a:t>
            </a:r>
            <a:r>
              <a:rPr lang="en-CA" dirty="0"/>
              <a:t> a </a:t>
            </a:r>
            <a:r>
              <a:rPr lang="en-CA" b="1" dirty="0"/>
              <a:t>PRODUCT</a:t>
            </a:r>
            <a:endParaRPr lang="en-CA" dirty="0"/>
          </a:p>
          <a:p>
            <a:pPr marL="0" indent="0">
              <a:lnSpc>
                <a:spcPct val="120000"/>
              </a:lnSpc>
              <a:buNone/>
            </a:pPr>
            <a:r>
              <a:rPr lang="en-CA" b="1" dirty="0"/>
              <a:t>Relationship = how two entities are connected</a:t>
            </a:r>
            <a:endParaRPr lang="en-CA" dirty="0"/>
          </a:p>
          <a:p>
            <a:endParaRPr lang="en-CA" dirty="0"/>
          </a:p>
        </p:txBody>
      </p:sp>
      <p:graphicFrame>
        <p:nvGraphicFramePr>
          <p:cNvPr id="5" name="Table 4">
            <a:extLst>
              <a:ext uri="{FF2B5EF4-FFF2-40B4-BE49-F238E27FC236}">
                <a16:creationId xmlns:a16="http://schemas.microsoft.com/office/drawing/2014/main" id="{883F0660-BC78-FBDA-18CB-B03F1B232F49}"/>
              </a:ext>
            </a:extLst>
          </p:cNvPr>
          <p:cNvGraphicFramePr>
            <a:graphicFrameLocks noGrp="1"/>
          </p:cNvGraphicFramePr>
          <p:nvPr>
            <p:extLst>
              <p:ext uri="{D42A27DB-BD31-4B8C-83A1-F6EECF244321}">
                <p14:modId xmlns:p14="http://schemas.microsoft.com/office/powerpoint/2010/main" val="507631851"/>
              </p:ext>
            </p:extLst>
          </p:nvPr>
        </p:nvGraphicFramePr>
        <p:xfrm>
          <a:off x="5935980" y="1639459"/>
          <a:ext cx="5730240" cy="2274120"/>
        </p:xfrm>
        <a:graphic>
          <a:graphicData uri="http://schemas.openxmlformats.org/drawingml/2006/table">
            <a:tbl>
              <a:tblPr>
                <a:tableStyleId>{5C22544A-7EE6-4342-B048-85BDC9FD1C3A}</a:tableStyleId>
              </a:tblPr>
              <a:tblGrid>
                <a:gridCol w="1910080">
                  <a:extLst>
                    <a:ext uri="{9D8B030D-6E8A-4147-A177-3AD203B41FA5}">
                      <a16:colId xmlns:a16="http://schemas.microsoft.com/office/drawing/2014/main" val="4034211565"/>
                    </a:ext>
                  </a:extLst>
                </a:gridCol>
                <a:gridCol w="1910080">
                  <a:extLst>
                    <a:ext uri="{9D8B030D-6E8A-4147-A177-3AD203B41FA5}">
                      <a16:colId xmlns:a16="http://schemas.microsoft.com/office/drawing/2014/main" val="2183500491"/>
                    </a:ext>
                  </a:extLst>
                </a:gridCol>
                <a:gridCol w="1910080">
                  <a:extLst>
                    <a:ext uri="{9D8B030D-6E8A-4147-A177-3AD203B41FA5}">
                      <a16:colId xmlns:a16="http://schemas.microsoft.com/office/drawing/2014/main" val="3418576321"/>
                    </a:ext>
                  </a:extLst>
                </a:gridCol>
              </a:tblGrid>
              <a:tr h="568530">
                <a:tc>
                  <a:txBody>
                    <a:bodyPr/>
                    <a:lstStyle/>
                    <a:p>
                      <a:pPr algn="l">
                        <a:lnSpc>
                          <a:spcPct val="138889"/>
                        </a:lnSpc>
                        <a:buNone/>
                      </a:pPr>
                      <a:r>
                        <a:rPr lang="en-CA" sz="1125" b="1">
                          <a:effectLst/>
                        </a:rPr>
                        <a:t>Entity</a:t>
                      </a:r>
                      <a:endParaRPr lang="en-CA" sz="1125" b="1">
                        <a:effectLst/>
                        <a:latin typeface="quote-cjk-patch"/>
                      </a:endParaRPr>
                    </a:p>
                  </a:txBody>
                  <a:tcPr marR="121920" marT="76200" marB="76200" anchor="ctr"/>
                </a:tc>
                <a:tc>
                  <a:txBody>
                    <a:bodyPr/>
                    <a:lstStyle/>
                    <a:p>
                      <a:pPr algn="l">
                        <a:lnSpc>
                          <a:spcPct val="138889"/>
                        </a:lnSpc>
                        <a:buNone/>
                      </a:pPr>
                      <a:r>
                        <a:rPr lang="en-CA" sz="1125" b="1" dirty="0">
                          <a:effectLst/>
                        </a:rPr>
                        <a:t>Relationship</a:t>
                      </a:r>
                      <a:endParaRPr lang="en-CA" sz="1125" b="1" dirty="0">
                        <a:effectLst/>
                        <a:latin typeface="quote-cjk-patch"/>
                      </a:endParaRPr>
                    </a:p>
                  </a:txBody>
                  <a:tcPr marL="121920" marR="121920" marT="76200" marB="76200" anchor="ctr"/>
                </a:tc>
                <a:tc>
                  <a:txBody>
                    <a:bodyPr/>
                    <a:lstStyle/>
                    <a:p>
                      <a:pPr algn="l">
                        <a:lnSpc>
                          <a:spcPct val="138889"/>
                        </a:lnSpc>
                        <a:buNone/>
                      </a:pPr>
                      <a:r>
                        <a:rPr lang="en-CA" sz="1125" b="1" dirty="0">
                          <a:effectLst/>
                        </a:rPr>
                        <a:t>Entity</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163818711"/>
                  </a:ext>
                </a:extLst>
              </a:tr>
              <a:tr h="568530">
                <a:tc>
                  <a:txBody>
                    <a:bodyPr/>
                    <a:lstStyle/>
                    <a:p>
                      <a:pPr>
                        <a:lnSpc>
                          <a:spcPct val="138889"/>
                        </a:lnSpc>
                        <a:buNone/>
                      </a:pPr>
                      <a:r>
                        <a:rPr lang="en-CA" sz="1125" dirty="0">
                          <a:effectLst/>
                        </a:rPr>
                        <a:t>CUSTOMER</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 places →</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ORDER</a:t>
                      </a:r>
                      <a:endParaRPr lang="en-CA" sz="1125" b="0" dirty="0">
                        <a:effectLst/>
                        <a:latin typeface="quote-cjk-patch"/>
                      </a:endParaRPr>
                    </a:p>
                  </a:txBody>
                  <a:tcPr marL="121920" marT="76200" marB="76200" anchor="ctr"/>
                </a:tc>
                <a:extLst>
                  <a:ext uri="{0D108BD9-81ED-4DB2-BD59-A6C34878D82A}">
                    <a16:rowId xmlns:a16="http://schemas.microsoft.com/office/drawing/2014/main" val="641770581"/>
                  </a:ext>
                </a:extLst>
              </a:tr>
              <a:tr h="568530">
                <a:tc>
                  <a:txBody>
                    <a:bodyPr/>
                    <a:lstStyle/>
                    <a:p>
                      <a:pPr>
                        <a:lnSpc>
                          <a:spcPct val="138889"/>
                        </a:lnSpc>
                        <a:buNone/>
                      </a:pPr>
                      <a:r>
                        <a:rPr lang="en-CA" sz="1125" dirty="0">
                          <a:effectLst/>
                        </a:rPr>
                        <a:t>ORDER</a:t>
                      </a:r>
                      <a:endParaRPr lang="en-CA" sz="1125" b="0" dirty="0">
                        <a:effectLst/>
                        <a:latin typeface="quote-cjk-patch"/>
                      </a:endParaRPr>
                    </a:p>
                  </a:txBody>
                  <a:tcPr marR="121920" marT="76200" marB="76200" anchor="ctr"/>
                </a:tc>
                <a:tc>
                  <a:txBody>
                    <a:bodyPr/>
                    <a:lstStyle/>
                    <a:p>
                      <a:pPr>
                        <a:lnSpc>
                          <a:spcPct val="138889"/>
                        </a:lnSpc>
                        <a:buNone/>
                      </a:pPr>
                      <a:r>
                        <a:rPr lang="en-CA" sz="1125">
                          <a:effectLst/>
                        </a:rPr>
                        <a:t>→ contains →</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PRODUCT</a:t>
                      </a:r>
                      <a:endParaRPr lang="en-CA" sz="1125" b="0" dirty="0">
                        <a:effectLst/>
                        <a:latin typeface="quote-cjk-patch"/>
                      </a:endParaRPr>
                    </a:p>
                  </a:txBody>
                  <a:tcPr marL="121920" marT="76200" marB="76200" anchor="ctr"/>
                </a:tc>
                <a:extLst>
                  <a:ext uri="{0D108BD9-81ED-4DB2-BD59-A6C34878D82A}">
                    <a16:rowId xmlns:a16="http://schemas.microsoft.com/office/drawing/2014/main" val="3230365878"/>
                  </a:ext>
                </a:extLst>
              </a:tr>
              <a:tr h="568530">
                <a:tc>
                  <a:txBody>
                    <a:bodyPr/>
                    <a:lstStyle/>
                    <a:p>
                      <a:pPr>
                        <a:lnSpc>
                          <a:spcPct val="138889"/>
                        </a:lnSpc>
                        <a:buNone/>
                      </a:pPr>
                      <a:r>
                        <a:rPr lang="en-CA" sz="1125">
                          <a:effectLst/>
                        </a:rPr>
                        <a:t>STUDENT</a:t>
                      </a:r>
                      <a:endParaRPr lang="en-CA" sz="1125" b="0">
                        <a:effectLst/>
                        <a:latin typeface="quote-cjk-patch"/>
                      </a:endParaRPr>
                    </a:p>
                  </a:txBody>
                  <a:tcPr marR="121920" marT="76200" marB="76200" anchor="ctr"/>
                </a:tc>
                <a:tc>
                  <a:txBody>
                    <a:bodyPr/>
                    <a:lstStyle/>
                    <a:p>
                      <a:pPr>
                        <a:lnSpc>
                          <a:spcPct val="138889"/>
                        </a:lnSpc>
                        <a:buNone/>
                      </a:pPr>
                      <a:r>
                        <a:rPr lang="en-CA" sz="1125">
                          <a:effectLst/>
                        </a:rPr>
                        <a:t>→ enrolls in →</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COURSE</a:t>
                      </a:r>
                      <a:endParaRPr lang="en-CA" sz="1125" b="0" dirty="0">
                        <a:effectLst/>
                        <a:latin typeface="quote-cjk-patch"/>
                      </a:endParaRPr>
                    </a:p>
                  </a:txBody>
                  <a:tcPr marL="121920" marT="76200" marB="76200" anchor="ctr"/>
                </a:tc>
                <a:extLst>
                  <a:ext uri="{0D108BD9-81ED-4DB2-BD59-A6C34878D82A}">
                    <a16:rowId xmlns:a16="http://schemas.microsoft.com/office/drawing/2014/main" val="3157686364"/>
                  </a:ext>
                </a:extLst>
              </a:tr>
            </a:tbl>
          </a:graphicData>
        </a:graphic>
      </p:graphicFrame>
      <p:sp>
        <p:nvSpPr>
          <p:cNvPr id="7" name="TextBox 6">
            <a:extLst>
              <a:ext uri="{FF2B5EF4-FFF2-40B4-BE49-F238E27FC236}">
                <a16:creationId xmlns:a16="http://schemas.microsoft.com/office/drawing/2014/main" id="{837650A5-C795-C853-1CCE-EC2433621D5B}"/>
              </a:ext>
            </a:extLst>
          </p:cNvPr>
          <p:cNvSpPr txBox="1"/>
          <p:nvPr/>
        </p:nvSpPr>
        <p:spPr>
          <a:xfrm>
            <a:off x="6019800" y="4954319"/>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We'll explore relationships in more detail next class!</a:t>
            </a:r>
            <a:endParaRPr lang="en-CA" sz="1800" b="0" i="0" dirty="0">
              <a:solidFill>
                <a:srgbClr val="0F1115"/>
              </a:solidFill>
              <a:effectLst/>
              <a:latin typeface="quote-cjk-patch"/>
            </a:endParaRPr>
          </a:p>
        </p:txBody>
      </p:sp>
    </p:spTree>
    <p:extLst>
      <p:ext uri="{BB962C8B-B14F-4D97-AF65-F5344CB8AC3E}">
        <p14:creationId xmlns:p14="http://schemas.microsoft.com/office/powerpoint/2010/main" val="494475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645A-98ED-3F07-6025-9B9545C35009}"/>
              </a:ext>
            </a:extLst>
          </p:cNvPr>
          <p:cNvSpPr>
            <a:spLocks noGrp="1"/>
          </p:cNvSpPr>
          <p:nvPr>
            <p:ph type="title"/>
          </p:nvPr>
        </p:nvSpPr>
        <p:spPr/>
        <p:txBody>
          <a:bodyPr>
            <a:normAutofit/>
          </a:bodyPr>
          <a:lstStyle/>
          <a:p>
            <a:r>
              <a:rPr lang="en-CA" b="1" dirty="0"/>
              <a:t>EXPLORING: What is an ERD?</a:t>
            </a:r>
            <a:endParaRPr lang="en-CA" dirty="0"/>
          </a:p>
        </p:txBody>
      </p:sp>
      <p:sp>
        <p:nvSpPr>
          <p:cNvPr id="3" name="Content Placeholder 2">
            <a:extLst>
              <a:ext uri="{FF2B5EF4-FFF2-40B4-BE49-F238E27FC236}">
                <a16:creationId xmlns:a16="http://schemas.microsoft.com/office/drawing/2014/main" id="{54C9635F-1C5D-F573-248F-77D67564FBC6}"/>
              </a:ext>
            </a:extLst>
          </p:cNvPr>
          <p:cNvSpPr>
            <a:spLocks noGrp="1"/>
          </p:cNvSpPr>
          <p:nvPr>
            <p:ph sz="half" idx="1"/>
          </p:nvPr>
        </p:nvSpPr>
        <p:spPr>
          <a:xfrm>
            <a:off x="453736" y="1496291"/>
            <a:ext cx="5884719" cy="3727144"/>
          </a:xfrm>
        </p:spPr>
        <p:txBody>
          <a:bodyPr>
            <a:normAutofit fontScale="55000" lnSpcReduction="20000"/>
          </a:bodyPr>
          <a:lstStyle/>
          <a:p>
            <a:pPr marL="0" indent="0">
              <a:lnSpc>
                <a:spcPct val="120000"/>
              </a:lnSpc>
              <a:buNone/>
            </a:pPr>
            <a:r>
              <a:rPr lang="en-CA" b="1" dirty="0"/>
              <a:t>How do we represent all of this visually?</a:t>
            </a:r>
            <a:endParaRPr lang="en-CA" dirty="0"/>
          </a:p>
          <a:p>
            <a:pPr marL="0" indent="0">
              <a:lnSpc>
                <a:spcPct val="120000"/>
              </a:lnSpc>
              <a:buNone/>
            </a:pPr>
            <a:r>
              <a:rPr lang="en-CA" b="1" dirty="0"/>
              <a:t>ERD = Entity-Relationship Diagram</a:t>
            </a:r>
            <a:endParaRPr lang="en-CA" dirty="0"/>
          </a:p>
          <a:p>
            <a:pPr lvl="0">
              <a:lnSpc>
                <a:spcPct val="120000"/>
              </a:lnSpc>
            </a:pPr>
            <a:r>
              <a:rPr lang="en-CA" dirty="0"/>
              <a:t>A visual representation of the entities, attributes, and relationships within a database</a:t>
            </a:r>
          </a:p>
          <a:p>
            <a:pPr lvl="0">
              <a:lnSpc>
                <a:spcPct val="120000"/>
              </a:lnSpc>
            </a:pPr>
            <a:r>
              <a:rPr lang="en-CA" dirty="0"/>
              <a:t>Think of it as a </a:t>
            </a:r>
            <a:r>
              <a:rPr lang="en-CA" b="1" dirty="0"/>
              <a:t>blueprint</a:t>
            </a:r>
            <a:r>
              <a:rPr lang="en-CA" dirty="0"/>
              <a:t> for the database</a:t>
            </a:r>
          </a:p>
          <a:p>
            <a:pPr marL="0" indent="0">
              <a:lnSpc>
                <a:spcPct val="120000"/>
              </a:lnSpc>
              <a:buNone/>
            </a:pPr>
            <a:r>
              <a:rPr lang="en-CA" b="1" dirty="0"/>
              <a:t>What it shows:</a:t>
            </a:r>
            <a:endParaRPr lang="en-CA" dirty="0"/>
          </a:p>
          <a:p>
            <a:pPr lvl="0">
              <a:lnSpc>
                <a:spcPct val="120000"/>
              </a:lnSpc>
            </a:pPr>
            <a:r>
              <a:rPr lang="en-CA" b="1" dirty="0"/>
              <a:t>Entities</a:t>
            </a:r>
            <a:r>
              <a:rPr lang="en-CA" dirty="0"/>
              <a:t> (the things we store information about)</a:t>
            </a:r>
          </a:p>
          <a:p>
            <a:pPr lvl="0">
              <a:lnSpc>
                <a:spcPct val="120000"/>
              </a:lnSpc>
            </a:pPr>
            <a:r>
              <a:rPr lang="en-CA" b="1" dirty="0"/>
              <a:t>Attributes</a:t>
            </a:r>
            <a:r>
              <a:rPr lang="en-CA" dirty="0"/>
              <a:t> (the characteristics we store)</a:t>
            </a:r>
          </a:p>
          <a:p>
            <a:pPr lvl="0">
              <a:lnSpc>
                <a:spcPct val="120000"/>
              </a:lnSpc>
            </a:pPr>
            <a:r>
              <a:rPr lang="en-CA" b="1" dirty="0"/>
              <a:t>Relationships</a:t>
            </a:r>
            <a:r>
              <a:rPr lang="en-CA" dirty="0"/>
              <a:t> (how entities are connected)</a:t>
            </a:r>
          </a:p>
          <a:p>
            <a:pPr lvl="0">
              <a:lnSpc>
                <a:spcPct val="120000"/>
              </a:lnSpc>
            </a:pPr>
            <a:r>
              <a:rPr lang="en-CA" b="1" dirty="0"/>
              <a:t>Cardinality</a:t>
            </a:r>
            <a:r>
              <a:rPr lang="en-CA" dirty="0"/>
              <a:t> (how many instances can participate)</a:t>
            </a:r>
          </a:p>
          <a:p>
            <a:pPr marL="0" indent="0">
              <a:buNone/>
            </a:pPr>
            <a:endParaRPr lang="en-CA" dirty="0"/>
          </a:p>
        </p:txBody>
      </p:sp>
      <p:pic>
        <p:nvPicPr>
          <p:cNvPr id="6" name="Google Shape;254;p43">
            <a:extLst>
              <a:ext uri="{FF2B5EF4-FFF2-40B4-BE49-F238E27FC236}">
                <a16:creationId xmlns:a16="http://schemas.microsoft.com/office/drawing/2014/main" id="{B9352C89-28C0-6CF9-AECE-BC9E747DB730}"/>
              </a:ext>
            </a:extLst>
          </p:cNvPr>
          <p:cNvPicPr preferRelativeResize="0"/>
          <p:nvPr/>
        </p:nvPicPr>
        <p:blipFill>
          <a:blip r:embed="rId2">
            <a:alphaModFix/>
          </a:blip>
          <a:stretch>
            <a:fillRect/>
          </a:stretch>
        </p:blipFill>
        <p:spPr>
          <a:xfrm>
            <a:off x="6667346" y="1404920"/>
            <a:ext cx="4172478" cy="3873661"/>
          </a:xfrm>
          <a:prstGeom prst="rect">
            <a:avLst/>
          </a:prstGeom>
          <a:noFill/>
          <a:ln>
            <a:noFill/>
          </a:ln>
        </p:spPr>
      </p:pic>
    </p:spTree>
    <p:extLst>
      <p:ext uri="{BB962C8B-B14F-4D97-AF65-F5344CB8AC3E}">
        <p14:creationId xmlns:p14="http://schemas.microsoft.com/office/powerpoint/2010/main" val="3275786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3"/>
          <p:cNvSpPr txBox="1">
            <a:spLocks noGrp="1"/>
          </p:cNvSpPr>
          <p:nvPr>
            <p:ph type="title"/>
          </p:nvPr>
        </p:nvSpPr>
        <p:spPr>
          <a:xfrm>
            <a:off x="404400" y="548767"/>
            <a:ext cx="11360800" cy="852800"/>
          </a:xfrm>
          <a:prstGeom prst="rect">
            <a:avLst/>
          </a:prstGeom>
        </p:spPr>
        <p:txBody>
          <a:bodyPr spcFirstLastPara="1" vert="horz" wrap="square" lIns="121900" tIns="121900" rIns="121900" bIns="121900" rtlCol="0" anchor="t" anchorCtr="0">
            <a:noAutofit/>
          </a:bodyPr>
          <a:lstStyle/>
          <a:p>
            <a:pPr>
              <a:spcBef>
                <a:spcPts val="0"/>
              </a:spcBef>
            </a:pPr>
            <a:r>
              <a:rPr lang="en"/>
              <a:t>Sample ERD</a:t>
            </a:r>
            <a:endParaRPr/>
          </a:p>
        </p:txBody>
      </p:sp>
      <p:pic>
        <p:nvPicPr>
          <p:cNvPr id="254" name="Google Shape;254;p43"/>
          <p:cNvPicPr preferRelativeResize="0"/>
          <p:nvPr/>
        </p:nvPicPr>
        <p:blipFill>
          <a:blip r:embed="rId3">
            <a:alphaModFix/>
          </a:blip>
          <a:stretch>
            <a:fillRect/>
          </a:stretch>
        </p:blipFill>
        <p:spPr>
          <a:xfrm>
            <a:off x="5033867" y="214800"/>
            <a:ext cx="5730100" cy="506378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9CDBB-3131-A85D-C797-F340E6EA21F2}"/>
              </a:ext>
            </a:extLst>
          </p:cNvPr>
          <p:cNvSpPr>
            <a:spLocks noGrp="1"/>
          </p:cNvSpPr>
          <p:nvPr>
            <p:ph type="title"/>
          </p:nvPr>
        </p:nvSpPr>
        <p:spPr/>
        <p:txBody>
          <a:bodyPr>
            <a:normAutofit fontScale="90000"/>
          </a:bodyPr>
          <a:lstStyle/>
          <a:p>
            <a:r>
              <a:rPr lang="en-CA" b="1" dirty="0"/>
              <a:t>Introduction to Normalization</a:t>
            </a:r>
            <a:br>
              <a:rPr lang="en-CA" b="1" dirty="0"/>
            </a:br>
            <a:endParaRPr lang="en-CA" dirty="0"/>
          </a:p>
        </p:txBody>
      </p:sp>
      <p:sp>
        <p:nvSpPr>
          <p:cNvPr id="3" name="Content Placeholder 2">
            <a:extLst>
              <a:ext uri="{FF2B5EF4-FFF2-40B4-BE49-F238E27FC236}">
                <a16:creationId xmlns:a16="http://schemas.microsoft.com/office/drawing/2014/main" id="{3B3FC306-BAC0-08E8-CAA9-AD902929AED2}"/>
              </a:ext>
            </a:extLst>
          </p:cNvPr>
          <p:cNvSpPr>
            <a:spLocks noGrp="1"/>
          </p:cNvSpPr>
          <p:nvPr>
            <p:ph sz="half" idx="1"/>
          </p:nvPr>
        </p:nvSpPr>
        <p:spPr>
          <a:xfrm>
            <a:off x="400424" y="1184564"/>
            <a:ext cx="5181600" cy="3924571"/>
          </a:xfrm>
        </p:spPr>
        <p:txBody>
          <a:bodyPr>
            <a:normAutofit fontScale="62500" lnSpcReduction="20000"/>
          </a:bodyPr>
          <a:lstStyle/>
          <a:p>
            <a:pPr marL="0" indent="0">
              <a:lnSpc>
                <a:spcPct val="120000"/>
              </a:lnSpc>
              <a:buNone/>
            </a:pPr>
            <a:r>
              <a:rPr lang="en-CA" b="1" dirty="0"/>
              <a:t>What is normalization?</a:t>
            </a:r>
            <a:endParaRPr lang="en-CA" dirty="0"/>
          </a:p>
          <a:p>
            <a:pPr marL="0" indent="0">
              <a:lnSpc>
                <a:spcPct val="120000"/>
              </a:lnSpc>
              <a:buNone/>
            </a:pPr>
            <a:r>
              <a:rPr lang="en-CA" dirty="0"/>
              <a:t>Normalization is a set of guidelines for creating the logical design of a relational database.</a:t>
            </a:r>
          </a:p>
          <a:p>
            <a:pPr marL="0" indent="0">
              <a:lnSpc>
                <a:spcPct val="120000"/>
              </a:lnSpc>
              <a:buNone/>
            </a:pPr>
            <a:r>
              <a:rPr lang="en-CA" b="1" dirty="0"/>
              <a:t>It helps us decide:</a:t>
            </a:r>
            <a:endParaRPr lang="en-CA" dirty="0"/>
          </a:p>
          <a:p>
            <a:pPr lvl="0">
              <a:lnSpc>
                <a:spcPct val="120000"/>
              </a:lnSpc>
            </a:pPr>
            <a:r>
              <a:rPr lang="en-CA" dirty="0"/>
              <a:t>How many tables do we need?</a:t>
            </a:r>
          </a:p>
          <a:p>
            <a:pPr lvl="0">
              <a:lnSpc>
                <a:spcPct val="120000"/>
              </a:lnSpc>
            </a:pPr>
            <a:r>
              <a:rPr lang="en-CA" dirty="0"/>
              <a:t>Which attributes belong in each table?</a:t>
            </a:r>
          </a:p>
          <a:p>
            <a:pPr lvl="0">
              <a:lnSpc>
                <a:spcPct val="120000"/>
              </a:lnSpc>
            </a:pPr>
            <a:r>
              <a:rPr lang="en-CA" dirty="0"/>
              <a:t>How should the data be organized?</a:t>
            </a:r>
          </a:p>
          <a:p>
            <a:pPr marL="0" indent="0">
              <a:lnSpc>
                <a:spcPct val="120000"/>
              </a:lnSpc>
              <a:buNone/>
            </a:pPr>
            <a:r>
              <a:rPr lang="en-CA" b="1" dirty="0"/>
              <a:t>Main Goal:</a:t>
            </a:r>
            <a:endParaRPr lang="en-CA" dirty="0"/>
          </a:p>
          <a:p>
            <a:pPr>
              <a:lnSpc>
                <a:spcPct val="120000"/>
              </a:lnSpc>
            </a:pPr>
            <a:r>
              <a:rPr lang="en-CA" dirty="0"/>
              <a:t>Reduce unnecessary redundancy and prevent inconsistencies.</a:t>
            </a:r>
          </a:p>
          <a:p>
            <a:pPr marL="0" indent="0">
              <a:buNone/>
            </a:pPr>
            <a:endParaRPr lang="en-CA" dirty="0"/>
          </a:p>
        </p:txBody>
      </p:sp>
      <p:graphicFrame>
        <p:nvGraphicFramePr>
          <p:cNvPr id="5" name="Table 4">
            <a:extLst>
              <a:ext uri="{FF2B5EF4-FFF2-40B4-BE49-F238E27FC236}">
                <a16:creationId xmlns:a16="http://schemas.microsoft.com/office/drawing/2014/main" id="{6CFACFDA-A00D-40FE-5A03-CAB0EF02ADC3}"/>
              </a:ext>
            </a:extLst>
          </p:cNvPr>
          <p:cNvGraphicFramePr>
            <a:graphicFrameLocks noGrp="1"/>
          </p:cNvGraphicFramePr>
          <p:nvPr>
            <p:extLst>
              <p:ext uri="{D42A27DB-BD31-4B8C-83A1-F6EECF244321}">
                <p14:modId xmlns:p14="http://schemas.microsoft.com/office/powerpoint/2010/main" val="2709028594"/>
              </p:ext>
            </p:extLst>
          </p:nvPr>
        </p:nvGraphicFramePr>
        <p:xfrm>
          <a:off x="5997314" y="1502606"/>
          <a:ext cx="5730240" cy="1470916"/>
        </p:xfrm>
        <a:graphic>
          <a:graphicData uri="http://schemas.openxmlformats.org/drawingml/2006/table">
            <a:tbl>
              <a:tblPr>
                <a:tableStyleId>{5C22544A-7EE6-4342-B048-85BDC9FD1C3A}</a:tableStyleId>
              </a:tblPr>
              <a:tblGrid>
                <a:gridCol w="1910080">
                  <a:extLst>
                    <a:ext uri="{9D8B030D-6E8A-4147-A177-3AD203B41FA5}">
                      <a16:colId xmlns:a16="http://schemas.microsoft.com/office/drawing/2014/main" val="3235382480"/>
                    </a:ext>
                  </a:extLst>
                </a:gridCol>
                <a:gridCol w="1910080">
                  <a:extLst>
                    <a:ext uri="{9D8B030D-6E8A-4147-A177-3AD203B41FA5}">
                      <a16:colId xmlns:a16="http://schemas.microsoft.com/office/drawing/2014/main" val="528380971"/>
                    </a:ext>
                  </a:extLst>
                </a:gridCol>
                <a:gridCol w="1910080">
                  <a:extLst>
                    <a:ext uri="{9D8B030D-6E8A-4147-A177-3AD203B41FA5}">
                      <a16:colId xmlns:a16="http://schemas.microsoft.com/office/drawing/2014/main" val="189450077"/>
                    </a:ext>
                  </a:extLst>
                </a:gridCol>
              </a:tblGrid>
              <a:tr h="0">
                <a:tc>
                  <a:txBody>
                    <a:bodyPr/>
                    <a:lstStyle/>
                    <a:p>
                      <a:pPr algn="l">
                        <a:lnSpc>
                          <a:spcPct val="138889"/>
                        </a:lnSpc>
                        <a:buNone/>
                      </a:pPr>
                      <a:r>
                        <a:rPr lang="en-CA" sz="1125" b="1">
                          <a:effectLst/>
                        </a:rPr>
                        <a:t>Order</a:t>
                      </a:r>
                      <a:endParaRPr lang="en-CA" sz="1125" b="1">
                        <a:effectLst/>
                        <a:latin typeface="quote-cjk-patch"/>
                      </a:endParaRPr>
                    </a:p>
                  </a:txBody>
                  <a:tcPr marR="121920" marT="76200" marB="76200" anchor="ctr"/>
                </a:tc>
                <a:tc>
                  <a:txBody>
                    <a:bodyPr/>
                    <a:lstStyle/>
                    <a:p>
                      <a:pPr algn="l">
                        <a:lnSpc>
                          <a:spcPct val="138889"/>
                        </a:lnSpc>
                        <a:buNone/>
                      </a:pPr>
                      <a:r>
                        <a:rPr lang="en-CA" sz="1125" b="1" dirty="0">
                          <a:effectLst/>
                        </a:rPr>
                        <a:t>Customer</a:t>
                      </a:r>
                      <a:endParaRPr lang="en-CA" sz="1125" b="1" dirty="0">
                        <a:effectLst/>
                        <a:latin typeface="quote-cjk-patch"/>
                      </a:endParaRPr>
                    </a:p>
                  </a:txBody>
                  <a:tcPr marL="121920" marR="121920" marT="76200" marB="76200" anchor="ctr"/>
                </a:tc>
                <a:tc>
                  <a:txBody>
                    <a:bodyPr/>
                    <a:lstStyle/>
                    <a:p>
                      <a:pPr algn="l">
                        <a:lnSpc>
                          <a:spcPct val="138889"/>
                        </a:lnSpc>
                        <a:buNone/>
                      </a:pPr>
                      <a:r>
                        <a:rPr lang="en-CA" sz="1125" b="1" dirty="0">
                          <a:effectLst/>
                        </a:rPr>
                        <a:t>Phone</a:t>
                      </a:r>
                      <a:endParaRPr lang="en-CA" sz="1125" b="1" dirty="0">
                        <a:effectLst/>
                        <a:latin typeface="quote-cjk-patch"/>
                      </a:endParaRPr>
                    </a:p>
                  </a:txBody>
                  <a:tcPr marL="121920" marR="121920" marT="76200" marB="76200" anchor="ctr"/>
                </a:tc>
                <a:extLst>
                  <a:ext uri="{0D108BD9-81ED-4DB2-BD59-A6C34878D82A}">
                    <a16:rowId xmlns:a16="http://schemas.microsoft.com/office/drawing/2014/main" val="3601940305"/>
                  </a:ext>
                </a:extLst>
              </a:tr>
              <a:tr h="0">
                <a:tc>
                  <a:txBody>
                    <a:bodyPr/>
                    <a:lstStyle/>
                    <a:p>
                      <a:pPr>
                        <a:lnSpc>
                          <a:spcPct val="138889"/>
                        </a:lnSpc>
                        <a:buNone/>
                      </a:pPr>
                      <a:r>
                        <a:rPr lang="en-CA" sz="1125">
                          <a:effectLst/>
                        </a:rPr>
                        <a:t>1001</a:t>
                      </a:r>
                      <a:endParaRPr lang="en-CA" sz="1125" b="0">
                        <a:effectLst/>
                        <a:latin typeface="quote-cjk-patch"/>
                      </a:endParaRPr>
                    </a:p>
                  </a:txBody>
                  <a:tcPr marR="121920" marT="76200" marB="76200" anchor="ctr"/>
                </a:tc>
                <a:tc>
                  <a:txBody>
                    <a:bodyPr/>
                    <a:lstStyle/>
                    <a:p>
                      <a:pPr>
                        <a:lnSpc>
                          <a:spcPct val="138889"/>
                        </a:lnSpc>
                        <a:buNone/>
                      </a:pPr>
                      <a:r>
                        <a:rPr lang="en-CA" sz="1125">
                          <a:effectLst/>
                        </a:rPr>
                        <a:t>Joan Adams</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780-488-8712</a:t>
                      </a:r>
                      <a:endParaRPr lang="en-CA" sz="1125" b="0">
                        <a:effectLst/>
                        <a:latin typeface="quote-cjk-patch"/>
                      </a:endParaRPr>
                    </a:p>
                  </a:txBody>
                  <a:tcPr marL="121920" marT="76200" marB="76200" anchor="ctr"/>
                </a:tc>
                <a:extLst>
                  <a:ext uri="{0D108BD9-81ED-4DB2-BD59-A6C34878D82A}">
                    <a16:rowId xmlns:a16="http://schemas.microsoft.com/office/drawing/2014/main" val="3933274738"/>
                  </a:ext>
                </a:extLst>
              </a:tr>
              <a:tr h="0">
                <a:tc>
                  <a:txBody>
                    <a:bodyPr/>
                    <a:lstStyle/>
                    <a:p>
                      <a:pPr>
                        <a:lnSpc>
                          <a:spcPct val="138889"/>
                        </a:lnSpc>
                        <a:buNone/>
                      </a:pPr>
                      <a:r>
                        <a:rPr lang="en-CA" sz="1125">
                          <a:effectLst/>
                        </a:rPr>
                        <a:t>1002</a:t>
                      </a:r>
                      <a:endParaRPr lang="en-CA" sz="1125" b="0">
                        <a:effectLst/>
                        <a:latin typeface="quote-cjk-patch"/>
                      </a:endParaRPr>
                    </a:p>
                  </a:txBody>
                  <a:tcPr marR="121920" marT="76200" marB="76200" anchor="ctr"/>
                </a:tc>
                <a:tc>
                  <a:txBody>
                    <a:bodyPr/>
                    <a:lstStyle/>
                    <a:p>
                      <a:pPr>
                        <a:lnSpc>
                          <a:spcPct val="138889"/>
                        </a:lnSpc>
                        <a:buNone/>
                      </a:pPr>
                      <a:r>
                        <a:rPr lang="en-CA" sz="1125">
                          <a:effectLst/>
                        </a:rPr>
                        <a:t>Joan Adams</a:t>
                      </a:r>
                      <a:endParaRPr lang="en-CA" sz="1125" b="0">
                        <a:effectLst/>
                        <a:latin typeface="quote-cjk-patch"/>
                      </a:endParaRPr>
                    </a:p>
                  </a:txBody>
                  <a:tcPr marL="121920" marR="121920" marT="76200" marB="76200" anchor="ctr"/>
                </a:tc>
                <a:tc>
                  <a:txBody>
                    <a:bodyPr/>
                    <a:lstStyle/>
                    <a:p>
                      <a:pPr>
                        <a:lnSpc>
                          <a:spcPct val="138889"/>
                        </a:lnSpc>
                        <a:buNone/>
                      </a:pPr>
                      <a:r>
                        <a:rPr lang="en-CA" sz="1125">
                          <a:effectLst/>
                        </a:rPr>
                        <a:t>780-488-8712</a:t>
                      </a:r>
                      <a:endParaRPr lang="en-CA" sz="1125" b="0">
                        <a:effectLst/>
                        <a:latin typeface="quote-cjk-patch"/>
                      </a:endParaRPr>
                    </a:p>
                  </a:txBody>
                  <a:tcPr marL="121920" marT="76200" marB="76200" anchor="ctr"/>
                </a:tc>
                <a:extLst>
                  <a:ext uri="{0D108BD9-81ED-4DB2-BD59-A6C34878D82A}">
                    <a16:rowId xmlns:a16="http://schemas.microsoft.com/office/drawing/2014/main" val="1533647953"/>
                  </a:ext>
                </a:extLst>
              </a:tr>
              <a:tr h="0">
                <a:tc>
                  <a:txBody>
                    <a:bodyPr/>
                    <a:lstStyle/>
                    <a:p>
                      <a:pPr>
                        <a:lnSpc>
                          <a:spcPct val="138889"/>
                        </a:lnSpc>
                        <a:buNone/>
                      </a:pPr>
                      <a:r>
                        <a:rPr lang="en-CA" sz="1125">
                          <a:effectLst/>
                        </a:rPr>
                        <a:t>1003</a:t>
                      </a:r>
                      <a:endParaRPr lang="en-CA" sz="1125" b="0">
                        <a:effectLst/>
                        <a:latin typeface="quote-cjk-patch"/>
                      </a:endParaRPr>
                    </a:p>
                  </a:txBody>
                  <a:tcPr marR="121920" marT="76200" marB="76200" anchor="ctr"/>
                </a:tc>
                <a:tc>
                  <a:txBody>
                    <a:bodyPr/>
                    <a:lstStyle/>
                    <a:p>
                      <a:pPr>
                        <a:lnSpc>
                          <a:spcPct val="138889"/>
                        </a:lnSpc>
                        <a:buNone/>
                      </a:pPr>
                      <a:r>
                        <a:rPr lang="en-CA" sz="1125">
                          <a:effectLst/>
                        </a:rPr>
                        <a:t>Joan Adams</a:t>
                      </a:r>
                      <a:endParaRPr lang="en-CA" sz="1125" b="0">
                        <a:effectLst/>
                        <a:latin typeface="quote-cjk-patch"/>
                      </a:endParaRPr>
                    </a:p>
                  </a:txBody>
                  <a:tcPr marL="121920" marR="121920" marT="76200" marB="76200" anchor="ctr"/>
                </a:tc>
                <a:tc>
                  <a:txBody>
                    <a:bodyPr/>
                    <a:lstStyle/>
                    <a:p>
                      <a:pPr>
                        <a:lnSpc>
                          <a:spcPct val="138889"/>
                        </a:lnSpc>
                        <a:buNone/>
                      </a:pPr>
                      <a:r>
                        <a:rPr lang="en-CA" sz="1125" dirty="0">
                          <a:effectLst/>
                        </a:rPr>
                        <a:t>780-555-1234</a:t>
                      </a:r>
                      <a:endParaRPr lang="en-CA" sz="1125" b="0" dirty="0">
                        <a:effectLst/>
                        <a:latin typeface="quote-cjk-patch"/>
                      </a:endParaRPr>
                    </a:p>
                  </a:txBody>
                  <a:tcPr marL="121920" marT="76200" marB="76200" anchor="ctr"/>
                </a:tc>
                <a:extLst>
                  <a:ext uri="{0D108BD9-81ED-4DB2-BD59-A6C34878D82A}">
                    <a16:rowId xmlns:a16="http://schemas.microsoft.com/office/drawing/2014/main" val="2415729304"/>
                  </a:ext>
                </a:extLst>
              </a:tr>
            </a:tbl>
          </a:graphicData>
        </a:graphic>
      </p:graphicFrame>
      <p:sp>
        <p:nvSpPr>
          <p:cNvPr id="7" name="TextBox 6">
            <a:extLst>
              <a:ext uri="{FF2B5EF4-FFF2-40B4-BE49-F238E27FC236}">
                <a16:creationId xmlns:a16="http://schemas.microsoft.com/office/drawing/2014/main" id="{3923D9B6-A510-595D-64CE-834E67AD2293}"/>
              </a:ext>
            </a:extLst>
          </p:cNvPr>
          <p:cNvSpPr txBox="1"/>
          <p:nvPr/>
        </p:nvSpPr>
        <p:spPr>
          <a:xfrm>
            <a:off x="6885045" y="997832"/>
            <a:ext cx="3954779"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Example of Inconsistent Data:</a:t>
            </a:r>
            <a:endParaRPr lang="en-CA" sz="1800" b="0" i="0" dirty="0">
              <a:solidFill>
                <a:srgbClr val="0F1115"/>
              </a:solidFill>
              <a:effectLst/>
              <a:latin typeface="quote-cjk-patch"/>
            </a:endParaRPr>
          </a:p>
        </p:txBody>
      </p:sp>
      <p:sp>
        <p:nvSpPr>
          <p:cNvPr id="9" name="TextBox 8">
            <a:extLst>
              <a:ext uri="{FF2B5EF4-FFF2-40B4-BE49-F238E27FC236}">
                <a16:creationId xmlns:a16="http://schemas.microsoft.com/office/drawing/2014/main" id="{F9AF2186-6790-592D-7983-D7E9E5C92888}"/>
              </a:ext>
            </a:extLst>
          </p:cNvPr>
          <p:cNvSpPr txBox="1"/>
          <p:nvPr/>
        </p:nvSpPr>
        <p:spPr>
          <a:xfrm>
            <a:off x="5997314" y="3120857"/>
            <a:ext cx="4133503" cy="1415772"/>
          </a:xfrm>
          <a:prstGeom prst="rect">
            <a:avLst/>
          </a:prstGeom>
          <a:noFill/>
        </p:spPr>
        <p:txBody>
          <a:bodyPr wrap="square">
            <a:spAutoFit/>
          </a:bodyPr>
          <a:lstStyle/>
          <a:p>
            <a:pPr marL="0" marR="0" indent="0" algn="l">
              <a:spcBef>
                <a:spcPts val="1200"/>
              </a:spcBef>
              <a:spcAft>
                <a:spcPts val="1200"/>
              </a:spcAft>
              <a:buNone/>
            </a:pPr>
            <a:r>
              <a:rPr lang="en-CA" sz="1400" b="1" i="0" dirty="0">
                <a:solidFill>
                  <a:schemeClr val="tx1"/>
                </a:solidFill>
                <a:effectLst/>
                <a:latin typeface="+mn-lt"/>
              </a:rPr>
              <a:t>Which phone number is correct?</a:t>
            </a:r>
            <a:endParaRPr lang="en-CA" sz="1400" b="0" i="0" dirty="0">
              <a:solidFill>
                <a:schemeClr val="tx1"/>
              </a:solidFill>
              <a:effectLst/>
              <a:latin typeface="+mn-lt"/>
            </a:endParaRPr>
          </a:p>
          <a:p>
            <a:pPr marL="285750" marR="0" indent="-285750" algn="l">
              <a:spcBef>
                <a:spcPts val="1200"/>
              </a:spcBef>
              <a:buFont typeface="Arial" panose="020B0604020202020204" pitchFamily="34" charset="0"/>
              <a:buChar char="•"/>
            </a:pPr>
            <a:r>
              <a:rPr lang="en-CA" sz="1400" b="0" i="0" dirty="0">
                <a:solidFill>
                  <a:schemeClr val="tx1"/>
                </a:solidFill>
                <a:effectLst/>
                <a:latin typeface="+mn-lt"/>
              </a:rPr>
              <a:t>Wouldn't it be better if we stored</a:t>
            </a:r>
          </a:p>
          <a:p>
            <a:pPr marL="285750" marR="0" indent="-285750" algn="l">
              <a:spcBef>
                <a:spcPts val="1200"/>
              </a:spcBef>
              <a:buFont typeface="Arial" panose="020B0604020202020204" pitchFamily="34" charset="0"/>
              <a:buChar char="•"/>
            </a:pPr>
            <a:r>
              <a:rPr lang="en-CA" sz="1400" b="0" i="0" dirty="0">
                <a:solidFill>
                  <a:schemeClr val="tx1"/>
                </a:solidFill>
                <a:effectLst/>
                <a:latin typeface="+mn-lt"/>
              </a:rPr>
              <a:t>Joan's phone number in one place?</a:t>
            </a:r>
            <a:br>
              <a:rPr lang="en-CA" sz="1400" dirty="0"/>
            </a:br>
            <a:endParaRPr lang="en-CA" sz="1400" dirty="0"/>
          </a:p>
        </p:txBody>
      </p:sp>
    </p:spTree>
    <p:extLst>
      <p:ext uri="{BB962C8B-B14F-4D97-AF65-F5344CB8AC3E}">
        <p14:creationId xmlns:p14="http://schemas.microsoft.com/office/powerpoint/2010/main" val="3191460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240F5-A4F6-C82E-FF84-5980448D3870}"/>
              </a:ext>
            </a:extLst>
          </p:cNvPr>
          <p:cNvSpPr>
            <a:spLocks noGrp="1"/>
          </p:cNvSpPr>
          <p:nvPr>
            <p:ph type="title"/>
          </p:nvPr>
        </p:nvSpPr>
        <p:spPr/>
        <p:txBody>
          <a:bodyPr>
            <a:normAutofit/>
          </a:bodyPr>
          <a:lstStyle/>
          <a:p>
            <a:r>
              <a:rPr lang="en-CA" b="1" dirty="0"/>
              <a:t>Why Normalization Matters</a:t>
            </a:r>
            <a:endParaRPr lang="en-CA" dirty="0"/>
          </a:p>
        </p:txBody>
      </p:sp>
      <p:graphicFrame>
        <p:nvGraphicFramePr>
          <p:cNvPr id="5" name="Content Placeholder 4">
            <a:extLst>
              <a:ext uri="{FF2B5EF4-FFF2-40B4-BE49-F238E27FC236}">
                <a16:creationId xmlns:a16="http://schemas.microsoft.com/office/drawing/2014/main" id="{8C39A765-4E72-F43A-C028-D3C873B1B60C}"/>
              </a:ext>
            </a:extLst>
          </p:cNvPr>
          <p:cNvGraphicFramePr>
            <a:graphicFrameLocks noGrp="1"/>
          </p:cNvGraphicFramePr>
          <p:nvPr>
            <p:ph sz="half" idx="1"/>
            <p:extLst>
              <p:ext uri="{D42A27DB-BD31-4B8C-83A1-F6EECF244321}">
                <p14:modId xmlns:p14="http://schemas.microsoft.com/office/powerpoint/2010/main" val="2946503419"/>
              </p:ext>
            </p:extLst>
          </p:nvPr>
        </p:nvGraphicFramePr>
        <p:xfrm>
          <a:off x="400423" y="1843270"/>
          <a:ext cx="5917248" cy="3423912"/>
        </p:xfrm>
        <a:graphic>
          <a:graphicData uri="http://schemas.openxmlformats.org/drawingml/2006/table">
            <a:tbl>
              <a:tblPr>
                <a:tableStyleId>{5C22544A-7EE6-4342-B048-85BDC9FD1C3A}</a:tableStyleId>
              </a:tblPr>
              <a:tblGrid>
                <a:gridCol w="2958624">
                  <a:extLst>
                    <a:ext uri="{9D8B030D-6E8A-4147-A177-3AD203B41FA5}">
                      <a16:colId xmlns:a16="http://schemas.microsoft.com/office/drawing/2014/main" val="3249670410"/>
                    </a:ext>
                  </a:extLst>
                </a:gridCol>
                <a:gridCol w="2958624">
                  <a:extLst>
                    <a:ext uri="{9D8B030D-6E8A-4147-A177-3AD203B41FA5}">
                      <a16:colId xmlns:a16="http://schemas.microsoft.com/office/drawing/2014/main" val="1975426240"/>
                    </a:ext>
                  </a:extLst>
                </a:gridCol>
              </a:tblGrid>
              <a:tr h="348887">
                <a:tc>
                  <a:txBody>
                    <a:bodyPr/>
                    <a:lstStyle/>
                    <a:p>
                      <a:pPr algn="l">
                        <a:lnSpc>
                          <a:spcPct val="138889"/>
                        </a:lnSpc>
                        <a:buNone/>
                      </a:pPr>
                      <a:r>
                        <a:rPr lang="en-CA" sz="1400" b="1" dirty="0">
                          <a:effectLst/>
                        </a:rPr>
                        <a:t>Problem</a:t>
                      </a:r>
                      <a:endParaRPr lang="en-CA" sz="1400" b="1" dirty="0">
                        <a:effectLst/>
                        <a:latin typeface="quote-cjk-patch"/>
                      </a:endParaRPr>
                    </a:p>
                  </a:txBody>
                  <a:tcPr marL="82685" marR="110247" marT="68904" marB="68904" anchor="ctr"/>
                </a:tc>
                <a:tc>
                  <a:txBody>
                    <a:bodyPr/>
                    <a:lstStyle/>
                    <a:p>
                      <a:pPr algn="l">
                        <a:lnSpc>
                          <a:spcPct val="138889"/>
                        </a:lnSpc>
                        <a:buNone/>
                      </a:pPr>
                      <a:r>
                        <a:rPr lang="en-CA" sz="1400" b="1" dirty="0">
                          <a:effectLst/>
                        </a:rPr>
                        <a:t>Example</a:t>
                      </a:r>
                      <a:endParaRPr lang="en-CA" sz="1400" b="1" dirty="0">
                        <a:effectLst/>
                        <a:latin typeface="quote-cjk-patch"/>
                      </a:endParaRPr>
                    </a:p>
                  </a:txBody>
                  <a:tcPr marL="110247" marR="110247" marT="68904" marB="68904" anchor="ctr"/>
                </a:tc>
                <a:extLst>
                  <a:ext uri="{0D108BD9-81ED-4DB2-BD59-A6C34878D82A}">
                    <a16:rowId xmlns:a16="http://schemas.microsoft.com/office/drawing/2014/main" val="3859097360"/>
                  </a:ext>
                </a:extLst>
              </a:tr>
              <a:tr h="603855">
                <a:tc>
                  <a:txBody>
                    <a:bodyPr/>
                    <a:lstStyle/>
                    <a:p>
                      <a:pPr>
                        <a:lnSpc>
                          <a:spcPct val="138889"/>
                        </a:lnSpc>
                        <a:buNone/>
                      </a:pPr>
                      <a:r>
                        <a:rPr lang="en-CA" sz="1400" b="1">
                          <a:effectLst/>
                        </a:rPr>
                        <a:t>Redundancy</a:t>
                      </a:r>
                      <a:endParaRPr lang="en-CA" sz="1400" b="1">
                        <a:effectLst/>
                        <a:latin typeface="quote-cjk-patch"/>
                      </a:endParaRPr>
                    </a:p>
                  </a:txBody>
                  <a:tcPr marL="82685" marR="110247" marT="68904" marB="68904" anchor="ctr"/>
                </a:tc>
                <a:tc>
                  <a:txBody>
                    <a:bodyPr/>
                    <a:lstStyle/>
                    <a:p>
                      <a:pPr>
                        <a:lnSpc>
                          <a:spcPct val="138889"/>
                        </a:lnSpc>
                        <a:buNone/>
                      </a:pPr>
                      <a:r>
                        <a:rPr lang="en-CA" sz="1400">
                          <a:effectLst/>
                        </a:rPr>
                        <a:t>Same data stored in multiple places</a:t>
                      </a:r>
                      <a:endParaRPr lang="en-CA" sz="1400" b="0">
                        <a:effectLst/>
                        <a:latin typeface="quote-cjk-patch"/>
                      </a:endParaRPr>
                    </a:p>
                  </a:txBody>
                  <a:tcPr marL="110247" marR="82685" marT="68904" marB="68904" anchor="ctr"/>
                </a:tc>
                <a:extLst>
                  <a:ext uri="{0D108BD9-81ED-4DB2-BD59-A6C34878D82A}">
                    <a16:rowId xmlns:a16="http://schemas.microsoft.com/office/drawing/2014/main" val="3339411856"/>
                  </a:ext>
                </a:extLst>
              </a:tr>
              <a:tr h="603855">
                <a:tc>
                  <a:txBody>
                    <a:bodyPr/>
                    <a:lstStyle/>
                    <a:p>
                      <a:pPr>
                        <a:lnSpc>
                          <a:spcPct val="138889"/>
                        </a:lnSpc>
                        <a:buNone/>
                      </a:pPr>
                      <a:r>
                        <a:rPr lang="en-CA" sz="1400" b="1">
                          <a:effectLst/>
                        </a:rPr>
                        <a:t>Inconsistency</a:t>
                      </a:r>
                      <a:endParaRPr lang="en-CA" sz="1400" b="1">
                        <a:effectLst/>
                        <a:latin typeface="quote-cjk-patch"/>
                      </a:endParaRPr>
                    </a:p>
                  </a:txBody>
                  <a:tcPr marL="82685" marR="110247" marT="68904" marB="68904" anchor="ctr"/>
                </a:tc>
                <a:tc>
                  <a:txBody>
                    <a:bodyPr/>
                    <a:lstStyle/>
                    <a:p>
                      <a:pPr>
                        <a:lnSpc>
                          <a:spcPct val="138889"/>
                        </a:lnSpc>
                        <a:buNone/>
                      </a:pPr>
                      <a:r>
                        <a:rPr lang="en-CA" sz="1400" dirty="0">
                          <a:effectLst/>
                        </a:rPr>
                        <a:t>Different versions of the same data</a:t>
                      </a:r>
                      <a:endParaRPr lang="en-CA" sz="1400" b="0" dirty="0">
                        <a:effectLst/>
                        <a:latin typeface="quote-cjk-patch"/>
                      </a:endParaRPr>
                    </a:p>
                  </a:txBody>
                  <a:tcPr marL="110247" marR="82685" marT="68904" marB="68904" anchor="ctr"/>
                </a:tc>
                <a:extLst>
                  <a:ext uri="{0D108BD9-81ED-4DB2-BD59-A6C34878D82A}">
                    <a16:rowId xmlns:a16="http://schemas.microsoft.com/office/drawing/2014/main" val="1507497259"/>
                  </a:ext>
                </a:extLst>
              </a:tr>
              <a:tr h="348887">
                <a:tc>
                  <a:txBody>
                    <a:bodyPr/>
                    <a:lstStyle/>
                    <a:p>
                      <a:pPr>
                        <a:lnSpc>
                          <a:spcPct val="138889"/>
                        </a:lnSpc>
                        <a:buNone/>
                      </a:pPr>
                      <a:r>
                        <a:rPr lang="en-CA" sz="1400" b="1">
                          <a:effectLst/>
                        </a:rPr>
                        <a:t>Update anomalies</a:t>
                      </a:r>
                      <a:endParaRPr lang="en-CA" sz="1400" b="1">
                        <a:effectLst/>
                        <a:latin typeface="quote-cjk-patch"/>
                      </a:endParaRPr>
                    </a:p>
                  </a:txBody>
                  <a:tcPr marL="82685" marR="110247" marT="68904" marB="68904" anchor="ctr"/>
                </a:tc>
                <a:tc>
                  <a:txBody>
                    <a:bodyPr/>
                    <a:lstStyle/>
                    <a:p>
                      <a:pPr>
                        <a:lnSpc>
                          <a:spcPct val="138889"/>
                        </a:lnSpc>
                        <a:buNone/>
                      </a:pPr>
                      <a:r>
                        <a:rPr lang="en-CA" sz="1400">
                          <a:effectLst/>
                        </a:rPr>
                        <a:t>Must update multiple locations</a:t>
                      </a:r>
                      <a:endParaRPr lang="en-CA" sz="1400" b="0">
                        <a:effectLst/>
                        <a:latin typeface="quote-cjk-patch"/>
                      </a:endParaRPr>
                    </a:p>
                  </a:txBody>
                  <a:tcPr marL="110247" marR="82685" marT="68904" marB="68904" anchor="ctr"/>
                </a:tc>
                <a:extLst>
                  <a:ext uri="{0D108BD9-81ED-4DB2-BD59-A6C34878D82A}">
                    <a16:rowId xmlns:a16="http://schemas.microsoft.com/office/drawing/2014/main" val="1733782333"/>
                  </a:ext>
                </a:extLst>
              </a:tr>
              <a:tr h="603855">
                <a:tc>
                  <a:txBody>
                    <a:bodyPr/>
                    <a:lstStyle/>
                    <a:p>
                      <a:pPr>
                        <a:lnSpc>
                          <a:spcPct val="138889"/>
                        </a:lnSpc>
                        <a:buNone/>
                      </a:pPr>
                      <a:r>
                        <a:rPr lang="en-CA" sz="1400" b="1">
                          <a:effectLst/>
                        </a:rPr>
                        <a:t>Insert anomalies</a:t>
                      </a:r>
                      <a:endParaRPr lang="en-CA" sz="1400" b="1">
                        <a:effectLst/>
                        <a:latin typeface="quote-cjk-patch"/>
                      </a:endParaRPr>
                    </a:p>
                  </a:txBody>
                  <a:tcPr marL="82685" marR="110247" marT="68904" marB="68904" anchor="ctr"/>
                </a:tc>
                <a:tc>
                  <a:txBody>
                    <a:bodyPr/>
                    <a:lstStyle/>
                    <a:p>
                      <a:pPr>
                        <a:lnSpc>
                          <a:spcPct val="138889"/>
                        </a:lnSpc>
                        <a:buNone/>
                      </a:pPr>
                      <a:r>
                        <a:rPr lang="en-CA" sz="1400">
                          <a:effectLst/>
                        </a:rPr>
                        <a:t>Can't add data without other data</a:t>
                      </a:r>
                      <a:endParaRPr lang="en-CA" sz="1400" b="0">
                        <a:effectLst/>
                        <a:latin typeface="quote-cjk-patch"/>
                      </a:endParaRPr>
                    </a:p>
                  </a:txBody>
                  <a:tcPr marL="110247" marR="82685" marT="68904" marB="68904" anchor="ctr"/>
                </a:tc>
                <a:extLst>
                  <a:ext uri="{0D108BD9-81ED-4DB2-BD59-A6C34878D82A}">
                    <a16:rowId xmlns:a16="http://schemas.microsoft.com/office/drawing/2014/main" val="526519061"/>
                  </a:ext>
                </a:extLst>
              </a:tr>
              <a:tr h="603855">
                <a:tc>
                  <a:txBody>
                    <a:bodyPr/>
                    <a:lstStyle/>
                    <a:p>
                      <a:pPr>
                        <a:lnSpc>
                          <a:spcPct val="138889"/>
                        </a:lnSpc>
                        <a:buNone/>
                      </a:pPr>
                      <a:r>
                        <a:rPr lang="en-CA" sz="1400" b="1" dirty="0">
                          <a:effectLst/>
                        </a:rPr>
                        <a:t>Delete anomalies</a:t>
                      </a:r>
                      <a:endParaRPr lang="en-CA" sz="1400" b="1" dirty="0">
                        <a:effectLst/>
                        <a:latin typeface="quote-cjk-patch"/>
                      </a:endParaRPr>
                    </a:p>
                  </a:txBody>
                  <a:tcPr marL="82685" marR="110247" marT="68904" marB="68904" anchor="ctr"/>
                </a:tc>
                <a:tc>
                  <a:txBody>
                    <a:bodyPr/>
                    <a:lstStyle/>
                    <a:p>
                      <a:pPr>
                        <a:lnSpc>
                          <a:spcPct val="138889"/>
                        </a:lnSpc>
                        <a:buNone/>
                      </a:pPr>
                      <a:r>
                        <a:rPr lang="en-CA" sz="1400" dirty="0">
                          <a:effectLst/>
                        </a:rPr>
                        <a:t>Deleting one thing removes other data</a:t>
                      </a:r>
                      <a:endParaRPr lang="en-CA" sz="1400" b="0" dirty="0">
                        <a:effectLst/>
                        <a:latin typeface="quote-cjk-patch"/>
                      </a:endParaRPr>
                    </a:p>
                  </a:txBody>
                  <a:tcPr marL="110247" marR="82685" marT="68904" marB="68904" anchor="ctr"/>
                </a:tc>
                <a:extLst>
                  <a:ext uri="{0D108BD9-81ED-4DB2-BD59-A6C34878D82A}">
                    <a16:rowId xmlns:a16="http://schemas.microsoft.com/office/drawing/2014/main" val="1045489306"/>
                  </a:ext>
                </a:extLst>
              </a:tr>
            </a:tbl>
          </a:graphicData>
        </a:graphic>
      </p:graphicFrame>
      <p:sp>
        <p:nvSpPr>
          <p:cNvPr id="7" name="TextBox 6">
            <a:extLst>
              <a:ext uri="{FF2B5EF4-FFF2-40B4-BE49-F238E27FC236}">
                <a16:creationId xmlns:a16="http://schemas.microsoft.com/office/drawing/2014/main" id="{887D3DA2-5BDC-7F64-57E3-EDFA7188D717}"/>
              </a:ext>
            </a:extLst>
          </p:cNvPr>
          <p:cNvSpPr txBox="1"/>
          <p:nvPr/>
        </p:nvSpPr>
        <p:spPr>
          <a:xfrm>
            <a:off x="324224" y="1254763"/>
            <a:ext cx="6099462" cy="369332"/>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Problems without normalization:</a:t>
            </a:r>
            <a:endParaRPr lang="en-CA" sz="1800" b="0" i="0" dirty="0">
              <a:solidFill>
                <a:srgbClr val="0F1115"/>
              </a:solidFill>
              <a:effectLst/>
              <a:latin typeface="quote-cjk-patch"/>
            </a:endParaRPr>
          </a:p>
        </p:txBody>
      </p:sp>
      <p:sp>
        <p:nvSpPr>
          <p:cNvPr id="9" name="TextBox 8">
            <a:extLst>
              <a:ext uri="{FF2B5EF4-FFF2-40B4-BE49-F238E27FC236}">
                <a16:creationId xmlns:a16="http://schemas.microsoft.com/office/drawing/2014/main" id="{BC9A89AA-7FC5-CE13-DA18-66649F2C80ED}"/>
              </a:ext>
            </a:extLst>
          </p:cNvPr>
          <p:cNvSpPr txBox="1"/>
          <p:nvPr/>
        </p:nvSpPr>
        <p:spPr>
          <a:xfrm>
            <a:off x="6790459" y="2026052"/>
            <a:ext cx="4785013" cy="2805896"/>
          </a:xfrm>
          <a:prstGeom prst="rect">
            <a:avLst/>
          </a:prstGeom>
          <a:noFill/>
        </p:spPr>
        <p:txBody>
          <a:bodyPr wrap="square">
            <a:spAutoFit/>
          </a:bodyPr>
          <a:lstStyle/>
          <a:p>
            <a:pPr marL="0" marR="0" indent="0" algn="l">
              <a:spcBef>
                <a:spcPts val="1200"/>
              </a:spcBef>
              <a:spcAft>
                <a:spcPts val="1200"/>
              </a:spcAft>
              <a:buNone/>
            </a:pPr>
            <a:r>
              <a:rPr lang="en-CA" sz="1800" b="1" i="0" dirty="0">
                <a:solidFill>
                  <a:schemeClr val="tx1"/>
                </a:solidFill>
                <a:effectLst/>
                <a:latin typeface="+mn-lt"/>
              </a:rPr>
              <a:t>Normalization helps ensure data remains:</a:t>
            </a:r>
            <a:endParaRPr lang="en-CA" sz="1800" b="0" i="0" dirty="0">
              <a:solidFill>
                <a:schemeClr val="tx1"/>
              </a:solidFill>
              <a:effectLst/>
              <a:latin typeface="+mn-lt"/>
            </a:endParaRPr>
          </a:p>
          <a:p>
            <a:pPr lvl="1" indent="-342900">
              <a:spcBef>
                <a:spcPts val="1200"/>
              </a:spcBef>
              <a:spcAft>
                <a:spcPts val="1200"/>
              </a:spcAft>
              <a:buFont typeface="Arial" panose="020B0604020202020204" pitchFamily="34" charset="0"/>
              <a:buChar char="•"/>
            </a:pPr>
            <a:r>
              <a:rPr lang="en-CA" b="0" i="0" dirty="0">
                <a:solidFill>
                  <a:schemeClr val="tx1"/>
                </a:solidFill>
                <a:effectLst/>
                <a:latin typeface="+mn-lt"/>
              </a:rPr>
              <a:t>Consistent</a:t>
            </a:r>
          </a:p>
          <a:p>
            <a:pPr lvl="1" indent="-342900">
              <a:spcBef>
                <a:spcPts val="450"/>
              </a:spcBef>
              <a:spcAft>
                <a:spcPts val="1200"/>
              </a:spcAft>
              <a:buFont typeface="Arial" panose="020B0604020202020204" pitchFamily="34" charset="0"/>
              <a:buChar char="•"/>
            </a:pPr>
            <a:r>
              <a:rPr lang="en-CA" b="0" i="0" dirty="0">
                <a:solidFill>
                  <a:schemeClr val="tx1"/>
                </a:solidFill>
                <a:effectLst/>
                <a:latin typeface="+mn-lt"/>
              </a:rPr>
              <a:t>Accurate</a:t>
            </a:r>
          </a:p>
          <a:p>
            <a:pPr lvl="1" indent="-342900">
              <a:spcBef>
                <a:spcPts val="450"/>
              </a:spcBef>
              <a:spcAft>
                <a:spcPts val="1200"/>
              </a:spcAft>
              <a:buFont typeface="Arial" panose="020B0604020202020204" pitchFamily="34" charset="0"/>
              <a:buChar char="•"/>
            </a:pPr>
            <a:r>
              <a:rPr lang="en-CA" b="0" i="0" dirty="0">
                <a:solidFill>
                  <a:schemeClr val="tx1"/>
                </a:solidFill>
                <a:effectLst/>
                <a:latin typeface="+mn-lt"/>
              </a:rPr>
              <a:t>Efficiently organized</a:t>
            </a:r>
          </a:p>
          <a:p>
            <a:pPr marL="0" marR="0" indent="0" algn="l">
              <a:spcBef>
                <a:spcPts val="1200"/>
              </a:spcBef>
              <a:spcAft>
                <a:spcPts val="1200"/>
              </a:spcAft>
              <a:buNone/>
            </a:pPr>
            <a:r>
              <a:rPr lang="en-CA" sz="1800" b="1" i="0" dirty="0">
                <a:solidFill>
                  <a:schemeClr val="tx1"/>
                </a:solidFill>
                <a:effectLst/>
                <a:latin typeface="+mn-lt"/>
              </a:rPr>
              <a:t>We'll cover this in detail in upcoming lessons.</a:t>
            </a:r>
            <a:endParaRPr lang="en-CA" sz="1200" b="0" i="0" dirty="0">
              <a:solidFill>
                <a:srgbClr val="0F1115"/>
              </a:solidFill>
              <a:effectLst/>
              <a:latin typeface="quote-cjk-patch"/>
            </a:endParaRPr>
          </a:p>
        </p:txBody>
      </p:sp>
    </p:spTree>
    <p:extLst>
      <p:ext uri="{BB962C8B-B14F-4D97-AF65-F5344CB8AC3E}">
        <p14:creationId xmlns:p14="http://schemas.microsoft.com/office/powerpoint/2010/main" val="3602396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C72C-3355-5536-41FD-CBEE6A9311BE}"/>
              </a:ext>
            </a:extLst>
          </p:cNvPr>
          <p:cNvSpPr>
            <a:spLocks noGrp="1"/>
          </p:cNvSpPr>
          <p:nvPr>
            <p:ph type="title"/>
          </p:nvPr>
        </p:nvSpPr>
        <p:spPr>
          <a:xfrm>
            <a:off x="3200333" y="601679"/>
            <a:ext cx="8428800" cy="582885"/>
          </a:xfrm>
        </p:spPr>
        <p:txBody>
          <a:bodyPr/>
          <a:lstStyle/>
          <a:p>
            <a:r>
              <a:rPr lang="en-CA" dirty="0"/>
              <a:t>Key Takeaways:</a:t>
            </a:r>
          </a:p>
        </p:txBody>
      </p:sp>
      <p:graphicFrame>
        <p:nvGraphicFramePr>
          <p:cNvPr id="4" name="Table 3">
            <a:extLst>
              <a:ext uri="{FF2B5EF4-FFF2-40B4-BE49-F238E27FC236}">
                <a16:creationId xmlns:a16="http://schemas.microsoft.com/office/drawing/2014/main" id="{4A5D92D6-EB9F-EED4-652E-00370CAED5EC}"/>
              </a:ext>
            </a:extLst>
          </p:cNvPr>
          <p:cNvGraphicFramePr>
            <a:graphicFrameLocks noGrp="1"/>
          </p:cNvGraphicFramePr>
          <p:nvPr>
            <p:extLst>
              <p:ext uri="{D42A27DB-BD31-4B8C-83A1-F6EECF244321}">
                <p14:modId xmlns:p14="http://schemas.microsoft.com/office/powerpoint/2010/main" val="3274789496"/>
              </p:ext>
            </p:extLst>
          </p:nvPr>
        </p:nvGraphicFramePr>
        <p:xfrm>
          <a:off x="2360468" y="1619675"/>
          <a:ext cx="9632372" cy="4909699"/>
        </p:xfrm>
        <a:graphic>
          <a:graphicData uri="http://schemas.openxmlformats.org/drawingml/2006/table">
            <a:tbl>
              <a:tblPr>
                <a:tableStyleId>{5C22544A-7EE6-4342-B048-85BDC9FD1C3A}</a:tableStyleId>
              </a:tblPr>
              <a:tblGrid>
                <a:gridCol w="4816186">
                  <a:extLst>
                    <a:ext uri="{9D8B030D-6E8A-4147-A177-3AD203B41FA5}">
                      <a16:colId xmlns:a16="http://schemas.microsoft.com/office/drawing/2014/main" val="1075097672"/>
                    </a:ext>
                  </a:extLst>
                </a:gridCol>
                <a:gridCol w="4816186">
                  <a:extLst>
                    <a:ext uri="{9D8B030D-6E8A-4147-A177-3AD203B41FA5}">
                      <a16:colId xmlns:a16="http://schemas.microsoft.com/office/drawing/2014/main" val="4072570289"/>
                    </a:ext>
                  </a:extLst>
                </a:gridCol>
              </a:tblGrid>
              <a:tr h="406014">
                <a:tc>
                  <a:txBody>
                    <a:bodyPr/>
                    <a:lstStyle/>
                    <a:p>
                      <a:pPr algn="l">
                        <a:lnSpc>
                          <a:spcPct val="138889"/>
                        </a:lnSpc>
                        <a:buNone/>
                      </a:pPr>
                      <a:r>
                        <a:rPr lang="en-CA" sz="1600" b="1" dirty="0">
                          <a:effectLst/>
                        </a:rPr>
                        <a:t>Concept</a:t>
                      </a:r>
                      <a:endParaRPr lang="en-CA" sz="1600" b="1" i="0" dirty="0">
                        <a:solidFill>
                          <a:srgbClr val="0F1115"/>
                        </a:solidFill>
                        <a:effectLst/>
                        <a:latin typeface="quote-cjk-patch"/>
                      </a:endParaRPr>
                    </a:p>
                  </a:txBody>
                  <a:tcPr marL="65488" marR="87318" marT="54574" marB="54574" anchor="ctr"/>
                </a:tc>
                <a:tc>
                  <a:txBody>
                    <a:bodyPr/>
                    <a:lstStyle/>
                    <a:p>
                      <a:pPr algn="l">
                        <a:lnSpc>
                          <a:spcPct val="138889"/>
                        </a:lnSpc>
                        <a:buNone/>
                      </a:pPr>
                      <a:r>
                        <a:rPr lang="en-CA" sz="1600" b="1" dirty="0">
                          <a:effectLst/>
                        </a:rPr>
                        <a:t>Summary</a:t>
                      </a:r>
                      <a:endParaRPr lang="en-CA" sz="1600" b="1" i="0" dirty="0">
                        <a:solidFill>
                          <a:srgbClr val="0F1115"/>
                        </a:solidFill>
                        <a:effectLst/>
                        <a:latin typeface="quote-cjk-patch"/>
                      </a:endParaRPr>
                    </a:p>
                  </a:txBody>
                  <a:tcPr marL="87318" marR="87318" marT="54574" marB="54574" anchor="ctr"/>
                </a:tc>
                <a:extLst>
                  <a:ext uri="{0D108BD9-81ED-4DB2-BD59-A6C34878D82A}">
                    <a16:rowId xmlns:a16="http://schemas.microsoft.com/office/drawing/2014/main" val="1823326754"/>
                  </a:ext>
                </a:extLst>
              </a:tr>
              <a:tr h="406014">
                <a:tc>
                  <a:txBody>
                    <a:bodyPr/>
                    <a:lstStyle/>
                    <a:p>
                      <a:pPr algn="l">
                        <a:lnSpc>
                          <a:spcPct val="138889"/>
                        </a:lnSpc>
                        <a:buNone/>
                      </a:pPr>
                      <a:r>
                        <a:rPr lang="en-CA" sz="1400" b="1">
                          <a:effectLst/>
                        </a:rPr>
                        <a:t>Database</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dirty="0">
                          <a:effectLst/>
                        </a:rPr>
                        <a:t>An organized collection of data</a:t>
                      </a:r>
                      <a:endParaRPr lang="en-CA" sz="1400" b="0" i="0" dirty="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2231263108"/>
                  </a:ext>
                </a:extLst>
              </a:tr>
              <a:tr h="406014">
                <a:tc>
                  <a:txBody>
                    <a:bodyPr/>
                    <a:lstStyle/>
                    <a:p>
                      <a:pPr algn="l">
                        <a:lnSpc>
                          <a:spcPct val="138889"/>
                        </a:lnSpc>
                        <a:buNone/>
                      </a:pPr>
                      <a:r>
                        <a:rPr lang="en-CA" sz="1400" b="1" dirty="0">
                          <a:effectLst/>
                        </a:rPr>
                        <a:t>DBMS</a:t>
                      </a:r>
                      <a:endParaRPr lang="en-CA" sz="1400" b="1" i="0" dirty="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Software used to manage a database</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3221759627"/>
                  </a:ext>
                </a:extLst>
              </a:tr>
              <a:tr h="420082">
                <a:tc>
                  <a:txBody>
                    <a:bodyPr/>
                    <a:lstStyle/>
                    <a:p>
                      <a:pPr algn="l">
                        <a:lnSpc>
                          <a:spcPct val="138889"/>
                        </a:lnSpc>
                        <a:buNone/>
                      </a:pPr>
                      <a:r>
                        <a:rPr lang="en-CA" sz="1400" b="1">
                          <a:effectLst/>
                        </a:rPr>
                        <a:t>Data vs. Information</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Data = raw facts; Information = data with context</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1631880427"/>
                  </a:ext>
                </a:extLst>
              </a:tr>
              <a:tr h="406014">
                <a:tc>
                  <a:txBody>
                    <a:bodyPr/>
                    <a:lstStyle/>
                    <a:p>
                      <a:pPr algn="l">
                        <a:lnSpc>
                          <a:spcPct val="138889"/>
                        </a:lnSpc>
                        <a:buNone/>
                      </a:pPr>
                      <a:r>
                        <a:rPr lang="en-CA" sz="1400" b="1">
                          <a:effectLst/>
                        </a:rPr>
                        <a:t>Relational Database</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Data stored in related tables</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4278815761"/>
                  </a:ext>
                </a:extLst>
              </a:tr>
              <a:tr h="406014">
                <a:tc>
                  <a:txBody>
                    <a:bodyPr/>
                    <a:lstStyle/>
                    <a:p>
                      <a:pPr algn="l">
                        <a:lnSpc>
                          <a:spcPct val="138889"/>
                        </a:lnSpc>
                        <a:buNone/>
                      </a:pPr>
                      <a:r>
                        <a:rPr lang="en-CA" sz="1400" b="1">
                          <a:effectLst/>
                        </a:rPr>
                        <a:t>Table</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Collection of related records</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1594267296"/>
                  </a:ext>
                </a:extLst>
              </a:tr>
              <a:tr h="406014">
                <a:tc>
                  <a:txBody>
                    <a:bodyPr/>
                    <a:lstStyle/>
                    <a:p>
                      <a:pPr algn="l">
                        <a:lnSpc>
                          <a:spcPct val="138889"/>
                        </a:lnSpc>
                        <a:buNone/>
                      </a:pPr>
                      <a:r>
                        <a:rPr lang="en-CA" sz="1400" b="1">
                          <a:effectLst/>
                        </a:rPr>
                        <a:t>Row</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One record</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3394482411"/>
                  </a:ext>
                </a:extLst>
              </a:tr>
              <a:tr h="406014">
                <a:tc>
                  <a:txBody>
                    <a:bodyPr/>
                    <a:lstStyle/>
                    <a:p>
                      <a:pPr algn="l">
                        <a:lnSpc>
                          <a:spcPct val="138889"/>
                        </a:lnSpc>
                        <a:buNone/>
                      </a:pPr>
                      <a:r>
                        <a:rPr lang="en-CA" sz="1400" b="1">
                          <a:effectLst/>
                        </a:rPr>
                        <a:t>Column</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One type of information</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2137283938"/>
                  </a:ext>
                </a:extLst>
              </a:tr>
              <a:tr h="406014">
                <a:tc>
                  <a:txBody>
                    <a:bodyPr/>
                    <a:lstStyle/>
                    <a:p>
                      <a:pPr algn="l">
                        <a:lnSpc>
                          <a:spcPct val="138889"/>
                        </a:lnSpc>
                        <a:buNone/>
                      </a:pPr>
                      <a:r>
                        <a:rPr lang="en-CA" sz="1400" b="1">
                          <a:effectLst/>
                        </a:rPr>
                        <a:t>Entity</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A thing we store information about</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4119093128"/>
                  </a:ext>
                </a:extLst>
              </a:tr>
              <a:tr h="406014">
                <a:tc>
                  <a:txBody>
                    <a:bodyPr/>
                    <a:lstStyle/>
                    <a:p>
                      <a:pPr algn="l">
                        <a:lnSpc>
                          <a:spcPct val="138889"/>
                        </a:lnSpc>
                        <a:buNone/>
                      </a:pPr>
                      <a:r>
                        <a:rPr lang="en-CA" sz="1400" b="1">
                          <a:effectLst/>
                        </a:rPr>
                        <a:t>Attribute</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A characteristic of an entity</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2289887602"/>
                  </a:ext>
                </a:extLst>
              </a:tr>
              <a:tr h="406014">
                <a:tc>
                  <a:txBody>
                    <a:bodyPr/>
                    <a:lstStyle/>
                    <a:p>
                      <a:pPr algn="l">
                        <a:lnSpc>
                          <a:spcPct val="138889"/>
                        </a:lnSpc>
                        <a:buNone/>
                      </a:pPr>
                      <a:r>
                        <a:rPr lang="en-CA" sz="1400" b="1">
                          <a:effectLst/>
                        </a:rPr>
                        <a:t>Relationship</a:t>
                      </a:r>
                      <a:endParaRPr lang="en-CA" sz="1400" b="1" i="0">
                        <a:solidFill>
                          <a:srgbClr val="0F1115"/>
                        </a:solidFill>
                        <a:effectLst/>
                        <a:latin typeface="quote-cjk-patch"/>
                      </a:endParaRPr>
                    </a:p>
                  </a:txBody>
                  <a:tcPr marL="65488" marR="87318" marT="54574" marB="54574" anchor="ctr"/>
                </a:tc>
                <a:tc>
                  <a:txBody>
                    <a:bodyPr/>
                    <a:lstStyle/>
                    <a:p>
                      <a:pPr algn="l">
                        <a:lnSpc>
                          <a:spcPct val="138889"/>
                        </a:lnSpc>
                        <a:buNone/>
                      </a:pPr>
                      <a:r>
                        <a:rPr lang="en-CA" sz="1400">
                          <a:effectLst/>
                        </a:rPr>
                        <a:t>How entities are connected</a:t>
                      </a:r>
                      <a:endParaRPr lang="en-CA" sz="1400" b="0" i="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2672289515"/>
                  </a:ext>
                </a:extLst>
              </a:tr>
              <a:tr h="420082">
                <a:tc>
                  <a:txBody>
                    <a:bodyPr/>
                    <a:lstStyle/>
                    <a:p>
                      <a:pPr algn="l">
                        <a:lnSpc>
                          <a:spcPct val="138889"/>
                        </a:lnSpc>
                        <a:buNone/>
                      </a:pPr>
                      <a:r>
                        <a:rPr lang="en-CA" sz="1400" b="1" dirty="0">
                          <a:effectLst/>
                        </a:rPr>
                        <a:t>Normalization</a:t>
                      </a:r>
                      <a:endParaRPr lang="en-CA" sz="1400" b="1" i="0" dirty="0">
                        <a:solidFill>
                          <a:srgbClr val="0F1115"/>
                        </a:solidFill>
                        <a:effectLst/>
                        <a:latin typeface="quote-cjk-patch"/>
                      </a:endParaRPr>
                    </a:p>
                  </a:txBody>
                  <a:tcPr marL="65488" marR="87318" marT="54574" marB="54574" anchor="ctr"/>
                </a:tc>
                <a:tc>
                  <a:txBody>
                    <a:bodyPr/>
                    <a:lstStyle/>
                    <a:p>
                      <a:pPr algn="l">
                        <a:lnSpc>
                          <a:spcPct val="138889"/>
                        </a:lnSpc>
                        <a:buNone/>
                      </a:pPr>
                      <a:r>
                        <a:rPr lang="en-CA" sz="1400" dirty="0">
                          <a:effectLst/>
                        </a:rPr>
                        <a:t>Guidelines to reduce redundancy and inconsistencies</a:t>
                      </a:r>
                      <a:endParaRPr lang="en-CA" sz="1400" b="0" i="0" dirty="0">
                        <a:solidFill>
                          <a:srgbClr val="0F1115"/>
                        </a:solidFill>
                        <a:effectLst/>
                        <a:latin typeface="quote-cjk-patch"/>
                      </a:endParaRPr>
                    </a:p>
                  </a:txBody>
                  <a:tcPr marL="87318" marR="65488" marT="54574" marB="54574" anchor="ctr"/>
                </a:tc>
                <a:extLst>
                  <a:ext uri="{0D108BD9-81ED-4DB2-BD59-A6C34878D82A}">
                    <a16:rowId xmlns:a16="http://schemas.microsoft.com/office/drawing/2014/main" val="633048190"/>
                  </a:ext>
                </a:extLst>
              </a:tr>
            </a:tbl>
          </a:graphicData>
        </a:graphic>
      </p:graphicFrame>
    </p:spTree>
    <p:extLst>
      <p:ext uri="{BB962C8B-B14F-4D97-AF65-F5344CB8AC3E}">
        <p14:creationId xmlns:p14="http://schemas.microsoft.com/office/powerpoint/2010/main" val="560049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B4F4-5396-7741-D2CF-ABFCCF9F8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7F815-C9C9-DC00-4BDB-9E3A83497613}"/>
              </a:ext>
            </a:extLst>
          </p:cNvPr>
          <p:cNvSpPr>
            <a:spLocks noGrp="1"/>
          </p:cNvSpPr>
          <p:nvPr>
            <p:ph type="title"/>
          </p:nvPr>
        </p:nvSpPr>
        <p:spPr>
          <a:xfrm>
            <a:off x="426028" y="570506"/>
            <a:ext cx="9542317" cy="847200"/>
          </a:xfrm>
        </p:spPr>
        <p:txBody>
          <a:bodyPr>
            <a:normAutofit fontScale="90000"/>
          </a:bodyPr>
          <a:lstStyle/>
          <a:p>
            <a:r>
              <a:rPr lang="en-US" dirty="0"/>
              <a:t>Terms You Will Encounter in This Course</a:t>
            </a:r>
            <a:endParaRPr lang="en-CA" dirty="0"/>
          </a:p>
        </p:txBody>
      </p:sp>
      <p:graphicFrame>
        <p:nvGraphicFramePr>
          <p:cNvPr id="3" name="Table 2">
            <a:extLst>
              <a:ext uri="{FF2B5EF4-FFF2-40B4-BE49-F238E27FC236}">
                <a16:creationId xmlns:a16="http://schemas.microsoft.com/office/drawing/2014/main" id="{2CEE7CCB-148F-7414-BF8C-FAD8AE2F8D8E}"/>
              </a:ext>
            </a:extLst>
          </p:cNvPr>
          <p:cNvGraphicFramePr>
            <a:graphicFrameLocks noGrp="1"/>
          </p:cNvGraphicFramePr>
          <p:nvPr>
            <p:extLst>
              <p:ext uri="{D42A27DB-BD31-4B8C-83A1-F6EECF244321}">
                <p14:modId xmlns:p14="http://schemas.microsoft.com/office/powerpoint/2010/main" val="3956163535"/>
              </p:ext>
            </p:extLst>
          </p:nvPr>
        </p:nvGraphicFramePr>
        <p:xfrm>
          <a:off x="3230880" y="1417706"/>
          <a:ext cx="5730240" cy="3783330"/>
        </p:xfrm>
        <a:graphic>
          <a:graphicData uri="http://schemas.openxmlformats.org/drawingml/2006/table">
            <a:tbl>
              <a:tblPr>
                <a:tableStyleId>{5C22544A-7EE6-4342-B048-85BDC9FD1C3A}</a:tableStyleId>
              </a:tblPr>
              <a:tblGrid>
                <a:gridCol w="2865120">
                  <a:extLst>
                    <a:ext uri="{9D8B030D-6E8A-4147-A177-3AD203B41FA5}">
                      <a16:colId xmlns:a16="http://schemas.microsoft.com/office/drawing/2014/main" val="416733835"/>
                    </a:ext>
                  </a:extLst>
                </a:gridCol>
                <a:gridCol w="2865120">
                  <a:extLst>
                    <a:ext uri="{9D8B030D-6E8A-4147-A177-3AD203B41FA5}">
                      <a16:colId xmlns:a16="http://schemas.microsoft.com/office/drawing/2014/main" val="29777216"/>
                    </a:ext>
                  </a:extLst>
                </a:gridCol>
              </a:tblGrid>
              <a:tr h="0">
                <a:tc>
                  <a:txBody>
                    <a:bodyPr/>
                    <a:lstStyle/>
                    <a:p>
                      <a:pPr algn="l">
                        <a:lnSpc>
                          <a:spcPct val="138889"/>
                        </a:lnSpc>
                        <a:buNone/>
                      </a:pPr>
                      <a:r>
                        <a:rPr lang="en-CA" sz="1400" b="1" dirty="0">
                          <a:effectLst/>
                        </a:rPr>
                        <a:t>Term</a:t>
                      </a:r>
                      <a:endParaRPr lang="en-CA" sz="1400" b="1" dirty="0">
                        <a:effectLst/>
                        <a:latin typeface="quote-cjk-patch"/>
                      </a:endParaRPr>
                    </a:p>
                  </a:txBody>
                  <a:tcPr marR="121920" marT="76200" marB="76200" anchor="ctr"/>
                </a:tc>
                <a:tc>
                  <a:txBody>
                    <a:bodyPr/>
                    <a:lstStyle/>
                    <a:p>
                      <a:pPr algn="l">
                        <a:lnSpc>
                          <a:spcPct val="138889"/>
                        </a:lnSpc>
                        <a:buNone/>
                      </a:pPr>
                      <a:r>
                        <a:rPr lang="en-CA" sz="1400" b="1" dirty="0">
                          <a:effectLst/>
                        </a:rPr>
                        <a:t>Meaning</a:t>
                      </a:r>
                      <a:endParaRPr lang="en-CA" sz="1400" b="1" dirty="0">
                        <a:effectLst/>
                        <a:latin typeface="quote-cjk-patch"/>
                      </a:endParaRPr>
                    </a:p>
                  </a:txBody>
                  <a:tcPr marL="121920" marR="121920" marT="76200" marB="76200" anchor="ctr"/>
                </a:tc>
                <a:extLst>
                  <a:ext uri="{0D108BD9-81ED-4DB2-BD59-A6C34878D82A}">
                    <a16:rowId xmlns:a16="http://schemas.microsoft.com/office/drawing/2014/main" val="1718045034"/>
                  </a:ext>
                </a:extLst>
              </a:tr>
              <a:tr h="0">
                <a:tc>
                  <a:txBody>
                    <a:bodyPr/>
                    <a:lstStyle/>
                    <a:p>
                      <a:pPr>
                        <a:lnSpc>
                          <a:spcPct val="138889"/>
                        </a:lnSpc>
                        <a:buNone/>
                      </a:pPr>
                      <a:r>
                        <a:rPr lang="en-CA" sz="1400" b="1">
                          <a:effectLst/>
                        </a:rPr>
                        <a:t>Database</a:t>
                      </a:r>
                      <a:endParaRPr lang="en-CA" sz="1400" b="1">
                        <a:effectLst/>
                        <a:latin typeface="quote-cjk-patch"/>
                      </a:endParaRPr>
                    </a:p>
                  </a:txBody>
                  <a:tcPr marR="121920" marT="76200" marB="76200" anchor="ctr"/>
                </a:tc>
                <a:tc>
                  <a:txBody>
                    <a:bodyPr/>
                    <a:lstStyle/>
                    <a:p>
                      <a:pPr>
                        <a:lnSpc>
                          <a:spcPct val="138889"/>
                        </a:lnSpc>
                        <a:buNone/>
                      </a:pPr>
                      <a:r>
                        <a:rPr lang="en-CA" sz="1400">
                          <a:effectLst/>
                        </a:rPr>
                        <a:t>Organized collection of data</a:t>
                      </a:r>
                      <a:endParaRPr lang="en-CA" sz="1400" b="0">
                        <a:effectLst/>
                        <a:latin typeface="quote-cjk-patch"/>
                      </a:endParaRPr>
                    </a:p>
                  </a:txBody>
                  <a:tcPr marL="121920" marT="76200" marB="76200" anchor="ctr"/>
                </a:tc>
                <a:extLst>
                  <a:ext uri="{0D108BD9-81ED-4DB2-BD59-A6C34878D82A}">
                    <a16:rowId xmlns:a16="http://schemas.microsoft.com/office/drawing/2014/main" val="194472630"/>
                  </a:ext>
                </a:extLst>
              </a:tr>
              <a:tr h="0">
                <a:tc>
                  <a:txBody>
                    <a:bodyPr/>
                    <a:lstStyle/>
                    <a:p>
                      <a:pPr>
                        <a:lnSpc>
                          <a:spcPct val="138889"/>
                        </a:lnSpc>
                        <a:buNone/>
                      </a:pPr>
                      <a:r>
                        <a:rPr lang="en-CA" sz="1400" b="1" dirty="0">
                          <a:effectLst/>
                        </a:rPr>
                        <a:t>DBMS</a:t>
                      </a:r>
                      <a:endParaRPr lang="en-CA" sz="1400" b="1" dirty="0">
                        <a:effectLst/>
                        <a:latin typeface="quote-cjk-patch"/>
                      </a:endParaRPr>
                    </a:p>
                  </a:txBody>
                  <a:tcPr marR="121920" marT="76200" marB="76200" anchor="ctr"/>
                </a:tc>
                <a:tc>
                  <a:txBody>
                    <a:bodyPr/>
                    <a:lstStyle/>
                    <a:p>
                      <a:pPr>
                        <a:lnSpc>
                          <a:spcPct val="138889"/>
                        </a:lnSpc>
                        <a:buNone/>
                      </a:pPr>
                      <a:r>
                        <a:rPr lang="en-CA" sz="1400">
                          <a:effectLst/>
                        </a:rPr>
                        <a:t>Software to manage databases</a:t>
                      </a:r>
                      <a:endParaRPr lang="en-CA" sz="1400" b="0">
                        <a:effectLst/>
                        <a:latin typeface="quote-cjk-patch"/>
                      </a:endParaRPr>
                    </a:p>
                  </a:txBody>
                  <a:tcPr marL="121920" marT="76200" marB="76200" anchor="ctr"/>
                </a:tc>
                <a:extLst>
                  <a:ext uri="{0D108BD9-81ED-4DB2-BD59-A6C34878D82A}">
                    <a16:rowId xmlns:a16="http://schemas.microsoft.com/office/drawing/2014/main" val="550237844"/>
                  </a:ext>
                </a:extLst>
              </a:tr>
              <a:tr h="0">
                <a:tc>
                  <a:txBody>
                    <a:bodyPr/>
                    <a:lstStyle/>
                    <a:p>
                      <a:pPr>
                        <a:lnSpc>
                          <a:spcPct val="138889"/>
                        </a:lnSpc>
                        <a:buNone/>
                      </a:pPr>
                      <a:r>
                        <a:rPr lang="en-CA" sz="1400" b="1">
                          <a:effectLst/>
                        </a:rPr>
                        <a:t>Table</a:t>
                      </a:r>
                      <a:endParaRPr lang="en-CA" sz="1400" b="1">
                        <a:effectLst/>
                        <a:latin typeface="quote-cjk-patch"/>
                      </a:endParaRPr>
                    </a:p>
                  </a:txBody>
                  <a:tcPr marR="121920" marT="76200" marB="76200" anchor="ctr"/>
                </a:tc>
                <a:tc>
                  <a:txBody>
                    <a:bodyPr/>
                    <a:lstStyle/>
                    <a:p>
                      <a:pPr>
                        <a:lnSpc>
                          <a:spcPct val="138889"/>
                        </a:lnSpc>
                        <a:buNone/>
                      </a:pPr>
                      <a:r>
                        <a:rPr lang="en-CA" sz="1400">
                          <a:effectLst/>
                        </a:rPr>
                        <a:t>Collection of related records</a:t>
                      </a:r>
                      <a:endParaRPr lang="en-CA" sz="1400" b="0">
                        <a:effectLst/>
                        <a:latin typeface="quote-cjk-patch"/>
                      </a:endParaRPr>
                    </a:p>
                  </a:txBody>
                  <a:tcPr marL="121920" marT="76200" marB="76200" anchor="ctr"/>
                </a:tc>
                <a:extLst>
                  <a:ext uri="{0D108BD9-81ED-4DB2-BD59-A6C34878D82A}">
                    <a16:rowId xmlns:a16="http://schemas.microsoft.com/office/drawing/2014/main" val="4121212747"/>
                  </a:ext>
                </a:extLst>
              </a:tr>
              <a:tr h="0">
                <a:tc>
                  <a:txBody>
                    <a:bodyPr/>
                    <a:lstStyle/>
                    <a:p>
                      <a:pPr>
                        <a:lnSpc>
                          <a:spcPct val="138889"/>
                        </a:lnSpc>
                        <a:buNone/>
                      </a:pPr>
                      <a:r>
                        <a:rPr lang="en-CA" sz="1400" b="1">
                          <a:effectLst/>
                        </a:rPr>
                        <a:t>Row</a:t>
                      </a:r>
                      <a:endParaRPr lang="en-CA" sz="1400" b="1">
                        <a:effectLst/>
                        <a:latin typeface="quote-cjk-patch"/>
                      </a:endParaRPr>
                    </a:p>
                  </a:txBody>
                  <a:tcPr marR="121920" marT="76200" marB="76200" anchor="ctr"/>
                </a:tc>
                <a:tc>
                  <a:txBody>
                    <a:bodyPr/>
                    <a:lstStyle/>
                    <a:p>
                      <a:pPr>
                        <a:lnSpc>
                          <a:spcPct val="138889"/>
                        </a:lnSpc>
                        <a:buNone/>
                      </a:pPr>
                      <a:r>
                        <a:rPr lang="en-CA" sz="1400" dirty="0">
                          <a:effectLst/>
                        </a:rPr>
                        <a:t>One record</a:t>
                      </a:r>
                      <a:endParaRPr lang="en-CA" sz="1400" b="0" dirty="0">
                        <a:effectLst/>
                        <a:latin typeface="quote-cjk-patch"/>
                      </a:endParaRPr>
                    </a:p>
                  </a:txBody>
                  <a:tcPr marL="121920" marT="76200" marB="76200" anchor="ctr"/>
                </a:tc>
                <a:extLst>
                  <a:ext uri="{0D108BD9-81ED-4DB2-BD59-A6C34878D82A}">
                    <a16:rowId xmlns:a16="http://schemas.microsoft.com/office/drawing/2014/main" val="1138505201"/>
                  </a:ext>
                </a:extLst>
              </a:tr>
              <a:tr h="0">
                <a:tc>
                  <a:txBody>
                    <a:bodyPr/>
                    <a:lstStyle/>
                    <a:p>
                      <a:pPr>
                        <a:lnSpc>
                          <a:spcPct val="138889"/>
                        </a:lnSpc>
                        <a:buNone/>
                      </a:pPr>
                      <a:r>
                        <a:rPr lang="en-CA" sz="1400" b="1">
                          <a:effectLst/>
                        </a:rPr>
                        <a:t>Column</a:t>
                      </a:r>
                      <a:endParaRPr lang="en-CA" sz="1400" b="1">
                        <a:effectLst/>
                        <a:latin typeface="quote-cjk-patch"/>
                      </a:endParaRPr>
                    </a:p>
                  </a:txBody>
                  <a:tcPr marR="121920" marT="76200" marB="76200" anchor="ctr"/>
                </a:tc>
                <a:tc>
                  <a:txBody>
                    <a:bodyPr/>
                    <a:lstStyle/>
                    <a:p>
                      <a:pPr>
                        <a:lnSpc>
                          <a:spcPct val="138889"/>
                        </a:lnSpc>
                        <a:buNone/>
                      </a:pPr>
                      <a:r>
                        <a:rPr lang="en-CA" sz="1400">
                          <a:effectLst/>
                        </a:rPr>
                        <a:t>One piece of information</a:t>
                      </a:r>
                      <a:endParaRPr lang="en-CA" sz="1400" b="0">
                        <a:effectLst/>
                        <a:latin typeface="quote-cjk-patch"/>
                      </a:endParaRPr>
                    </a:p>
                  </a:txBody>
                  <a:tcPr marL="121920" marT="76200" marB="76200" anchor="ctr"/>
                </a:tc>
                <a:extLst>
                  <a:ext uri="{0D108BD9-81ED-4DB2-BD59-A6C34878D82A}">
                    <a16:rowId xmlns:a16="http://schemas.microsoft.com/office/drawing/2014/main" val="3454995776"/>
                  </a:ext>
                </a:extLst>
              </a:tr>
              <a:tr h="0">
                <a:tc>
                  <a:txBody>
                    <a:bodyPr/>
                    <a:lstStyle/>
                    <a:p>
                      <a:pPr>
                        <a:lnSpc>
                          <a:spcPct val="138889"/>
                        </a:lnSpc>
                        <a:buNone/>
                      </a:pPr>
                      <a:r>
                        <a:rPr lang="en-CA" sz="1400" b="1">
                          <a:effectLst/>
                        </a:rPr>
                        <a:t>Entity</a:t>
                      </a:r>
                      <a:endParaRPr lang="en-CA" sz="1400" b="1">
                        <a:effectLst/>
                        <a:latin typeface="quote-cjk-patch"/>
                      </a:endParaRPr>
                    </a:p>
                  </a:txBody>
                  <a:tcPr marR="121920" marT="76200" marB="76200" anchor="ctr"/>
                </a:tc>
                <a:tc>
                  <a:txBody>
                    <a:bodyPr/>
                    <a:lstStyle/>
                    <a:p>
                      <a:pPr>
                        <a:lnSpc>
                          <a:spcPct val="138889"/>
                        </a:lnSpc>
                        <a:buNone/>
                      </a:pPr>
                      <a:r>
                        <a:rPr lang="en-CA" sz="1400">
                          <a:effectLst/>
                        </a:rPr>
                        <a:t>Thing we store information about</a:t>
                      </a:r>
                      <a:endParaRPr lang="en-CA" sz="1400" b="0">
                        <a:effectLst/>
                        <a:latin typeface="quote-cjk-patch"/>
                      </a:endParaRPr>
                    </a:p>
                  </a:txBody>
                  <a:tcPr marL="121920" marT="76200" marB="76200" anchor="ctr"/>
                </a:tc>
                <a:extLst>
                  <a:ext uri="{0D108BD9-81ED-4DB2-BD59-A6C34878D82A}">
                    <a16:rowId xmlns:a16="http://schemas.microsoft.com/office/drawing/2014/main" val="929680748"/>
                  </a:ext>
                </a:extLst>
              </a:tr>
              <a:tr h="0">
                <a:tc>
                  <a:txBody>
                    <a:bodyPr/>
                    <a:lstStyle/>
                    <a:p>
                      <a:pPr>
                        <a:lnSpc>
                          <a:spcPct val="138889"/>
                        </a:lnSpc>
                        <a:buNone/>
                      </a:pPr>
                      <a:r>
                        <a:rPr lang="en-CA" sz="1400" b="1">
                          <a:effectLst/>
                        </a:rPr>
                        <a:t>Attribute</a:t>
                      </a:r>
                      <a:endParaRPr lang="en-CA" sz="1400" b="1">
                        <a:effectLst/>
                        <a:latin typeface="quote-cjk-patch"/>
                      </a:endParaRPr>
                    </a:p>
                  </a:txBody>
                  <a:tcPr marR="121920" marT="76200" marB="76200" anchor="ctr"/>
                </a:tc>
                <a:tc>
                  <a:txBody>
                    <a:bodyPr/>
                    <a:lstStyle/>
                    <a:p>
                      <a:pPr>
                        <a:lnSpc>
                          <a:spcPct val="138889"/>
                        </a:lnSpc>
                        <a:buNone/>
                      </a:pPr>
                      <a:r>
                        <a:rPr lang="en-CA" sz="1400">
                          <a:effectLst/>
                        </a:rPr>
                        <a:t>Characteristic of an entity</a:t>
                      </a:r>
                      <a:endParaRPr lang="en-CA" sz="1400" b="0">
                        <a:effectLst/>
                        <a:latin typeface="quote-cjk-patch"/>
                      </a:endParaRPr>
                    </a:p>
                  </a:txBody>
                  <a:tcPr marL="121920" marT="76200" marB="76200" anchor="ctr"/>
                </a:tc>
                <a:extLst>
                  <a:ext uri="{0D108BD9-81ED-4DB2-BD59-A6C34878D82A}">
                    <a16:rowId xmlns:a16="http://schemas.microsoft.com/office/drawing/2014/main" val="3846339126"/>
                  </a:ext>
                </a:extLst>
              </a:tr>
              <a:tr h="0">
                <a:tc>
                  <a:txBody>
                    <a:bodyPr/>
                    <a:lstStyle/>
                    <a:p>
                      <a:pPr>
                        <a:lnSpc>
                          <a:spcPct val="138889"/>
                        </a:lnSpc>
                        <a:buNone/>
                      </a:pPr>
                      <a:r>
                        <a:rPr lang="en-CA" sz="1400" b="1" dirty="0">
                          <a:effectLst/>
                        </a:rPr>
                        <a:t>Relationship</a:t>
                      </a:r>
                      <a:endParaRPr lang="en-CA" sz="1400" b="1" dirty="0">
                        <a:effectLst/>
                        <a:latin typeface="quote-cjk-patch"/>
                      </a:endParaRPr>
                    </a:p>
                  </a:txBody>
                  <a:tcPr marR="121920" marT="76200" marB="76200" anchor="ctr"/>
                </a:tc>
                <a:tc>
                  <a:txBody>
                    <a:bodyPr/>
                    <a:lstStyle/>
                    <a:p>
                      <a:pPr>
                        <a:lnSpc>
                          <a:spcPct val="138889"/>
                        </a:lnSpc>
                        <a:buNone/>
                      </a:pPr>
                      <a:r>
                        <a:rPr lang="en-CA" sz="1400" dirty="0">
                          <a:effectLst/>
                        </a:rPr>
                        <a:t>Connection between entities</a:t>
                      </a:r>
                      <a:endParaRPr lang="en-CA" sz="1400" b="0" dirty="0">
                        <a:effectLst/>
                        <a:latin typeface="quote-cjk-patch"/>
                      </a:endParaRPr>
                    </a:p>
                  </a:txBody>
                  <a:tcPr marL="121920" marT="76200" marB="76200" anchor="ctr"/>
                </a:tc>
                <a:extLst>
                  <a:ext uri="{0D108BD9-81ED-4DB2-BD59-A6C34878D82A}">
                    <a16:rowId xmlns:a16="http://schemas.microsoft.com/office/drawing/2014/main" val="565581786"/>
                  </a:ext>
                </a:extLst>
              </a:tr>
            </a:tbl>
          </a:graphicData>
        </a:graphic>
      </p:graphicFrame>
    </p:spTree>
    <p:extLst>
      <p:ext uri="{BB962C8B-B14F-4D97-AF65-F5344CB8AC3E}">
        <p14:creationId xmlns:p14="http://schemas.microsoft.com/office/powerpoint/2010/main" val="941225161"/>
      </p:ext>
    </p:extLst>
  </p:cSld>
  <p:clrMapOvr>
    <a:masterClrMapping/>
  </p:clrMapOvr>
</p:sld>
</file>

<file path=ppt/theme/theme1.xml><?xml version="1.0" encoding="utf-8"?>
<a:theme xmlns:a="http://schemas.openxmlformats.org/drawingml/2006/main" name="Office Theme">
  <a:themeElements>
    <a:clrScheme name="NAIT Blues">
      <a:dk1>
        <a:srgbClr val="000000"/>
      </a:dk1>
      <a:lt1>
        <a:srgbClr val="FFFFFF"/>
      </a:lt1>
      <a:dk2>
        <a:srgbClr val="335B74"/>
      </a:dk2>
      <a:lt2>
        <a:srgbClr val="DFE3E5"/>
      </a:lt2>
      <a:accent1>
        <a:srgbClr val="1CADE4"/>
      </a:accent1>
      <a:accent2>
        <a:srgbClr val="00498D"/>
      </a:accent2>
      <a:accent3>
        <a:srgbClr val="8CC63F"/>
      </a:accent3>
      <a:accent4>
        <a:srgbClr val="482F91"/>
      </a:accent4>
      <a:accent5>
        <a:srgbClr val="F26E23"/>
      </a:accent5>
      <a:accent6>
        <a:srgbClr val="A9A9A9"/>
      </a:accent6>
      <a:hlink>
        <a:srgbClr val="00ACED"/>
      </a:hlink>
      <a:folHlink>
        <a:srgbClr val="00ACE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Standard Powerpoint Presentation Template for NAIT Screens" id="{3BD04EBB-4171-4583-A98E-91711106D317}" vid="{263152E8-5872-4D90-B5D5-232AD3B8B3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0636a0e-6a5d-4f3a-8cec-2ed9d7e96064">
      <Terms xmlns="http://schemas.microsoft.com/office/infopath/2007/PartnerControls"/>
    </lcf76f155ced4ddcb4097134ff3c332f>
    <TaxCatchAll xmlns="28175f85-aaa6-450f-8e62-bb2d8657c111" xsi:nil="true"/>
    <DocumentType xmlns="c0636a0e-6a5d-4f3a-8cec-2ed9d7e9606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B085E912FEB648B2192060B32B0D81" ma:contentTypeVersion="13" ma:contentTypeDescription="Create a new document." ma:contentTypeScope="" ma:versionID="86d586ee750db57df4bf82dbbd148a8d">
  <xsd:schema xmlns:xsd="http://www.w3.org/2001/XMLSchema" xmlns:xs="http://www.w3.org/2001/XMLSchema" xmlns:p="http://schemas.microsoft.com/office/2006/metadata/properties" xmlns:ns2="c0636a0e-6a5d-4f3a-8cec-2ed9d7e96064" xmlns:ns3="28175f85-aaa6-450f-8e62-bb2d8657c111" targetNamespace="http://schemas.microsoft.com/office/2006/metadata/properties" ma:root="true" ma:fieldsID="b83bdf18099a32914c9c196890c95f2f" ns2:_="" ns3:_="">
    <xsd:import namespace="c0636a0e-6a5d-4f3a-8cec-2ed9d7e96064"/>
    <xsd:import namespace="28175f85-aaa6-450f-8e62-bb2d8657c1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Document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636a0e-6a5d-4f3a-8cec-2ed9d7e960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ce3a7a1-84a7-46f6-b9ea-52be05fcf1b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ocumentType" ma:index="20" nillable="true" ma:displayName="Document Type" ma:format="Dropdown" ma:internalName="DocumentType">
      <xsd:simpleType>
        <xsd:union memberTypes="dms:Text">
          <xsd:simpleType>
            <xsd:restriction base="dms:Choice">
              <xsd:enumeration value="Source of truth"/>
              <xsd:enumeration value="Archiv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28175f85-aaa6-450f-8e62-bb2d8657c11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1229875-1db7-498c-8d13-35c205bc76f3}" ma:internalName="TaxCatchAll" ma:showField="CatchAllData" ma:web="28175f85-aaa6-450f-8e62-bb2d8657c1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087D08-9B7A-464C-90FA-EA923D7CBBB6}">
  <ds:schemaRefs>
    <ds:schemaRef ds:uri="http://schemas.openxmlformats.org/package/2006/metadata/core-properties"/>
    <ds:schemaRef ds:uri="http://www.w3.org/XML/1998/namespace"/>
    <ds:schemaRef ds:uri="http://schemas.microsoft.com/office/2006/metadata/properties"/>
    <ds:schemaRef ds:uri="http://schemas.microsoft.com/office/2006/documentManagement/types"/>
    <ds:schemaRef ds:uri="http://purl.org/dc/dcmitype/"/>
    <ds:schemaRef ds:uri="http://purl.org/dc/terms/"/>
    <ds:schemaRef ds:uri="52bb52fc-fb4a-47ec-96af-1ca16eda3341"/>
    <ds:schemaRef ds:uri="http://purl.org/dc/elements/1.1/"/>
    <ds:schemaRef ds:uri="http://schemas.microsoft.com/office/infopath/2007/PartnerControls"/>
    <ds:schemaRef ds:uri="0fa82ce2-b671-45ef-b5fe-18516deeba49"/>
    <ds:schemaRef ds:uri="f60468bc-9de1-4bbe-b533-c963951abe47"/>
    <ds:schemaRef ds:uri="c0636a0e-6a5d-4f3a-8cec-2ed9d7e96064"/>
    <ds:schemaRef ds:uri="28175f85-aaa6-450f-8e62-bb2d8657c111"/>
  </ds:schemaRefs>
</ds:datastoreItem>
</file>

<file path=customXml/itemProps2.xml><?xml version="1.0" encoding="utf-8"?>
<ds:datastoreItem xmlns:ds="http://schemas.openxmlformats.org/officeDocument/2006/customXml" ds:itemID="{0540F518-E7A2-492A-A586-FD4E5E750057}">
  <ds:schemaRefs>
    <ds:schemaRef ds:uri="http://schemas.microsoft.com/sharepoint/v3/contenttype/forms"/>
  </ds:schemaRefs>
</ds:datastoreItem>
</file>

<file path=customXml/itemProps3.xml><?xml version="1.0" encoding="utf-8"?>
<ds:datastoreItem xmlns:ds="http://schemas.openxmlformats.org/officeDocument/2006/customXml" ds:itemID="{6ABA5B65-9C6D-442F-9E03-5588B1ABEE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636a0e-6a5d-4f3a-8cec-2ed9d7e96064"/>
    <ds:schemaRef ds:uri="28175f85-aaa6-450f-8e62-bb2d8657c1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NAIT Standard Powerpoint Presentation Template for NAIT Screens</Template>
  <TotalTime>1255</TotalTime>
  <Words>2864</Words>
  <Application>Microsoft Office PowerPoint</Application>
  <PresentationFormat>Widescreen</PresentationFormat>
  <Paragraphs>500</Paragraphs>
  <Slides>35</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Courier New</vt:lpstr>
      <vt:lpstr>quote-cjk-patch</vt:lpstr>
      <vt:lpstr>Raleway</vt:lpstr>
      <vt:lpstr>Office Theme</vt:lpstr>
      <vt:lpstr>PowerPoint Presentation</vt:lpstr>
      <vt:lpstr>PowerPoint Presentation</vt:lpstr>
      <vt:lpstr>PowerPoint Presentation</vt:lpstr>
      <vt:lpstr>PowerPoint Presentation</vt:lpstr>
      <vt:lpstr>PowerPoint Presentation</vt:lpstr>
      <vt:lpstr>Data in Everyday Life </vt:lpstr>
      <vt:lpstr>Data vs. Information</vt:lpstr>
      <vt:lpstr>Quick Check </vt:lpstr>
      <vt:lpstr>PowerPoint Presentation</vt:lpstr>
      <vt:lpstr>What is a Database? </vt:lpstr>
      <vt:lpstr>Why Not Just Use Excel? </vt:lpstr>
      <vt:lpstr>Problems with Spreadsheets </vt:lpstr>
      <vt:lpstr>The Problem with Redundancy </vt:lpstr>
      <vt:lpstr>What Makes a Database Useful?</vt:lpstr>
      <vt:lpstr>Databases Are Everywhere </vt:lpstr>
      <vt:lpstr>How Can We Organize Data? </vt:lpstr>
      <vt:lpstr>The Relational Database </vt:lpstr>
      <vt:lpstr>The Relational DBMS</vt:lpstr>
      <vt:lpstr>Anatomy of a Table </vt:lpstr>
      <vt:lpstr>What Makes a Database "Relational"?</vt:lpstr>
      <vt:lpstr>Database vs. DBMS</vt:lpstr>
      <vt:lpstr>PowerPoint Presentation</vt:lpstr>
      <vt:lpstr>How Do We Interact With a Database? </vt:lpstr>
      <vt:lpstr>Think of It This Way</vt:lpstr>
      <vt:lpstr>The Database Design Process</vt:lpstr>
      <vt:lpstr>Business Rules</vt:lpstr>
      <vt:lpstr>What is an Entity? </vt:lpstr>
      <vt:lpstr>What is an Attribute?</vt:lpstr>
      <vt:lpstr>Entities Can Be Related </vt:lpstr>
      <vt:lpstr>EXPLORING: What is an ERD?</vt:lpstr>
      <vt:lpstr>Sample ERD</vt:lpstr>
      <vt:lpstr>Introduction to Normalization </vt:lpstr>
      <vt:lpstr>Why Normalization Matters</vt:lpstr>
      <vt:lpstr>Key Takeaways:</vt:lpstr>
      <vt:lpstr>Terms You Will Encounter in This Course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Larisa Pitchko</dc:creator>
  <cp:lastModifiedBy>Larisa Pitchko</cp:lastModifiedBy>
  <cp:revision>228</cp:revision>
  <dcterms:created xsi:type="dcterms:W3CDTF">2019-08-28T18:27:45Z</dcterms:created>
  <dcterms:modified xsi:type="dcterms:W3CDTF">2026-09-03T00:59:33Z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114;#NAIT Brand|56c3f36a-7bf3-46f3-a4b0-bb3df19b2675</vt:lpwstr>
  </property>
  <property fmtid="{D5CDD505-2E9C-101B-9397-08002B2CF9AE}" pid="4" name="Building">
    <vt:lpwstr/>
  </property>
  <property fmtid="{D5CDD505-2E9C-101B-9397-08002B2CF9AE}" pid="5" name="ContentTypeId">
    <vt:lpwstr>0x0101007BB085E912FEB648B2192060B32B0D81</vt:lpwstr>
  </property>
  <property fmtid="{D5CDD505-2E9C-101B-9397-08002B2CF9AE}" pid="6" name="Target Audience">
    <vt:lpwstr/>
  </property>
  <property fmtid="{D5CDD505-2E9C-101B-9397-08002B2CF9AE}" pid="7" name="_dlc_DocIdItemGuid">
    <vt:lpwstr>fb17ffeb-f9e3-4da5-8986-98ba4c89698a</vt:lpwstr>
  </property>
  <property fmtid="{D5CDD505-2E9C-101B-9397-08002B2CF9AE}" pid="8" name="PublishedDocument.Location">
    <vt:lpwstr/>
  </property>
  <property fmtid="{D5CDD505-2E9C-101B-9397-08002B2CF9AE}" pid="9" name="Program">
    <vt:lpwstr/>
  </property>
  <property fmtid="{D5CDD505-2E9C-101B-9397-08002B2CF9AE}" pid="10" name="MediaServiceImageTags">
    <vt:lpwstr/>
  </property>
  <property fmtid="{D5CDD505-2E9C-101B-9397-08002B2CF9AE}" pid="11" name="MSIP_Label_10877899-02b0-462c-b2a9-b7d15c4f96fe_Enabled">
    <vt:lpwstr>true</vt:lpwstr>
  </property>
  <property fmtid="{D5CDD505-2E9C-101B-9397-08002B2CF9AE}" pid="12" name="MSIP_Label_10877899-02b0-462c-b2a9-b7d15c4f96fe_SetDate">
    <vt:lpwstr>2025-04-25T04:19:52Z</vt:lpwstr>
  </property>
  <property fmtid="{D5CDD505-2E9C-101B-9397-08002B2CF9AE}" pid="13" name="MSIP_Label_10877899-02b0-462c-b2a9-b7d15c4f96fe_Method">
    <vt:lpwstr>Standard</vt:lpwstr>
  </property>
  <property fmtid="{D5CDD505-2E9C-101B-9397-08002B2CF9AE}" pid="14" name="MSIP_Label_10877899-02b0-462c-b2a9-b7d15c4f96fe_Name">
    <vt:lpwstr>Protected [Protected A]</vt:lpwstr>
  </property>
  <property fmtid="{D5CDD505-2E9C-101B-9397-08002B2CF9AE}" pid="15" name="MSIP_Label_10877899-02b0-462c-b2a9-b7d15c4f96fe_SiteId">
    <vt:lpwstr>5c98fb47-d3b9-4649-9d94-f88cbdd9729c</vt:lpwstr>
  </property>
  <property fmtid="{D5CDD505-2E9C-101B-9397-08002B2CF9AE}" pid="16" name="MSIP_Label_10877899-02b0-462c-b2a9-b7d15c4f96fe_ActionId">
    <vt:lpwstr>162fc8a6-e960-4808-9911-9227cb246ce1</vt:lpwstr>
  </property>
  <property fmtid="{D5CDD505-2E9C-101B-9397-08002B2CF9AE}" pid="17" name="MSIP_Label_10877899-02b0-462c-b2a9-b7d15c4f96fe_ContentBits">
    <vt:lpwstr>0</vt:lpwstr>
  </property>
  <property fmtid="{D5CDD505-2E9C-101B-9397-08002B2CF9AE}" pid="18" name="MSIP_Label_10877899-02b0-462c-b2a9-b7d15c4f96fe_Tag">
    <vt:lpwstr>10, 3, 0, 1</vt:lpwstr>
  </property>
</Properties>
</file>