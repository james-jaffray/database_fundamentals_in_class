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9"/>
  </p:notesMasterIdLst>
  <p:sldIdLst>
    <p:sldId id="271" r:id="rId5"/>
    <p:sldId id="25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95" r:id="rId15"/>
    <p:sldId id="376" r:id="rId16"/>
    <p:sldId id="396" r:id="rId17"/>
    <p:sldId id="397" r:id="rId18"/>
    <p:sldId id="377" r:id="rId19"/>
    <p:sldId id="378" r:id="rId20"/>
    <p:sldId id="398" r:id="rId21"/>
    <p:sldId id="379" r:id="rId22"/>
    <p:sldId id="284" r:id="rId23"/>
    <p:sldId id="380" r:id="rId24"/>
    <p:sldId id="381" r:id="rId25"/>
    <p:sldId id="382" r:id="rId26"/>
    <p:sldId id="383" r:id="rId27"/>
    <p:sldId id="384" r:id="rId28"/>
    <p:sldId id="385" r:id="rId29"/>
    <p:sldId id="399" r:id="rId30"/>
    <p:sldId id="386" r:id="rId31"/>
    <p:sldId id="400" r:id="rId32"/>
    <p:sldId id="387" r:id="rId33"/>
    <p:sldId id="388" r:id="rId34"/>
    <p:sldId id="389" r:id="rId35"/>
    <p:sldId id="401" r:id="rId36"/>
    <p:sldId id="390" r:id="rId37"/>
    <p:sldId id="402" r:id="rId38"/>
    <p:sldId id="391" r:id="rId39"/>
    <p:sldId id="392" r:id="rId40"/>
    <p:sldId id="403" r:id="rId41"/>
    <p:sldId id="404" r:id="rId42"/>
    <p:sldId id="405" r:id="rId43"/>
    <p:sldId id="406" r:id="rId44"/>
    <p:sldId id="407" r:id="rId45"/>
    <p:sldId id="408" r:id="rId46"/>
    <p:sldId id="409" r:id="rId47"/>
    <p:sldId id="410" r:id="rId48"/>
    <p:sldId id="411" r:id="rId49"/>
    <p:sldId id="412" r:id="rId50"/>
    <p:sldId id="413" r:id="rId51"/>
    <p:sldId id="414" r:id="rId52"/>
    <p:sldId id="415" r:id="rId53"/>
    <p:sldId id="261" r:id="rId54"/>
    <p:sldId id="274" r:id="rId55"/>
    <p:sldId id="416" r:id="rId56"/>
    <p:sldId id="417" r:id="rId57"/>
    <p:sldId id="418" r:id="rId58"/>
    <p:sldId id="419" r:id="rId59"/>
    <p:sldId id="420" r:id="rId60"/>
    <p:sldId id="421" r:id="rId61"/>
    <p:sldId id="422" r:id="rId62"/>
    <p:sldId id="423" r:id="rId63"/>
    <p:sldId id="425" r:id="rId64"/>
    <p:sldId id="424" r:id="rId65"/>
    <p:sldId id="426" r:id="rId66"/>
    <p:sldId id="393" r:id="rId67"/>
    <p:sldId id="394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3" autoAdjust="0"/>
    <p:restoredTop sz="89935" autoAdjust="0"/>
  </p:normalViewPr>
  <p:slideViewPr>
    <p:cSldViewPr snapToGrid="0" snapToObjects="1" showGuides="1">
      <p:cViewPr varScale="1">
        <p:scale>
          <a:sx n="45" d="100"/>
          <a:sy n="45" d="100"/>
        </p:scale>
        <p:origin x="29" y="6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32709-1847-4F53-98E0-E379346D49D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A85F0-2AA3-412D-B482-1445E370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3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2363054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2363054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78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116db96f5_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116db96f5_2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Answer:</a:t>
            </a:r>
            <a:r>
              <a:rPr lang="en-CA" dirty="0"/>
              <a:t> Student ID + Course Code (Composite Key)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2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624cace867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624cace867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24cace867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624cace867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830438" y="2624442"/>
            <a:ext cx="8531123" cy="147161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0DFF8B-0CA2-444E-B3B8-516B41CBE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7231" y="745523"/>
            <a:ext cx="1168573" cy="143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5C5819-15D5-134D-9ACE-EB35435DDD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3914" y="4598843"/>
            <a:ext cx="6337921" cy="5369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674987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223" y="335242"/>
            <a:ext cx="10630647" cy="106967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4224" y="1795742"/>
            <a:ext cx="10654552" cy="351136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83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39781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3858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22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0449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9937" y="3045791"/>
            <a:ext cx="6365875" cy="9286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052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697788" y="2603500"/>
            <a:ext cx="4214812" cy="1873250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INSERT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81789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32" y="5791200"/>
            <a:ext cx="3552445" cy="74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09866" y="5780616"/>
            <a:ext cx="607785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85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592-B9CD-7AF8-2531-D88D3E9D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3C0C-F99B-8C9C-5380-BAC668129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13D1-0C16-8026-7BD4-926A5162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FE-D9D4-D649-9D1F-5FA64CDC0CC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E5B1-A151-0420-61EC-F4B8FC23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8DDD1-36BF-D966-84CD-8EE8543E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199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766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24" y="1795742"/>
            <a:ext cx="10515600" cy="35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BFFFE-D9D4-D649-9D1F-5FA64CDC0CC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 descr="ppt screen_Header_6-9_1920x1080 Wide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73171"/>
            <a:ext cx="12196659" cy="138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6" y="5780616"/>
            <a:ext cx="3553126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7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2" r:id="rId3"/>
    <p:sldLayoutId id="2147483654" r:id="rId4"/>
    <p:sldLayoutId id="2147483655" r:id="rId5"/>
    <p:sldLayoutId id="2147483663" r:id="rId6"/>
    <p:sldLayoutId id="2147483660" r:id="rId7"/>
    <p:sldLayoutId id="2147483662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830438" y="3429000"/>
            <a:ext cx="8531123" cy="1471612"/>
          </a:xfrm>
        </p:spPr>
        <p:txBody>
          <a:bodyPr>
            <a:normAutofit/>
          </a:bodyPr>
          <a:lstStyle/>
          <a:p>
            <a:r>
              <a:rPr lang="en-US" b="1" dirty="0"/>
              <a:t>Entity-Relationship Diagrams (ERDs)</a:t>
            </a:r>
          </a:p>
        </p:txBody>
      </p:sp>
    </p:spTree>
    <p:extLst>
      <p:ext uri="{BB962C8B-B14F-4D97-AF65-F5344CB8AC3E}">
        <p14:creationId xmlns:p14="http://schemas.microsoft.com/office/powerpoint/2010/main" val="256906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534" y="-144354"/>
            <a:ext cx="8868697" cy="652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 descr="Piece of duct tape sticking a note to the slide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8">
            <a:off x="4577015" y="-82660"/>
            <a:ext cx="2762667" cy="9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3806282" y="646584"/>
            <a:ext cx="4577200" cy="1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b="1" dirty="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Today’s agenda</a:t>
            </a:r>
            <a:endParaRPr sz="4000" b="1" dirty="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4294967295"/>
          </p:nvPr>
        </p:nvSpPr>
        <p:spPr>
          <a:xfrm>
            <a:off x="2744398" y="1571169"/>
            <a:ext cx="6763395" cy="443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85000" lnSpcReduction="10000"/>
          </a:bodyPr>
          <a:lstStyle/>
          <a:p>
            <a:pPr marL="609585" indent="-457189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Raleway"/>
              <a:buChar char="❏"/>
            </a:pPr>
            <a:r>
              <a:rPr lang="en-US" sz="2400" dirty="0">
                <a:latin typeface="Raleway"/>
                <a:ea typeface="Raleway"/>
                <a:cs typeface="Raleway"/>
                <a:sym typeface="Raleway"/>
              </a:rPr>
              <a:t>Define the purpose of the Entity-Relationship (ER) Model 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Raleway"/>
              <a:buChar char="❏"/>
            </a:pPr>
            <a:r>
              <a:rPr lang="en-US" sz="2400" dirty="0">
                <a:latin typeface="Raleway"/>
                <a:ea typeface="Raleway"/>
                <a:cs typeface="Raleway"/>
                <a:sym typeface="Raleway"/>
              </a:rPr>
              <a:t>Differentiate between entities, instances, and attributes 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Raleway"/>
              <a:buChar char="❏"/>
            </a:pPr>
            <a:r>
              <a:rPr lang="en-US" sz="2400" dirty="0">
                <a:latin typeface="Raleway"/>
                <a:ea typeface="Raleway"/>
                <a:cs typeface="Raleway"/>
                <a:sym typeface="Raleway"/>
              </a:rPr>
              <a:t>Identify and classify attribute types (atomic, composite, stored, derived) 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Raleway"/>
              <a:buChar char="❏"/>
            </a:pPr>
            <a:r>
              <a:rPr lang="en-US" sz="2400" dirty="0">
                <a:latin typeface="Raleway"/>
                <a:ea typeface="Raleway"/>
                <a:cs typeface="Raleway"/>
                <a:sym typeface="Raleway"/>
              </a:rPr>
              <a:t>Explain domains and null values 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Raleway"/>
              <a:buChar char="❏"/>
            </a:pPr>
            <a:r>
              <a:rPr lang="en-US" sz="2400" dirty="0">
                <a:latin typeface="Raleway"/>
                <a:ea typeface="Raleway"/>
                <a:cs typeface="Raleway"/>
                <a:sym typeface="Raleway"/>
              </a:rPr>
              <a:t>Identify and create primary keys and foreign keys 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Raleway"/>
              <a:buChar char="❏"/>
            </a:pPr>
            <a:r>
              <a:rPr lang="en-US" sz="2400" dirty="0">
                <a:latin typeface="Raleway"/>
                <a:ea typeface="Raleway"/>
                <a:cs typeface="Raleway"/>
                <a:sym typeface="Raleway"/>
              </a:rPr>
              <a:t>Describe and model one-to-one, one-to-many, and many-to-many relationships 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Raleway"/>
              <a:buChar char="❏"/>
            </a:pPr>
            <a:r>
              <a:rPr lang="en-US" sz="2400" dirty="0">
                <a:latin typeface="Raleway"/>
                <a:ea typeface="Raleway"/>
                <a:cs typeface="Raleway"/>
                <a:sym typeface="Raleway"/>
              </a:rPr>
              <a:t>Create associative entities to resolve many-to-many relationships </a:t>
            </a:r>
          </a:p>
          <a:p>
            <a:pPr marL="609585" indent="-457189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Raleway"/>
              <a:buChar char="❏"/>
            </a:pPr>
            <a:r>
              <a:rPr lang="en-US" sz="2400" dirty="0">
                <a:latin typeface="Raleway"/>
                <a:ea typeface="Raleway"/>
                <a:cs typeface="Raleway"/>
                <a:sym typeface="Raleway"/>
              </a:rPr>
              <a:t>Interpret and create ERDs using IDEF1X notation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5B260D-7A8B-ECF5-5B68-3E8F7D521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529019"/>
              </p:ext>
            </p:extLst>
          </p:nvPr>
        </p:nvGraphicFramePr>
        <p:xfrm>
          <a:off x="713316" y="1815942"/>
          <a:ext cx="11173884" cy="32261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6942">
                  <a:extLst>
                    <a:ext uri="{9D8B030D-6E8A-4147-A177-3AD203B41FA5}">
                      <a16:colId xmlns:a16="http://schemas.microsoft.com/office/drawing/2014/main" val="3224013063"/>
                    </a:ext>
                  </a:extLst>
                </a:gridCol>
                <a:gridCol w="5586942">
                  <a:extLst>
                    <a:ext uri="{9D8B030D-6E8A-4147-A177-3AD203B41FA5}">
                      <a16:colId xmlns:a16="http://schemas.microsoft.com/office/drawing/2014/main" val="2647142538"/>
                    </a:ext>
                  </a:extLst>
                </a:gridCol>
              </a:tblGrid>
              <a:tr h="537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1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1" dirty="0"/>
                        <a:t>Summary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139871"/>
                  </a:ext>
                </a:extLst>
              </a:tr>
              <a:tr h="537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Organized collection of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560293"/>
                  </a:ext>
                </a:extLst>
              </a:tr>
              <a:tr h="537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DBMS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Software to manage databases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104144"/>
                  </a:ext>
                </a:extLst>
              </a:tr>
              <a:tr h="537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Relational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Data stored in related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714292"/>
                  </a:ext>
                </a:extLst>
              </a:tr>
              <a:tr h="537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 thing we store information about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10717"/>
                  </a:ext>
                </a:extLst>
              </a:tr>
              <a:tr h="537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 characteristic of an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4004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0FA8A3-67FD-B0B3-8C17-FA767270F3FE}"/>
              </a:ext>
            </a:extLst>
          </p:cNvPr>
          <p:cNvSpPr txBox="1"/>
          <p:nvPr/>
        </p:nvSpPr>
        <p:spPr>
          <a:xfrm>
            <a:off x="3200401" y="551934"/>
            <a:ext cx="7907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800" b="1" dirty="0"/>
              <a:t>REVIEW FROM DAY 2</a:t>
            </a:r>
          </a:p>
        </p:txBody>
      </p:sp>
    </p:spTree>
    <p:extLst>
      <p:ext uri="{BB962C8B-B14F-4D97-AF65-F5344CB8AC3E}">
        <p14:creationId xmlns:p14="http://schemas.microsoft.com/office/powerpoint/2010/main" val="94942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8E3B-953D-C5A8-A98C-995692E0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 with Poor Design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45B57-F3B5-2AE5-358F-36F986A8F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419" y="1498064"/>
            <a:ext cx="7542648" cy="491963"/>
          </a:xfrm>
        </p:spPr>
        <p:txBody>
          <a:bodyPr/>
          <a:lstStyle/>
          <a:p>
            <a:pPr marL="152396" indent="0">
              <a:buNone/>
            </a:pPr>
            <a:r>
              <a:rPr lang="en-US" sz="2000" b="1" dirty="0"/>
              <a:t>What happens when we design a database poorly?</a:t>
            </a: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C2CF6F-321C-E666-92F6-C302E9FB1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447523"/>
              </p:ext>
            </p:extLst>
          </p:nvPr>
        </p:nvGraphicFramePr>
        <p:xfrm>
          <a:off x="577848" y="2035081"/>
          <a:ext cx="7042151" cy="40549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479">
                  <a:extLst>
                    <a:ext uri="{9D8B030D-6E8A-4147-A177-3AD203B41FA5}">
                      <a16:colId xmlns:a16="http://schemas.microsoft.com/office/drawing/2014/main" val="551323467"/>
                    </a:ext>
                  </a:extLst>
                </a:gridCol>
                <a:gridCol w="4390672">
                  <a:extLst>
                    <a:ext uri="{9D8B030D-6E8A-4147-A177-3AD203B41FA5}">
                      <a16:colId xmlns:a16="http://schemas.microsoft.com/office/drawing/2014/main" val="43532993"/>
                    </a:ext>
                  </a:extLst>
                </a:gridCol>
              </a:tblGrid>
              <a:tr h="446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b="1" dirty="0">
                          <a:solidFill>
                            <a:schemeClr val="accent2"/>
                          </a:solidFill>
                        </a:rPr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b="1" dirty="0">
                          <a:solidFill>
                            <a:schemeClr val="accent2"/>
                          </a:solidFill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303548"/>
                  </a:ext>
                </a:extLst>
              </a:tr>
              <a:tr h="72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Redundancy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Same customer information stored in multiple places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729212"/>
                  </a:ext>
                </a:extLst>
              </a:tr>
              <a:tr h="72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Inconsistency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Customer phone number is different in different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281247"/>
                  </a:ext>
                </a:extLst>
              </a:tr>
              <a:tr h="72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Update Anomalies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Must update the same data in multiple locations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666562"/>
                  </a:ext>
                </a:extLst>
              </a:tr>
              <a:tr h="72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Insert Anomalies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Can't add a new product until it has been ordered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808785"/>
                  </a:ext>
                </a:extLst>
              </a:tr>
              <a:tr h="721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Delete Anomalies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Deleting an order accidentally deletes customer info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409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2F8FAB7-FA21-5F69-1F1B-998AB8CE3ACB}"/>
              </a:ext>
            </a:extLst>
          </p:cNvPr>
          <p:cNvSpPr txBox="1"/>
          <p:nvPr/>
        </p:nvSpPr>
        <p:spPr>
          <a:xfrm>
            <a:off x="7857066" y="4406309"/>
            <a:ext cx="4334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The Solution:</a:t>
            </a:r>
            <a:endParaRPr lang="en-CA" dirty="0"/>
          </a:p>
          <a:p>
            <a:pPr>
              <a:buNone/>
            </a:pPr>
            <a:r>
              <a:rPr lang="en-CA" dirty="0"/>
              <a:t>Use the </a:t>
            </a:r>
            <a:r>
              <a:rPr lang="en-CA" b="1" dirty="0"/>
              <a:t>Entity-Relationship Model</a:t>
            </a:r>
            <a:r>
              <a:rPr lang="en-CA" dirty="0"/>
              <a:t> to plan your database before building it.</a:t>
            </a:r>
          </a:p>
        </p:txBody>
      </p:sp>
    </p:spTree>
    <p:extLst>
      <p:ext uri="{BB962C8B-B14F-4D97-AF65-F5344CB8AC3E}">
        <p14:creationId xmlns:p14="http://schemas.microsoft.com/office/powerpoint/2010/main" val="114481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40B9-76EB-B760-A548-E90BF3D1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633" y="616923"/>
            <a:ext cx="8428800" cy="847200"/>
          </a:xfrm>
        </p:spPr>
        <p:txBody>
          <a:bodyPr/>
          <a:lstStyle/>
          <a:p>
            <a:r>
              <a:rPr lang="en-CA" b="1" dirty="0"/>
              <a:t>Real-World Entities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81FEA-11D8-25B7-A1CD-80B2BD931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823" y="1304252"/>
            <a:ext cx="11039610" cy="847200"/>
          </a:xfrm>
        </p:spPr>
        <p:txBody>
          <a:bodyPr>
            <a:normAutofit fontScale="92500" lnSpcReduction="10000"/>
          </a:bodyPr>
          <a:lstStyle/>
          <a:p>
            <a:pPr marL="152396" indent="0">
              <a:lnSpc>
                <a:spcPct val="120000"/>
              </a:lnSpc>
              <a:buNone/>
            </a:pPr>
            <a:r>
              <a:rPr lang="en-US" sz="2000" dirty="0"/>
              <a:t>Think about a university registration system.</a:t>
            </a:r>
          </a:p>
          <a:p>
            <a:pPr marL="152396" indent="0">
              <a:lnSpc>
                <a:spcPct val="120000"/>
              </a:lnSpc>
              <a:buNone/>
            </a:pPr>
            <a:r>
              <a:rPr lang="en-US" sz="2000" dirty="0"/>
              <a:t>What "things" does the university need to track?</a:t>
            </a:r>
            <a:endParaRPr lang="en-CA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397ABC-1734-2FB3-00F2-BEBE65A3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724436"/>
              </p:ext>
            </p:extLst>
          </p:nvPr>
        </p:nvGraphicFramePr>
        <p:xfrm>
          <a:off x="838200" y="2156464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92052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47236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690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People enrolled at the university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101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Classes offered by the university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667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INSTRUCTOR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People teaching the courses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5442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Academic units (Math, English,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522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Which students are in which courses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4746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619373-0ADB-067E-85DF-AFC0B30244A8}"/>
              </a:ext>
            </a:extLst>
          </p:cNvPr>
          <p:cNvSpPr txBox="1"/>
          <p:nvPr/>
        </p:nvSpPr>
        <p:spPr>
          <a:xfrm>
            <a:off x="838200" y="46328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What other entities might a university need to track?</a:t>
            </a:r>
          </a:p>
        </p:txBody>
      </p:sp>
    </p:spTree>
    <p:extLst>
      <p:ext uri="{BB962C8B-B14F-4D97-AF65-F5344CB8AC3E}">
        <p14:creationId xmlns:p14="http://schemas.microsoft.com/office/powerpoint/2010/main" val="42254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1EA3-E419-4E2D-C59B-5DECDA4D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767933"/>
            <a:ext cx="10613133" cy="847200"/>
          </a:xfrm>
        </p:spPr>
        <p:txBody>
          <a:bodyPr/>
          <a:lstStyle/>
          <a:p>
            <a:r>
              <a:rPr lang="en-US" b="1" dirty="0"/>
              <a:t>What is the Entity-Relationship Model?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C2837-333B-06E3-3E52-892921CFB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909491"/>
            <a:ext cx="4714781" cy="3543042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dirty="0"/>
              <a:t>The Entity-Relationship (ER) Model is a tool that organizes and documents the logical design of a database.</a:t>
            </a:r>
          </a:p>
          <a:p>
            <a:r>
              <a:rPr lang="en-CA" b="1" dirty="0"/>
              <a:t>Why use it?</a:t>
            </a:r>
            <a:endParaRPr lang="en-CA" dirty="0"/>
          </a:p>
          <a:p>
            <a:pPr lvl="0"/>
            <a:r>
              <a:rPr lang="en-CA" dirty="0"/>
              <a:t>It's a </a:t>
            </a:r>
            <a:r>
              <a:rPr lang="en-CA" b="1" dirty="0"/>
              <a:t>blueprint</a:t>
            </a:r>
            <a:r>
              <a:rPr lang="en-CA" dirty="0"/>
              <a:t> for your database </a:t>
            </a:r>
          </a:p>
          <a:p>
            <a:pPr lvl="0"/>
            <a:r>
              <a:rPr lang="en-CA" dirty="0"/>
              <a:t>It helps </a:t>
            </a:r>
            <a:r>
              <a:rPr lang="en-CA" b="1" dirty="0"/>
              <a:t>communicate</a:t>
            </a:r>
            <a:r>
              <a:rPr lang="en-CA" dirty="0"/>
              <a:t> with business stakeholders </a:t>
            </a:r>
          </a:p>
          <a:p>
            <a:pPr lvl="0"/>
            <a:r>
              <a:rPr lang="en-CA" dirty="0"/>
              <a:t>It </a:t>
            </a:r>
            <a:r>
              <a:rPr lang="en-CA" b="1" dirty="0"/>
              <a:t>documents</a:t>
            </a:r>
            <a:r>
              <a:rPr lang="en-CA" dirty="0"/>
              <a:t> the design for future reference </a:t>
            </a:r>
          </a:p>
          <a:p>
            <a:pPr lvl="0"/>
            <a:r>
              <a:rPr lang="en-CA" dirty="0"/>
              <a:t>It ensures you're solving the right problems before you start building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3AAC89-8920-AA42-AFFB-BDA31BCDC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092224"/>
              </p:ext>
            </p:extLst>
          </p:nvPr>
        </p:nvGraphicFramePr>
        <p:xfrm>
          <a:off x="5425441" y="2661920"/>
          <a:ext cx="656335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7026">
                  <a:extLst>
                    <a:ext uri="{9D8B030D-6E8A-4147-A177-3AD203B41FA5}">
                      <a16:colId xmlns:a16="http://schemas.microsoft.com/office/drawing/2014/main" val="1848482496"/>
                    </a:ext>
                  </a:extLst>
                </a:gridCol>
                <a:gridCol w="4726333">
                  <a:extLst>
                    <a:ext uri="{9D8B030D-6E8A-4147-A177-3AD203B41FA5}">
                      <a16:colId xmlns:a16="http://schemas.microsoft.com/office/drawing/2014/main" val="2791757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23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Entities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The "things" we store information about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839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Attributes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The characteristics of those things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752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How entities are connected to each other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475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71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71D4-EEC2-64AF-F09A-4EAE6197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Entities vs. Instances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5549-60DB-C842-493E-AEAA7B490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120" y="1843733"/>
            <a:ext cx="4710548" cy="1514713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US" sz="2400" dirty="0"/>
              <a:t>This is a critical distinction to understand. </a:t>
            </a:r>
            <a:r>
              <a:rPr lang="en-US" sz="2400" b="1" dirty="0"/>
              <a:t>Remember: </a:t>
            </a:r>
            <a:r>
              <a:rPr lang="en-US" sz="2400" dirty="0"/>
              <a:t>An entity is a type. An instance is a specific example of that type.</a:t>
            </a:r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97DB8D-92A3-B8CB-C668-5A1C88ECE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868782"/>
              </p:ext>
            </p:extLst>
          </p:nvPr>
        </p:nvGraphicFramePr>
        <p:xfrm>
          <a:off x="316586" y="3817015"/>
          <a:ext cx="10114348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64511">
                  <a:extLst>
                    <a:ext uri="{9D8B030D-6E8A-4147-A177-3AD203B41FA5}">
                      <a16:colId xmlns:a16="http://schemas.microsoft.com/office/drawing/2014/main" val="2871248410"/>
                    </a:ext>
                  </a:extLst>
                </a:gridCol>
                <a:gridCol w="3778388">
                  <a:extLst>
                    <a:ext uri="{9D8B030D-6E8A-4147-A177-3AD203B41FA5}">
                      <a16:colId xmlns:a16="http://schemas.microsoft.com/office/drawing/2014/main" val="518201925"/>
                    </a:ext>
                  </a:extLst>
                </a:gridCol>
                <a:gridCol w="3371449">
                  <a:extLst>
                    <a:ext uri="{9D8B030D-6E8A-4147-A177-3AD203B41FA5}">
                      <a16:colId xmlns:a16="http://schemas.microsoft.com/office/drawing/2014/main" val="780138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solidFill>
                            <a:schemeClr val="accent2"/>
                          </a:solidFill>
                        </a:rPr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solidFill>
                            <a:schemeClr val="accent2"/>
                          </a:solidFill>
                        </a:rPr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>
                          <a:solidFill>
                            <a:schemeClr val="accent2"/>
                          </a:solidFill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77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Entity (Entity Type)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 category or class of things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70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Instance (Entity Instance)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One specific occurrence of an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Joan Adams (Customer #100)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8828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83B3E6-58B8-755C-E960-B92309CDAFC5}"/>
              </a:ext>
            </a:extLst>
          </p:cNvPr>
          <p:cNvSpPr txBox="1"/>
          <p:nvPr/>
        </p:nvSpPr>
        <p:spPr>
          <a:xfrm>
            <a:off x="4910668" y="183891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ENTITY: CUSTOMER</a:t>
            </a:r>
          </a:p>
          <a:p>
            <a:r>
              <a:rPr lang="en-CA" dirty="0"/>
              <a:t>    │</a:t>
            </a:r>
          </a:p>
          <a:p>
            <a:r>
              <a:rPr lang="en-CA" dirty="0"/>
              <a:t>    ├── Instance: Customer #100 — Joan Adams</a:t>
            </a:r>
          </a:p>
          <a:p>
            <a:r>
              <a:rPr lang="en-CA" dirty="0"/>
              <a:t>    ├── Instance: Customer #200 — Miles Smith</a:t>
            </a:r>
          </a:p>
          <a:p>
            <a:r>
              <a:rPr lang="en-CA" dirty="0"/>
              <a:t>    ├── Instance: Customer #300 — Sarah Jones</a:t>
            </a:r>
          </a:p>
          <a:p>
            <a:r>
              <a:rPr lang="en-CA" dirty="0"/>
              <a:t>    └── Instance: Customer #400 — David Chen</a:t>
            </a:r>
          </a:p>
        </p:txBody>
      </p:sp>
    </p:spTree>
    <p:extLst>
      <p:ext uri="{BB962C8B-B14F-4D97-AF65-F5344CB8AC3E}">
        <p14:creationId xmlns:p14="http://schemas.microsoft.com/office/powerpoint/2010/main" val="114282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6067-4A89-57E6-0B84-6FBE0D39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067" y="539333"/>
            <a:ext cx="10775539" cy="847200"/>
          </a:xfrm>
        </p:spPr>
        <p:txBody>
          <a:bodyPr/>
          <a:lstStyle/>
          <a:p>
            <a:r>
              <a:rPr lang="en-CA" b="1" dirty="0"/>
              <a:t>Physical vs. Conceptual Entities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5A01B-A00C-8780-A303-76BEDD5F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615134"/>
            <a:ext cx="10956483" cy="363227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CA" dirty="0"/>
              <a:t>Not every entity is a physical object.</a:t>
            </a:r>
          </a:p>
          <a:p>
            <a:pPr>
              <a:lnSpc>
                <a:spcPct val="120000"/>
              </a:lnSpc>
              <a:buNone/>
            </a:pPr>
            <a:r>
              <a:rPr lang="en-CA" b="1" dirty="0"/>
              <a:t>Physical Entity</a:t>
            </a:r>
            <a:endParaRPr lang="en-CA" dirty="0"/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dirty="0"/>
              <a:t>A real-world object that can be seen or touched 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Examples: </a:t>
            </a:r>
            <a:r>
              <a:rPr lang="en-CA" dirty="0"/>
              <a:t>CUSTOMER, EMPLOYEE, VEHICLE, PRODUCT </a:t>
            </a:r>
          </a:p>
          <a:p>
            <a:pPr>
              <a:lnSpc>
                <a:spcPct val="120000"/>
              </a:lnSpc>
              <a:buNone/>
            </a:pPr>
            <a:r>
              <a:rPr lang="en-CA" b="1" dirty="0"/>
              <a:t>Conceptual Entity</a:t>
            </a:r>
            <a:endParaRPr lang="en-CA" dirty="0"/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dirty="0"/>
              <a:t>An idea, event, or business concept that may not be a physical object 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Examples: </a:t>
            </a:r>
            <a:r>
              <a:rPr lang="en-CA" dirty="0"/>
              <a:t>COURSE, ORDER, ENROLLMENT, ACCOUNT </a:t>
            </a:r>
          </a:p>
          <a:p>
            <a:pPr>
              <a:lnSpc>
                <a:spcPct val="120000"/>
              </a:lnSpc>
              <a:buNone/>
            </a:pPr>
            <a:r>
              <a:rPr lang="en-CA" b="1" dirty="0"/>
              <a:t>Key Point:</a:t>
            </a:r>
            <a:endParaRPr lang="en-CA" dirty="0"/>
          </a:p>
          <a:p>
            <a:pPr>
              <a:lnSpc>
                <a:spcPct val="120000"/>
              </a:lnSpc>
              <a:buNone/>
            </a:pPr>
            <a:r>
              <a:rPr lang="en-CA" dirty="0"/>
              <a:t>An entity is anything about which the organization needs to store data.</a:t>
            </a:r>
          </a:p>
          <a:p>
            <a:pPr>
              <a:lnSpc>
                <a:spcPct val="120000"/>
              </a:lnSpc>
              <a:buNone/>
            </a:pPr>
            <a:r>
              <a:rPr lang="en-CA" b="1" dirty="0"/>
              <a:t>Question for the class:</a:t>
            </a:r>
            <a:endParaRPr lang="en-CA" dirty="0"/>
          </a:p>
          <a:p>
            <a:pPr>
              <a:lnSpc>
                <a:spcPct val="120000"/>
              </a:lnSpc>
              <a:buNone/>
            </a:pPr>
            <a:r>
              <a:rPr lang="en-CA" dirty="0"/>
              <a:t>Is an ORDER a physical entity or a conceptual entity? Why?</a:t>
            </a:r>
          </a:p>
          <a:p>
            <a:pPr marL="152396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4408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A670-E6EB-CEC1-6A57-D7EECDC0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24" y="612070"/>
            <a:ext cx="8428800" cy="847200"/>
          </a:xfrm>
        </p:spPr>
        <p:txBody>
          <a:bodyPr/>
          <a:lstStyle/>
          <a:p>
            <a:r>
              <a:rPr lang="en-CA" b="1" dirty="0"/>
              <a:t>Attributes in Detail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86E46-D25A-4B04-F58A-92B1D253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928" y="1427400"/>
            <a:ext cx="4974939" cy="4003200"/>
          </a:xfrm>
        </p:spPr>
        <p:txBody>
          <a:bodyPr/>
          <a:lstStyle/>
          <a:p>
            <a:pPr marL="152396" indent="0">
              <a:buNone/>
            </a:pPr>
            <a:r>
              <a:rPr lang="en-US" sz="2400" dirty="0"/>
              <a:t>Attributes are the pieces of data that describe an entity.</a:t>
            </a:r>
          </a:p>
          <a:p>
            <a:pPr marL="152396" indent="0">
              <a:buNone/>
            </a:pPr>
            <a:r>
              <a:rPr lang="en-US" sz="2400" b="1" dirty="0"/>
              <a:t>Example: </a:t>
            </a:r>
            <a:r>
              <a:rPr lang="en-US" sz="2400" dirty="0"/>
              <a:t>The CUSTOMER Entity</a:t>
            </a:r>
          </a:p>
          <a:p>
            <a:pPr marL="152396" indent="0">
              <a:buNone/>
            </a:pPr>
            <a:r>
              <a:rPr lang="en-CA" sz="2400" b="1" dirty="0"/>
              <a:t>In this example:</a:t>
            </a:r>
            <a:endParaRPr lang="en-CA" sz="2400" dirty="0"/>
          </a:p>
          <a:p>
            <a:pPr lvl="0"/>
            <a:r>
              <a:rPr lang="en-CA" sz="2400" dirty="0"/>
              <a:t>The </a:t>
            </a:r>
            <a:r>
              <a:rPr lang="en-CA" sz="2400" b="1" dirty="0"/>
              <a:t>Entity</a:t>
            </a:r>
            <a:r>
              <a:rPr lang="en-CA" sz="2400" dirty="0"/>
              <a:t> is CUSTOMER </a:t>
            </a:r>
          </a:p>
          <a:p>
            <a:pPr lvl="0"/>
            <a:r>
              <a:rPr lang="en-CA" sz="2400" dirty="0"/>
              <a:t>The </a:t>
            </a:r>
            <a:r>
              <a:rPr lang="en-CA" sz="2400" b="1" dirty="0"/>
              <a:t>Attributes</a:t>
            </a:r>
            <a:r>
              <a:rPr lang="en-CA" sz="2400" dirty="0"/>
              <a:t> are: Customer Number, Last Name, First Name, Address, Phone </a:t>
            </a:r>
          </a:p>
          <a:p>
            <a:pPr lvl="0"/>
            <a:r>
              <a:rPr lang="en-CA" sz="2400" dirty="0"/>
              <a:t>Each </a:t>
            </a:r>
            <a:r>
              <a:rPr lang="en-CA" sz="2400" b="1" dirty="0"/>
              <a:t>row</a:t>
            </a:r>
            <a:r>
              <a:rPr lang="en-CA" sz="2400" dirty="0"/>
              <a:t> is one </a:t>
            </a:r>
            <a:r>
              <a:rPr lang="en-CA" sz="2400" b="1" dirty="0"/>
              <a:t>instance</a:t>
            </a:r>
            <a:r>
              <a:rPr lang="en-CA" sz="2400" dirty="0"/>
              <a:t> of the CUSTOMER entity</a:t>
            </a:r>
          </a:p>
          <a:p>
            <a:pPr marL="152396" indent="0">
              <a:buNone/>
            </a:pPr>
            <a:endParaRPr lang="en-US" sz="1800" dirty="0"/>
          </a:p>
          <a:p>
            <a:pPr marL="152396" indent="0">
              <a:buNone/>
            </a:pPr>
            <a:endParaRPr lang="en-CA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FF5DED-D2E8-ED91-F5C5-D6F24A6F3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434036"/>
              </p:ext>
            </p:extLst>
          </p:nvPr>
        </p:nvGraphicFramePr>
        <p:xfrm>
          <a:off x="5621867" y="2239358"/>
          <a:ext cx="6417735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3547">
                  <a:extLst>
                    <a:ext uri="{9D8B030D-6E8A-4147-A177-3AD203B41FA5}">
                      <a16:colId xmlns:a16="http://schemas.microsoft.com/office/drawing/2014/main" val="2332282387"/>
                    </a:ext>
                  </a:extLst>
                </a:gridCol>
                <a:gridCol w="1283547">
                  <a:extLst>
                    <a:ext uri="{9D8B030D-6E8A-4147-A177-3AD203B41FA5}">
                      <a16:colId xmlns:a16="http://schemas.microsoft.com/office/drawing/2014/main" val="655846303"/>
                    </a:ext>
                  </a:extLst>
                </a:gridCol>
                <a:gridCol w="1283547">
                  <a:extLst>
                    <a:ext uri="{9D8B030D-6E8A-4147-A177-3AD203B41FA5}">
                      <a16:colId xmlns:a16="http://schemas.microsoft.com/office/drawing/2014/main" val="2073165037"/>
                    </a:ext>
                  </a:extLst>
                </a:gridCol>
                <a:gridCol w="1283547">
                  <a:extLst>
                    <a:ext uri="{9D8B030D-6E8A-4147-A177-3AD203B41FA5}">
                      <a16:colId xmlns:a16="http://schemas.microsoft.com/office/drawing/2014/main" val="2777980212"/>
                    </a:ext>
                  </a:extLst>
                </a:gridCol>
                <a:gridCol w="1283547">
                  <a:extLst>
                    <a:ext uri="{9D8B030D-6E8A-4147-A177-3AD203B41FA5}">
                      <a16:colId xmlns:a16="http://schemas.microsoft.com/office/drawing/2014/main" val="3955845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Customer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Last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First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1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Adams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Joan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9825-77 Ave Edmonton AB T5C 8E2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780-488-8712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308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96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1ECE-867E-CD3F-20C5-C7F70DB2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Atomic vs. Composite Attributes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6686E-3BF2-28E2-111A-BC3A989E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488007"/>
            <a:ext cx="10468110" cy="1407593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CA" sz="2400" b="1" dirty="0"/>
              <a:t>Atomic Attribute</a:t>
            </a:r>
            <a:endParaRPr lang="en-CA" sz="2400" dirty="0"/>
          </a:p>
          <a:p>
            <a:pPr lvl="0"/>
            <a:r>
              <a:rPr lang="en-CA" sz="2400" dirty="0"/>
              <a:t>Cannot be meaningfully broken down </a:t>
            </a:r>
          </a:p>
          <a:p>
            <a:pPr lvl="0"/>
            <a:r>
              <a:rPr lang="en-CA" sz="2400" dirty="0"/>
              <a:t>Contains a single, indivisible value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B42AF5-47CE-63AD-A4F3-D1787A1F2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852432"/>
              </p:ext>
            </p:extLst>
          </p:nvPr>
        </p:nvGraphicFramePr>
        <p:xfrm>
          <a:off x="838200" y="2913946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976721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68006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Atomic 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28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426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First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Joan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3596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780-488-8712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949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BAAA-C8C1-C7A9-EC5F-63BEF41E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A1BA-082B-7468-A348-792D7156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805" y="622461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Atomic vs. Composite Attributes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E4C55-CF56-00EB-5279-64FF1189B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488007"/>
            <a:ext cx="10468110" cy="1407593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CA" sz="2400" b="1" dirty="0"/>
              <a:t>Composite Attribute</a:t>
            </a:r>
            <a:endParaRPr lang="en-CA" sz="2400" dirty="0"/>
          </a:p>
          <a:p>
            <a:pPr lvl="0"/>
            <a:r>
              <a:rPr lang="en-CA" sz="2400" dirty="0"/>
              <a:t>Can be broken down into smaller, meaningful parts </a:t>
            </a:r>
          </a:p>
          <a:p>
            <a:pPr lvl="0"/>
            <a:r>
              <a:rPr lang="en-CA" sz="2400" dirty="0"/>
              <a:t>The parts are often atomic attributes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3BF624-23E6-C475-E968-7CD4F956E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357858"/>
              </p:ext>
            </p:extLst>
          </p:nvPr>
        </p:nvGraphicFramePr>
        <p:xfrm>
          <a:off x="967316" y="2913946"/>
          <a:ext cx="105156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572019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07656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Composite 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Can Be Broken Down Into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1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Street Address, City, Province, Postal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67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Full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First Name, Last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87088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99F9AFB-917D-E416-97E9-C31CA92D7F40}"/>
              </a:ext>
            </a:extLst>
          </p:cNvPr>
          <p:cNvSpPr txBox="1"/>
          <p:nvPr/>
        </p:nvSpPr>
        <p:spPr>
          <a:xfrm>
            <a:off x="967315" y="4366948"/>
            <a:ext cx="91757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Business Rule Consideration:</a:t>
            </a:r>
            <a:endParaRPr lang="en-CA" dirty="0"/>
          </a:p>
          <a:p>
            <a:pPr>
              <a:buNone/>
            </a:pPr>
            <a:r>
              <a:rPr lang="en-CA" dirty="0"/>
              <a:t>A national company stores address as atomic parts. An international company may store address as a single composite attribute because formats vary.</a:t>
            </a:r>
          </a:p>
        </p:txBody>
      </p:sp>
    </p:spTree>
    <p:extLst>
      <p:ext uri="{BB962C8B-B14F-4D97-AF65-F5344CB8AC3E}">
        <p14:creationId xmlns:p14="http://schemas.microsoft.com/office/powerpoint/2010/main" val="1388262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1854-E7DA-BB45-5AAC-E16790CB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CA" b="1" dirty="0"/>
              <a:t>Stored vs. Derived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84111-ECB2-92CE-9E29-05C8B578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8" y="1615133"/>
            <a:ext cx="8428800" cy="577349"/>
          </a:xfrm>
        </p:spPr>
        <p:txBody>
          <a:bodyPr/>
          <a:lstStyle/>
          <a:p>
            <a:pPr>
              <a:buNone/>
            </a:pPr>
            <a:r>
              <a:rPr lang="en-CA" b="1" dirty="0"/>
              <a:t>Stored Attribute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Value is physically stored in the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Directly entered and saved</a:t>
            </a:r>
          </a:p>
          <a:p>
            <a:pPr marL="152396" indent="0">
              <a:buNone/>
            </a:pP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F050FC-BA9D-16C4-ABDD-C2667A14B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62983"/>
              </p:ext>
            </p:extLst>
          </p:nvPr>
        </p:nvGraphicFramePr>
        <p:xfrm>
          <a:off x="560917" y="3211264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578361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360172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Stored 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04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Order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ORD-1001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80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Item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3154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785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88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5FD8-2D94-5A1B-8F60-81796522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696C-28C4-ADCD-5A2F-8640C07D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CA" b="1" dirty="0"/>
              <a:t>Stored vs. Derived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C0F-0811-E6EC-2E95-BBEAA1575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8" y="1615133"/>
            <a:ext cx="8428800" cy="577349"/>
          </a:xfrm>
        </p:spPr>
        <p:txBody>
          <a:bodyPr/>
          <a:lstStyle/>
          <a:p>
            <a:pPr>
              <a:buNone/>
            </a:pPr>
            <a:r>
              <a:rPr lang="en-CA" b="1" dirty="0"/>
              <a:t>Derived Attribute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Value is </a:t>
            </a:r>
            <a:r>
              <a:rPr lang="en-CA" b="1" dirty="0"/>
              <a:t>calculated</a:t>
            </a:r>
            <a:r>
              <a:rPr lang="en-CA" dirty="0"/>
              <a:t> from other stored attributes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Not stored directly (saves space, ensures consistency)</a:t>
            </a:r>
          </a:p>
          <a:p>
            <a:pPr marL="0" lvl="0" indent="0">
              <a:buNone/>
            </a:pP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123034-57CE-2A89-7B51-06492C2A9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767459"/>
              </p:ext>
            </p:extLst>
          </p:nvPr>
        </p:nvGraphicFramePr>
        <p:xfrm>
          <a:off x="577850" y="3568239"/>
          <a:ext cx="105156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786939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05683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Derived 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How It's Calculated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82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Order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Quantity ×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933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Current Date − Date of Birth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704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676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A4904-E9B0-6F8E-8907-94D4E16C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BE803-7A4E-4A4A-76DA-070CB6DE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2" y="767933"/>
            <a:ext cx="8991667" cy="847200"/>
          </a:xfrm>
        </p:spPr>
        <p:txBody>
          <a:bodyPr/>
          <a:lstStyle/>
          <a:p>
            <a:r>
              <a:rPr lang="en-CA" b="1" dirty="0"/>
              <a:t>Stored vs. Derived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F3B2B-EFB1-E0DC-6AF4-B04D68387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8" y="1615133"/>
            <a:ext cx="8428800" cy="577349"/>
          </a:xfrm>
        </p:spPr>
        <p:txBody>
          <a:bodyPr/>
          <a:lstStyle/>
          <a:p>
            <a:pPr>
              <a:buNone/>
            </a:pPr>
            <a:r>
              <a:rPr lang="en-CA" b="1" dirty="0"/>
              <a:t>Trade-off: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35700C-C8E0-A5F3-9EC2-2CC2E407D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717489"/>
              </p:ext>
            </p:extLst>
          </p:nvPr>
        </p:nvGraphicFramePr>
        <p:xfrm>
          <a:off x="510117" y="2310542"/>
          <a:ext cx="10515600" cy="1458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025247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52351898"/>
                    </a:ext>
                  </a:extLst>
                </a:gridCol>
              </a:tblGrid>
              <a:tr h="486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Store Derived 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Don't Store Derived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81538"/>
                  </a:ext>
                </a:extLst>
              </a:tr>
              <a:tr h="486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Uses more storage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Saves storage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061991"/>
                  </a:ext>
                </a:extLst>
              </a:tr>
              <a:tr h="486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Faster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Calculated each time (slower)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76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309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E5D4-7B82-AEF4-087B-620F422A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415" y="632851"/>
            <a:ext cx="8428800" cy="847200"/>
          </a:xfrm>
        </p:spPr>
        <p:txBody>
          <a:bodyPr/>
          <a:lstStyle/>
          <a:p>
            <a:r>
              <a:rPr lang="en-CA" b="1" dirty="0"/>
              <a:t>Domains and Null Values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1431-88F0-AE0A-3919-02C5D8B4E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73" y="1494287"/>
            <a:ext cx="4993027" cy="4003200"/>
          </a:xfrm>
        </p:spPr>
        <p:txBody>
          <a:bodyPr>
            <a:normAutofit fontScale="85000" lnSpcReduction="20000"/>
          </a:bodyPr>
          <a:lstStyle/>
          <a:p>
            <a:pPr marL="152396" indent="0">
              <a:lnSpc>
                <a:spcPct val="110000"/>
              </a:lnSpc>
              <a:buNone/>
            </a:pPr>
            <a:r>
              <a:rPr lang="en-CA" b="1" dirty="0"/>
              <a:t>What values can an attribute hold?</a:t>
            </a:r>
            <a:endParaRPr lang="en-CA" dirty="0"/>
          </a:p>
          <a:p>
            <a:pPr marL="152396" indent="0">
              <a:lnSpc>
                <a:spcPct val="110000"/>
              </a:lnSpc>
              <a:buNone/>
            </a:pPr>
            <a:r>
              <a:rPr lang="en-CA" dirty="0"/>
              <a:t>Every attribute has a set of legitimate values, defined by:</a:t>
            </a:r>
          </a:p>
          <a:p>
            <a:pPr marL="152396" indent="0">
              <a:lnSpc>
                <a:spcPct val="110000"/>
              </a:lnSpc>
              <a:buNone/>
            </a:pPr>
            <a:r>
              <a:rPr lang="en-CA" b="1" dirty="0"/>
              <a:t>Customer Number Example:</a:t>
            </a:r>
            <a:endParaRPr lang="en-CA" dirty="0"/>
          </a:p>
          <a:p>
            <a:pPr lvl="0">
              <a:lnSpc>
                <a:spcPct val="110000"/>
              </a:lnSpc>
            </a:pPr>
            <a:r>
              <a:rPr lang="en-CA" dirty="0"/>
              <a:t>Data Type: Integer </a:t>
            </a:r>
          </a:p>
          <a:p>
            <a:pPr lvl="0">
              <a:lnSpc>
                <a:spcPct val="110000"/>
              </a:lnSpc>
            </a:pPr>
            <a:r>
              <a:rPr lang="en-CA" dirty="0"/>
              <a:t>Domain: Greater than zero </a:t>
            </a:r>
          </a:p>
          <a:p>
            <a:pPr lvl="0">
              <a:lnSpc>
                <a:spcPct val="110000"/>
              </a:lnSpc>
            </a:pPr>
            <a:r>
              <a:rPr lang="en-CA" dirty="0"/>
              <a:t>Legitimate values: 1, 2, 3, 100, 2000, etc. </a:t>
            </a:r>
          </a:p>
          <a:p>
            <a:pPr lvl="0">
              <a:lnSpc>
                <a:spcPct val="110000"/>
              </a:lnSpc>
            </a:pPr>
            <a:r>
              <a:rPr lang="en-CA" dirty="0"/>
              <a:t>Illegitimate values: -5, 0, "ABC"</a:t>
            </a:r>
          </a:p>
          <a:p>
            <a:pPr marL="152396" indent="0">
              <a:lnSpc>
                <a:spcPct val="110000"/>
              </a:lnSpc>
              <a:buNone/>
            </a:pP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07602E-7EB7-9215-DFD5-ECBFAD83B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926265"/>
              </p:ext>
            </p:extLst>
          </p:nvPr>
        </p:nvGraphicFramePr>
        <p:xfrm>
          <a:off x="5588000" y="2064173"/>
          <a:ext cx="6420069" cy="26940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202">
                  <a:extLst>
                    <a:ext uri="{9D8B030D-6E8A-4147-A177-3AD203B41FA5}">
                      <a16:colId xmlns:a16="http://schemas.microsoft.com/office/drawing/2014/main" val="1017935835"/>
                    </a:ext>
                  </a:extLst>
                </a:gridCol>
                <a:gridCol w="1887032">
                  <a:extLst>
                    <a:ext uri="{9D8B030D-6E8A-4147-A177-3AD203B41FA5}">
                      <a16:colId xmlns:a16="http://schemas.microsoft.com/office/drawing/2014/main" val="2532270049"/>
                    </a:ext>
                  </a:extLst>
                </a:gridCol>
                <a:gridCol w="3226835">
                  <a:extLst>
                    <a:ext uri="{9D8B030D-6E8A-4147-A177-3AD203B41FA5}">
                      <a16:colId xmlns:a16="http://schemas.microsoft.com/office/drawing/2014/main" val="1608565092"/>
                    </a:ext>
                  </a:extLst>
                </a:gridCol>
              </a:tblGrid>
              <a:tr h="513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875624"/>
                  </a:ext>
                </a:extLst>
              </a:tr>
              <a:tr h="1282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The kind of data the attribute can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Integer, String,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210308"/>
                  </a:ext>
                </a:extLst>
              </a:tr>
              <a:tr h="898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The set of allowable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Must be &gt; 0, Must be between A-F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009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917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4D5E-1F69-C2D7-47D8-F7E023EA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415" y="601679"/>
            <a:ext cx="8428800" cy="847200"/>
          </a:xfrm>
        </p:spPr>
        <p:txBody>
          <a:bodyPr/>
          <a:lstStyle/>
          <a:p>
            <a:r>
              <a:rPr lang="en-CA" b="1" dirty="0"/>
              <a:t>The NULL Value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20DB2-8B40-0BA0-9A5F-4EC4043B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392" y="1576982"/>
            <a:ext cx="8428800" cy="1640351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CA" b="1" dirty="0"/>
              <a:t>NULL is a special value that represents the ABSENCE of a value.</a:t>
            </a:r>
            <a:endParaRPr lang="en-CA" dirty="0"/>
          </a:p>
          <a:p>
            <a:pPr>
              <a:buNone/>
            </a:pPr>
            <a:r>
              <a:rPr lang="en-CA" dirty="0"/>
              <a:t>NULL is </a:t>
            </a:r>
            <a:r>
              <a:rPr lang="en-CA" b="1" dirty="0"/>
              <a:t>not</a:t>
            </a:r>
            <a:r>
              <a:rPr lang="en-CA" dirty="0"/>
              <a:t> the same as zero, blank, or empty string.</a:t>
            </a:r>
          </a:p>
          <a:p>
            <a:pPr>
              <a:buNone/>
            </a:pPr>
            <a:r>
              <a:rPr lang="en-CA" b="1" dirty="0"/>
              <a:t>Two Interpretations of NULL:</a:t>
            </a:r>
            <a:endParaRPr lang="en-CA" dirty="0"/>
          </a:p>
          <a:p>
            <a:pPr marL="152396" indent="0">
              <a:lnSpc>
                <a:spcPct val="110000"/>
              </a:lnSpc>
              <a:buNone/>
            </a:pP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3EDF1-8718-4AAA-0D04-BA16D56E6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043717"/>
              </p:ext>
            </p:extLst>
          </p:nvPr>
        </p:nvGraphicFramePr>
        <p:xfrm>
          <a:off x="1248615" y="3429000"/>
          <a:ext cx="105156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528901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21886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574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Value is 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 new customer doesn't know their postal code yet. NULL is stored until they provide it.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38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Attribute does not apply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 single employee has no spouse. NULL is stored in the "Spouse Name" attribute.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546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455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A59C-491E-2FD0-2A48-FC948047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529C-63E2-C267-BBE7-78D99A32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415" y="601679"/>
            <a:ext cx="8428800" cy="847200"/>
          </a:xfrm>
        </p:spPr>
        <p:txBody>
          <a:bodyPr/>
          <a:lstStyle/>
          <a:p>
            <a:r>
              <a:rPr lang="en-CA" b="1" dirty="0"/>
              <a:t>The NULL Value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99CE0-A98B-F141-8664-D6EF670E9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392" y="2016157"/>
            <a:ext cx="8428800" cy="282568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CA" b="1" dirty="0"/>
              <a:t>Important Caution:</a:t>
            </a:r>
            <a:endParaRPr lang="en-CA" dirty="0"/>
          </a:p>
          <a:p>
            <a:pPr>
              <a:lnSpc>
                <a:spcPct val="120000"/>
              </a:lnSpc>
              <a:buNone/>
            </a:pPr>
            <a:r>
              <a:rPr lang="en-CA" dirty="0"/>
              <a:t>NULL propagates through expressions. Any expression using an attribute that contains NULL will result in NULL.</a:t>
            </a:r>
          </a:p>
          <a:p>
            <a:pPr>
              <a:lnSpc>
                <a:spcPct val="120000"/>
              </a:lnSpc>
              <a:buNone/>
            </a:pPr>
            <a:r>
              <a:rPr lang="en-CA" b="1" dirty="0"/>
              <a:t>Example:</a:t>
            </a:r>
            <a:r>
              <a:rPr lang="en-CA" dirty="0"/>
              <a:t> </a:t>
            </a:r>
            <a:r>
              <a:rPr lang="en-CA" dirty="0">
                <a:latin typeface="Courier New" panose="02070309020205020404" pitchFamily="49" charset="0"/>
              </a:rPr>
              <a:t>Price + NULL = NULL</a:t>
            </a:r>
            <a:r>
              <a:rPr lang="en-CA" dirty="0"/>
              <a:t> (not 0!)</a:t>
            </a:r>
          </a:p>
          <a:p>
            <a:pPr marL="152396" indent="0">
              <a:lnSpc>
                <a:spcPct val="110000"/>
              </a:lnSpc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48850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CC947-8533-DA53-8D6D-23991EAF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3" y="677829"/>
            <a:ext cx="8428800" cy="847200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Primary Keys (PK)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26C78-D9D4-0D6C-53EC-7CF88E8E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867" y="1525029"/>
            <a:ext cx="5939533" cy="847200"/>
          </a:xfrm>
        </p:spPr>
        <p:txBody>
          <a:bodyPr/>
          <a:lstStyle/>
          <a:p>
            <a:pPr>
              <a:buNone/>
            </a:pPr>
            <a:r>
              <a:rPr lang="en-CA" dirty="0"/>
              <a:t>A </a:t>
            </a:r>
            <a:r>
              <a:rPr lang="en-CA" b="1" dirty="0"/>
              <a:t>Primary Key (PK)</a:t>
            </a:r>
            <a:r>
              <a:rPr lang="en-CA" dirty="0"/>
              <a:t> is an attribute (or group of attributes) that uniquely identifies each instance of an entity.</a:t>
            </a:r>
          </a:p>
          <a:p>
            <a:pPr>
              <a:buNone/>
            </a:pPr>
            <a:r>
              <a:rPr lang="en-CA" b="1" dirty="0"/>
              <a:t>A primary key must:</a:t>
            </a:r>
            <a:endParaRPr lang="en-CA" dirty="0"/>
          </a:p>
          <a:p>
            <a:pPr marL="152396" indent="0">
              <a:lnSpc>
                <a:spcPct val="100000"/>
              </a:lnSpc>
              <a:buNone/>
            </a:pPr>
            <a:br>
              <a:rPr lang="en-CA" b="1" dirty="0"/>
            </a:br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CA9C7A-4DE5-753D-ACFD-5844C2EE8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379310"/>
              </p:ext>
            </p:extLst>
          </p:nvPr>
        </p:nvGraphicFramePr>
        <p:xfrm>
          <a:off x="719668" y="3601851"/>
          <a:ext cx="5939534" cy="2488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630">
                  <a:extLst>
                    <a:ext uri="{9D8B030D-6E8A-4147-A177-3AD203B41FA5}">
                      <a16:colId xmlns:a16="http://schemas.microsoft.com/office/drawing/2014/main" val="652691439"/>
                    </a:ext>
                  </a:extLst>
                </a:gridCol>
                <a:gridCol w="4547904">
                  <a:extLst>
                    <a:ext uri="{9D8B030D-6E8A-4147-A177-3AD203B41FA5}">
                      <a16:colId xmlns:a16="http://schemas.microsoft.com/office/drawing/2014/main" val="324482817"/>
                    </a:ext>
                  </a:extLst>
                </a:gridCol>
              </a:tblGrid>
              <a:tr h="452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112814"/>
                  </a:ext>
                </a:extLst>
              </a:tr>
              <a:tr h="791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Unique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No two instances can have the same PK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127895"/>
                  </a:ext>
                </a:extLst>
              </a:tr>
              <a:tr h="791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Every instance must have a PK value (can't be NULL)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720274"/>
                  </a:ext>
                </a:extLst>
              </a:tr>
              <a:tr h="452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The value shouldn't change over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24607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4CD47E-4548-54E5-E302-0FA95A423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746196"/>
              </p:ext>
            </p:extLst>
          </p:nvPr>
        </p:nvGraphicFramePr>
        <p:xfrm>
          <a:off x="6809317" y="2194199"/>
          <a:ext cx="5145618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5206">
                  <a:extLst>
                    <a:ext uri="{9D8B030D-6E8A-4147-A177-3AD203B41FA5}">
                      <a16:colId xmlns:a16="http://schemas.microsoft.com/office/drawing/2014/main" val="3975367031"/>
                    </a:ext>
                  </a:extLst>
                </a:gridCol>
                <a:gridCol w="1715206">
                  <a:extLst>
                    <a:ext uri="{9D8B030D-6E8A-4147-A177-3AD203B41FA5}">
                      <a16:colId xmlns:a16="http://schemas.microsoft.com/office/drawing/2014/main" val="1425724954"/>
                    </a:ext>
                  </a:extLst>
                </a:gridCol>
                <a:gridCol w="1715206">
                  <a:extLst>
                    <a:ext uri="{9D8B030D-6E8A-4147-A177-3AD203B41FA5}">
                      <a16:colId xmlns:a16="http://schemas.microsoft.com/office/drawing/2014/main" val="2274410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966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Each student has a unique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98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Product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Each product has a unique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09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Employee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Each employee has a unique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38545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CECB9A-3EC6-DD1D-A64B-F47CE36F8016}"/>
              </a:ext>
            </a:extLst>
          </p:cNvPr>
          <p:cNvSpPr txBox="1"/>
          <p:nvPr/>
        </p:nvSpPr>
        <p:spPr>
          <a:xfrm>
            <a:off x="6809317" y="16749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3102488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>
            <a:spLocks noGrp="1"/>
          </p:cNvSpPr>
          <p:nvPr>
            <p:ph type="title"/>
          </p:nvPr>
        </p:nvSpPr>
        <p:spPr>
          <a:xfrm>
            <a:off x="404400" y="548767"/>
            <a:ext cx="11360800" cy="85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CA" b="1" dirty="0"/>
              <a:t>Special Kinds of Primary Keys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030D33-E70D-8337-6AE5-61C705F38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174668"/>
              </p:ext>
            </p:extLst>
          </p:nvPr>
        </p:nvGraphicFramePr>
        <p:xfrm>
          <a:off x="6084800" y="2140317"/>
          <a:ext cx="60960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1604400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655253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Natural Key?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Technical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010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Customer Name (not unique — there could be two John Smiths)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Customer ID (1, 2, 3, 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3628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1108BCB-F858-852F-705B-B2816E14B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216429"/>
              </p:ext>
            </p:extLst>
          </p:nvPr>
        </p:nvGraphicFramePr>
        <p:xfrm>
          <a:off x="539867" y="3641087"/>
          <a:ext cx="105156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574986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14732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32782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Composite PK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Why?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093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 ID + Course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 student can take many courses. A course has many students. The combination is unique.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4006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30718DE-9906-3CB9-5A1D-4E037BFB70B2}"/>
              </a:ext>
            </a:extLst>
          </p:cNvPr>
          <p:cNvSpPr txBox="1"/>
          <p:nvPr/>
        </p:nvSpPr>
        <p:spPr>
          <a:xfrm>
            <a:off x="404400" y="1500384"/>
            <a:ext cx="5691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Technical Key (Surrogate Key)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A PK created by the database designer when there is no naturally occurring unique attribute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Often an auto-incrementing number </a:t>
            </a:r>
          </a:p>
          <a:p>
            <a:pPr>
              <a:buNone/>
            </a:pPr>
            <a:r>
              <a:rPr lang="en-CA" b="1" dirty="0"/>
              <a:t>Composite Key (Concatenated Key)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A PK made up of two or more attributes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The combination of all attributes must be unique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47B3-3129-17F9-C4F0-1A78AFB4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290" y="330975"/>
            <a:ext cx="10515600" cy="984403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Exercise — Identify the PK</a:t>
            </a:r>
            <a:br>
              <a:rPr lang="en-CA" b="1" dirty="0"/>
            </a:b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920C4-8CA5-110B-1C7B-1AE5073DAB97}"/>
              </a:ext>
            </a:extLst>
          </p:cNvPr>
          <p:cNvSpPr txBox="1"/>
          <p:nvPr/>
        </p:nvSpPr>
        <p:spPr>
          <a:xfrm>
            <a:off x="1019349" y="1033568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For each table below, what is the primary key?</a:t>
            </a:r>
            <a:endParaRPr lang="en-CA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9CA5A8-DA69-4643-A527-BA15A1105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413823"/>
              </p:ext>
            </p:extLst>
          </p:nvPr>
        </p:nvGraphicFramePr>
        <p:xfrm>
          <a:off x="1019349" y="1612371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328825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926770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018291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17569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3998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First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Last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294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Joan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Adams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780-488-8712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481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780-438-9523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37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Sarah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Jones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587-555-1234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6088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C3EED2-7D9F-6CF8-86E2-3C8D210D4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728046"/>
              </p:ext>
            </p:extLst>
          </p:nvPr>
        </p:nvGraphicFramePr>
        <p:xfrm>
          <a:off x="1019349" y="3551238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269420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896689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95619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24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345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MATH101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361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ENGL102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43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MATH101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425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495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94AD-ABB3-CD22-406F-85E320228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8" y="375873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Introduction to Relationships</a:t>
            </a:r>
            <a:endParaRPr lang="en-CA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84940-8B3E-1501-C144-672396C23065}"/>
              </a:ext>
            </a:extLst>
          </p:cNvPr>
          <p:cNvSpPr txBox="1"/>
          <p:nvPr/>
        </p:nvSpPr>
        <p:spPr>
          <a:xfrm>
            <a:off x="571498" y="1432043"/>
            <a:ext cx="10960101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sz="2000" dirty="0"/>
              <a:t>A </a:t>
            </a:r>
            <a:r>
              <a:rPr lang="en-CA" sz="2000" b="1" dirty="0"/>
              <a:t>relationship</a:t>
            </a:r>
            <a:r>
              <a:rPr lang="en-CA" sz="2000" dirty="0"/>
              <a:t> represents a business association between two entities.</a:t>
            </a:r>
          </a:p>
          <a:p>
            <a:pPr>
              <a:lnSpc>
                <a:spcPct val="150000"/>
              </a:lnSpc>
              <a:buNone/>
            </a:pPr>
            <a:r>
              <a:rPr lang="en-CA" sz="2000" b="1" dirty="0"/>
              <a:t>All relationships are bi-directional</a:t>
            </a:r>
            <a:r>
              <a:rPr lang="en-CA" sz="2000" dirty="0"/>
              <a:t> — they can be read from either side.</a:t>
            </a:r>
          </a:p>
          <a:p>
            <a:pPr>
              <a:lnSpc>
                <a:spcPct val="150000"/>
              </a:lnSpc>
              <a:buNone/>
            </a:pPr>
            <a:r>
              <a:rPr lang="en-CA" sz="2000" b="1" dirty="0"/>
              <a:t>Example: The Hardware Store Order</a:t>
            </a:r>
            <a:endParaRPr lang="en-CA" sz="2000" dirty="0"/>
          </a:p>
          <a:p>
            <a:pPr rtl="0">
              <a:lnSpc>
                <a:spcPct val="150000"/>
              </a:lnSpc>
              <a:buNone/>
            </a:pPr>
            <a:r>
              <a:rPr lang="en-CA" sz="2000" dirty="0">
                <a:latin typeface="Courier New" panose="02070309020205020404" pitchFamily="49" charset="0"/>
              </a:rPr>
              <a:t>CUSTOMER — places — ORDER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b="1" dirty="0"/>
              <a:t>From CUSTOMER perspective:</a:t>
            </a:r>
            <a:r>
              <a:rPr lang="en-CA" sz="2000" dirty="0"/>
              <a:t> One customer can place many orders.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b="1" dirty="0"/>
              <a:t>From ORDER perspective:</a:t>
            </a:r>
            <a:r>
              <a:rPr lang="en-CA" sz="2000" dirty="0"/>
              <a:t> One order is placed by one customer. </a:t>
            </a:r>
          </a:p>
          <a:p>
            <a:pPr>
              <a:lnSpc>
                <a:spcPct val="150000"/>
              </a:lnSpc>
              <a:buNone/>
            </a:pPr>
            <a:r>
              <a:rPr lang="en-CA" sz="2000" b="1" dirty="0"/>
              <a:t>This is a ONE-TO-MANY relationship.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27681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1C53-A409-EC4E-E517-33F7F824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Types of Relationships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AC848-4D09-F8B5-663A-5A10BFDD50CF}"/>
              </a:ext>
            </a:extLst>
          </p:cNvPr>
          <p:cNvSpPr txBox="1"/>
          <p:nvPr/>
        </p:nvSpPr>
        <p:spPr>
          <a:xfrm>
            <a:off x="324224" y="1404921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b="1" dirty="0"/>
              <a:t>Three Main Types of Relationships:</a:t>
            </a:r>
            <a:endParaRPr lang="en-CA" sz="18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D62001-6F93-EC84-805D-0B294F1F4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878746"/>
              </p:ext>
            </p:extLst>
          </p:nvPr>
        </p:nvGraphicFramePr>
        <p:xfrm>
          <a:off x="459316" y="1996758"/>
          <a:ext cx="1051560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72481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227893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821602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14745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97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One-to-One (1:1)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1:1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One instance of Entity A relates to one instance of Entity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Country → Capital 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One-to-Many (1:M)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1:M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One instance of Entity A relates to many instances of Entity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→ Orders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9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Many-to-Many (M:N)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M:N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Many instances of Entity A relate to many instances of Entity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Student → Courses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672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400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CE82E-E4F4-D5D7-0D5C-8A52D3DE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One-to-One Relationships (1:1)</a:t>
            </a:r>
            <a:br>
              <a:rPr lang="en-CA" b="1" dirty="0"/>
            </a:b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E2BAC7-9610-D216-2370-9F13D0814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443164"/>
              </p:ext>
            </p:extLst>
          </p:nvPr>
        </p:nvGraphicFramePr>
        <p:xfrm>
          <a:off x="6669616" y="2246369"/>
          <a:ext cx="5094816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7408">
                  <a:extLst>
                    <a:ext uri="{9D8B030D-6E8A-4147-A177-3AD203B41FA5}">
                      <a16:colId xmlns:a16="http://schemas.microsoft.com/office/drawing/2014/main" val="3589642604"/>
                    </a:ext>
                  </a:extLst>
                </a:gridCol>
                <a:gridCol w="2547408">
                  <a:extLst>
                    <a:ext uri="{9D8B030D-6E8A-4147-A177-3AD203B41FA5}">
                      <a16:colId xmlns:a16="http://schemas.microsoft.com/office/drawing/2014/main" val="36436529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Capital 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40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Canada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Ottawa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32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Paris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02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Japan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Tokyo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9902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897957E-B8AB-6D11-1A9E-54DA9C11120D}"/>
              </a:ext>
            </a:extLst>
          </p:cNvPr>
          <p:cNvSpPr txBox="1"/>
          <p:nvPr/>
        </p:nvSpPr>
        <p:spPr>
          <a:xfrm>
            <a:off x="573616" y="154672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 dirty="0"/>
              <a:t>One instance of Entity A is related to </a:t>
            </a:r>
            <a:r>
              <a:rPr lang="en-CA" sz="2000" b="1" dirty="0"/>
              <a:t>one and only one</a:t>
            </a:r>
            <a:r>
              <a:rPr lang="en-CA" sz="2000" dirty="0"/>
              <a:t> instance of Entity B.</a:t>
            </a:r>
          </a:p>
          <a:p>
            <a:pPr>
              <a:buNone/>
            </a:pPr>
            <a:r>
              <a:rPr lang="en-CA" sz="2000" b="1" dirty="0"/>
              <a:t>This is the RAREST type of relationship.</a:t>
            </a:r>
            <a:endParaRPr lang="en-CA" sz="2000" dirty="0"/>
          </a:p>
          <a:p>
            <a:pPr>
              <a:buNone/>
            </a:pPr>
            <a:r>
              <a:rPr lang="en-CA" sz="2000" b="1" dirty="0"/>
              <a:t>Example 1: Country and Capital City</a:t>
            </a:r>
            <a:endParaRPr lang="en-CA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Each country has exactly one capital city.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Each capital city belongs to exactly one country. </a:t>
            </a:r>
          </a:p>
          <a:p>
            <a:pPr>
              <a:buNone/>
            </a:pPr>
            <a:r>
              <a:rPr lang="en-CA" sz="2000" b="1" dirty="0"/>
              <a:t>Example 2: Employee and Parking Stall</a:t>
            </a:r>
            <a:endParaRPr lang="en-CA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Each employee is assigned one parking stall.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000" dirty="0"/>
              <a:t>Each parking stall is assigned to one employee.</a:t>
            </a:r>
          </a:p>
        </p:txBody>
      </p:sp>
    </p:spTree>
    <p:extLst>
      <p:ext uri="{BB962C8B-B14F-4D97-AF65-F5344CB8AC3E}">
        <p14:creationId xmlns:p14="http://schemas.microsoft.com/office/powerpoint/2010/main" val="775904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B10E-CD5D-BA16-D6BB-F8B8AE1D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One-to-Many Relationships (1:M)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338AF-DE60-9235-ED5C-51E1DBBF0A03}"/>
              </a:ext>
            </a:extLst>
          </p:cNvPr>
          <p:cNvSpPr txBox="1"/>
          <p:nvPr/>
        </p:nvSpPr>
        <p:spPr>
          <a:xfrm>
            <a:off x="420832" y="1133988"/>
            <a:ext cx="8875568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dirty="0"/>
              <a:t>One instance of Entity A is related to </a:t>
            </a:r>
            <a:r>
              <a:rPr lang="en-CA" b="1" dirty="0"/>
              <a:t>zero, one, or many</a:t>
            </a:r>
            <a:r>
              <a:rPr lang="en-CA" dirty="0"/>
              <a:t> instances of Entity B.</a:t>
            </a:r>
          </a:p>
          <a:p>
            <a:pPr>
              <a:lnSpc>
                <a:spcPct val="150000"/>
              </a:lnSpc>
              <a:buNone/>
            </a:pPr>
            <a:r>
              <a:rPr lang="en-CA" b="1" dirty="0"/>
              <a:t>This is the MOST COMMON type of relationship.</a:t>
            </a:r>
            <a:endParaRPr lang="en-CA" dirty="0"/>
          </a:p>
          <a:p>
            <a:pPr>
              <a:lnSpc>
                <a:spcPct val="150000"/>
              </a:lnSpc>
              <a:buNone/>
            </a:pPr>
            <a:r>
              <a:rPr lang="en-CA" b="1" dirty="0"/>
              <a:t>Example 1: Customer and Orders</a:t>
            </a:r>
            <a:endParaRPr lang="en-CA" dirty="0"/>
          </a:p>
          <a:p>
            <a:pPr rtl="0">
              <a:lnSpc>
                <a:spcPct val="150000"/>
              </a:lnSpc>
              <a:buNone/>
            </a:pPr>
            <a:r>
              <a:rPr lang="en-CA" dirty="0">
                <a:latin typeface="Courier New" panose="02070309020205020404" pitchFamily="49" charset="0"/>
              </a:rPr>
              <a:t>CUSTOMER (1) — places — ORDER (M)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One customer can place </a:t>
            </a:r>
            <a:r>
              <a:rPr lang="en-CA" b="1" dirty="0"/>
              <a:t>many</a:t>
            </a:r>
            <a:r>
              <a:rPr lang="en-CA" dirty="0"/>
              <a:t> orders.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One order is placed by </a:t>
            </a:r>
            <a:r>
              <a:rPr lang="en-CA" b="1" dirty="0"/>
              <a:t>exactly one</a:t>
            </a:r>
            <a:r>
              <a:rPr lang="en-CA" dirty="0"/>
              <a:t> customer. </a:t>
            </a:r>
          </a:p>
          <a:p>
            <a:pPr>
              <a:lnSpc>
                <a:spcPct val="150000"/>
              </a:lnSpc>
              <a:buNone/>
            </a:pPr>
            <a:r>
              <a:rPr lang="en-CA" b="1" dirty="0"/>
              <a:t>Example 2: Department and Employees</a:t>
            </a:r>
            <a:endParaRPr lang="en-CA" dirty="0"/>
          </a:p>
          <a:p>
            <a:pPr rtl="0">
              <a:lnSpc>
                <a:spcPct val="150000"/>
              </a:lnSpc>
              <a:buNone/>
            </a:pPr>
            <a:r>
              <a:rPr lang="en-CA" dirty="0">
                <a:latin typeface="Courier New" panose="02070309020205020404" pitchFamily="49" charset="0"/>
              </a:rPr>
              <a:t>DEPARTMENT (1) — employs — EMPLOYEE (M)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One department has </a:t>
            </a:r>
            <a:r>
              <a:rPr lang="en-CA" b="1" dirty="0"/>
              <a:t>many</a:t>
            </a:r>
            <a:r>
              <a:rPr lang="en-CA" dirty="0"/>
              <a:t> employees.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One employee belongs to </a:t>
            </a:r>
            <a:r>
              <a:rPr lang="en-CA" b="1" dirty="0"/>
              <a:t>exactly one</a:t>
            </a:r>
            <a:r>
              <a:rPr lang="en-CA" dirty="0"/>
              <a:t> department.</a:t>
            </a:r>
          </a:p>
        </p:txBody>
      </p:sp>
    </p:spTree>
    <p:extLst>
      <p:ext uri="{BB962C8B-B14F-4D97-AF65-F5344CB8AC3E}">
        <p14:creationId xmlns:p14="http://schemas.microsoft.com/office/powerpoint/2010/main" val="3419394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114F2-DB4B-8292-8041-C80DCBF0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Associative Entities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FA31C-1794-8771-EEE8-405F5FA4097F}"/>
              </a:ext>
            </a:extLst>
          </p:cNvPr>
          <p:cNvSpPr txBox="1"/>
          <p:nvPr/>
        </p:nvSpPr>
        <p:spPr>
          <a:xfrm>
            <a:off x="511628" y="1730095"/>
            <a:ext cx="9394371" cy="15211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CA" dirty="0"/>
              <a:t>An </a:t>
            </a:r>
            <a:r>
              <a:rPr lang="en-CA" b="1" dirty="0"/>
              <a:t>Associative Entity</a:t>
            </a:r>
            <a:r>
              <a:rPr lang="en-CA" dirty="0"/>
              <a:t> is a third entity created to resolve a many-to-many relationship.</a:t>
            </a:r>
          </a:p>
          <a:p>
            <a:pPr>
              <a:buNone/>
            </a:pPr>
            <a:r>
              <a:rPr lang="en-CA" b="1" dirty="0"/>
              <a:t>It contains:</a:t>
            </a:r>
            <a:endParaRPr lang="en-CA" dirty="0"/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The primary keys of the two related entities (as foreign keys)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Any other attributes that describe the association </a:t>
            </a:r>
          </a:p>
          <a:p>
            <a:pPr>
              <a:buNone/>
            </a:pPr>
            <a:r>
              <a:rPr lang="en-CA" b="1" dirty="0"/>
              <a:t>Example: STUDENT — enrolls in — COURSE</a:t>
            </a: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819F39-3636-8CB8-FA2E-F07009C24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789595"/>
              </p:ext>
            </p:extLst>
          </p:nvPr>
        </p:nvGraphicFramePr>
        <p:xfrm>
          <a:off x="511628" y="3410691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750669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39134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43964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COURSE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296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 Code (PK)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863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First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←→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586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Last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Credits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023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876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569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A1AB-87CD-8A51-C1FE-D14C39B6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E50C-8834-18A6-FAD2-7281BA87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Associative Entities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3B606-0636-25FD-E965-76EA1C7131C9}"/>
              </a:ext>
            </a:extLst>
          </p:cNvPr>
          <p:cNvSpPr txBox="1"/>
          <p:nvPr/>
        </p:nvSpPr>
        <p:spPr>
          <a:xfrm>
            <a:off x="511628" y="1730095"/>
            <a:ext cx="9394371" cy="15211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CA" b="1" dirty="0"/>
              <a:t>Associative Entity: ENROLLMENT</a:t>
            </a:r>
          </a:p>
          <a:p>
            <a:pPr>
              <a:buNone/>
            </a:pPr>
            <a:r>
              <a:rPr lang="en-CA" dirty="0"/>
              <a:t>PK of ENROLLMENT = Student ID + Course Code (Composite Key)</a:t>
            </a:r>
            <a:endParaRPr lang="en-CA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EE9982-15AF-5C5A-067A-2A333C734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426003"/>
              </p:ext>
            </p:extLst>
          </p:nvPr>
        </p:nvGraphicFramePr>
        <p:xfrm>
          <a:off x="511628" y="2649009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830469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6938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496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Student 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490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Course Code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628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30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Enrollment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550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09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89FE-0654-1028-3B0C-65DAD8EF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5" y="231333"/>
            <a:ext cx="10515600" cy="10696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Foreign Key Can Also Be a Primary Key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669E-2196-4F9A-262F-C3C5448E3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735" y="1401162"/>
            <a:ext cx="8960427" cy="10696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CA" sz="1600" dirty="0"/>
              <a:t>An attribute can be both a </a:t>
            </a:r>
            <a:r>
              <a:rPr lang="en-CA" sz="1600" b="1" dirty="0"/>
              <a:t>PK and an FK</a:t>
            </a:r>
            <a:r>
              <a:rPr lang="en-CA" sz="1600" dirty="0"/>
              <a:t>.</a:t>
            </a:r>
          </a:p>
          <a:p>
            <a:pPr>
              <a:buNone/>
            </a:pPr>
            <a:r>
              <a:rPr lang="en-CA" sz="1600" dirty="0"/>
              <a:t>This commonly happens in an </a:t>
            </a:r>
            <a:r>
              <a:rPr lang="en-CA" sz="1600" b="1" dirty="0"/>
              <a:t>associative entity</a:t>
            </a:r>
            <a:r>
              <a:rPr lang="en-CA" sz="1600" dirty="0"/>
              <a:t>.</a:t>
            </a:r>
          </a:p>
          <a:p>
            <a:pPr>
              <a:buNone/>
            </a:pPr>
            <a:r>
              <a:rPr lang="en-CA" sz="1600" b="1" dirty="0"/>
              <a:t>Example: ENROLLMENT</a:t>
            </a:r>
            <a:endParaRPr lang="en-CA" sz="1600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B366BD-A8ED-986E-36D1-9C0D42A4CCC2}"/>
              </a:ext>
            </a:extLst>
          </p:cNvPr>
          <p:cNvSpPr txBox="1"/>
          <p:nvPr/>
        </p:nvSpPr>
        <p:spPr>
          <a:xfrm>
            <a:off x="6979415" y="2470841"/>
            <a:ext cx="52125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Composite Primary Key:</a:t>
            </a:r>
            <a:endParaRPr lang="en-CA" dirty="0"/>
          </a:p>
          <a:p>
            <a:pPr>
              <a:buNone/>
            </a:pPr>
            <a:r>
              <a:rPr lang="en-CA" dirty="0">
                <a:latin typeface="Courier New" panose="02070309020205020404" pitchFamily="49" charset="0"/>
              </a:rPr>
              <a:t>Student ID + Course Code</a:t>
            </a:r>
            <a:endParaRPr lang="en-CA" dirty="0"/>
          </a:p>
          <a:p>
            <a:pPr>
              <a:buNone/>
            </a:pPr>
            <a:r>
              <a:rPr lang="en-CA" dirty="0"/>
              <a:t>Each FK points to the PK of its parent entity: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</a:rPr>
              <a:t>Student ID</a:t>
            </a:r>
            <a:r>
              <a:rPr lang="en-CA" dirty="0"/>
              <a:t> → </a:t>
            </a:r>
            <a:r>
              <a:rPr lang="en-CA" dirty="0" err="1">
                <a:latin typeface="Courier New" panose="02070309020205020404" pitchFamily="49" charset="0"/>
              </a:rPr>
              <a:t>STUDENT.Student</a:t>
            </a:r>
            <a:r>
              <a:rPr lang="en-CA" dirty="0">
                <a:latin typeface="Courier New" panose="02070309020205020404" pitchFamily="49" charset="0"/>
              </a:rPr>
              <a:t> ID</a:t>
            </a:r>
            <a:r>
              <a:rPr lang="en-CA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 New" panose="02070309020205020404" pitchFamily="49" charset="0"/>
              </a:rPr>
              <a:t>Course Code</a:t>
            </a:r>
            <a:r>
              <a:rPr lang="en-CA" dirty="0"/>
              <a:t> → </a:t>
            </a:r>
            <a:r>
              <a:rPr lang="en-CA" dirty="0" err="1">
                <a:latin typeface="Courier New" panose="02070309020205020404" pitchFamily="49" charset="0"/>
              </a:rPr>
              <a:t>COURSE.Course</a:t>
            </a:r>
            <a:r>
              <a:rPr lang="en-CA" dirty="0">
                <a:latin typeface="Courier New" panose="02070309020205020404" pitchFamily="49" charset="0"/>
              </a:rPr>
              <a:t> Code</a:t>
            </a:r>
            <a:r>
              <a:rPr lang="en-CA" dirty="0"/>
              <a:t> </a:t>
            </a:r>
          </a:p>
          <a:p>
            <a:pPr>
              <a:buNone/>
            </a:pPr>
            <a:r>
              <a:rPr lang="en-CA" b="1" dirty="0"/>
              <a:t>Why?</a:t>
            </a:r>
            <a:endParaRPr lang="en-CA" dirty="0"/>
          </a:p>
          <a:p>
            <a:pPr>
              <a:buNone/>
            </a:pPr>
            <a:r>
              <a:rPr lang="en-CA" dirty="0"/>
              <a:t>The combination identifies one unique enrollment.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464F8DD-50DF-F8F3-F08D-2646794ED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052234"/>
              </p:ext>
            </p:extLst>
          </p:nvPr>
        </p:nvGraphicFramePr>
        <p:xfrm>
          <a:off x="453735" y="2514600"/>
          <a:ext cx="637039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5199">
                  <a:extLst>
                    <a:ext uri="{9D8B030D-6E8A-4147-A177-3AD203B41FA5}">
                      <a16:colId xmlns:a16="http://schemas.microsoft.com/office/drawing/2014/main" val="2253456085"/>
                    </a:ext>
                  </a:extLst>
                </a:gridCol>
                <a:gridCol w="3185199">
                  <a:extLst>
                    <a:ext uri="{9D8B030D-6E8A-4147-A177-3AD203B41FA5}">
                      <a16:colId xmlns:a16="http://schemas.microsoft.com/office/drawing/2014/main" val="2413799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688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PK + FK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479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PK + FK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076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Non-key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416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Enrollment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Non-key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0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935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C641-B20A-9245-D5D1-1CDE1299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2EB-17DA-6027-E555-D069D0F7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Foreign Keys (FK)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BB2C3-2688-9C63-F55D-1B2AB3D12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299" y="1101869"/>
            <a:ext cx="9916391" cy="1447511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CA" dirty="0"/>
              <a:t>A </a:t>
            </a:r>
            <a:r>
              <a:rPr lang="en-CA" b="1" dirty="0"/>
              <a:t>Foreign Key (FK)</a:t>
            </a:r>
            <a:r>
              <a:rPr lang="en-CA" dirty="0"/>
              <a:t> is the mechanism that defines a relationship between entities.</a:t>
            </a:r>
          </a:p>
          <a:p>
            <a:pPr>
              <a:buNone/>
            </a:pPr>
            <a:r>
              <a:rPr lang="en-CA" b="1" dirty="0"/>
              <a:t>Definition:</a:t>
            </a:r>
            <a:endParaRPr lang="en-CA" dirty="0"/>
          </a:p>
          <a:p>
            <a:pPr>
              <a:buNone/>
            </a:pPr>
            <a:r>
              <a:rPr lang="en-CA" dirty="0"/>
              <a:t>A primary key of one entity (the </a:t>
            </a:r>
            <a:r>
              <a:rPr lang="en-CA" b="1" dirty="0"/>
              <a:t>parent</a:t>
            </a:r>
            <a:r>
              <a:rPr lang="en-CA" dirty="0"/>
              <a:t>) that appears as an attribute of another entity (the </a:t>
            </a:r>
            <a:r>
              <a:rPr lang="en-CA" b="1" dirty="0"/>
              <a:t>child</a:t>
            </a:r>
            <a:r>
              <a:rPr lang="en-CA" dirty="0"/>
              <a:t>).</a:t>
            </a:r>
          </a:p>
          <a:p>
            <a:pPr>
              <a:buNone/>
            </a:pPr>
            <a:r>
              <a:rPr lang="en-CA" b="1" dirty="0"/>
              <a:t>Parent vs. Child:</a:t>
            </a:r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7E7E2D-A4E9-A6EB-73EE-FFD6630B8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407230"/>
              </p:ext>
            </p:extLst>
          </p:nvPr>
        </p:nvGraphicFramePr>
        <p:xfrm>
          <a:off x="495299" y="2493047"/>
          <a:ext cx="105156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273973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88515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2868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344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Parent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The "one" side of a 1:M 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35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Child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The "many" side of a 1:M 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0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728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37EC-A1CB-C429-E17F-139C4D59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Foreign Keys (FK)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0E62E-9B98-D11F-587E-820582108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299" y="1101870"/>
            <a:ext cx="9916391" cy="6463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CA" b="1" dirty="0"/>
              <a:t>How it works: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E53C7-6F0E-AF8B-6EFE-181E909773C7}"/>
              </a:ext>
            </a:extLst>
          </p:cNvPr>
          <p:cNvSpPr txBox="1"/>
          <p:nvPr/>
        </p:nvSpPr>
        <p:spPr>
          <a:xfrm>
            <a:off x="6686550" y="3894328"/>
            <a:ext cx="4597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Key Point:</a:t>
            </a:r>
            <a:endParaRPr lang="en-CA" dirty="0"/>
          </a:p>
          <a:p>
            <a:r>
              <a:rPr lang="en-CA" dirty="0"/>
              <a:t>The FK in the child table refers to the PK in the parent table. This creates the relationship.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0B9869-347B-809C-0FC6-DE7757FDC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09009"/>
              </p:ext>
            </p:extLst>
          </p:nvPr>
        </p:nvGraphicFramePr>
        <p:xfrm>
          <a:off x="495299" y="1722438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227008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267088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97111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CUSTOMER (Parent)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ORDER (Child)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577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399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Last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Order ID (PK)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371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First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Order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05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Total 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042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512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81DA-E96A-330A-BF77-2D46CCAB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76" y="337975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Foreign Key Rules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F456-D0B9-9F3F-0273-785DAEC72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6472" y="1348571"/>
            <a:ext cx="11058351" cy="3765296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CA" dirty="0"/>
              <a:t>A foreign key does more than simply "connect two boxes."</a:t>
            </a:r>
          </a:p>
          <a:p>
            <a:pPr>
              <a:buNone/>
            </a:pPr>
            <a:r>
              <a:rPr lang="en-CA" b="1" dirty="0"/>
              <a:t>A foreign key: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References a primary key in another table/entity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Helps enforce the relationship between parent and child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Must use a compatible data type with the referenced primary key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Does </a:t>
            </a:r>
            <a:r>
              <a:rPr lang="en-CA" b="1" dirty="0"/>
              <a:t>not</a:t>
            </a:r>
            <a:r>
              <a:rPr lang="en-CA" dirty="0"/>
              <a:t> have to have the same attribute name as the primary key it references </a:t>
            </a:r>
          </a:p>
          <a:p>
            <a:pPr>
              <a:buNone/>
            </a:pPr>
            <a:r>
              <a:rPr lang="en-CA" b="1" dirty="0"/>
              <a:t>Example:</a:t>
            </a:r>
            <a:endParaRPr lang="en-CA" dirty="0"/>
          </a:p>
          <a:p>
            <a:pPr>
              <a:buNone/>
            </a:pPr>
            <a:r>
              <a:rPr lang="en-CA" dirty="0" err="1">
                <a:latin typeface="Courier New" panose="02070309020205020404" pitchFamily="49" charset="0"/>
              </a:rPr>
              <a:t>CUSTOMER.CustomerID</a:t>
            </a:r>
            <a:r>
              <a:rPr lang="en-CA" dirty="0"/>
              <a:t> → </a:t>
            </a:r>
            <a:r>
              <a:rPr lang="en-CA" dirty="0" err="1">
                <a:latin typeface="Courier New" panose="02070309020205020404" pitchFamily="49" charset="0"/>
              </a:rPr>
              <a:t>ORDER.CustomerID</a:t>
            </a:r>
            <a:endParaRPr lang="en-CA" dirty="0"/>
          </a:p>
          <a:p>
            <a:pPr>
              <a:buNone/>
            </a:pPr>
            <a:r>
              <a:rPr lang="en-CA" dirty="0"/>
              <a:t>The names match here, but they do not have to.</a:t>
            </a:r>
          </a:p>
          <a:p>
            <a:pPr>
              <a:buNone/>
            </a:pPr>
            <a:r>
              <a:rPr lang="en-CA" b="1" dirty="0"/>
              <a:t>Important:</a:t>
            </a:r>
            <a:endParaRPr lang="en-CA" dirty="0"/>
          </a:p>
          <a:p>
            <a:pPr>
              <a:buNone/>
            </a:pPr>
            <a:r>
              <a:rPr lang="en-CA" dirty="0"/>
              <a:t>The FK value must correspond to a valid PK value in the parent when the relationship requires a matching parent.</a:t>
            </a:r>
          </a:p>
        </p:txBody>
      </p:sp>
    </p:spTree>
    <p:extLst>
      <p:ext uri="{BB962C8B-B14F-4D97-AF65-F5344CB8AC3E}">
        <p14:creationId xmlns:p14="http://schemas.microsoft.com/office/powerpoint/2010/main" val="2443395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E714-FECD-7D55-4669-DC60A8A9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FK Example — One-to-Many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8B15F-081B-57E6-35F6-AFC5A1183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80" y="1639460"/>
            <a:ext cx="4700847" cy="129000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CA" b="1" dirty="0"/>
              <a:t>Scenario:</a:t>
            </a:r>
            <a:r>
              <a:rPr lang="en-CA" dirty="0"/>
              <a:t> A retail sales company. A customer can place many orders. Each order is placed by one customer.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650A5-C795-C853-1CCE-EC2433621D5B}"/>
              </a:ext>
            </a:extLst>
          </p:cNvPr>
          <p:cNvSpPr txBox="1"/>
          <p:nvPr/>
        </p:nvSpPr>
        <p:spPr>
          <a:xfrm>
            <a:off x="525780" y="2744802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CA" b="1" dirty="0"/>
              <a:t>Implementation:</a:t>
            </a:r>
            <a:endParaRPr lang="en-CA" sz="18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981BB4-F2A2-D041-B494-5757D4FF8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31682"/>
              </p:ext>
            </p:extLst>
          </p:nvPr>
        </p:nvGraphicFramePr>
        <p:xfrm>
          <a:off x="5582024" y="1870106"/>
          <a:ext cx="6264064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2032">
                  <a:extLst>
                    <a:ext uri="{9D8B030D-6E8A-4147-A177-3AD203B41FA5}">
                      <a16:colId xmlns:a16="http://schemas.microsoft.com/office/drawing/2014/main" val="1733535051"/>
                    </a:ext>
                  </a:extLst>
                </a:gridCol>
                <a:gridCol w="3132032">
                  <a:extLst>
                    <a:ext uri="{9D8B030D-6E8A-4147-A177-3AD203B41FA5}">
                      <a16:colId xmlns:a16="http://schemas.microsoft.com/office/drawing/2014/main" val="16913971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Which is the parent?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Which is the child?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390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(the "one" side)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ORDER (the "many" side)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73672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CB4693-E14C-7C40-CB12-F907FDCE7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647484"/>
              </p:ext>
            </p:extLst>
          </p:nvPr>
        </p:nvGraphicFramePr>
        <p:xfrm>
          <a:off x="525780" y="3305076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226255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62593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CUSTOMER (Parent)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5119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Customer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← Parent 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82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Last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807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First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324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141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475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406EE-42B4-6850-E1AC-C83639FF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7200-5451-B380-DC58-1EACF4A8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FK Example — One-to-Many</a:t>
            </a:r>
            <a:br>
              <a:rPr lang="en-CA" b="1" dirty="0"/>
            </a:b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595D4-9703-EC7B-2F83-4EDE8F461FB6}"/>
              </a:ext>
            </a:extLst>
          </p:cNvPr>
          <p:cNvSpPr txBox="1"/>
          <p:nvPr/>
        </p:nvSpPr>
        <p:spPr>
          <a:xfrm>
            <a:off x="525780" y="1220255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CA" b="1" dirty="0"/>
              <a:t>Implementation </a:t>
            </a:r>
            <a:r>
              <a:rPr lang="en-CA" b="1" dirty="0" err="1"/>
              <a:t>cont</a:t>
            </a:r>
            <a:r>
              <a:rPr lang="en-CA" b="1" dirty="0"/>
              <a:t>:</a:t>
            </a:r>
            <a:endParaRPr lang="en-CA" sz="1800" b="1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C309ED-6D1F-6C9D-F237-D0D9A802E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679257"/>
              </p:ext>
            </p:extLst>
          </p:nvPr>
        </p:nvGraphicFramePr>
        <p:xfrm>
          <a:off x="525780" y="1743080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640275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3508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ORDER (Child)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44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Order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Child 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2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Order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321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Foreign Key (from Customer)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80582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0609A8C-6772-9C6B-393E-5B736432A635}"/>
              </a:ext>
            </a:extLst>
          </p:cNvPr>
          <p:cNvSpPr txBox="1"/>
          <p:nvPr/>
        </p:nvSpPr>
        <p:spPr>
          <a:xfrm>
            <a:off x="525779" y="3625049"/>
            <a:ext cx="868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Result:</a:t>
            </a:r>
            <a:r>
              <a:rPr lang="en-CA" dirty="0"/>
              <a:t> Every order includes the Customer ID of the customer who placed it.</a:t>
            </a:r>
          </a:p>
        </p:txBody>
      </p:sp>
    </p:spTree>
    <p:extLst>
      <p:ext uri="{BB962C8B-B14F-4D97-AF65-F5344CB8AC3E}">
        <p14:creationId xmlns:p14="http://schemas.microsoft.com/office/powerpoint/2010/main" val="3497925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645A-98ED-3F07-6025-9B9545C3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FK Example — One-to-One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9635F-1C5D-F573-248F-77D67564F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737" y="1496291"/>
            <a:ext cx="4524664" cy="372714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CA" b="1" dirty="0"/>
              <a:t>Scenario:</a:t>
            </a:r>
            <a:r>
              <a:rPr lang="en-CA" dirty="0"/>
              <a:t> A company has departments. Each department has one manager. Each manager manages one department.</a:t>
            </a:r>
          </a:p>
          <a:p>
            <a:pPr>
              <a:buNone/>
            </a:pPr>
            <a:r>
              <a:rPr lang="en-CA" b="1" dirty="0"/>
              <a:t>Option 1: </a:t>
            </a:r>
            <a:r>
              <a:rPr lang="en-CA" dirty="0"/>
              <a:t>Add Department ID to Employee (Bad Design)</a:t>
            </a:r>
          </a:p>
          <a:p>
            <a:pPr>
              <a:buNone/>
            </a:pPr>
            <a:r>
              <a:rPr lang="en-CA" b="1" dirty="0"/>
              <a:t>Option 2: </a:t>
            </a:r>
            <a:r>
              <a:rPr lang="en-CA" dirty="0"/>
              <a:t>Add Employee ID to Department (Better Design)</a:t>
            </a:r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366876-FC8B-796A-030C-0A8258067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15577"/>
              </p:ext>
            </p:extLst>
          </p:nvPr>
        </p:nvGraphicFramePr>
        <p:xfrm>
          <a:off x="5170245" y="1401824"/>
          <a:ext cx="6568018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4009">
                  <a:extLst>
                    <a:ext uri="{9D8B030D-6E8A-4147-A177-3AD203B41FA5}">
                      <a16:colId xmlns:a16="http://schemas.microsoft.com/office/drawing/2014/main" val="147242833"/>
                    </a:ext>
                  </a:extLst>
                </a:gridCol>
                <a:gridCol w="3284009">
                  <a:extLst>
                    <a:ext uri="{9D8B030D-6E8A-4147-A177-3AD203B41FA5}">
                      <a16:colId xmlns:a16="http://schemas.microsoft.com/office/drawing/2014/main" val="2983086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372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Employee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080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84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ManagesDept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Many employees will have NULL here!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3539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79418C-7E09-8BAF-3EEC-2BC9C06CF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521651"/>
              </p:ext>
            </p:extLst>
          </p:nvPr>
        </p:nvGraphicFramePr>
        <p:xfrm>
          <a:off x="5170245" y="3356766"/>
          <a:ext cx="6568018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4009">
                  <a:extLst>
                    <a:ext uri="{9D8B030D-6E8A-4147-A177-3AD203B41FA5}">
                      <a16:colId xmlns:a16="http://schemas.microsoft.com/office/drawing/2014/main" val="3187166020"/>
                    </a:ext>
                  </a:extLst>
                </a:gridCol>
                <a:gridCol w="3284009">
                  <a:extLst>
                    <a:ext uri="{9D8B030D-6E8A-4147-A177-3AD203B41FA5}">
                      <a16:colId xmlns:a16="http://schemas.microsoft.com/office/drawing/2014/main" val="1838229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(Child)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019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31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148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ManagerID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Every department has a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02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786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1B4B-FD92-B3C1-6E15-05D6BBFE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90A3-3377-985B-C9F4-4BB0E2FC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FK Example — One-to-One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D9D16-7B95-7459-BE76-C98B501CD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737" y="1496291"/>
            <a:ext cx="4524664" cy="372714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CA" b="1" dirty="0"/>
              <a:t>Why is Option 2 better?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Every department has a manager, so no NULL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Not all employees are managers, so Option 1 would have many NULLs. </a:t>
            </a:r>
          </a:p>
          <a:p>
            <a:pPr>
              <a:buNone/>
            </a:pPr>
            <a:r>
              <a:rPr lang="en-CA" b="1" dirty="0"/>
              <a:t>Important implementation detail:</a:t>
            </a:r>
            <a:endParaRPr lang="en-CA" dirty="0"/>
          </a:p>
          <a:p>
            <a:pPr>
              <a:buNone/>
            </a:pPr>
            <a:r>
              <a:rPr lang="en-CA" dirty="0"/>
              <a:t>If </a:t>
            </a:r>
            <a:r>
              <a:rPr lang="en-CA" dirty="0" err="1">
                <a:latin typeface="Courier New" panose="02070309020205020404" pitchFamily="49" charset="0"/>
              </a:rPr>
              <a:t>ManagerID</a:t>
            </a:r>
            <a:r>
              <a:rPr lang="en-CA" dirty="0"/>
              <a:t> is used as a foreign key to enforce a 1:1 relationship, it should be </a:t>
            </a:r>
            <a:r>
              <a:rPr lang="en-CA" b="1" dirty="0"/>
              <a:t>UNIQUE</a:t>
            </a:r>
            <a:r>
              <a:rPr lang="en-CA" dirty="0"/>
              <a:t> so that the same manager cannot be assigned to multiple departments.</a:t>
            </a:r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657884-23A2-9458-5CD2-94FAB2F39FD9}"/>
              </a:ext>
            </a:extLst>
          </p:cNvPr>
          <p:cNvGraphicFramePr>
            <a:graphicFrameLocks noGrp="1"/>
          </p:cNvGraphicFramePr>
          <p:nvPr/>
        </p:nvGraphicFramePr>
        <p:xfrm>
          <a:off x="5170245" y="1401824"/>
          <a:ext cx="6568018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4009">
                  <a:extLst>
                    <a:ext uri="{9D8B030D-6E8A-4147-A177-3AD203B41FA5}">
                      <a16:colId xmlns:a16="http://schemas.microsoft.com/office/drawing/2014/main" val="147242833"/>
                    </a:ext>
                  </a:extLst>
                </a:gridCol>
                <a:gridCol w="3284009">
                  <a:extLst>
                    <a:ext uri="{9D8B030D-6E8A-4147-A177-3AD203B41FA5}">
                      <a16:colId xmlns:a16="http://schemas.microsoft.com/office/drawing/2014/main" val="2983086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372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Employee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080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84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ManagesDept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Many employees will have NULL here!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3539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ACA140-8567-A6F1-A198-BC8140179664}"/>
              </a:ext>
            </a:extLst>
          </p:cNvPr>
          <p:cNvGraphicFramePr>
            <a:graphicFrameLocks noGrp="1"/>
          </p:cNvGraphicFramePr>
          <p:nvPr/>
        </p:nvGraphicFramePr>
        <p:xfrm>
          <a:off x="5170245" y="3356766"/>
          <a:ext cx="6568018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4009">
                  <a:extLst>
                    <a:ext uri="{9D8B030D-6E8A-4147-A177-3AD203B41FA5}">
                      <a16:colId xmlns:a16="http://schemas.microsoft.com/office/drawing/2014/main" val="3187166020"/>
                    </a:ext>
                  </a:extLst>
                </a:gridCol>
                <a:gridCol w="3284009">
                  <a:extLst>
                    <a:ext uri="{9D8B030D-6E8A-4147-A177-3AD203B41FA5}">
                      <a16:colId xmlns:a16="http://schemas.microsoft.com/office/drawing/2014/main" val="1838229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(Child)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019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431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148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ManagerID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Every department has a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02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17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9CDBB-3131-A85D-C797-F340E6EA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24" y="162260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Participation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C306-BAC0-08E8-CAA9-AD902929A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424" y="1184564"/>
            <a:ext cx="4527176" cy="392457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CA" dirty="0"/>
              <a:t>Before we talk about "how many," we need to ask another question:</a:t>
            </a:r>
          </a:p>
          <a:p>
            <a:pPr>
              <a:buNone/>
            </a:pPr>
            <a:r>
              <a:rPr lang="en-CA" b="1" dirty="0"/>
              <a:t>Does the relationship have to exist?</a:t>
            </a:r>
            <a:endParaRPr lang="en-CA" dirty="0"/>
          </a:p>
          <a:p>
            <a:pPr>
              <a:buNone/>
            </a:pPr>
            <a:r>
              <a:rPr lang="en-CA" b="1" dirty="0"/>
              <a:t>Participation</a:t>
            </a:r>
            <a:r>
              <a:rPr lang="en-CA" dirty="0"/>
              <a:t> describes whether an instance is required to participate in a relationship.</a:t>
            </a:r>
          </a:p>
          <a:p>
            <a:pPr>
              <a:buNone/>
            </a:pPr>
            <a:r>
              <a:rPr lang="en-CA" b="1" dirty="0"/>
              <a:t>Important distinction: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b="1" dirty="0"/>
              <a:t>Participation</a:t>
            </a:r>
            <a:r>
              <a:rPr lang="en-CA" dirty="0"/>
              <a:t> tells us whether the relationship is </a:t>
            </a:r>
            <a:r>
              <a:rPr lang="en-CA" b="1" dirty="0"/>
              <a:t>required</a:t>
            </a:r>
            <a:r>
              <a:rPr lang="en-CA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b="1" dirty="0"/>
              <a:t>Cardinality</a:t>
            </a:r>
            <a:r>
              <a:rPr lang="en-CA" dirty="0"/>
              <a:t> tells us </a:t>
            </a:r>
            <a:r>
              <a:rPr lang="en-CA" b="1" dirty="0"/>
              <a:t>how many</a:t>
            </a:r>
            <a:r>
              <a:rPr lang="en-CA" dirty="0"/>
              <a:t> related instances are possible. </a:t>
            </a:r>
          </a:p>
          <a:p>
            <a:pPr>
              <a:buNone/>
            </a:pPr>
            <a:r>
              <a:rPr lang="en-CA" dirty="0"/>
              <a:t>These two ideas work together to describe a relationship.</a:t>
            </a:r>
          </a:p>
          <a:p>
            <a:pPr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E52E441-3A60-B5B5-6D79-84F7E422F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152592"/>
              </p:ext>
            </p:extLst>
          </p:nvPr>
        </p:nvGraphicFramePr>
        <p:xfrm>
          <a:off x="5037292" y="1884339"/>
          <a:ext cx="675428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7349">
                  <a:extLst>
                    <a:ext uri="{9D8B030D-6E8A-4147-A177-3AD203B41FA5}">
                      <a16:colId xmlns:a16="http://schemas.microsoft.com/office/drawing/2014/main" val="3692099124"/>
                    </a:ext>
                  </a:extLst>
                </a:gridCol>
                <a:gridCol w="2845507">
                  <a:extLst>
                    <a:ext uri="{9D8B030D-6E8A-4147-A177-3AD203B41FA5}">
                      <a16:colId xmlns:a16="http://schemas.microsoft.com/office/drawing/2014/main" val="742103922"/>
                    </a:ext>
                  </a:extLst>
                </a:gridCol>
                <a:gridCol w="2251428">
                  <a:extLst>
                    <a:ext uri="{9D8B030D-6E8A-4147-A177-3AD203B41FA5}">
                      <a16:colId xmlns:a16="http://schemas.microsoft.com/office/drawing/2014/main" val="3222805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Participation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693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Mandatory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Every instance must participate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Every ORDER must belong to a 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54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An instance may or may not participate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 CUSTOMER may have no ORDERS yet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433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460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40F5-A4F6-C82E-FF84-5980448D3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Cardinality = Minimum + Maximum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D3DA2-5BDC-7F64-57E3-EDFA7188D717}"/>
              </a:ext>
            </a:extLst>
          </p:cNvPr>
          <p:cNvSpPr txBox="1"/>
          <p:nvPr/>
        </p:nvSpPr>
        <p:spPr>
          <a:xfrm>
            <a:off x="324224" y="1254763"/>
            <a:ext cx="54500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Cardinality</a:t>
            </a:r>
            <a:r>
              <a:rPr lang="en-CA" dirty="0"/>
              <a:t> defines the number of instances of one entity that can be related to a single instance of another entity.</a:t>
            </a:r>
          </a:p>
          <a:p>
            <a:r>
              <a:rPr lang="en-CA" dirty="0"/>
              <a:t>A useful way to read cardinality is as a </a:t>
            </a:r>
            <a:r>
              <a:rPr lang="en-CA" b="1" dirty="0"/>
              <a:t>minimum and maximum</a:t>
            </a:r>
            <a:r>
              <a:rPr lang="en-CA" dirty="0"/>
              <a:t>.</a:t>
            </a:r>
          </a:p>
          <a:p>
            <a:r>
              <a:rPr lang="en-CA" b="1" dirty="0"/>
              <a:t>Minimum = Is participation required?</a:t>
            </a:r>
            <a:endParaRPr lang="en-CA" dirty="0"/>
          </a:p>
          <a:p>
            <a:pPr lvl="0"/>
            <a:r>
              <a:rPr lang="en-CA" dirty="0"/>
              <a:t>O = zero → optional </a:t>
            </a:r>
          </a:p>
          <a:p>
            <a:pPr lvl="0"/>
            <a:r>
              <a:rPr lang="en-CA" dirty="0"/>
              <a:t>| = one → mandatory </a:t>
            </a:r>
          </a:p>
          <a:p>
            <a:r>
              <a:rPr lang="en-CA" b="1" dirty="0"/>
              <a:t>Maximum = How many are allowed?</a:t>
            </a:r>
            <a:endParaRPr lang="en-CA" dirty="0"/>
          </a:p>
          <a:p>
            <a:pPr lvl="0"/>
            <a:r>
              <a:rPr lang="en-CA" dirty="0"/>
              <a:t>| = one </a:t>
            </a:r>
          </a:p>
          <a:p>
            <a:pPr lvl="0"/>
            <a:r>
              <a:rPr lang="en-CA" dirty="0"/>
              <a:t>Crow's foot = many </a:t>
            </a:r>
          </a:p>
          <a:p>
            <a:r>
              <a:rPr lang="en-CA" b="1" dirty="0"/>
              <a:t>Common combinations:</a:t>
            </a:r>
            <a:endParaRPr lang="en-CA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BC366FA-6C5F-4AE1-041E-755809DB6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163698"/>
              </p:ext>
            </p:extLst>
          </p:nvPr>
        </p:nvGraphicFramePr>
        <p:xfrm>
          <a:off x="5873376" y="1404921"/>
          <a:ext cx="599440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061464076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316483161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94906254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487187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Minimum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Maximum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621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`O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`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988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`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`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645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Zero, one, or 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65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`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&lt;`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463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396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BADA-F4E9-88F3-E65E-B01894AA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8D51-C466-18D0-62E4-9D9C7B8A5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Crow's Foot Notation Symbols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93F70-192D-4390-84A6-2997564ED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24" y="1307259"/>
            <a:ext cx="5728771" cy="19886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983DB0-F912-5A0E-8B1A-6553C3F3C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007" y="1315726"/>
            <a:ext cx="4833140" cy="2329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8C0EBC-1A11-6582-924C-71418B242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95" y="3295867"/>
            <a:ext cx="5300227" cy="21402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E22731-75AB-3985-F34E-4EB8411B64A4}"/>
              </a:ext>
            </a:extLst>
          </p:cNvPr>
          <p:cNvSpPr txBox="1"/>
          <p:nvPr/>
        </p:nvSpPr>
        <p:spPr>
          <a:xfrm>
            <a:off x="6353280" y="40545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Easy memory rule:</a:t>
            </a:r>
            <a:endParaRPr lang="en-CA" dirty="0"/>
          </a:p>
          <a:p>
            <a:pPr>
              <a:buNone/>
            </a:pPr>
            <a:r>
              <a:rPr lang="en-CA" b="1" dirty="0"/>
              <a:t>Circle = zero, Bar = one, Crow's foot = many.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33776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7430F-EFDA-0660-B05F-AC119253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F4D04-43E9-A44F-AD38-530B17ED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Crow's Foot Notation Symbols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E94D7-2138-601A-900D-08E566099531}"/>
              </a:ext>
            </a:extLst>
          </p:cNvPr>
          <p:cNvSpPr txBox="1"/>
          <p:nvPr/>
        </p:nvSpPr>
        <p:spPr>
          <a:xfrm>
            <a:off x="595947" y="1582340"/>
            <a:ext cx="51613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Combined symbols:</a:t>
            </a:r>
            <a:endParaRPr lang="en-CA" dirty="0"/>
          </a:p>
          <a:p>
            <a:pPr lvl="0"/>
            <a:r>
              <a:rPr lang="en-CA" dirty="0"/>
              <a:t>O| = zero or one </a:t>
            </a:r>
          </a:p>
          <a:p>
            <a:pPr lvl="0"/>
            <a:r>
              <a:rPr lang="en-CA" dirty="0"/>
              <a:t>|| = one and only one </a:t>
            </a:r>
          </a:p>
          <a:p>
            <a:pPr lvl="0"/>
            <a:r>
              <a:rPr lang="en-CA" dirty="0"/>
              <a:t>O&lt; = zero or many </a:t>
            </a:r>
          </a:p>
          <a:p>
            <a:pPr lvl="0"/>
            <a:r>
              <a:rPr lang="en-CA" dirty="0"/>
              <a:t>|&lt; = one or many</a:t>
            </a:r>
          </a:p>
          <a:p>
            <a:r>
              <a:rPr lang="en-CA" b="1" dirty="0"/>
              <a:t>Remember:</a:t>
            </a:r>
            <a:endParaRPr lang="en-CA" dirty="0"/>
          </a:p>
          <a:p>
            <a:r>
              <a:rPr lang="en-CA" dirty="0"/>
              <a:t>The symbols tell us the </a:t>
            </a:r>
            <a:r>
              <a:rPr lang="en-CA" b="1" dirty="0"/>
              <a:t>minimum and maximum</a:t>
            </a:r>
            <a:r>
              <a:rPr lang="en-CA" dirty="0"/>
              <a:t> number of related instances.</a:t>
            </a:r>
          </a:p>
          <a:p>
            <a:r>
              <a:rPr lang="en-CA" b="1" dirty="0"/>
              <a:t>Important:</a:t>
            </a:r>
            <a:endParaRPr lang="en-CA" dirty="0"/>
          </a:p>
          <a:p>
            <a:r>
              <a:rPr lang="en-CA" dirty="0"/>
              <a:t>Crow's Foot is being used here to make cardinality easier to understand. </a:t>
            </a:r>
            <a:r>
              <a:rPr lang="en-CA" b="1" dirty="0"/>
              <a:t>IDEF1X is the notation used for the ERDs in this course.</a:t>
            </a:r>
            <a:endParaRPr lang="en-CA" dirty="0"/>
          </a:p>
          <a:p>
            <a:pPr lvl="0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5746F-7A65-1D6B-2A45-CF41E3EC2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9" y="1559901"/>
            <a:ext cx="4808427" cy="1691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1ABFF7-D370-EEC7-81B3-EFDC09EC3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69" y="3452366"/>
            <a:ext cx="5176120" cy="184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20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2C49-AB2A-289D-B021-3378D613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3D57-EA3A-FC00-CFF5-F52D0B1B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Reading Cardinality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635F4-B9F8-FBBC-311F-D350A908BE20}"/>
              </a:ext>
            </a:extLst>
          </p:cNvPr>
          <p:cNvSpPr txBox="1"/>
          <p:nvPr/>
        </p:nvSpPr>
        <p:spPr>
          <a:xfrm>
            <a:off x="324224" y="1198940"/>
            <a:ext cx="51613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Combined symbols:</a:t>
            </a:r>
            <a:endParaRPr lang="en-CA" dirty="0"/>
          </a:p>
          <a:p>
            <a:pPr lvl="0"/>
            <a:r>
              <a:rPr lang="en-CA" dirty="0"/>
              <a:t>O| = zero or one </a:t>
            </a:r>
          </a:p>
          <a:p>
            <a:pPr lvl="0"/>
            <a:r>
              <a:rPr lang="en-CA" dirty="0"/>
              <a:t>|| = one and only one </a:t>
            </a:r>
          </a:p>
          <a:p>
            <a:pPr lvl="0"/>
            <a:r>
              <a:rPr lang="en-CA" dirty="0"/>
              <a:t>O&lt; = zero or many </a:t>
            </a:r>
          </a:p>
          <a:p>
            <a:pPr lvl="0"/>
            <a:r>
              <a:rPr lang="en-CA" dirty="0"/>
              <a:t>|&lt; = one or many</a:t>
            </a:r>
          </a:p>
          <a:p>
            <a:r>
              <a:rPr lang="en-CA" b="1" dirty="0"/>
              <a:t>Remember:</a:t>
            </a:r>
            <a:endParaRPr lang="en-CA" dirty="0"/>
          </a:p>
          <a:p>
            <a:r>
              <a:rPr lang="en-CA" dirty="0"/>
              <a:t>The symbols tell us the </a:t>
            </a:r>
            <a:r>
              <a:rPr lang="en-CA" b="1" dirty="0"/>
              <a:t>minimum and maximum</a:t>
            </a:r>
            <a:r>
              <a:rPr lang="en-CA" dirty="0"/>
              <a:t> number of related instances.</a:t>
            </a:r>
          </a:p>
          <a:p>
            <a:r>
              <a:rPr lang="en-CA" b="1" dirty="0"/>
              <a:t>Important:</a:t>
            </a:r>
            <a:endParaRPr lang="en-CA" dirty="0"/>
          </a:p>
          <a:p>
            <a:r>
              <a:rPr lang="en-CA" dirty="0"/>
              <a:t>Crow's Foot is being used here to make cardinality easier to understand. </a:t>
            </a:r>
            <a:r>
              <a:rPr lang="en-CA" b="1" dirty="0"/>
              <a:t>IDEF1X is the notation used for the ERDs in this course.</a:t>
            </a:r>
            <a:endParaRPr lang="en-CA" dirty="0"/>
          </a:p>
          <a:p>
            <a:pPr lvl="0"/>
            <a:endParaRPr lang="en-C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DED900-23CE-935E-BFFF-BE998F094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48810"/>
              </p:ext>
            </p:extLst>
          </p:nvPr>
        </p:nvGraphicFramePr>
        <p:xfrm>
          <a:off x="439103" y="4701238"/>
          <a:ext cx="10515600" cy="7315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309135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75150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Symbol at ORDER side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41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Zero or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3911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C5FE536-43EB-D27F-30B3-0DDC3A6F78C6}"/>
              </a:ext>
            </a:extLst>
          </p:cNvPr>
          <p:cNvSpPr txBox="1"/>
          <p:nvPr/>
        </p:nvSpPr>
        <p:spPr>
          <a:xfrm>
            <a:off x="5582024" y="140492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How to read a Crow's Foot relationship:</a:t>
            </a:r>
            <a:endParaRPr lang="en-CA" dirty="0"/>
          </a:p>
          <a:p>
            <a:pPr rtl="0">
              <a:buNone/>
            </a:pPr>
            <a:r>
              <a:rPr lang="en-CA" dirty="0">
                <a:latin typeface="Courier New" panose="02070309020205020404" pitchFamily="49" charset="0"/>
              </a:rPr>
              <a:t>CUSTOMER |---O&lt; places O---| ORDER</a:t>
            </a:r>
          </a:p>
          <a:p>
            <a:pPr>
              <a:buNone/>
            </a:pPr>
            <a:r>
              <a:rPr lang="en-CA" b="1" dirty="0"/>
              <a:t>Step 1: Start at CUSTOMER, look at ORDER side</a:t>
            </a:r>
            <a:endParaRPr lang="en-CA" dirty="0"/>
          </a:p>
          <a:p>
            <a:pPr>
              <a:buNone/>
            </a:pPr>
            <a:r>
              <a:rPr lang="en-CA" b="1" dirty="0"/>
              <a:t>Interpretation:</a:t>
            </a:r>
            <a:endParaRPr lang="en-CA" dirty="0"/>
          </a:p>
          <a:p>
            <a:pPr>
              <a:buNone/>
            </a:pPr>
            <a:r>
              <a:rPr lang="en-CA" dirty="0"/>
              <a:t>A customer can place </a:t>
            </a:r>
            <a:r>
              <a:rPr lang="en-CA" b="1" dirty="0"/>
              <a:t>zero or many</a:t>
            </a:r>
            <a:r>
              <a:rPr lang="en-CA" dirty="0"/>
              <a:t> orders.</a:t>
            </a:r>
          </a:p>
          <a:p>
            <a:pPr>
              <a:buNone/>
            </a:pPr>
            <a:r>
              <a:rPr lang="en-CA" b="1" dirty="0"/>
              <a:t>Step 2: Start at ORDER, look at CUSTOMER side</a:t>
            </a:r>
            <a:endParaRPr lang="en-CA" dirty="0"/>
          </a:p>
          <a:p>
            <a:pPr>
              <a:buNone/>
            </a:pPr>
            <a:r>
              <a:rPr lang="en-CA" b="1" dirty="0"/>
              <a:t>Interpretation:</a:t>
            </a:r>
            <a:endParaRPr lang="en-CA" dirty="0"/>
          </a:p>
          <a:p>
            <a:pPr>
              <a:buNone/>
            </a:pPr>
            <a:r>
              <a:rPr lang="en-CA" dirty="0"/>
              <a:t>An order is placed by </a:t>
            </a:r>
            <a:r>
              <a:rPr lang="en-CA" b="1" dirty="0"/>
              <a:t>one and only one</a:t>
            </a:r>
            <a:r>
              <a:rPr lang="en-CA" dirty="0"/>
              <a:t> customer.</a:t>
            </a:r>
          </a:p>
          <a:p>
            <a:pPr>
              <a:buNone/>
            </a:pPr>
            <a:r>
              <a:rPr lang="en-CA" b="1" dirty="0"/>
              <a:t>Final Business Rule:</a:t>
            </a:r>
            <a:endParaRPr lang="en-CA" dirty="0"/>
          </a:p>
          <a:p>
            <a:pPr>
              <a:buNone/>
            </a:pPr>
            <a:r>
              <a:rPr lang="en-CA" dirty="0"/>
              <a:t>A customer may place many orders. An order must be placed by exactly one customer.</a:t>
            </a:r>
          </a:p>
        </p:txBody>
      </p:sp>
    </p:spTree>
    <p:extLst>
      <p:ext uri="{BB962C8B-B14F-4D97-AF65-F5344CB8AC3E}">
        <p14:creationId xmlns:p14="http://schemas.microsoft.com/office/powerpoint/2010/main" val="145353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A75F-965A-7D5B-3460-631B44A42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B2D7-2B24-F873-43E7-40E265A2C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Business Rules Determine Cardinality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AFDB69-2AE6-0C0B-ADB0-8C7E6EFF08EA}"/>
              </a:ext>
            </a:extLst>
          </p:cNvPr>
          <p:cNvSpPr txBox="1"/>
          <p:nvPr/>
        </p:nvSpPr>
        <p:spPr>
          <a:xfrm>
            <a:off x="324224" y="1198940"/>
            <a:ext cx="10699376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400" dirty="0"/>
              <a:t>Cardinality does not come from the diagram itself.</a:t>
            </a:r>
          </a:p>
          <a:p>
            <a:pPr>
              <a:buNone/>
            </a:pPr>
            <a:r>
              <a:rPr lang="en-CA" sz="2400" b="1" dirty="0"/>
              <a:t>Business rules determine the relationship.</a:t>
            </a:r>
            <a:endParaRPr lang="en-CA" sz="2400" dirty="0"/>
          </a:p>
          <a:p>
            <a:pPr>
              <a:buNone/>
            </a:pPr>
            <a:r>
              <a:rPr lang="en-CA" sz="2400" dirty="0"/>
              <a:t>The design process is:</a:t>
            </a:r>
          </a:p>
          <a:p>
            <a:pPr>
              <a:buNone/>
            </a:pPr>
            <a:r>
              <a:rPr lang="en-CA" sz="2400" b="1" dirty="0"/>
              <a:t>Business Rule → Relationship → Cardinality → ERD</a:t>
            </a:r>
            <a:endParaRPr lang="en-CA" sz="2400" dirty="0"/>
          </a:p>
          <a:p>
            <a:pPr>
              <a:buNone/>
            </a:pPr>
            <a:r>
              <a:rPr lang="en-CA" sz="2400" b="1" dirty="0"/>
              <a:t>Example: Customer and Order</a:t>
            </a:r>
            <a:endParaRPr lang="en-CA" sz="2400" dirty="0"/>
          </a:p>
          <a:p>
            <a:pPr>
              <a:buNone/>
            </a:pPr>
            <a:r>
              <a:rPr lang="en-CA" sz="2400" dirty="0"/>
              <a:t>Business rule:</a:t>
            </a:r>
          </a:p>
          <a:p>
            <a:pPr>
              <a:buNone/>
            </a:pPr>
            <a:r>
              <a:rPr lang="en-CA" sz="2400" dirty="0"/>
              <a:t>A customer may place zero or many orders.</a:t>
            </a:r>
            <a:br>
              <a:rPr lang="en-CA" sz="2400" dirty="0"/>
            </a:br>
            <a:r>
              <a:rPr lang="en-CA" sz="2400" dirty="0"/>
              <a:t>Every order must belong to exactly one customer.</a:t>
            </a:r>
          </a:p>
          <a:p>
            <a:pPr>
              <a:buNone/>
            </a:pPr>
            <a:r>
              <a:rPr lang="en-CA" sz="2400" dirty="0"/>
              <a:t>Therefore:</a:t>
            </a:r>
          </a:p>
          <a:p>
            <a:pPr>
              <a:buNone/>
            </a:pPr>
            <a:r>
              <a:rPr lang="en-CA" sz="2400" dirty="0">
                <a:latin typeface="Courier New" panose="02070309020205020404" pitchFamily="49" charset="0"/>
              </a:rPr>
              <a:t>CUSTOMER 1 : M ORDER</a:t>
            </a:r>
            <a:endParaRPr lang="en-CA" sz="2400" dirty="0"/>
          </a:p>
          <a:p>
            <a:pPr>
              <a:buNone/>
            </a:pPr>
            <a:r>
              <a:rPr lang="en-CA" sz="2400" dirty="0"/>
              <a:t>with the appropriate optional/mandatory participation.</a:t>
            </a:r>
          </a:p>
          <a:p>
            <a:pPr lvl="0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47181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1F19A-39BB-C1EE-5FF5-04C3EB56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2F30-9B4D-E3C9-1AE8-0AF3BBA1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Business Rules Determine Cardinality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30FF3-3077-E150-AAD2-4ABD91FB3CBE}"/>
              </a:ext>
            </a:extLst>
          </p:cNvPr>
          <p:cNvSpPr txBox="1"/>
          <p:nvPr/>
        </p:nvSpPr>
        <p:spPr>
          <a:xfrm>
            <a:off x="324224" y="1198940"/>
            <a:ext cx="10699376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400" b="1" dirty="0"/>
              <a:t>Another example: Student and Course</a:t>
            </a:r>
            <a:endParaRPr lang="en-CA" sz="2400" dirty="0"/>
          </a:p>
          <a:p>
            <a:pPr>
              <a:buNone/>
            </a:pPr>
            <a:r>
              <a:rPr lang="en-CA" sz="2400" dirty="0"/>
              <a:t>Business rules:</a:t>
            </a:r>
          </a:p>
          <a:p>
            <a:pPr>
              <a:buNone/>
            </a:pPr>
            <a:r>
              <a:rPr lang="en-CA" sz="2400" dirty="0"/>
              <a:t>A student can enroll in many courses.</a:t>
            </a:r>
            <a:br>
              <a:rPr lang="en-CA" sz="2400" dirty="0"/>
            </a:br>
            <a:r>
              <a:rPr lang="en-CA" sz="2400" dirty="0"/>
              <a:t>A course can have many students.</a:t>
            </a:r>
          </a:p>
          <a:p>
            <a:pPr>
              <a:buNone/>
            </a:pPr>
            <a:r>
              <a:rPr lang="en-CA" sz="2400" dirty="0"/>
              <a:t>Therefore:</a:t>
            </a:r>
          </a:p>
          <a:p>
            <a:pPr>
              <a:buNone/>
            </a:pPr>
            <a:r>
              <a:rPr lang="en-CA" sz="2400" dirty="0">
                <a:latin typeface="Courier New" panose="02070309020205020404" pitchFamily="49" charset="0"/>
              </a:rPr>
              <a:t>STUDENT M : N COURSE</a:t>
            </a:r>
            <a:endParaRPr lang="en-CA" sz="2400" dirty="0"/>
          </a:p>
          <a:p>
            <a:pPr>
              <a:buNone/>
            </a:pPr>
            <a:r>
              <a:rPr lang="en-CA" sz="2400" dirty="0"/>
              <a:t>which must be resolved with an </a:t>
            </a:r>
            <a:r>
              <a:rPr lang="en-CA" sz="2400" b="1" dirty="0"/>
              <a:t>associative entity</a:t>
            </a:r>
            <a:r>
              <a:rPr lang="en-CA" sz="2400" dirty="0"/>
              <a:t>.</a:t>
            </a:r>
          </a:p>
          <a:p>
            <a:pPr>
              <a:buNone/>
            </a:pPr>
            <a:r>
              <a:rPr lang="en-CA" sz="2400" b="1" dirty="0"/>
              <a:t>Key Point:</a:t>
            </a:r>
            <a:endParaRPr lang="en-CA" sz="2400" dirty="0"/>
          </a:p>
          <a:p>
            <a:pPr>
              <a:buNone/>
            </a:pPr>
            <a:r>
              <a:rPr lang="en-CA" sz="2400" dirty="0"/>
              <a:t>Do not choose cardinality because a symbol "looks right." Derive it from the business rules.</a:t>
            </a:r>
          </a:p>
          <a:p>
            <a:pPr lvl="0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4518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DA95-2DFC-50B3-70C3-37CD1B43C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DCEF-F7AE-DCB7-E90A-D1AAFBD9E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Cardinality Examples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FAE09-11F8-BFE5-E476-0B8EF0FABA67}"/>
              </a:ext>
            </a:extLst>
          </p:cNvPr>
          <p:cNvSpPr txBox="1"/>
          <p:nvPr/>
        </p:nvSpPr>
        <p:spPr>
          <a:xfrm>
            <a:off x="324224" y="1029607"/>
            <a:ext cx="10699376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sz="2400" b="1" dirty="0"/>
              <a:t>Example 1: Country and Capital City (1:1)</a:t>
            </a:r>
            <a:endParaRPr lang="en-CA" sz="2400" dirty="0"/>
          </a:p>
          <a:p>
            <a:pPr rtl="0">
              <a:lnSpc>
                <a:spcPct val="150000"/>
              </a:lnSpc>
              <a:buNone/>
            </a:pPr>
            <a:r>
              <a:rPr lang="en-CA" sz="2400" dirty="0">
                <a:latin typeface="Courier New" panose="02070309020205020404" pitchFamily="49" charset="0"/>
              </a:rPr>
              <a:t>COUNTRY |---| has |---| CAPITAL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dirty="0"/>
              <a:t>Country has exactly one capital.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dirty="0"/>
              <a:t>Capital belongs to exactly one country. </a:t>
            </a:r>
          </a:p>
          <a:p>
            <a:pPr>
              <a:lnSpc>
                <a:spcPct val="150000"/>
              </a:lnSpc>
              <a:buNone/>
            </a:pPr>
            <a:r>
              <a:rPr lang="en-CA" sz="2400" b="1" dirty="0"/>
              <a:t>Example 2: Department and Employee (1:M)</a:t>
            </a:r>
            <a:endParaRPr lang="en-CA" sz="2400" dirty="0"/>
          </a:p>
          <a:p>
            <a:pPr rtl="0">
              <a:lnSpc>
                <a:spcPct val="150000"/>
              </a:lnSpc>
              <a:buNone/>
            </a:pPr>
            <a:r>
              <a:rPr lang="en-CA" sz="2400" dirty="0">
                <a:latin typeface="Courier New" panose="02070309020205020404" pitchFamily="49" charset="0"/>
              </a:rPr>
              <a:t>DEPARTMENT |---| employs 0&lt;--- EMPLOYEE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dirty="0"/>
              <a:t>A department employs zero or many employees.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dirty="0"/>
              <a:t>An employee belongs to exactly one department.</a:t>
            </a:r>
          </a:p>
        </p:txBody>
      </p:sp>
    </p:spTree>
    <p:extLst>
      <p:ext uri="{BB962C8B-B14F-4D97-AF65-F5344CB8AC3E}">
        <p14:creationId xmlns:p14="http://schemas.microsoft.com/office/powerpoint/2010/main" val="3696751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F5E1-8485-60FF-A007-AE3D4243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B0F8-B345-3342-3228-A9CF89528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Cardinality Examples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09E3A-88DA-8B80-BF28-42E9080C1D6E}"/>
              </a:ext>
            </a:extLst>
          </p:cNvPr>
          <p:cNvSpPr txBox="1"/>
          <p:nvPr/>
        </p:nvSpPr>
        <p:spPr>
          <a:xfrm>
            <a:off x="324224" y="1259922"/>
            <a:ext cx="10699376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sz="2400" b="1" dirty="0"/>
              <a:t>Example 3: Student and Course (M:N)</a:t>
            </a:r>
            <a:endParaRPr lang="en-CA" sz="2400" dirty="0"/>
          </a:p>
          <a:p>
            <a:pPr rtl="0">
              <a:lnSpc>
                <a:spcPct val="150000"/>
              </a:lnSpc>
              <a:buNone/>
            </a:pPr>
            <a:r>
              <a:rPr lang="en-CA" sz="2400" dirty="0">
                <a:latin typeface="Courier New" panose="02070309020205020404" pitchFamily="49" charset="0"/>
              </a:rPr>
              <a:t>STUDENT 0&lt;--- enrolls in ---&gt;0 COURSE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dirty="0"/>
              <a:t>A student enrolls in zero or many courses.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dirty="0"/>
              <a:t>A course has zero or many students.</a:t>
            </a:r>
          </a:p>
        </p:txBody>
      </p:sp>
    </p:spTree>
    <p:extLst>
      <p:ext uri="{BB962C8B-B14F-4D97-AF65-F5344CB8AC3E}">
        <p14:creationId xmlns:p14="http://schemas.microsoft.com/office/powerpoint/2010/main" val="37080140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84E9F-9EE1-05DB-A450-1AAE4F5B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668A-D58A-9727-8D04-263BC698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Cardinality Types (Detailed)</a:t>
            </a:r>
            <a:endParaRPr lang="en-C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DF771B-D075-AC0D-5035-3FDDC699A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42646"/>
              </p:ext>
            </p:extLst>
          </p:nvPr>
        </p:nvGraphicFramePr>
        <p:xfrm>
          <a:off x="324224" y="1229382"/>
          <a:ext cx="5649633" cy="3918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3211">
                  <a:extLst>
                    <a:ext uri="{9D8B030D-6E8A-4147-A177-3AD203B41FA5}">
                      <a16:colId xmlns:a16="http://schemas.microsoft.com/office/drawing/2014/main" val="3494118224"/>
                    </a:ext>
                  </a:extLst>
                </a:gridCol>
                <a:gridCol w="1883211">
                  <a:extLst>
                    <a:ext uri="{9D8B030D-6E8A-4147-A177-3AD203B41FA5}">
                      <a16:colId xmlns:a16="http://schemas.microsoft.com/office/drawing/2014/main" val="539194404"/>
                    </a:ext>
                  </a:extLst>
                </a:gridCol>
                <a:gridCol w="1883211">
                  <a:extLst>
                    <a:ext uri="{9D8B030D-6E8A-4147-A177-3AD203B41FA5}">
                      <a16:colId xmlns:a16="http://schemas.microsoft.com/office/drawing/2014/main" val="3357324313"/>
                    </a:ext>
                  </a:extLst>
                </a:gridCol>
              </a:tblGrid>
              <a:tr h="274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Cardinality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Definition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Example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3165926324"/>
                  </a:ext>
                </a:extLst>
              </a:tr>
              <a:tr h="68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To one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One instance is related to one instance of another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Driver's License: one person → one license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822828879"/>
                  </a:ext>
                </a:extLst>
              </a:tr>
              <a:tr h="68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To zero or one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One instance is related to zero or one instance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Parking stalls: employee may or may not have a stall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47697389"/>
                  </a:ext>
                </a:extLst>
              </a:tr>
              <a:tr h="68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To one or many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One instance is related to one or many instances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Timecards: one employee → one or more timecards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40529286"/>
                  </a:ext>
                </a:extLst>
              </a:tr>
              <a:tr h="893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To zero, one, or many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One instance is related to zero, one, or many instances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Employees to projects: may be assigned to zero, one, or many projects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2557585542"/>
                  </a:ext>
                </a:extLst>
              </a:tr>
              <a:tr h="687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To many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One instance is related to many instances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Course to students: one course → many students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1629493836"/>
                  </a:ext>
                </a:extLst>
              </a:tr>
            </a:tbl>
          </a:graphicData>
        </a:graphic>
      </p:graphicFrame>
      <p:pic>
        <p:nvPicPr>
          <p:cNvPr id="4" name="Google Shape;156;p26">
            <a:extLst>
              <a:ext uri="{FF2B5EF4-FFF2-40B4-BE49-F238E27FC236}">
                <a16:creationId xmlns:a16="http://schemas.microsoft.com/office/drawing/2014/main" id="{40F84A74-8626-5273-3ED5-5802F58CDD8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01126" y="1229382"/>
            <a:ext cx="1720476" cy="5763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9;p26">
            <a:extLst>
              <a:ext uri="{FF2B5EF4-FFF2-40B4-BE49-F238E27FC236}">
                <a16:creationId xmlns:a16="http://schemas.microsoft.com/office/drawing/2014/main" id="{364BC6D4-FBF1-B85F-D8C8-75E682DF0098}"/>
              </a:ext>
            </a:extLst>
          </p:cNvPr>
          <p:cNvSpPr txBox="1"/>
          <p:nvPr/>
        </p:nvSpPr>
        <p:spPr>
          <a:xfrm>
            <a:off x="6686675" y="1682576"/>
            <a:ext cx="1634927" cy="3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200" dirty="0">
                <a:latin typeface="Lato"/>
                <a:ea typeface="Lato"/>
                <a:cs typeface="Lato"/>
                <a:sym typeface="Lato"/>
              </a:rPr>
              <a:t>… to one or many</a:t>
            </a:r>
            <a:br>
              <a:rPr lang="en" sz="1200" dirty="0">
                <a:latin typeface="Lato"/>
                <a:ea typeface="Lato"/>
                <a:cs typeface="Lato"/>
                <a:sym typeface="Lato"/>
              </a:rPr>
            </a:br>
            <a:r>
              <a:rPr lang="en" sz="1200" dirty="0">
                <a:latin typeface="Lato"/>
                <a:ea typeface="Lato"/>
                <a:cs typeface="Lato"/>
                <a:sym typeface="Lato"/>
              </a:rPr>
              <a:t>(mandatory many)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" name="Google Shape;152;p26">
            <a:extLst>
              <a:ext uri="{FF2B5EF4-FFF2-40B4-BE49-F238E27FC236}">
                <a16:creationId xmlns:a16="http://schemas.microsoft.com/office/drawing/2014/main" id="{40C1D3CD-7E78-F61F-723F-19CC7EECEE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049" y="2347542"/>
            <a:ext cx="1720476" cy="57633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53;p26">
            <a:extLst>
              <a:ext uri="{FF2B5EF4-FFF2-40B4-BE49-F238E27FC236}">
                <a16:creationId xmlns:a16="http://schemas.microsoft.com/office/drawing/2014/main" id="{31401964-0EC7-B5AB-945C-88F1077BB6DD}"/>
              </a:ext>
            </a:extLst>
          </p:cNvPr>
          <p:cNvSpPr txBox="1"/>
          <p:nvPr/>
        </p:nvSpPr>
        <p:spPr>
          <a:xfrm>
            <a:off x="6824449" y="2739445"/>
            <a:ext cx="1649553" cy="36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200" dirty="0">
                <a:latin typeface="Lato"/>
                <a:ea typeface="Lato"/>
                <a:cs typeface="Lato"/>
                <a:sym typeface="Lato"/>
              </a:rPr>
              <a:t>… to one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200" dirty="0">
                <a:latin typeface="Lato"/>
                <a:ea typeface="Lato"/>
                <a:cs typeface="Lato"/>
                <a:sym typeface="Lato"/>
              </a:rPr>
              <a:t>(mandatory 1)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154;p26">
            <a:extLst>
              <a:ext uri="{FF2B5EF4-FFF2-40B4-BE49-F238E27FC236}">
                <a16:creationId xmlns:a16="http://schemas.microsoft.com/office/drawing/2014/main" id="{F888F1BB-B8E0-F645-12DF-7647319435B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3049" y="3388087"/>
            <a:ext cx="1720476" cy="57633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55;p26">
            <a:extLst>
              <a:ext uri="{FF2B5EF4-FFF2-40B4-BE49-F238E27FC236}">
                <a16:creationId xmlns:a16="http://schemas.microsoft.com/office/drawing/2014/main" id="{0BE2DC0D-3810-CE23-B7FB-63D1E6FF8DF9}"/>
              </a:ext>
            </a:extLst>
          </p:cNvPr>
          <p:cNvSpPr txBox="1"/>
          <p:nvPr/>
        </p:nvSpPr>
        <p:spPr>
          <a:xfrm>
            <a:off x="6779063" y="3786608"/>
            <a:ext cx="1740324" cy="3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200" dirty="0">
                <a:latin typeface="Lato"/>
                <a:ea typeface="Lato"/>
                <a:cs typeface="Lato"/>
                <a:sym typeface="Lato"/>
              </a:rPr>
              <a:t>… to zero or one (optional 1)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" name="Google Shape;158;p26">
            <a:extLst>
              <a:ext uri="{FF2B5EF4-FFF2-40B4-BE49-F238E27FC236}">
                <a16:creationId xmlns:a16="http://schemas.microsoft.com/office/drawing/2014/main" id="{1D588D20-9993-C8F6-695C-1B224B41A8D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34420" y="2590988"/>
            <a:ext cx="1588789" cy="39842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61;p26">
            <a:extLst>
              <a:ext uri="{FF2B5EF4-FFF2-40B4-BE49-F238E27FC236}">
                <a16:creationId xmlns:a16="http://schemas.microsoft.com/office/drawing/2014/main" id="{F08F0773-226D-C65B-235F-8F30947833F5}"/>
              </a:ext>
            </a:extLst>
          </p:cNvPr>
          <p:cNvSpPr txBox="1"/>
          <p:nvPr/>
        </p:nvSpPr>
        <p:spPr>
          <a:xfrm>
            <a:off x="9324594" y="2967645"/>
            <a:ext cx="1348640" cy="310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200" dirty="0">
                <a:latin typeface="Lato"/>
                <a:ea typeface="Lato"/>
                <a:cs typeface="Lato"/>
                <a:sym typeface="Lato"/>
              </a:rPr>
              <a:t>… to many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" name="Google Shape;157;p26">
            <a:extLst>
              <a:ext uri="{FF2B5EF4-FFF2-40B4-BE49-F238E27FC236}">
                <a16:creationId xmlns:a16="http://schemas.microsoft.com/office/drawing/2014/main" id="{DB716960-1507-E786-0335-5B12E681F03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4420" y="1234663"/>
            <a:ext cx="1789539" cy="447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60;p26">
            <a:extLst>
              <a:ext uri="{FF2B5EF4-FFF2-40B4-BE49-F238E27FC236}">
                <a16:creationId xmlns:a16="http://schemas.microsoft.com/office/drawing/2014/main" id="{BC07F3EC-B48F-5F95-2CD0-786F855810F4}"/>
              </a:ext>
            </a:extLst>
          </p:cNvPr>
          <p:cNvSpPr txBox="1"/>
          <p:nvPr/>
        </p:nvSpPr>
        <p:spPr>
          <a:xfrm>
            <a:off x="8948871" y="1693360"/>
            <a:ext cx="2382813" cy="44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1200" dirty="0">
                <a:latin typeface="Lato"/>
                <a:ea typeface="Lato"/>
                <a:cs typeface="Lato"/>
                <a:sym typeface="Lato"/>
              </a:rPr>
              <a:t>… to zero, one, or many (optional many)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625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E2A34-0615-5402-E8D7-35B67C90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82A4-645A-64F4-8AAA-B768F4EE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How to Read Cardinality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1A532-51AD-E0C0-DEBA-D740066F8E53}"/>
              </a:ext>
            </a:extLst>
          </p:cNvPr>
          <p:cNvSpPr txBox="1"/>
          <p:nvPr/>
        </p:nvSpPr>
        <p:spPr>
          <a:xfrm>
            <a:off x="324224" y="1056722"/>
            <a:ext cx="1154604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600" dirty="0"/>
              <a:t>When reading an ERD:</a:t>
            </a:r>
          </a:p>
          <a:p>
            <a:pPr>
              <a:buNone/>
            </a:pPr>
            <a:r>
              <a:rPr lang="en-CA" sz="1600" b="1" dirty="0"/>
              <a:t>Step 1:</a:t>
            </a:r>
            <a:r>
              <a:rPr lang="en-CA" sz="1600" dirty="0"/>
              <a:t> Start at one entity.</a:t>
            </a:r>
          </a:p>
          <a:p>
            <a:pPr>
              <a:buNone/>
            </a:pPr>
            <a:r>
              <a:rPr lang="en-CA" sz="1600" b="1" dirty="0"/>
              <a:t>Step 2:</a:t>
            </a:r>
            <a:r>
              <a:rPr lang="en-CA" sz="1600" dirty="0"/>
              <a:t> Look at the symbols at the other end of the relationship.</a:t>
            </a:r>
          </a:p>
          <a:p>
            <a:pPr>
              <a:buNone/>
            </a:pPr>
            <a:r>
              <a:rPr lang="en-CA" sz="1600" b="1" dirty="0"/>
              <a:t>Step 3:</a:t>
            </a:r>
            <a:r>
              <a:rPr lang="en-CA" sz="1600" dirty="0"/>
              <a:t> Read the symbols as the minimum and maximum number of related instances.</a:t>
            </a:r>
          </a:p>
          <a:p>
            <a:pPr>
              <a:buNone/>
            </a:pPr>
            <a:r>
              <a:rPr lang="en-CA" sz="1600" b="1" dirty="0"/>
              <a:t>Example:</a:t>
            </a:r>
            <a:endParaRPr lang="en-CA" sz="1600" dirty="0"/>
          </a:p>
          <a:p>
            <a:pPr>
              <a:buNone/>
            </a:pPr>
            <a:r>
              <a:rPr lang="en-CA" sz="1600" dirty="0">
                <a:latin typeface="Courier New" panose="02070309020205020404" pitchFamily="49" charset="0"/>
              </a:rPr>
              <a:t>CUSTOMER |---O&lt; ORDER</a:t>
            </a:r>
            <a:endParaRPr lang="en-CA" sz="1600" dirty="0"/>
          </a:p>
          <a:p>
            <a:pPr>
              <a:buNone/>
            </a:pPr>
            <a:r>
              <a:rPr lang="en-CA" sz="1600" dirty="0"/>
              <a:t>Starting with </a:t>
            </a:r>
            <a:r>
              <a:rPr lang="en-CA" sz="1600" b="1" dirty="0"/>
              <a:t>CUSTOMER</a:t>
            </a:r>
            <a:r>
              <a:rPr lang="en-CA" sz="1600" dirty="0"/>
              <a:t>:</a:t>
            </a:r>
          </a:p>
          <a:p>
            <a:pPr>
              <a:buNone/>
            </a:pPr>
            <a:r>
              <a:rPr lang="en-CA" sz="1600" dirty="0"/>
              <a:t>One customer can have </a:t>
            </a:r>
            <a:r>
              <a:rPr lang="en-CA" sz="1600" b="1" dirty="0"/>
              <a:t>zero or many orders</a:t>
            </a:r>
            <a:r>
              <a:rPr lang="en-CA" sz="1600" dirty="0"/>
              <a:t>.</a:t>
            </a:r>
          </a:p>
          <a:p>
            <a:pPr>
              <a:buNone/>
            </a:pPr>
            <a:r>
              <a:rPr lang="en-CA" sz="1600" dirty="0"/>
              <a:t>Starting with </a:t>
            </a:r>
            <a:r>
              <a:rPr lang="en-CA" sz="1600" b="1" dirty="0"/>
              <a:t>ORDER</a:t>
            </a:r>
            <a:r>
              <a:rPr lang="en-CA" sz="1600" dirty="0"/>
              <a:t>:</a:t>
            </a:r>
          </a:p>
          <a:p>
            <a:pPr>
              <a:buNone/>
            </a:pPr>
            <a:r>
              <a:rPr lang="en-CA" sz="1600" dirty="0"/>
              <a:t>One order must belong to </a:t>
            </a:r>
            <a:r>
              <a:rPr lang="en-CA" sz="1600" b="1" dirty="0"/>
              <a:t>exactly one customer</a:t>
            </a:r>
            <a:r>
              <a:rPr lang="en-CA" sz="1600" dirty="0"/>
              <a:t>.</a:t>
            </a:r>
          </a:p>
          <a:p>
            <a:pPr>
              <a:buNone/>
            </a:pPr>
            <a:r>
              <a:rPr lang="en-CA" sz="1600" b="1" dirty="0"/>
              <a:t>Always read the relationship in both directions.</a:t>
            </a:r>
            <a:endParaRPr lang="en-CA" sz="1600" dirty="0"/>
          </a:p>
          <a:p>
            <a:pPr>
              <a:buNone/>
            </a:pPr>
            <a:r>
              <a:rPr lang="en-CA" sz="1600" b="1" dirty="0"/>
              <a:t>Read it as a sentence:</a:t>
            </a:r>
            <a:endParaRPr lang="en-CA" sz="1600" dirty="0"/>
          </a:p>
          <a:p>
            <a:pPr>
              <a:buNone/>
            </a:pPr>
            <a:r>
              <a:rPr lang="en-CA" sz="1600" dirty="0"/>
              <a:t>A CUSTOMER places zero or many ORDERs.</a:t>
            </a:r>
            <a:br>
              <a:rPr lang="en-CA" sz="1600" dirty="0"/>
            </a:br>
            <a:r>
              <a:rPr lang="en-CA" sz="1600" dirty="0"/>
              <a:t>An ORDER is placed by one and only one CUSTOMER.</a:t>
            </a:r>
          </a:p>
          <a:p>
            <a:pPr>
              <a:buNone/>
            </a:pPr>
            <a:r>
              <a:rPr lang="en-CA" sz="1600" b="1" dirty="0"/>
              <a:t>Key Point:</a:t>
            </a:r>
            <a:endParaRPr lang="en-CA" sz="1600" dirty="0"/>
          </a:p>
          <a:p>
            <a:pPr>
              <a:buNone/>
            </a:pPr>
            <a:r>
              <a:rPr lang="en-CA" sz="1600" dirty="0"/>
              <a:t>The meaning comes from the symbol at the </a:t>
            </a:r>
            <a:r>
              <a:rPr lang="en-CA" sz="1600" b="1" dirty="0"/>
              <a:t>other entity's end</a:t>
            </a:r>
            <a:r>
              <a:rPr lang="en-CA" sz="1600" dirty="0"/>
              <a:t> of the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474150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E80C-C191-3B2D-223F-45ACDADE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3D6F-D7AB-A64C-73C8-CCE8C692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IDEF1X Notation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F1108-C9AF-FDD0-14A4-1952D8E9F865}"/>
              </a:ext>
            </a:extLst>
          </p:cNvPr>
          <p:cNvSpPr txBox="1"/>
          <p:nvPr/>
        </p:nvSpPr>
        <p:spPr>
          <a:xfrm>
            <a:off x="324224" y="10718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IDEF1X is the notation used in this course.</a:t>
            </a:r>
            <a:endParaRPr lang="en-CA" dirty="0"/>
          </a:p>
          <a:p>
            <a:pPr>
              <a:buNone/>
            </a:pPr>
            <a:r>
              <a:rPr lang="en-CA" b="1" dirty="0"/>
              <a:t>Entity Symbols:</a:t>
            </a: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09D07D-5C2A-D867-E6B6-44D53B6BF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57806"/>
              </p:ext>
            </p:extLst>
          </p:nvPr>
        </p:nvGraphicFramePr>
        <p:xfrm>
          <a:off x="324225" y="1949345"/>
          <a:ext cx="5466975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325">
                  <a:extLst>
                    <a:ext uri="{9D8B030D-6E8A-4147-A177-3AD203B41FA5}">
                      <a16:colId xmlns:a16="http://schemas.microsoft.com/office/drawing/2014/main" val="2870285404"/>
                    </a:ext>
                  </a:extLst>
                </a:gridCol>
                <a:gridCol w="1822325">
                  <a:extLst>
                    <a:ext uri="{9D8B030D-6E8A-4147-A177-3AD203B41FA5}">
                      <a16:colId xmlns:a16="http://schemas.microsoft.com/office/drawing/2014/main" val="2013735497"/>
                    </a:ext>
                  </a:extLst>
                </a:gridCol>
                <a:gridCol w="1822325">
                  <a:extLst>
                    <a:ext uri="{9D8B030D-6E8A-4147-A177-3AD203B41FA5}">
                      <a16:colId xmlns:a16="http://schemas.microsoft.com/office/drawing/2014/main" val="3925392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365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[CUSTOMER]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Base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Square corners. Standard entity with its own primary key.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963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[ENROLLMENT]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Associative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Rounded corners. Created to resolve M:N relationships.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77894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D01BA2A-62D5-876D-7D3F-23C726BAF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49435"/>
            <a:ext cx="574357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971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10A8-D6FE-F38C-A761-9DC355D2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2CE2-E3BC-8E4E-93BA-21BC6C92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CA" b="1" dirty="0"/>
              <a:t>IDEF1X Notation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088E2-F7DF-8588-19AD-9443ACF4C2CC}"/>
              </a:ext>
            </a:extLst>
          </p:cNvPr>
          <p:cNvSpPr txBox="1"/>
          <p:nvPr/>
        </p:nvSpPr>
        <p:spPr>
          <a:xfrm>
            <a:off x="324224" y="1414117"/>
            <a:ext cx="97341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Foreign Key Suffix:</a:t>
            </a:r>
            <a:endParaRPr lang="en-CA" dirty="0"/>
          </a:p>
          <a:p>
            <a:pPr>
              <a:buNone/>
            </a:pPr>
            <a:r>
              <a:rPr lang="en-CA" dirty="0"/>
              <a:t>Any attribute that acts as a foreign key is suffixed with </a:t>
            </a:r>
            <a:r>
              <a:rPr lang="en-CA" b="1" dirty="0"/>
              <a:t>(FK)</a:t>
            </a:r>
            <a:r>
              <a:rPr lang="en-CA" dirty="0"/>
              <a:t>.</a:t>
            </a:r>
          </a:p>
          <a:p>
            <a:pPr>
              <a:buNone/>
            </a:pPr>
            <a:r>
              <a:rPr lang="en-CA" b="1" dirty="0"/>
              <a:t>Relationship Lines: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b="1" dirty="0"/>
              <a:t>Dashed line</a:t>
            </a:r>
            <a:r>
              <a:rPr lang="en-CA" dirty="0"/>
              <a:t> = Non-identifying relationship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b="1" dirty="0"/>
              <a:t>Solid line</a:t>
            </a:r>
            <a:r>
              <a:rPr lang="en-CA" dirty="0"/>
              <a:t> = Identifying relationship </a:t>
            </a:r>
          </a:p>
          <a:p>
            <a:pPr>
              <a:buNone/>
            </a:pPr>
            <a:r>
              <a:rPr lang="en-CA" b="1" dirty="0"/>
              <a:t>Relationship Names:</a:t>
            </a:r>
            <a:endParaRPr lang="en-CA" dirty="0"/>
          </a:p>
          <a:p>
            <a:pPr>
              <a:buNone/>
            </a:pPr>
            <a:r>
              <a:rPr lang="en-CA" dirty="0"/>
              <a:t>Relationship names should be written as </a:t>
            </a:r>
            <a:r>
              <a:rPr lang="en-CA" b="1" dirty="0"/>
              <a:t>verb phrases</a:t>
            </a:r>
            <a:r>
              <a:rPr lang="en-CA" dirty="0"/>
              <a:t> such as "places," "contains," "enrolls in," or "teaches."</a:t>
            </a:r>
          </a:p>
          <a:p>
            <a:pPr>
              <a:buNone/>
            </a:pPr>
            <a:r>
              <a:rPr lang="en-CA" b="1" dirty="0"/>
              <a:t>Read relationships in both directions.</a:t>
            </a:r>
          </a:p>
          <a:p>
            <a:r>
              <a:rPr lang="en-CA" b="1" dirty="0"/>
              <a:t>Example:</a:t>
            </a:r>
          </a:p>
          <a:p>
            <a:r>
              <a:rPr lang="en-CA" dirty="0"/>
              <a:t>CUSTOMER </a:t>
            </a:r>
            <a:r>
              <a:rPr lang="en-CA" b="1" dirty="0"/>
              <a:t>places</a:t>
            </a:r>
            <a:r>
              <a:rPr lang="en-CA" dirty="0"/>
              <a:t> ORDER</a:t>
            </a:r>
            <a:br>
              <a:rPr lang="en-CA" dirty="0"/>
            </a:br>
            <a:r>
              <a:rPr lang="en-CA" dirty="0" err="1"/>
              <a:t>ORDER</a:t>
            </a:r>
            <a:r>
              <a:rPr lang="en-CA" dirty="0"/>
              <a:t> </a:t>
            </a:r>
            <a:r>
              <a:rPr lang="en-CA" b="1" dirty="0"/>
              <a:t>is placed by</a:t>
            </a:r>
            <a:r>
              <a:rPr lang="en-CA" dirty="0"/>
              <a:t> CUSTOMER</a:t>
            </a:r>
          </a:p>
          <a:p>
            <a:pPr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572318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C2EB1-CC54-5B0F-6C3D-396C622E7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DA12-B5FE-E10F-607D-97C6EA96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Identifying vs. Non-Identifying Relationships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CFD5B4-1479-6EB4-43D0-0D7825304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504204"/>
              </p:ext>
            </p:extLst>
          </p:nvPr>
        </p:nvGraphicFramePr>
        <p:xfrm>
          <a:off x="6095999" y="1175513"/>
          <a:ext cx="5822576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5644">
                  <a:extLst>
                    <a:ext uri="{9D8B030D-6E8A-4147-A177-3AD203B41FA5}">
                      <a16:colId xmlns:a16="http://schemas.microsoft.com/office/drawing/2014/main" val="1364105126"/>
                    </a:ext>
                  </a:extLst>
                </a:gridCol>
                <a:gridCol w="1455644">
                  <a:extLst>
                    <a:ext uri="{9D8B030D-6E8A-4147-A177-3AD203B41FA5}">
                      <a16:colId xmlns:a16="http://schemas.microsoft.com/office/drawing/2014/main" val="3427845090"/>
                    </a:ext>
                  </a:extLst>
                </a:gridCol>
                <a:gridCol w="1455644">
                  <a:extLst>
                    <a:ext uri="{9D8B030D-6E8A-4147-A177-3AD203B41FA5}">
                      <a16:colId xmlns:a16="http://schemas.microsoft.com/office/drawing/2014/main" val="976503317"/>
                    </a:ext>
                  </a:extLst>
                </a:gridCol>
                <a:gridCol w="1455644">
                  <a:extLst>
                    <a:ext uri="{9D8B030D-6E8A-4147-A177-3AD203B41FA5}">
                      <a16:colId xmlns:a16="http://schemas.microsoft.com/office/drawing/2014/main" val="4259198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38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Non-Identifying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Dashed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The FK in the child entity does not act as part of the PK for that entity.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→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981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Identifying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Solid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The FK does act as part of the PK for the child entity.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Order → </a:t>
                      </a:r>
                      <a:r>
                        <a:rPr lang="en-CA" dirty="0" err="1"/>
                        <a:t>OrderDetails</a:t>
                      </a: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27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C46429F-ECEB-35F4-5E48-83E449E7D492}"/>
              </a:ext>
            </a:extLst>
          </p:cNvPr>
          <p:cNvSpPr txBox="1"/>
          <p:nvPr/>
        </p:nvSpPr>
        <p:spPr>
          <a:xfrm>
            <a:off x="324224" y="1347350"/>
            <a:ext cx="539924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Non-Identifying (Dashed Line):</a:t>
            </a:r>
            <a:endParaRPr lang="en-CA" dirty="0"/>
          </a:p>
          <a:p>
            <a:pPr rtl="0">
              <a:buNone/>
            </a:pPr>
            <a:r>
              <a:rPr lang="en-CA" dirty="0">
                <a:latin typeface="+mn-lt"/>
              </a:rPr>
              <a:t>CUSTOMER ········ places ········ ORDER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Customer ID (FK) in Order is NOT part of Order's PK.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Order has its own Order ID as PK. </a:t>
            </a:r>
          </a:p>
          <a:p>
            <a:pPr>
              <a:buNone/>
            </a:pPr>
            <a:r>
              <a:rPr lang="en-CA" b="1" dirty="0"/>
              <a:t>Identifying (Solid Line):</a:t>
            </a:r>
            <a:endParaRPr lang="en-CA" dirty="0"/>
          </a:p>
          <a:p>
            <a:pPr rtl="0">
              <a:buNone/>
            </a:pPr>
            <a:r>
              <a:rPr lang="en-CA" dirty="0">
                <a:latin typeface="+mn-lt"/>
              </a:rPr>
              <a:t>ORDER ——— contains ——— ORDER_DETAILS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Order ID (FK) in </a:t>
            </a:r>
            <a:r>
              <a:rPr lang="en-CA" dirty="0" err="1"/>
              <a:t>OrderDetails</a:t>
            </a:r>
            <a:r>
              <a:rPr lang="en-CA" dirty="0"/>
              <a:t> IS part of </a:t>
            </a:r>
            <a:r>
              <a:rPr lang="en-CA" dirty="0" err="1"/>
              <a:t>OrderDetails</a:t>
            </a:r>
            <a:r>
              <a:rPr lang="en-CA" dirty="0"/>
              <a:t>' PK.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 err="1"/>
              <a:t>OrderDetails</a:t>
            </a:r>
            <a:r>
              <a:rPr lang="en-CA" dirty="0"/>
              <a:t> PK = Order ID + Item Number (Composite Key)</a:t>
            </a:r>
          </a:p>
        </p:txBody>
      </p:sp>
    </p:spTree>
    <p:extLst>
      <p:ext uri="{BB962C8B-B14F-4D97-AF65-F5344CB8AC3E}">
        <p14:creationId xmlns:p14="http://schemas.microsoft.com/office/powerpoint/2010/main" val="1343949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F304-0C65-0D91-DA4F-D4EFC0A9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B235-5E75-B2B0-E6A2-DA289A9D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Makes a Relationship Identifying?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2644D-AA2C-C962-C9B7-E0834FC9A4E3}"/>
              </a:ext>
            </a:extLst>
          </p:cNvPr>
          <p:cNvSpPr txBox="1"/>
          <p:nvPr/>
        </p:nvSpPr>
        <p:spPr>
          <a:xfrm>
            <a:off x="324224" y="1347350"/>
            <a:ext cx="751590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The key question is:</a:t>
            </a:r>
          </a:p>
          <a:p>
            <a:pPr>
              <a:buNone/>
            </a:pPr>
            <a:r>
              <a:rPr lang="en-CA" b="1" dirty="0"/>
              <a:t>Is the foreign key part of the child's primary key?</a:t>
            </a:r>
            <a:endParaRPr lang="en-CA" dirty="0"/>
          </a:p>
          <a:p>
            <a:pPr>
              <a:buNone/>
            </a:pPr>
            <a:r>
              <a:rPr lang="en-CA" b="1" dirty="0"/>
              <a:t>Non-Identifying Relationship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The FK in the child is </a:t>
            </a:r>
            <a:r>
              <a:rPr lang="en-CA" b="1" dirty="0"/>
              <a:t>not</a:t>
            </a:r>
            <a:r>
              <a:rPr lang="en-CA" dirty="0"/>
              <a:t> part of the child's PK.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The child has its own independent PK.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Example: </a:t>
            </a:r>
            <a:r>
              <a:rPr lang="en-CA" dirty="0">
                <a:latin typeface="Courier New" panose="02070309020205020404" pitchFamily="49" charset="0"/>
              </a:rPr>
              <a:t>CUSTOMER → ORDER</a:t>
            </a:r>
            <a:r>
              <a:rPr lang="en-CA" dirty="0"/>
              <a:t> </a:t>
            </a:r>
          </a:p>
          <a:p>
            <a:pPr>
              <a:buNone/>
            </a:pPr>
            <a:r>
              <a:rPr lang="en-CA" b="1" dirty="0"/>
              <a:t>Identifying Relationship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The FK </a:t>
            </a:r>
            <a:r>
              <a:rPr lang="en-CA" b="1" dirty="0"/>
              <a:t>is part of</a:t>
            </a:r>
            <a:r>
              <a:rPr lang="en-CA" dirty="0"/>
              <a:t> the child's PK.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The child's identity depends on the parent.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Example: </a:t>
            </a:r>
            <a:r>
              <a:rPr lang="en-CA" dirty="0">
                <a:latin typeface="Courier New" panose="02070309020205020404" pitchFamily="49" charset="0"/>
              </a:rPr>
              <a:t>ORDER → ORDER_DETAILS</a:t>
            </a:r>
            <a:r>
              <a:rPr lang="en-CA" dirty="0"/>
              <a:t> </a:t>
            </a:r>
          </a:p>
          <a:p>
            <a:pPr>
              <a:buNone/>
            </a:pPr>
            <a:r>
              <a:rPr lang="en-CA" b="1" dirty="0"/>
              <a:t>Easy test:</a:t>
            </a:r>
            <a:endParaRPr lang="en-CA" dirty="0"/>
          </a:p>
          <a:p>
            <a:pPr>
              <a:buNone/>
            </a:pPr>
            <a:r>
              <a:rPr lang="en-CA" dirty="0"/>
              <a:t>If the FK is part of the child's PK → </a:t>
            </a:r>
            <a:r>
              <a:rPr lang="en-CA" b="1" dirty="0"/>
              <a:t>Identifying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If the FK is not part of the child's PK → </a:t>
            </a:r>
            <a:r>
              <a:rPr lang="en-CA" b="1" dirty="0"/>
              <a:t>Non-identifying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9953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867" y="203200"/>
            <a:ext cx="5616268" cy="645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>
            <a:spLocks noGrp="1"/>
          </p:cNvSpPr>
          <p:nvPr>
            <p:ph type="title"/>
          </p:nvPr>
        </p:nvSpPr>
        <p:spPr>
          <a:xfrm>
            <a:off x="404400" y="548767"/>
            <a:ext cx="11360800" cy="85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Reading an IDEF1X ERD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65151-F065-DC16-40CD-80929B64B37C}"/>
              </a:ext>
            </a:extLst>
          </p:cNvPr>
          <p:cNvSpPr txBox="1"/>
          <p:nvPr/>
        </p:nvSpPr>
        <p:spPr>
          <a:xfrm>
            <a:off x="694267" y="209845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Relationships: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CUSTOMER ····· places ····· ORDER (Non-Identifying, 1:M)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ORDER ——— contains ——— ORDER_DETAILS (Identifying, 1:M)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ITEM ——— appears on ——— ORDER_DETAILS (Identifying, 1:M)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5B124-7913-0071-0AF1-B08650B5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5C19-AD73-1CBE-2E20-9E17E3883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FK Example — One-to-Many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7FFE5-8798-BC2C-C01C-6364D8206B47}"/>
              </a:ext>
            </a:extLst>
          </p:cNvPr>
          <p:cNvSpPr txBox="1"/>
          <p:nvPr/>
        </p:nvSpPr>
        <p:spPr>
          <a:xfrm>
            <a:off x="324224" y="1229382"/>
            <a:ext cx="7515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Scenario:</a:t>
            </a:r>
            <a:r>
              <a:rPr lang="en-CA" dirty="0"/>
              <a:t> A retail sales company. A customer can place many orders. Each order is placed by one customer.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96D4CE-42AE-C315-5AE9-96DF98CC8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575561"/>
              </p:ext>
            </p:extLst>
          </p:nvPr>
        </p:nvGraphicFramePr>
        <p:xfrm>
          <a:off x="324224" y="1933301"/>
          <a:ext cx="105156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005075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15389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Which is the parent?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Which is the child?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08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CUSTOMER (the "one" side)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ORDER (the "many" side)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6134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C9C9D2-DD97-5E26-84AF-7DF076C2B3FD}"/>
              </a:ext>
            </a:extLst>
          </p:cNvPr>
          <p:cNvSpPr txBox="1"/>
          <p:nvPr/>
        </p:nvSpPr>
        <p:spPr>
          <a:xfrm>
            <a:off x="291602" y="2875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Implementation: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8723D0-BE45-4EE8-83B5-278069329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492123"/>
              </p:ext>
            </p:extLst>
          </p:nvPr>
        </p:nvGraphicFramePr>
        <p:xfrm>
          <a:off x="324224" y="3329223"/>
          <a:ext cx="5094444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7222">
                  <a:extLst>
                    <a:ext uri="{9D8B030D-6E8A-4147-A177-3AD203B41FA5}">
                      <a16:colId xmlns:a16="http://schemas.microsoft.com/office/drawing/2014/main" val="2789175941"/>
                    </a:ext>
                  </a:extLst>
                </a:gridCol>
                <a:gridCol w="2547222">
                  <a:extLst>
                    <a:ext uri="{9D8B030D-6E8A-4147-A177-3AD203B41FA5}">
                      <a16:colId xmlns:a16="http://schemas.microsoft.com/office/drawing/2014/main" val="2812999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CUSTOMER (Parent)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87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Customer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← Parent 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27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Last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757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First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031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01873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283CA5-3669-4601-E0A0-D5D9E8267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223795"/>
              </p:ext>
            </p:extLst>
          </p:nvPr>
        </p:nvGraphicFramePr>
        <p:xfrm>
          <a:off x="5582024" y="3306106"/>
          <a:ext cx="6449484" cy="18750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24742">
                  <a:extLst>
                    <a:ext uri="{9D8B030D-6E8A-4147-A177-3AD203B41FA5}">
                      <a16:colId xmlns:a16="http://schemas.microsoft.com/office/drawing/2014/main" val="1899275764"/>
                    </a:ext>
                  </a:extLst>
                </a:gridCol>
                <a:gridCol w="3224742">
                  <a:extLst>
                    <a:ext uri="{9D8B030D-6E8A-4147-A177-3AD203B41FA5}">
                      <a16:colId xmlns:a16="http://schemas.microsoft.com/office/drawing/2014/main" val="3578263256"/>
                    </a:ext>
                  </a:extLst>
                </a:gridCol>
              </a:tblGrid>
              <a:tr h="394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ORDER (Child)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051957"/>
                  </a:ext>
                </a:extLst>
              </a:tr>
              <a:tr h="394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Order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Child 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291268"/>
                  </a:ext>
                </a:extLst>
              </a:tr>
              <a:tr h="394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Order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283703"/>
                  </a:ext>
                </a:extLst>
              </a:tr>
              <a:tr h="690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Customer 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Foreign Key (from Customer)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7088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6F49D39-0DE8-3079-6CBF-A7E08D33DC86}"/>
              </a:ext>
            </a:extLst>
          </p:cNvPr>
          <p:cNvSpPr txBox="1"/>
          <p:nvPr/>
        </p:nvSpPr>
        <p:spPr>
          <a:xfrm>
            <a:off x="3339602" y="2813230"/>
            <a:ext cx="8195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Result:</a:t>
            </a:r>
            <a:r>
              <a:rPr lang="en-CA" dirty="0"/>
              <a:t> Every order includes the Customer ID of the customer who placed it.</a:t>
            </a:r>
          </a:p>
        </p:txBody>
      </p:sp>
    </p:spTree>
    <p:extLst>
      <p:ext uri="{BB962C8B-B14F-4D97-AF65-F5344CB8AC3E}">
        <p14:creationId xmlns:p14="http://schemas.microsoft.com/office/powerpoint/2010/main" val="28358730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B4BD4-4955-8949-AAAD-AFF5AE21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940DD-5FB8-CAE5-3637-AF6EF16E2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FK Example — One-to-One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5A262-4131-957B-1BED-2EC4B74746B8}"/>
              </a:ext>
            </a:extLst>
          </p:cNvPr>
          <p:cNvSpPr txBox="1"/>
          <p:nvPr/>
        </p:nvSpPr>
        <p:spPr>
          <a:xfrm>
            <a:off x="324225" y="1229382"/>
            <a:ext cx="57717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Scenario:</a:t>
            </a:r>
            <a:r>
              <a:rPr lang="en-CA" dirty="0"/>
              <a:t> A company has departments. Each department has one manager. Each manager manages one department.</a:t>
            </a:r>
          </a:p>
          <a:p>
            <a:pPr>
              <a:buNone/>
            </a:pPr>
            <a:r>
              <a:rPr lang="en-CA" b="1" dirty="0"/>
              <a:t>Option 1: Add Department ID to Employee (Bad Design)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C14794-4697-FD7B-2B57-6EAF9D33B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856433"/>
              </p:ext>
            </p:extLst>
          </p:nvPr>
        </p:nvGraphicFramePr>
        <p:xfrm>
          <a:off x="324225" y="2876288"/>
          <a:ext cx="5433108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7732">
                  <a:extLst>
                    <a:ext uri="{9D8B030D-6E8A-4147-A177-3AD203B41FA5}">
                      <a16:colId xmlns:a16="http://schemas.microsoft.com/office/drawing/2014/main" val="183299132"/>
                    </a:ext>
                  </a:extLst>
                </a:gridCol>
                <a:gridCol w="3265376">
                  <a:extLst>
                    <a:ext uri="{9D8B030D-6E8A-4147-A177-3AD203B41FA5}">
                      <a16:colId xmlns:a16="http://schemas.microsoft.com/office/drawing/2014/main" val="1420398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96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Employee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600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22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ManagesDept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Many employees will have NULL here!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2065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9FFE234-7943-82DF-DCB0-99F5FAD005A0}"/>
              </a:ext>
            </a:extLst>
          </p:cNvPr>
          <p:cNvSpPr txBox="1"/>
          <p:nvPr/>
        </p:nvSpPr>
        <p:spPr>
          <a:xfrm>
            <a:off x="6658535" y="2022925"/>
            <a:ext cx="5269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Option 2: Add Employee ID to Department (Better Design)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0AA0E65-FF93-1D2B-3B06-DD14F5F8D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671357"/>
              </p:ext>
            </p:extLst>
          </p:nvPr>
        </p:nvGraphicFramePr>
        <p:xfrm>
          <a:off x="6096001" y="2872662"/>
          <a:ext cx="5907618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3809">
                  <a:extLst>
                    <a:ext uri="{9D8B030D-6E8A-4147-A177-3AD203B41FA5}">
                      <a16:colId xmlns:a16="http://schemas.microsoft.com/office/drawing/2014/main" val="3821603365"/>
                    </a:ext>
                  </a:extLst>
                </a:gridCol>
                <a:gridCol w="2953809">
                  <a:extLst>
                    <a:ext uri="{9D8B030D-6E8A-4147-A177-3AD203B41FA5}">
                      <a16:colId xmlns:a16="http://schemas.microsoft.com/office/drawing/2014/main" val="2810872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(Child)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4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248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36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ManagerID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Every department has a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605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1194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878E-33A7-8A38-8046-8D1676235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6002-CDEB-31A9-78CF-9543A1530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FK Example — One-to-One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E5C15-9AB3-C283-AF8B-F647E9D88F0E}"/>
              </a:ext>
            </a:extLst>
          </p:cNvPr>
          <p:cNvSpPr txBox="1"/>
          <p:nvPr/>
        </p:nvSpPr>
        <p:spPr>
          <a:xfrm>
            <a:off x="324225" y="1229382"/>
            <a:ext cx="5771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Option 1: Add Department ID to Employee (Bad Design)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EA475-1538-5102-FC98-348A0DEDB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616844"/>
              </p:ext>
            </p:extLst>
          </p:nvPr>
        </p:nvGraphicFramePr>
        <p:xfrm>
          <a:off x="324225" y="2007608"/>
          <a:ext cx="5433108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7732">
                  <a:extLst>
                    <a:ext uri="{9D8B030D-6E8A-4147-A177-3AD203B41FA5}">
                      <a16:colId xmlns:a16="http://schemas.microsoft.com/office/drawing/2014/main" val="183299132"/>
                    </a:ext>
                  </a:extLst>
                </a:gridCol>
                <a:gridCol w="3265376">
                  <a:extLst>
                    <a:ext uri="{9D8B030D-6E8A-4147-A177-3AD203B41FA5}">
                      <a16:colId xmlns:a16="http://schemas.microsoft.com/office/drawing/2014/main" val="1420398975"/>
                    </a:ext>
                  </a:extLst>
                </a:gridCol>
              </a:tblGrid>
              <a:tr h="29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961948"/>
                  </a:ext>
                </a:extLst>
              </a:tr>
              <a:tr h="29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Employee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600044"/>
                  </a:ext>
                </a:extLst>
              </a:tr>
              <a:tr h="29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22822"/>
                  </a:ext>
                </a:extLst>
              </a:tr>
              <a:tr h="523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ManagesDept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Many employees will have NULL here!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2065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9E35E8-EB6C-8D11-C8AB-7B98DD0A6927}"/>
              </a:ext>
            </a:extLst>
          </p:cNvPr>
          <p:cNvSpPr txBox="1"/>
          <p:nvPr/>
        </p:nvSpPr>
        <p:spPr>
          <a:xfrm>
            <a:off x="6415183" y="1229381"/>
            <a:ext cx="5269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Option 2: Add Employee ID to Department (Better Design)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F3E8CE1-418A-F338-D360-FCDE2C69A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613782"/>
              </p:ext>
            </p:extLst>
          </p:nvPr>
        </p:nvGraphicFramePr>
        <p:xfrm>
          <a:off x="6096000" y="2007608"/>
          <a:ext cx="5907618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3809">
                  <a:extLst>
                    <a:ext uri="{9D8B030D-6E8A-4147-A177-3AD203B41FA5}">
                      <a16:colId xmlns:a16="http://schemas.microsoft.com/office/drawing/2014/main" val="3821603365"/>
                    </a:ext>
                  </a:extLst>
                </a:gridCol>
                <a:gridCol w="2953809">
                  <a:extLst>
                    <a:ext uri="{9D8B030D-6E8A-4147-A177-3AD203B41FA5}">
                      <a16:colId xmlns:a16="http://schemas.microsoft.com/office/drawing/2014/main" val="2810872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DEPARTMENT (Child)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4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248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36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ManagerID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← Every department has a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6057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DE04DA-A625-AC9A-E44C-9BF1A86DC6E4}"/>
              </a:ext>
            </a:extLst>
          </p:cNvPr>
          <p:cNvSpPr txBox="1"/>
          <p:nvPr/>
        </p:nvSpPr>
        <p:spPr>
          <a:xfrm>
            <a:off x="230033" y="3750739"/>
            <a:ext cx="88197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Why is Option 2 better?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Every department has a manager, so no NULL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Not all employees are managers, so Option 1 would have many NULLs. </a:t>
            </a:r>
          </a:p>
          <a:p>
            <a:pPr>
              <a:buNone/>
            </a:pPr>
            <a:r>
              <a:rPr lang="en-CA" b="1" dirty="0"/>
              <a:t>Important implementation detail:</a:t>
            </a:r>
            <a:endParaRPr lang="en-CA" dirty="0"/>
          </a:p>
          <a:p>
            <a:pPr>
              <a:buNone/>
            </a:pPr>
            <a:r>
              <a:rPr lang="en-CA" dirty="0"/>
              <a:t>If </a:t>
            </a:r>
            <a:r>
              <a:rPr lang="en-CA" dirty="0" err="1">
                <a:latin typeface="+mn-lt"/>
              </a:rPr>
              <a:t>ManagerID</a:t>
            </a:r>
            <a:r>
              <a:rPr lang="en-CA" dirty="0"/>
              <a:t> is used as a foreign key to enforce a 1:1 relationship, it should be </a:t>
            </a:r>
            <a:r>
              <a:rPr lang="en-CA" b="1" dirty="0"/>
              <a:t>UNIQUE</a:t>
            </a:r>
            <a:r>
              <a:rPr lang="en-CA" dirty="0"/>
              <a:t> so that the same manager cannot be assigned to multiple departments.</a:t>
            </a:r>
          </a:p>
        </p:txBody>
      </p:sp>
    </p:spTree>
    <p:extLst>
      <p:ext uri="{BB962C8B-B14F-4D97-AF65-F5344CB8AC3E}">
        <p14:creationId xmlns:p14="http://schemas.microsoft.com/office/powerpoint/2010/main" val="41660266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DF351-8C80-6AC3-218F-563FF01A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7711-6805-8517-83D6-679F70A3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/>
          </a:bodyPr>
          <a:lstStyle/>
          <a:p>
            <a:r>
              <a:rPr lang="en-US" b="1" dirty="0"/>
              <a:t>Step-by-Step ERD Construction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F1E9E-0FBF-C791-7A5F-19FA3FF5E494}"/>
              </a:ext>
            </a:extLst>
          </p:cNvPr>
          <p:cNvSpPr txBox="1"/>
          <p:nvPr/>
        </p:nvSpPr>
        <p:spPr>
          <a:xfrm>
            <a:off x="324224" y="1040686"/>
            <a:ext cx="110549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Step 1: Identify Entities</a:t>
            </a:r>
            <a:endParaRPr lang="en-CA" dirty="0"/>
          </a:p>
          <a:p>
            <a:r>
              <a:rPr lang="en-CA" dirty="0"/>
              <a:t>Read the business rules. Underline the "nouns" — these are potential entities.</a:t>
            </a:r>
          </a:p>
          <a:p>
            <a:r>
              <a:rPr lang="en-CA" b="1" dirty="0"/>
              <a:t>Step 2: Identify Attributes</a:t>
            </a:r>
            <a:endParaRPr lang="en-CA" dirty="0"/>
          </a:p>
          <a:p>
            <a:r>
              <a:rPr lang="en-CA" dirty="0"/>
              <a:t>What information do we need to store about each entity?</a:t>
            </a:r>
          </a:p>
          <a:p>
            <a:r>
              <a:rPr lang="en-CA" b="1" dirty="0"/>
              <a:t>Step 3: Identify Primary Keys</a:t>
            </a:r>
            <a:endParaRPr lang="en-CA" dirty="0"/>
          </a:p>
          <a:p>
            <a:r>
              <a:rPr lang="en-CA" dirty="0"/>
              <a:t>What uniquely identifies each instance of an entity? Is there a natural key? Do we need a technical key?</a:t>
            </a:r>
          </a:p>
          <a:p>
            <a:r>
              <a:rPr lang="en-CA" b="1" dirty="0"/>
              <a:t>Step 4: Identify Relationships</a:t>
            </a:r>
            <a:endParaRPr lang="en-CA" dirty="0"/>
          </a:p>
          <a:p>
            <a:r>
              <a:rPr lang="en-CA" dirty="0"/>
              <a:t>How are entities connected? What are the "verbs" between them?</a:t>
            </a:r>
          </a:p>
          <a:p>
            <a:r>
              <a:rPr lang="en-CA" dirty="0"/>
              <a:t>Name relationships with </a:t>
            </a:r>
            <a:r>
              <a:rPr lang="en-CA" b="1" dirty="0"/>
              <a:t>verb phrases</a:t>
            </a:r>
            <a:r>
              <a:rPr lang="en-CA" dirty="0"/>
              <a:t> and make sure they make sense in </a:t>
            </a:r>
            <a:r>
              <a:rPr lang="en-CA" b="1" dirty="0"/>
              <a:t>both directions</a:t>
            </a:r>
            <a:r>
              <a:rPr lang="en-CA" dirty="0"/>
              <a:t>.</a:t>
            </a:r>
          </a:p>
          <a:p>
            <a:r>
              <a:rPr lang="en-CA" b="1" dirty="0"/>
              <a:t>Step 5: Determine Cardinality</a:t>
            </a:r>
            <a:endParaRPr lang="en-CA" dirty="0"/>
          </a:p>
          <a:p>
            <a:r>
              <a:rPr lang="en-CA" dirty="0"/>
              <a:t>How many instances can participate in each relationship? (1:1, 1:M, M:N)</a:t>
            </a:r>
          </a:p>
          <a:p>
            <a:r>
              <a:rPr lang="en-CA" b="1" dirty="0"/>
              <a:t>Step 6: Create Associative Entities</a:t>
            </a:r>
            <a:endParaRPr lang="en-CA" dirty="0"/>
          </a:p>
          <a:p>
            <a:r>
              <a:rPr lang="en-CA" dirty="0"/>
              <a:t>If you have a M:N relationship, create an associative entity to resolve it.</a:t>
            </a:r>
          </a:p>
          <a:p>
            <a:r>
              <a:rPr lang="en-CA" b="1" dirty="0"/>
              <a:t>Step 7: Draw the ERD</a:t>
            </a:r>
            <a:endParaRPr lang="en-CA" dirty="0"/>
          </a:p>
          <a:p>
            <a:r>
              <a:rPr lang="en-CA" dirty="0"/>
              <a:t>Use IDEF1X notation with proper symbols.</a:t>
            </a:r>
          </a:p>
        </p:txBody>
      </p:sp>
    </p:spTree>
    <p:extLst>
      <p:ext uri="{BB962C8B-B14F-4D97-AF65-F5344CB8AC3E}">
        <p14:creationId xmlns:p14="http://schemas.microsoft.com/office/powerpoint/2010/main" val="3296281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233A7-9455-A9A0-DB9A-CDF39257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E6BB-ABD5-28F5-7214-6230E5FE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4" y="159703"/>
            <a:ext cx="10515600" cy="10696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— College Registration System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07AC4-A7ED-E0C9-5472-4E269C568400}"/>
              </a:ext>
            </a:extLst>
          </p:cNvPr>
          <p:cNvSpPr txBox="1"/>
          <p:nvPr/>
        </p:nvSpPr>
        <p:spPr>
          <a:xfrm>
            <a:off x="324224" y="1040686"/>
            <a:ext cx="110549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Business Rules:</a:t>
            </a:r>
            <a:endParaRPr lang="en-CA" dirty="0"/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A university has many departments.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Each department offers many courses.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A course is offered by exactly one department.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A student can enroll in many courses.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A course can have many students enrolled.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Students are identified by Student ID.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dirty="0"/>
              <a:t>Courses are identified by Course Code. </a:t>
            </a:r>
          </a:p>
          <a:p>
            <a:pPr>
              <a:buNone/>
            </a:pPr>
            <a:r>
              <a:rPr lang="en-CA" b="1" dirty="0"/>
              <a:t>Step 1: Identify Entities</a:t>
            </a:r>
            <a:endParaRPr lang="en-C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0E5B08-ECFE-DCAA-6F9A-51B12E5B7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932830"/>
              </p:ext>
            </p:extLst>
          </p:nvPr>
        </p:nvGraphicFramePr>
        <p:xfrm>
          <a:off x="324224" y="3623205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983059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53717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88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Academic 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72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Classes offered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698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People enrolled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853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Which students are in which courses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857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3150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76394-DFC5-B423-6A31-441503B4F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506F-6D89-2B2D-512A-F9857D05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3" y="159703"/>
            <a:ext cx="11393643" cy="10696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— College Registration (Continued)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F8510-242C-4AF2-F0D7-91BFF03016EA}"/>
              </a:ext>
            </a:extLst>
          </p:cNvPr>
          <p:cNvSpPr txBox="1"/>
          <p:nvPr/>
        </p:nvSpPr>
        <p:spPr>
          <a:xfrm>
            <a:off x="324223" y="1337546"/>
            <a:ext cx="11054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Step 2: Identify Attributes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1BBDD5-823A-81CB-5367-6EBA3AF76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617068"/>
              </p:ext>
            </p:extLst>
          </p:nvPr>
        </p:nvGraphicFramePr>
        <p:xfrm>
          <a:off x="324224" y="1815043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953558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20889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24958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63634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ENROLLMENT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710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Dept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 Code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 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 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62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First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 Code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087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Credits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Last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Grade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961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Dept 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Enrollment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67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75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4767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E8AF-DAFF-8235-D4EA-C2F7BF5C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7062-6BB1-3D7C-7DC3-6FFB536D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3" y="159703"/>
            <a:ext cx="11393643" cy="10696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— College Registration (Continued)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8F372-162D-A701-DDFB-52EEB5FED82B}"/>
              </a:ext>
            </a:extLst>
          </p:cNvPr>
          <p:cNvSpPr txBox="1"/>
          <p:nvPr/>
        </p:nvSpPr>
        <p:spPr>
          <a:xfrm>
            <a:off x="324223" y="1337546"/>
            <a:ext cx="11054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Step 3: Identify Relationships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592758-0D44-B9C9-B1EB-4AF756509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213152"/>
              </p:ext>
            </p:extLst>
          </p:nvPr>
        </p:nvGraphicFramePr>
        <p:xfrm>
          <a:off x="324223" y="1815042"/>
          <a:ext cx="10515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075099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287334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688456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1271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Entity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Entity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0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offers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1:M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679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enrolls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M:N → Resolved by ENROLLMENT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4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8752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619C-4560-4CC7-4508-DC9D72A2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2A22-09DC-0D70-5AFB-2E4611E1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3" y="159703"/>
            <a:ext cx="11393643" cy="106967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— College Registration (Continued)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DABEC-0A5E-2EED-EFBA-8C3E06F25C88}"/>
              </a:ext>
            </a:extLst>
          </p:cNvPr>
          <p:cNvSpPr txBox="1"/>
          <p:nvPr/>
        </p:nvSpPr>
        <p:spPr>
          <a:xfrm>
            <a:off x="324223" y="1337546"/>
            <a:ext cx="11054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Step 3: Identify Relationships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A6BC39-173D-D63A-7D71-6B0BE8282D4C}"/>
              </a:ext>
            </a:extLst>
          </p:cNvPr>
          <p:cNvGraphicFramePr>
            <a:graphicFrameLocks noGrp="1"/>
          </p:cNvGraphicFramePr>
          <p:nvPr/>
        </p:nvGraphicFramePr>
        <p:xfrm>
          <a:off x="324223" y="1815042"/>
          <a:ext cx="10515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075099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287334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688456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1271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Entity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Entity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0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offers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1:M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679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enrolls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M:N → Resolved by ENROLLMENT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4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3304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5FA6-C99D-0BF9-E1A7-212A0C5E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533A-5F1E-F67F-F04A-48E18E0D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3" y="159703"/>
            <a:ext cx="11393643" cy="1069679"/>
          </a:xfrm>
        </p:spPr>
        <p:txBody>
          <a:bodyPr>
            <a:normAutofit/>
          </a:bodyPr>
          <a:lstStyle/>
          <a:p>
            <a:r>
              <a:rPr lang="en-US" b="1" dirty="0"/>
              <a:t>Example — College Registration ERD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576C6-6186-7CCE-2C76-0D067333D4DB}"/>
              </a:ext>
            </a:extLst>
          </p:cNvPr>
          <p:cNvSpPr txBox="1"/>
          <p:nvPr/>
        </p:nvSpPr>
        <p:spPr>
          <a:xfrm>
            <a:off x="324223" y="1337546"/>
            <a:ext cx="11054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IDEF1X ERD: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5E738-6DE2-B6D5-E23B-E16E5948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567" y="1522212"/>
            <a:ext cx="7564437" cy="504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815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4748-7138-3081-5544-B9041E659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67D7-B066-407C-4A6E-A93135C79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3" y="159703"/>
            <a:ext cx="11393643" cy="1069679"/>
          </a:xfrm>
        </p:spPr>
        <p:txBody>
          <a:bodyPr>
            <a:normAutofit/>
          </a:bodyPr>
          <a:lstStyle/>
          <a:p>
            <a:r>
              <a:rPr lang="en-US" b="1" dirty="0"/>
              <a:t>How to Read an ERD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4C6B1-8CAE-6173-45F3-2D33812BF009}"/>
              </a:ext>
            </a:extLst>
          </p:cNvPr>
          <p:cNvSpPr txBox="1"/>
          <p:nvPr/>
        </p:nvSpPr>
        <p:spPr>
          <a:xfrm>
            <a:off x="324223" y="1028343"/>
            <a:ext cx="110549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When you are given an ERD, work through it in this order: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b="1" dirty="0"/>
              <a:t>Identify the entities</a:t>
            </a:r>
            <a:r>
              <a:rPr lang="en-CA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b="1" dirty="0"/>
              <a:t>Identify the attributes</a:t>
            </a:r>
            <a:r>
              <a:rPr lang="en-CA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b="1" dirty="0"/>
              <a:t>Find the primary keys</a:t>
            </a:r>
            <a:r>
              <a:rPr lang="en-CA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b="1" dirty="0"/>
              <a:t>Find the foreign keys</a:t>
            </a:r>
            <a:r>
              <a:rPr lang="en-CA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b="1" dirty="0"/>
              <a:t>Identify the relationships</a:t>
            </a:r>
            <a:r>
              <a:rPr lang="en-CA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b="1" dirty="0"/>
              <a:t>Read the cardinality and participation</a:t>
            </a:r>
            <a:r>
              <a:rPr lang="en-CA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b="1" dirty="0"/>
              <a:t>Check identifying vs. non-identifying relationships</a:t>
            </a:r>
            <a:r>
              <a:rPr lang="en-CA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CA" b="1" dirty="0"/>
              <a:t>Read each relationship as a sentence in both directions</a:t>
            </a:r>
            <a:r>
              <a:rPr lang="en-CA" dirty="0"/>
              <a:t> </a:t>
            </a:r>
          </a:p>
          <a:p>
            <a:pPr>
              <a:buNone/>
            </a:pPr>
            <a:r>
              <a:rPr lang="en-CA" b="1" dirty="0"/>
              <a:t>Example:</a:t>
            </a:r>
            <a:endParaRPr lang="en-CA" dirty="0"/>
          </a:p>
          <a:p>
            <a:pPr>
              <a:buNone/>
            </a:pPr>
            <a:r>
              <a:rPr lang="en-CA" dirty="0">
                <a:latin typeface="Courier New" panose="02070309020205020404" pitchFamily="49" charset="0"/>
              </a:rPr>
              <a:t>CUSTOMER 1:M ORDER</a:t>
            </a:r>
            <a:endParaRPr lang="en-CA" dirty="0"/>
          </a:p>
          <a:p>
            <a:pPr>
              <a:buNone/>
            </a:pPr>
            <a:r>
              <a:rPr lang="en-CA" b="1" dirty="0"/>
              <a:t>Read it as: </a:t>
            </a:r>
            <a:r>
              <a:rPr lang="en-CA" dirty="0"/>
              <a:t>A customer can place many orders.</a:t>
            </a:r>
          </a:p>
          <a:p>
            <a:pPr>
              <a:buNone/>
            </a:pPr>
            <a:r>
              <a:rPr lang="en-CA" b="1" dirty="0"/>
              <a:t>Then reverse it: </a:t>
            </a:r>
            <a:r>
              <a:rPr lang="en-CA" dirty="0"/>
              <a:t>An order belongs to one customer.</a:t>
            </a:r>
          </a:p>
          <a:p>
            <a:pPr>
              <a:buNone/>
            </a:pPr>
            <a:r>
              <a:rPr lang="en-CA" b="1" dirty="0"/>
              <a:t>Goal:</a:t>
            </a:r>
            <a:endParaRPr lang="en-CA" dirty="0"/>
          </a:p>
          <a:p>
            <a:pPr>
              <a:buNone/>
            </a:pPr>
            <a:r>
              <a:rPr lang="en-CA" dirty="0"/>
              <a:t>Be able to look at an ERD and explain the database design in plain language.</a:t>
            </a:r>
          </a:p>
        </p:txBody>
      </p:sp>
    </p:spTree>
    <p:extLst>
      <p:ext uri="{BB962C8B-B14F-4D97-AF65-F5344CB8AC3E}">
        <p14:creationId xmlns:p14="http://schemas.microsoft.com/office/powerpoint/2010/main" val="10020256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2D756-A8F9-C2C1-0FAF-F1AFEF6F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BEA2-E18F-E735-FB03-CA780816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3" y="159703"/>
            <a:ext cx="11393643" cy="1069679"/>
          </a:xfrm>
        </p:spPr>
        <p:txBody>
          <a:bodyPr>
            <a:normAutofit/>
          </a:bodyPr>
          <a:lstStyle/>
          <a:p>
            <a:r>
              <a:rPr lang="en-US" b="1" dirty="0"/>
              <a:t>FK Placement Summary</a:t>
            </a:r>
            <a:endParaRPr lang="en-C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9111CC-A1A3-49F6-44DE-C2AC750E3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737838"/>
              </p:ext>
            </p:extLst>
          </p:nvPr>
        </p:nvGraphicFramePr>
        <p:xfrm>
          <a:off x="4551561" y="1445390"/>
          <a:ext cx="7316216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8416">
                  <a:extLst>
                    <a:ext uri="{9D8B030D-6E8A-4147-A177-3AD203B41FA5}">
                      <a16:colId xmlns:a16="http://schemas.microsoft.com/office/drawing/2014/main" val="10694143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35206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Relationship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FK Placement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17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1:1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Place the FK where the business rules make the most sense; avoid unnecessary NULLs. If the FK enforces the 1:1 relationship, it should be UNIQUE.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77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1:M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Place the FK in the "many" entity (child).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9268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M:N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Create an Associative Entity containing both PKs.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9167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74E9CD-7514-018C-D8D1-42206B6CFA98}"/>
              </a:ext>
            </a:extLst>
          </p:cNvPr>
          <p:cNvSpPr txBox="1"/>
          <p:nvPr/>
        </p:nvSpPr>
        <p:spPr>
          <a:xfrm>
            <a:off x="324223" y="1204320"/>
            <a:ext cx="409537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Where does the foreign key go?</a:t>
            </a:r>
            <a:endParaRPr lang="en-CA" dirty="0"/>
          </a:p>
          <a:p>
            <a:pPr>
              <a:buNone/>
            </a:pPr>
            <a:r>
              <a:rPr lang="en-CA" b="1" dirty="0"/>
              <a:t>Rule of Thumb:</a:t>
            </a:r>
            <a:endParaRPr lang="en-CA" dirty="0"/>
          </a:p>
          <a:p>
            <a:pPr>
              <a:buNone/>
            </a:pPr>
            <a:r>
              <a:rPr lang="en-CA" dirty="0"/>
              <a:t>The parent entity does NOT contain the FK. The child entity DOES contain the FK.</a:t>
            </a:r>
          </a:p>
          <a:p>
            <a:pPr>
              <a:buNone/>
            </a:pPr>
            <a:r>
              <a:rPr lang="en-CA" b="1" dirty="0"/>
              <a:t>Example: CUSTOMER (1) → ORDER (M)</a:t>
            </a:r>
            <a:endParaRPr lang="en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Parent: CUSTOMER (no FK to Order)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dirty="0"/>
              <a:t>Child: ORDER (contains Customer ID as FK)</a:t>
            </a:r>
          </a:p>
        </p:txBody>
      </p:sp>
    </p:spTree>
    <p:extLst>
      <p:ext uri="{BB962C8B-B14F-4D97-AF65-F5344CB8AC3E}">
        <p14:creationId xmlns:p14="http://schemas.microsoft.com/office/powerpoint/2010/main" val="41662010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DC72C-3355-5536-41FD-CBEE6A93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33" y="601679"/>
            <a:ext cx="8428800" cy="582885"/>
          </a:xfrm>
        </p:spPr>
        <p:txBody>
          <a:bodyPr/>
          <a:lstStyle/>
          <a:p>
            <a:r>
              <a:rPr lang="en-CA" dirty="0"/>
              <a:t>Key Takeaways: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266308-99A4-72A6-1734-9187A40E4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05310"/>
              </p:ext>
            </p:extLst>
          </p:nvPr>
        </p:nvGraphicFramePr>
        <p:xfrm>
          <a:off x="464497" y="1642533"/>
          <a:ext cx="7392570" cy="4375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82">
                  <a:extLst>
                    <a:ext uri="{9D8B030D-6E8A-4147-A177-3AD203B41FA5}">
                      <a16:colId xmlns:a16="http://schemas.microsoft.com/office/drawing/2014/main" val="3655271035"/>
                    </a:ext>
                  </a:extLst>
                </a:gridCol>
                <a:gridCol w="5197988">
                  <a:extLst>
                    <a:ext uri="{9D8B030D-6E8A-4147-A177-3AD203B41FA5}">
                      <a16:colId xmlns:a16="http://schemas.microsoft.com/office/drawing/2014/main" val="3109961708"/>
                    </a:ext>
                  </a:extLst>
                </a:gridCol>
              </a:tblGrid>
              <a:tr h="307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/>
                        <a:t>Question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/>
                        <a:t>Answer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3545482006"/>
                  </a:ext>
                </a:extLst>
              </a:tr>
              <a:tr h="53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What is an entity?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A person, place, thing, or concept about which we store data.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3107037550"/>
                  </a:ext>
                </a:extLst>
              </a:tr>
              <a:tr h="307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What is an instance?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One specific occurrence of an entity.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3317699183"/>
                  </a:ext>
                </a:extLst>
              </a:tr>
              <a:tr h="53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What is a primary key?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An attribute that uniquely identifies each instance of an entity.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4089505850"/>
                  </a:ext>
                </a:extLst>
              </a:tr>
              <a:tr h="53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What is a foreign key?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 primary key from one entity that appears in another entity.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1600055925"/>
                  </a:ext>
                </a:extLst>
              </a:tr>
              <a:tr h="53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What is an associative entity?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 third entity created to resolve a many-to-many relationship.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2209364566"/>
                  </a:ext>
                </a:extLst>
              </a:tr>
              <a:tr h="53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What is cardinality?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The number of instances of one entity that can relate to another.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3026127961"/>
                  </a:ext>
                </a:extLst>
              </a:tr>
              <a:tr h="53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What is a composite attribute?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An attribute that can be broken down into smaller parts.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2413630722"/>
                  </a:ext>
                </a:extLst>
              </a:tr>
              <a:tr h="53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What is a derived attribute?</a:t>
                      </a:r>
                    </a:p>
                  </a:txBody>
                  <a:tcPr marL="61606" marR="61606" marT="30803" marB="3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An attribute calculated from other stored attributes.</a:t>
                      </a:r>
                    </a:p>
                  </a:txBody>
                  <a:tcPr marL="61606" marR="61606" marT="30803" marB="30803" anchor="ctr"/>
                </a:tc>
                <a:extLst>
                  <a:ext uri="{0D108BD9-81ED-4DB2-BD59-A6C34878D82A}">
                    <a16:rowId xmlns:a16="http://schemas.microsoft.com/office/drawing/2014/main" val="323999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0495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B4F4-5396-7741-D2CF-ABFCCF9F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F815-C9C9-DC00-4BDB-9E3A8349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8" y="570506"/>
            <a:ext cx="9542317" cy="847200"/>
          </a:xfrm>
        </p:spPr>
        <p:txBody>
          <a:bodyPr>
            <a:normAutofit/>
          </a:bodyPr>
          <a:lstStyle/>
          <a:p>
            <a:r>
              <a:rPr lang="en-CA" dirty="0"/>
              <a:t>Today We Learned: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FFD67A-84D5-5495-76C2-5AC56DC06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969081"/>
              </p:ext>
            </p:extLst>
          </p:nvPr>
        </p:nvGraphicFramePr>
        <p:xfrm>
          <a:off x="572751" y="1417706"/>
          <a:ext cx="7342332" cy="37165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1166">
                  <a:extLst>
                    <a:ext uri="{9D8B030D-6E8A-4147-A177-3AD203B41FA5}">
                      <a16:colId xmlns:a16="http://schemas.microsoft.com/office/drawing/2014/main" val="1292514953"/>
                    </a:ext>
                  </a:extLst>
                </a:gridCol>
                <a:gridCol w="3671166">
                  <a:extLst>
                    <a:ext uri="{9D8B030D-6E8A-4147-A177-3AD203B41FA5}">
                      <a16:colId xmlns:a16="http://schemas.microsoft.com/office/drawing/2014/main" val="4221366647"/>
                    </a:ext>
                  </a:extLst>
                </a:gridCol>
              </a:tblGrid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b="1"/>
                        <a:t>Concept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b="1" dirty="0"/>
                        <a:t>Key Point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1508333860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ER Model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A blueprint for database design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4029823851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Entities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The "things" we store information about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2767675960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Attributes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The characteristics of entities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344785307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PKs and FKs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Unique identifiers and relationship links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255721823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1:1 Relationships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Rare — one to one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2615576267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1:M Relationships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Most common — one to many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247125757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M:N Relationships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Must be resolved with an associative entity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1476126693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Cardinality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Defines how many instances can participate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257305391"/>
                  </a:ext>
                </a:extLst>
              </a:tr>
              <a:tr h="474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Participation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Defines whether participation is required or optional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1790462438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IDEF1X Notation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The notation used in this course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2350506825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Identifying Relationship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FK is part of the child's PK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3698822593"/>
                  </a:ext>
                </a:extLst>
              </a:tr>
              <a:tr h="27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Non-Identifying Relationship</a:t>
                      </a:r>
                    </a:p>
                  </a:txBody>
                  <a:tcPr marL="63846" marR="63846" marT="31923" marB="31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FK is not part of the child's PK</a:t>
                      </a:r>
                    </a:p>
                  </a:txBody>
                  <a:tcPr marL="63846" marR="63846" marT="31923" marB="31923" anchor="ctr"/>
                </a:tc>
                <a:extLst>
                  <a:ext uri="{0D108BD9-81ED-4DB2-BD59-A6C34878D82A}">
                    <a16:rowId xmlns:a16="http://schemas.microsoft.com/office/drawing/2014/main" val="1972315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25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Blues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00498D"/>
      </a:accent2>
      <a:accent3>
        <a:srgbClr val="8CC63F"/>
      </a:accent3>
      <a:accent4>
        <a:srgbClr val="482F91"/>
      </a:accent4>
      <a:accent5>
        <a:srgbClr val="F26E23"/>
      </a:accent5>
      <a:accent6>
        <a:srgbClr val="A9A9A9"/>
      </a:accent6>
      <a:hlink>
        <a:srgbClr val="00ACED"/>
      </a:hlink>
      <a:folHlink>
        <a:srgbClr val="00ACE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Standard Powerpoint Presentation Template for NAIT Screens" id="{3BD04EBB-4171-4583-A98E-91711106D317}" vid="{263152E8-5872-4D90-B5D5-232AD3B8B3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636a0e-6a5d-4f3a-8cec-2ed9d7e96064">
      <Terms xmlns="http://schemas.microsoft.com/office/infopath/2007/PartnerControls"/>
    </lcf76f155ced4ddcb4097134ff3c332f>
    <TaxCatchAll xmlns="28175f85-aaa6-450f-8e62-bb2d8657c111" xsi:nil="true"/>
    <DocumentType xmlns="c0636a0e-6a5d-4f3a-8cec-2ed9d7e9606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087D08-9B7A-464C-90FA-EA923D7CBBB6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52bb52fc-fb4a-47ec-96af-1ca16eda3341"/>
    <ds:schemaRef ds:uri="http://purl.org/dc/elements/1.1/"/>
    <ds:schemaRef ds:uri="http://schemas.microsoft.com/office/infopath/2007/PartnerControls"/>
    <ds:schemaRef ds:uri="0fa82ce2-b671-45ef-b5fe-18516deeba49"/>
    <ds:schemaRef ds:uri="f60468bc-9de1-4bbe-b533-c963951abe47"/>
    <ds:schemaRef ds:uri="c0636a0e-6a5d-4f3a-8cec-2ed9d7e96064"/>
    <ds:schemaRef ds:uri="28175f85-aaa6-450f-8e62-bb2d8657c111"/>
  </ds:schemaRefs>
</ds:datastoreItem>
</file>

<file path=customXml/itemProps2.xml><?xml version="1.0" encoding="utf-8"?>
<ds:datastoreItem xmlns:ds="http://schemas.openxmlformats.org/officeDocument/2006/customXml" ds:itemID="{0540F518-E7A2-492A-A586-FD4E5E7500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BA5B65-9C6D-442F-9E03-5588B1ABEE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 Standard Powerpoint Presentation Template for NAIT Screens</Template>
  <TotalTime>9833</TotalTime>
  <Words>4991</Words>
  <Application>Microsoft Office PowerPoint</Application>
  <PresentationFormat>Widescreen</PresentationFormat>
  <Paragraphs>909</Paragraphs>
  <Slides>64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Calibri</vt:lpstr>
      <vt:lpstr>Courier New</vt:lpstr>
      <vt:lpstr>Lato</vt:lpstr>
      <vt:lpstr>quote-cjk-patch</vt:lpstr>
      <vt:lpstr>Raleway</vt:lpstr>
      <vt:lpstr>Office Theme</vt:lpstr>
      <vt:lpstr>PowerPoint Presentation</vt:lpstr>
      <vt:lpstr>PowerPoint Presentation</vt:lpstr>
      <vt:lpstr>PowerPoint Presentation</vt:lpstr>
      <vt:lpstr>The Problem with Poor Design </vt:lpstr>
      <vt:lpstr>Real-World Entities</vt:lpstr>
      <vt:lpstr>What is the Entity-Relationship Model? </vt:lpstr>
      <vt:lpstr>Entities vs. Instances </vt:lpstr>
      <vt:lpstr>Physical vs. Conceptual Entities </vt:lpstr>
      <vt:lpstr>Attributes in Detail </vt:lpstr>
      <vt:lpstr>Atomic vs. Composite Attributes </vt:lpstr>
      <vt:lpstr>Atomic vs. Composite Attributes </vt:lpstr>
      <vt:lpstr>Stored vs. Derived Attributes</vt:lpstr>
      <vt:lpstr>Stored vs. Derived Attributes</vt:lpstr>
      <vt:lpstr>Stored vs. Derived Attributes</vt:lpstr>
      <vt:lpstr>Domains and Null Values </vt:lpstr>
      <vt:lpstr>The NULL Value </vt:lpstr>
      <vt:lpstr>The NULL Value </vt:lpstr>
      <vt:lpstr>Primary Keys (PK) </vt:lpstr>
      <vt:lpstr>Special Kinds of Primary Keys</vt:lpstr>
      <vt:lpstr>Exercise — Identify the PK </vt:lpstr>
      <vt:lpstr>Introduction to Relationships</vt:lpstr>
      <vt:lpstr>Types of Relationships</vt:lpstr>
      <vt:lpstr>One-to-One Relationships (1:1) </vt:lpstr>
      <vt:lpstr>One-to-Many Relationships (1:M)</vt:lpstr>
      <vt:lpstr>Associative Entities</vt:lpstr>
      <vt:lpstr>Associative Entities</vt:lpstr>
      <vt:lpstr>A Foreign Key Can Also Be a Primary Key</vt:lpstr>
      <vt:lpstr>Foreign Keys (FK) </vt:lpstr>
      <vt:lpstr>Foreign Keys (FK) </vt:lpstr>
      <vt:lpstr>Foreign Key Rules</vt:lpstr>
      <vt:lpstr>FK Example — One-to-Many </vt:lpstr>
      <vt:lpstr>FK Example — One-to-Many </vt:lpstr>
      <vt:lpstr>FK Example — One-to-One</vt:lpstr>
      <vt:lpstr>FK Example — One-to-One</vt:lpstr>
      <vt:lpstr>Participation</vt:lpstr>
      <vt:lpstr>Cardinality = Minimum + Maximum</vt:lpstr>
      <vt:lpstr>Crow's Foot Notation Symbols</vt:lpstr>
      <vt:lpstr>Crow's Foot Notation Symbols</vt:lpstr>
      <vt:lpstr>Reading Cardinality</vt:lpstr>
      <vt:lpstr>Business Rules Determine Cardinality</vt:lpstr>
      <vt:lpstr>Business Rules Determine Cardinality</vt:lpstr>
      <vt:lpstr>Cardinality Examples</vt:lpstr>
      <vt:lpstr>Cardinality Examples</vt:lpstr>
      <vt:lpstr>Cardinality Types (Detailed)</vt:lpstr>
      <vt:lpstr>How to Read Cardinality</vt:lpstr>
      <vt:lpstr>IDEF1X Notation</vt:lpstr>
      <vt:lpstr>IDEF1X Notation</vt:lpstr>
      <vt:lpstr>Identifying vs. Non-Identifying Relationships</vt:lpstr>
      <vt:lpstr>What Makes a Relationship Identifying?</vt:lpstr>
      <vt:lpstr>PowerPoint Presentation</vt:lpstr>
      <vt:lpstr>Reading an IDEF1X ERD</vt:lpstr>
      <vt:lpstr>FK Example — One-to-Many</vt:lpstr>
      <vt:lpstr>FK Example — One-to-One</vt:lpstr>
      <vt:lpstr>FK Example — One-to-One</vt:lpstr>
      <vt:lpstr>Step-by-Step ERD Construction</vt:lpstr>
      <vt:lpstr>Example — College Registration System</vt:lpstr>
      <vt:lpstr>Example — College Registration (Continued)</vt:lpstr>
      <vt:lpstr>Example — College Registration (Continued)</vt:lpstr>
      <vt:lpstr>Example — College Registration (Continued)</vt:lpstr>
      <vt:lpstr>Example — College Registration ERD</vt:lpstr>
      <vt:lpstr>How to Read an ERD</vt:lpstr>
      <vt:lpstr>FK Placement Summary</vt:lpstr>
      <vt:lpstr>Key Takeaways:</vt:lpstr>
      <vt:lpstr>Today We Learned: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Larisa Pitchko</dc:creator>
  <cp:lastModifiedBy>Larisa Pitchko</cp:lastModifiedBy>
  <cp:revision>232</cp:revision>
  <dcterms:created xsi:type="dcterms:W3CDTF">2019-08-28T18:27:45Z</dcterms:created>
  <dcterms:modified xsi:type="dcterms:W3CDTF">2026-09-08T23:57:32Z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>114;#NAIT Brand|56c3f36a-7bf3-46f3-a4b0-bb3df19b2675</vt:lpwstr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fb17ffeb-f9e3-4da5-8986-98ba4c89698a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ediaServiceImageTags">
    <vt:lpwstr/>
  </property>
  <property fmtid="{D5CDD505-2E9C-101B-9397-08002B2CF9AE}" pid="11" name="MSIP_Label_10877899-02b0-462c-b2a9-b7d15c4f96fe_Enabled">
    <vt:lpwstr>true</vt:lpwstr>
  </property>
  <property fmtid="{D5CDD505-2E9C-101B-9397-08002B2CF9AE}" pid="12" name="MSIP_Label_10877899-02b0-462c-b2a9-b7d15c4f96fe_SetDate">
    <vt:lpwstr>2025-04-25T04:19:52Z</vt:lpwstr>
  </property>
  <property fmtid="{D5CDD505-2E9C-101B-9397-08002B2CF9AE}" pid="13" name="MSIP_Label_10877899-02b0-462c-b2a9-b7d15c4f96fe_Method">
    <vt:lpwstr>Standard</vt:lpwstr>
  </property>
  <property fmtid="{D5CDD505-2E9C-101B-9397-08002B2CF9AE}" pid="14" name="MSIP_Label_10877899-02b0-462c-b2a9-b7d15c4f96fe_Name">
    <vt:lpwstr>Protected [Protected A]</vt:lpwstr>
  </property>
  <property fmtid="{D5CDD505-2E9C-101B-9397-08002B2CF9AE}" pid="15" name="MSIP_Label_10877899-02b0-462c-b2a9-b7d15c4f96fe_SiteId">
    <vt:lpwstr>5c98fb47-d3b9-4649-9d94-f88cbdd9729c</vt:lpwstr>
  </property>
  <property fmtid="{D5CDD505-2E9C-101B-9397-08002B2CF9AE}" pid="16" name="MSIP_Label_10877899-02b0-462c-b2a9-b7d15c4f96fe_ActionId">
    <vt:lpwstr>162fc8a6-e960-4808-9911-9227cb246ce1</vt:lpwstr>
  </property>
  <property fmtid="{D5CDD505-2E9C-101B-9397-08002B2CF9AE}" pid="17" name="MSIP_Label_10877899-02b0-462c-b2a9-b7d15c4f96fe_ContentBits">
    <vt:lpwstr>0</vt:lpwstr>
  </property>
  <property fmtid="{D5CDD505-2E9C-101B-9397-08002B2CF9AE}" pid="18" name="MSIP_Label_10877899-02b0-462c-b2a9-b7d15c4f96fe_Tag">
    <vt:lpwstr>10, 3, 0, 1</vt:lpwstr>
  </property>
</Properties>
</file>