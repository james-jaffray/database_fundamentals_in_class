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9"/>
  </p:notesMasterIdLst>
  <p:sldIdLst>
    <p:sldId id="271" r:id="rId5"/>
    <p:sldId id="352" r:id="rId6"/>
    <p:sldId id="257" r:id="rId7"/>
    <p:sldId id="278" r:id="rId8"/>
    <p:sldId id="358" r:id="rId9"/>
    <p:sldId id="359" r:id="rId10"/>
    <p:sldId id="360" r:id="rId11"/>
    <p:sldId id="361" r:id="rId12"/>
    <p:sldId id="362" r:id="rId13"/>
    <p:sldId id="279" r:id="rId14"/>
    <p:sldId id="280" r:id="rId15"/>
    <p:sldId id="357" r:id="rId16"/>
    <p:sldId id="353" r:id="rId17"/>
    <p:sldId id="354" r:id="rId18"/>
    <p:sldId id="283" r:id="rId19"/>
    <p:sldId id="363" r:id="rId20"/>
    <p:sldId id="366" r:id="rId21"/>
    <p:sldId id="282" r:id="rId22"/>
    <p:sldId id="286" r:id="rId23"/>
    <p:sldId id="284" r:id="rId24"/>
    <p:sldId id="285" r:id="rId25"/>
    <p:sldId id="365" r:id="rId26"/>
    <p:sldId id="288" r:id="rId27"/>
    <p:sldId id="36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023" autoAdjust="0"/>
    <p:restoredTop sz="56340" autoAdjust="0"/>
  </p:normalViewPr>
  <p:slideViewPr>
    <p:cSldViewPr snapToGrid="0" snapToObjects="1" showGuides="1">
      <p:cViewPr varScale="1">
        <p:scale>
          <a:sx n="46" d="100"/>
          <a:sy n="46" d="100"/>
        </p:scale>
        <p:origin x="1819" y="43"/>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232709-1847-4F53-98E0-E379346D49D8}" type="datetimeFigureOut">
              <a:rPr lang="en-US" smtClean="0"/>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22A85F0-2AA3-412D-B482-1445E370E3F6}" type="slidenum">
              <a:rPr lang="en-US" smtClean="0"/>
              <a:t>‹#›</a:t>
            </a:fld>
            <a:endParaRPr lang="en-US"/>
          </a:p>
        </p:txBody>
      </p:sp>
    </p:spTree>
    <p:extLst>
      <p:ext uri="{BB962C8B-B14F-4D97-AF65-F5344CB8AC3E}">
        <p14:creationId xmlns:p14="http://schemas.microsoft.com/office/powerpoint/2010/main" val="32056327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22A85F0-2AA3-412D-B482-1445E370E3F6}" type="slidenum">
              <a:rPr lang="en-US" smtClean="0"/>
              <a:t>1</a:t>
            </a:fld>
            <a:endParaRPr lang="en-US"/>
          </a:p>
        </p:txBody>
      </p:sp>
    </p:spTree>
    <p:extLst>
      <p:ext uri="{BB962C8B-B14F-4D97-AF65-F5344CB8AC3E}">
        <p14:creationId xmlns:p14="http://schemas.microsoft.com/office/powerpoint/2010/main" val="4076866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723630543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723630543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22A85F0-2AA3-412D-B482-1445E370E3F6}" type="slidenum">
              <a:rPr lang="en-US" smtClean="0"/>
              <a:t>4</a:t>
            </a:fld>
            <a:endParaRPr lang="en-US"/>
          </a:p>
        </p:txBody>
      </p:sp>
    </p:spTree>
    <p:extLst>
      <p:ext uri="{BB962C8B-B14F-4D97-AF65-F5344CB8AC3E}">
        <p14:creationId xmlns:p14="http://schemas.microsoft.com/office/powerpoint/2010/main" val="314104682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4EB68-240F-75F2-4F69-E8E7744793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A03B3-5958-45EA-941C-CC08439982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73D246-D79C-2975-24B3-AAFED87551B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BABBB3-E316-F56D-E7B0-000E426534E2}"/>
              </a:ext>
            </a:extLst>
          </p:cNvPr>
          <p:cNvSpPr>
            <a:spLocks noGrp="1"/>
          </p:cNvSpPr>
          <p:nvPr>
            <p:ph type="sldNum" sz="quarter" idx="5"/>
          </p:nvPr>
        </p:nvSpPr>
        <p:spPr/>
        <p:txBody>
          <a:bodyPr/>
          <a:lstStyle/>
          <a:p>
            <a:fld id="{622A85F0-2AA3-412D-B482-1445E370E3F6}" type="slidenum">
              <a:rPr lang="en-US" smtClean="0"/>
              <a:t>5</a:t>
            </a:fld>
            <a:endParaRPr lang="en-US"/>
          </a:p>
        </p:txBody>
      </p:sp>
    </p:spTree>
    <p:extLst>
      <p:ext uri="{BB962C8B-B14F-4D97-AF65-F5344CB8AC3E}">
        <p14:creationId xmlns:p14="http://schemas.microsoft.com/office/powerpoint/2010/main" val="2787020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981DB-0803-8677-3052-5A1B841967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15D2AF-D1A1-B388-6537-91070740B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FC31A2-833F-F8D1-4FD1-6BBA456998E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B88DAA6-E6F2-0021-8855-AB12BE9E4979}"/>
              </a:ext>
            </a:extLst>
          </p:cNvPr>
          <p:cNvSpPr>
            <a:spLocks noGrp="1"/>
          </p:cNvSpPr>
          <p:nvPr>
            <p:ph type="sldNum" sz="quarter" idx="5"/>
          </p:nvPr>
        </p:nvSpPr>
        <p:spPr/>
        <p:txBody>
          <a:bodyPr/>
          <a:lstStyle/>
          <a:p>
            <a:fld id="{622A85F0-2AA3-412D-B482-1445E370E3F6}" type="slidenum">
              <a:rPr lang="en-US" smtClean="0"/>
              <a:t>6</a:t>
            </a:fld>
            <a:endParaRPr lang="en-US"/>
          </a:p>
        </p:txBody>
      </p:sp>
    </p:spTree>
    <p:extLst>
      <p:ext uri="{BB962C8B-B14F-4D97-AF65-F5344CB8AC3E}">
        <p14:creationId xmlns:p14="http://schemas.microsoft.com/office/powerpoint/2010/main" val="3157549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695356-2DC9-F80E-F2A7-C124BA088D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A491A3-B5E1-2161-C795-8602878B07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B27FE9-7D13-2E88-D39F-AB371841952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3BF9D58-6C3D-3385-A27D-5BD8FFB9734B}"/>
              </a:ext>
            </a:extLst>
          </p:cNvPr>
          <p:cNvSpPr>
            <a:spLocks noGrp="1"/>
          </p:cNvSpPr>
          <p:nvPr>
            <p:ph type="sldNum" sz="quarter" idx="5"/>
          </p:nvPr>
        </p:nvSpPr>
        <p:spPr/>
        <p:txBody>
          <a:bodyPr/>
          <a:lstStyle/>
          <a:p>
            <a:fld id="{622A85F0-2AA3-412D-B482-1445E370E3F6}" type="slidenum">
              <a:rPr lang="en-US" smtClean="0"/>
              <a:t>7</a:t>
            </a:fld>
            <a:endParaRPr lang="en-US"/>
          </a:p>
        </p:txBody>
      </p:sp>
    </p:spTree>
    <p:extLst>
      <p:ext uri="{BB962C8B-B14F-4D97-AF65-F5344CB8AC3E}">
        <p14:creationId xmlns:p14="http://schemas.microsoft.com/office/powerpoint/2010/main" val="30164449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CE8A9D-3D62-3638-E5F5-7BB7231E3D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DB2AD-6C80-9CF9-F659-D12849D46F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BA0EB9-E6DB-8DC8-2B1B-557EA696B864}"/>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69D340F-9690-E528-C8F2-C2C34C555538}"/>
              </a:ext>
            </a:extLst>
          </p:cNvPr>
          <p:cNvSpPr>
            <a:spLocks noGrp="1"/>
          </p:cNvSpPr>
          <p:nvPr>
            <p:ph type="sldNum" sz="quarter" idx="5"/>
          </p:nvPr>
        </p:nvSpPr>
        <p:spPr/>
        <p:txBody>
          <a:bodyPr/>
          <a:lstStyle/>
          <a:p>
            <a:fld id="{622A85F0-2AA3-412D-B482-1445E370E3F6}" type="slidenum">
              <a:rPr lang="en-US" smtClean="0"/>
              <a:t>8</a:t>
            </a:fld>
            <a:endParaRPr lang="en-US"/>
          </a:p>
        </p:txBody>
      </p:sp>
    </p:spTree>
    <p:extLst>
      <p:ext uri="{BB962C8B-B14F-4D97-AF65-F5344CB8AC3E}">
        <p14:creationId xmlns:p14="http://schemas.microsoft.com/office/powerpoint/2010/main" val="406707591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1FC519-E49D-7CB4-8FF0-418EACB5B7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1E0087-F3CD-DE0D-594F-CE9FD5DB80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2BD96B-BBA9-B279-C62E-E2EE61B1C25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BC9B606-1D5D-0B00-D060-89DFF47B4F16}"/>
              </a:ext>
            </a:extLst>
          </p:cNvPr>
          <p:cNvSpPr>
            <a:spLocks noGrp="1"/>
          </p:cNvSpPr>
          <p:nvPr>
            <p:ph type="sldNum" sz="quarter" idx="5"/>
          </p:nvPr>
        </p:nvSpPr>
        <p:spPr/>
        <p:txBody>
          <a:bodyPr/>
          <a:lstStyle/>
          <a:p>
            <a:fld id="{622A85F0-2AA3-412D-B482-1445E370E3F6}" type="slidenum">
              <a:rPr lang="en-US" smtClean="0"/>
              <a:t>9</a:t>
            </a:fld>
            <a:endParaRPr lang="en-US"/>
          </a:p>
        </p:txBody>
      </p:sp>
    </p:spTree>
    <p:extLst>
      <p:ext uri="{BB962C8B-B14F-4D97-AF65-F5344CB8AC3E}">
        <p14:creationId xmlns:p14="http://schemas.microsoft.com/office/powerpoint/2010/main" val="6780986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err="1">
              <a:cs typeface="Calibri"/>
            </a:endParaRPr>
          </a:p>
        </p:txBody>
      </p:sp>
      <p:sp>
        <p:nvSpPr>
          <p:cNvPr id="4" name="Slide Number Placeholder 3"/>
          <p:cNvSpPr>
            <a:spLocks noGrp="1"/>
          </p:cNvSpPr>
          <p:nvPr>
            <p:ph type="sldNum" sz="quarter" idx="5"/>
          </p:nvPr>
        </p:nvSpPr>
        <p:spPr/>
        <p:txBody>
          <a:bodyPr/>
          <a:lstStyle/>
          <a:p>
            <a:fld id="{622A85F0-2AA3-412D-B482-1445E370E3F6}" type="slidenum">
              <a:rPr lang="en-US" smtClean="0"/>
              <a:t>10</a:t>
            </a:fld>
            <a:endParaRPr lang="en-US"/>
          </a:p>
        </p:txBody>
      </p:sp>
    </p:spTree>
    <p:extLst>
      <p:ext uri="{BB962C8B-B14F-4D97-AF65-F5344CB8AC3E}">
        <p14:creationId xmlns:p14="http://schemas.microsoft.com/office/powerpoint/2010/main" val="37384375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22A85F0-2AA3-412D-B482-1445E370E3F6}" type="slidenum">
              <a:rPr lang="en-US" smtClean="0"/>
              <a:t>11</a:t>
            </a:fld>
            <a:endParaRPr lang="en-US"/>
          </a:p>
        </p:txBody>
      </p:sp>
    </p:spTree>
    <p:extLst>
      <p:ext uri="{BB962C8B-B14F-4D97-AF65-F5344CB8AC3E}">
        <p14:creationId xmlns:p14="http://schemas.microsoft.com/office/powerpoint/2010/main" val="36879106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74244-2CD0-A6C0-C419-451B6349E4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89E66-3315-F520-0C6E-57EFF62ABF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29B57F-680B-7066-BBB8-54AA987CBA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49E8A6-7A37-4F41-76D9-49325AD8630B}"/>
              </a:ext>
            </a:extLst>
          </p:cNvPr>
          <p:cNvSpPr>
            <a:spLocks noGrp="1"/>
          </p:cNvSpPr>
          <p:nvPr>
            <p:ph type="sldNum" sz="quarter" idx="5"/>
          </p:nvPr>
        </p:nvSpPr>
        <p:spPr/>
        <p:txBody>
          <a:bodyPr/>
          <a:lstStyle/>
          <a:p>
            <a:fld id="{622A85F0-2AA3-412D-B482-1445E370E3F6}" type="slidenum">
              <a:rPr lang="en-US" smtClean="0"/>
              <a:t>12</a:t>
            </a:fld>
            <a:endParaRPr lang="en-US"/>
          </a:p>
        </p:txBody>
      </p:sp>
    </p:spTree>
    <p:extLst>
      <p:ext uri="{BB962C8B-B14F-4D97-AF65-F5344CB8AC3E}">
        <p14:creationId xmlns:p14="http://schemas.microsoft.com/office/powerpoint/2010/main" val="2423032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8B94A-11B5-0E94-2462-601BD497AF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6E54C8-75B1-7B53-A704-446AC50D64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A66B11-BAA4-174E-599B-4D032CA23D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926874-2AFD-0AD4-70AD-0506609A6E45}"/>
              </a:ext>
            </a:extLst>
          </p:cNvPr>
          <p:cNvSpPr>
            <a:spLocks noGrp="1"/>
          </p:cNvSpPr>
          <p:nvPr>
            <p:ph type="sldNum" sz="quarter" idx="5"/>
          </p:nvPr>
        </p:nvSpPr>
        <p:spPr/>
        <p:txBody>
          <a:bodyPr/>
          <a:lstStyle/>
          <a:p>
            <a:fld id="{622A85F0-2AA3-412D-B482-1445E370E3F6}" type="slidenum">
              <a:rPr lang="en-US" smtClean="0"/>
              <a:t>13</a:t>
            </a:fld>
            <a:endParaRPr lang="en-US"/>
          </a:p>
        </p:txBody>
      </p:sp>
    </p:spTree>
    <p:extLst>
      <p:ext uri="{BB962C8B-B14F-4D97-AF65-F5344CB8AC3E}">
        <p14:creationId xmlns:p14="http://schemas.microsoft.com/office/powerpoint/2010/main" val="21647352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551863-7EFE-3C4C-E53D-F8A070A65D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CFB0427-8999-000E-1723-BAA535770B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8D777B-B994-7103-7380-409DD1F591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0062CF-0AFF-1177-B040-44BB6D63E824}"/>
              </a:ext>
            </a:extLst>
          </p:cNvPr>
          <p:cNvSpPr>
            <a:spLocks noGrp="1"/>
          </p:cNvSpPr>
          <p:nvPr>
            <p:ph type="sldNum" sz="quarter" idx="5"/>
          </p:nvPr>
        </p:nvSpPr>
        <p:spPr/>
        <p:txBody>
          <a:bodyPr/>
          <a:lstStyle/>
          <a:p>
            <a:fld id="{622A85F0-2AA3-412D-B482-1445E370E3F6}" type="slidenum">
              <a:rPr lang="en-US" smtClean="0"/>
              <a:t>14</a:t>
            </a:fld>
            <a:endParaRPr lang="en-US"/>
          </a:p>
        </p:txBody>
      </p:sp>
    </p:spTree>
    <p:extLst>
      <p:ext uri="{BB962C8B-B14F-4D97-AF65-F5344CB8AC3E}">
        <p14:creationId xmlns:p14="http://schemas.microsoft.com/office/powerpoint/2010/main" val="13578793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622A85F0-2AA3-412D-B482-1445E370E3F6}" type="slidenum">
              <a:rPr lang="en-US" smtClean="0"/>
              <a:t>15</a:t>
            </a:fld>
            <a:endParaRPr lang="en-US"/>
          </a:p>
        </p:txBody>
      </p:sp>
    </p:spTree>
    <p:extLst>
      <p:ext uri="{BB962C8B-B14F-4D97-AF65-F5344CB8AC3E}">
        <p14:creationId xmlns:p14="http://schemas.microsoft.com/office/powerpoint/2010/main" val="9431693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2418D-8F95-D3DE-C307-A4BA5B7CC8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BF2A7-D781-6E98-CB72-F805AF4AF7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13B76-01BE-F5DC-F78E-A9BCF82DFCC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1B6BC63-00B0-3ABC-D683-0617AA4398BA}"/>
              </a:ext>
            </a:extLst>
          </p:cNvPr>
          <p:cNvSpPr>
            <a:spLocks noGrp="1"/>
          </p:cNvSpPr>
          <p:nvPr>
            <p:ph type="sldNum" sz="quarter" idx="5"/>
          </p:nvPr>
        </p:nvSpPr>
        <p:spPr/>
        <p:txBody>
          <a:bodyPr/>
          <a:lstStyle/>
          <a:p>
            <a:fld id="{622A85F0-2AA3-412D-B482-1445E370E3F6}" type="slidenum">
              <a:rPr lang="en-US" smtClean="0"/>
              <a:t>16</a:t>
            </a:fld>
            <a:endParaRPr lang="en-US"/>
          </a:p>
        </p:txBody>
      </p:sp>
    </p:spTree>
    <p:extLst>
      <p:ext uri="{BB962C8B-B14F-4D97-AF65-F5344CB8AC3E}">
        <p14:creationId xmlns:p14="http://schemas.microsoft.com/office/powerpoint/2010/main" val="19185116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a:extLst>
            <a:ext uri="{FF2B5EF4-FFF2-40B4-BE49-F238E27FC236}">
              <a16:creationId xmlns:a16="http://schemas.microsoft.com/office/drawing/2014/main" id="{F36E8885-8512-8A6C-E206-72B2DADED6A7}"/>
            </a:ext>
          </a:extLst>
        </p:cNvPr>
        <p:cNvGrpSpPr/>
        <p:nvPr/>
      </p:nvGrpSpPr>
      <p:grpSpPr>
        <a:xfrm>
          <a:off x="0" y="0"/>
          <a:ext cx="0" cy="0"/>
          <a:chOff x="0" y="0"/>
          <a:chExt cx="0" cy="0"/>
        </a:xfrm>
      </p:grpSpPr>
      <p:sp>
        <p:nvSpPr>
          <p:cNvPr id="228" name="Google Shape;228;g6116db96f5_1_0:notes">
            <a:extLst>
              <a:ext uri="{FF2B5EF4-FFF2-40B4-BE49-F238E27FC236}">
                <a16:creationId xmlns:a16="http://schemas.microsoft.com/office/drawing/2014/main" id="{372B1C8D-5706-4087-3D38-D829BB43D2A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6116db96f5_1_0:notes">
            <a:extLst>
              <a:ext uri="{FF2B5EF4-FFF2-40B4-BE49-F238E27FC236}">
                <a16:creationId xmlns:a16="http://schemas.microsoft.com/office/drawing/2014/main" id="{7A54CCDE-049F-FD5A-E908-DEA89F2FA1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What is a Database? — Speaking Notes</a:t>
            </a:r>
          </a:p>
          <a:p>
            <a:r>
              <a:rPr lang="en-CA" dirty="0"/>
              <a:t>“Before we get into all the technical terminology, let's start with a very simple question: </a:t>
            </a:r>
            <a:r>
              <a:rPr lang="en-CA" b="1" dirty="0"/>
              <a:t>What is a database?</a:t>
            </a:r>
            <a:r>
              <a:rPr lang="en-CA" dirty="0"/>
              <a:t>”</a:t>
            </a:r>
          </a:p>
          <a:p>
            <a:r>
              <a:rPr lang="en-CA" dirty="0"/>
              <a:t>“When you hear the word database, you might immediately think of something complicated — servers, SQL, tables, code. But at its most basic level, a database is simply </a:t>
            </a:r>
            <a:r>
              <a:rPr lang="en-CA" b="1" dirty="0"/>
              <a:t>an organized collection of data</a:t>
            </a:r>
            <a:r>
              <a:rPr lang="en-CA" dirty="0"/>
              <a:t>.”</a:t>
            </a:r>
          </a:p>
          <a:p>
            <a:r>
              <a:rPr lang="en-CA" dirty="0"/>
              <a:t>“The important word here is </a:t>
            </a:r>
            <a:r>
              <a:rPr lang="en-CA" i="1" dirty="0"/>
              <a:t>organized</a:t>
            </a:r>
            <a:r>
              <a:rPr lang="en-CA" dirty="0"/>
              <a:t>. We don't just want to have a huge pile of information. We want that information stored in a way that allows us to find it, update it, manage it, and use it.”</a:t>
            </a:r>
          </a:p>
          <a:p>
            <a:r>
              <a:rPr lang="en-CA" b="1" dirty="0"/>
              <a:t>familiar example</a:t>
            </a:r>
          </a:p>
          <a:p>
            <a:r>
              <a:rPr lang="en-CA" dirty="0"/>
              <a:t>“Let's say I have a list of 10,000 customers.”</a:t>
            </a:r>
          </a:p>
          <a:p>
            <a:r>
              <a:rPr lang="en-CA" dirty="0"/>
              <a:t>“For each customer, I might have their customer number, first name, last name, address, phone number, email, and maybe their order history.”</a:t>
            </a:r>
          </a:p>
          <a:p>
            <a:r>
              <a:rPr lang="en-CA" dirty="0"/>
              <a:t>“That information is data. If I organize and store it so that I can efficiently work with it, I have a database.”</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9659476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6116db96f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6116db96f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Why Do We Need Databases?</a:t>
            </a:r>
          </a:p>
          <a:p>
            <a:r>
              <a:rPr lang="en-CA" dirty="0"/>
              <a:t>This is where I would slow down a little and make it practical.</a:t>
            </a:r>
          </a:p>
          <a:p>
            <a:r>
              <a:rPr lang="en-CA" dirty="0"/>
              <a:t>“But here's the more interesting question: </a:t>
            </a:r>
            <a:r>
              <a:rPr lang="en-CA" b="1" dirty="0"/>
              <a:t>Why do we need databases in the first place?</a:t>
            </a:r>
            <a:r>
              <a:rPr lang="en-CA" dirty="0"/>
              <a:t>”</a:t>
            </a:r>
          </a:p>
          <a:p>
            <a:r>
              <a:rPr lang="en-CA" dirty="0"/>
              <a:t>“If I only have five customers, I could probably keep their information in a spreadsheet. I could even write it down on paper.”</a:t>
            </a:r>
          </a:p>
          <a:p>
            <a:r>
              <a:rPr lang="en-CA" dirty="0"/>
              <a:t>“But what happens when I have 5,000 customers? Or 5 million?”</a:t>
            </a:r>
          </a:p>
          <a:p>
            <a:r>
              <a:rPr lang="en-CA" dirty="0"/>
              <a:t>“Now I have a problem.”</a:t>
            </a:r>
          </a:p>
          <a:p>
            <a:r>
              <a:rPr lang="en-CA" b="1" dirty="0"/>
              <a:t>Problem 1 — Finding information</a:t>
            </a:r>
          </a:p>
          <a:p>
            <a:r>
              <a:rPr lang="en-CA" dirty="0"/>
              <a:t>“Imagine a company has 100,000 customers and someone asks, </a:t>
            </a:r>
            <a:r>
              <a:rPr lang="en-CA" i="1" dirty="0"/>
              <a:t>‘Show me every customer who placed an order in the last 30 days.’</a:t>
            </a:r>
            <a:r>
              <a:rPr lang="en-CA" dirty="0"/>
              <a:t>”</a:t>
            </a:r>
          </a:p>
          <a:p>
            <a:r>
              <a:rPr lang="en-CA" dirty="0"/>
              <a:t>“You don't want an employee manually searching through thousands of records.”</a:t>
            </a:r>
          </a:p>
          <a:p>
            <a:r>
              <a:rPr lang="en-CA" dirty="0"/>
              <a:t>“A database allows us to </a:t>
            </a:r>
            <a:r>
              <a:rPr lang="en-CA" b="1" dirty="0"/>
              <a:t>find specific information quickly</a:t>
            </a:r>
            <a:r>
              <a:rPr lang="en-CA" dirty="0"/>
              <a:t>.”</a:t>
            </a:r>
          </a:p>
          <a:p>
            <a:r>
              <a:rPr lang="en-CA" b="1" dirty="0"/>
              <a:t>Problem 2 — Updating information</a:t>
            </a:r>
          </a:p>
          <a:p>
            <a:r>
              <a:rPr lang="en-CA" dirty="0"/>
              <a:t>“Now imagine a customer moves and changes their address.”</a:t>
            </a:r>
          </a:p>
          <a:p>
            <a:r>
              <a:rPr lang="en-CA" dirty="0"/>
              <a:t>“We don't want their old address sitting in five different places and someone having to remember to update all five.”</a:t>
            </a:r>
          </a:p>
          <a:p>
            <a:r>
              <a:rPr lang="en-CA" dirty="0"/>
              <a:t>“A well-designed database helps us </a:t>
            </a:r>
            <a:r>
              <a:rPr lang="en-CA" b="1" dirty="0"/>
              <a:t>store information in a structured way and update it consistently</a:t>
            </a:r>
            <a:r>
              <a:rPr lang="en-CA" dirty="0"/>
              <a:t>.”</a:t>
            </a:r>
          </a:p>
          <a:p>
            <a:endParaRPr lang="en-CA" dirty="0"/>
          </a:p>
          <a:p>
            <a:pPr marL="0" lvl="0" indent="0" algn="l" rtl="0">
              <a:spcBef>
                <a:spcPts val="0"/>
              </a:spcBef>
              <a:spcAft>
                <a:spcPts val="0"/>
              </a:spcAft>
              <a:buNone/>
            </a:pPr>
            <a:endParaRPr dirty="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6116db96f5_2_1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6116db96f5_2_1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Problem 3 — Relationships between information</a:t>
            </a:r>
          </a:p>
          <a:p>
            <a:r>
              <a:rPr lang="en-CA" dirty="0"/>
              <a:t>“And here's where databases become really useful.”</a:t>
            </a:r>
          </a:p>
          <a:p>
            <a:r>
              <a:rPr lang="en-CA" dirty="0"/>
              <a:t>“Customers don't exist in isolation. Customers place orders. Orders contain products. Products have prices and descriptions.”</a:t>
            </a:r>
          </a:p>
          <a:p>
            <a:r>
              <a:rPr lang="en-CA" dirty="0"/>
              <a:t>Point to the ERD:</a:t>
            </a:r>
          </a:p>
          <a:p>
            <a:r>
              <a:rPr lang="en-CA" dirty="0"/>
              <a:t>“So instead of putting absolutely everything into one giant table, we can organize our information into related entities.”</a:t>
            </a:r>
          </a:p>
          <a:p>
            <a:r>
              <a:rPr lang="en-CA" dirty="0"/>
              <a:t>“Here we have a </a:t>
            </a:r>
            <a:r>
              <a:rPr lang="en-CA" b="1" dirty="0"/>
              <a:t>Customer</a:t>
            </a:r>
            <a:r>
              <a:rPr lang="en-CA" dirty="0"/>
              <a:t>, an </a:t>
            </a:r>
            <a:r>
              <a:rPr lang="en-CA" b="1" dirty="0"/>
              <a:t>Order</a:t>
            </a:r>
            <a:r>
              <a:rPr lang="en-CA" dirty="0"/>
              <a:t>, and an </a:t>
            </a:r>
            <a:r>
              <a:rPr lang="en-CA" b="1" dirty="0"/>
              <a:t>Item</a:t>
            </a:r>
            <a:r>
              <a:rPr lang="en-CA" dirty="0"/>
              <a:t>. The database keeps track of how those pieces of information relate to one another.”</a:t>
            </a:r>
          </a:p>
          <a:p>
            <a:r>
              <a:rPr lang="en-CA" dirty="0"/>
              <a:t>“That's where the word </a:t>
            </a:r>
            <a:r>
              <a:rPr lang="en-CA" b="1" dirty="0"/>
              <a:t>relational</a:t>
            </a:r>
            <a:r>
              <a:rPr lang="en-CA" dirty="0"/>
              <a:t> comes from. We're not just storing data — we're storing the relationships between pieces of data.”</a:t>
            </a:r>
          </a:p>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6116db96f5_2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6116db96f5_2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CA" dirty="0"/>
              <a:t>“This is a very simple example of what data might look like inside a relational database. We have rows representing individual customers, and columns representing the different pieces of information we store about them.”</a:t>
            </a:r>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6116db96f5_2_1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6116db96f5_2_1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endParaRPr lang="en-CA" b="1" dirty="0"/>
          </a:p>
          <a:p>
            <a:r>
              <a:rPr lang="en-CA" b="1" dirty="0"/>
              <a:t>A Good Real-World Example</a:t>
            </a:r>
          </a:p>
          <a:p>
            <a:r>
              <a:rPr lang="en-CA" dirty="0"/>
              <a:t>I would use something students immediately understand:</a:t>
            </a:r>
          </a:p>
          <a:p>
            <a:r>
              <a:rPr lang="en-CA" dirty="0"/>
              <a:t>“Think about something like Amazon.”</a:t>
            </a:r>
          </a:p>
          <a:p>
            <a:r>
              <a:rPr lang="en-CA" dirty="0"/>
              <a:t>“Amazon needs to know who you are, what you've ordered, what products exist, how much they cost, what is currently in stock, where your order is going, and what you've paid.”</a:t>
            </a:r>
          </a:p>
          <a:p>
            <a:r>
              <a:rPr lang="en-CA" dirty="0"/>
              <a:t>“When you click </a:t>
            </a:r>
            <a:r>
              <a:rPr lang="en-CA" i="1" dirty="0"/>
              <a:t>‘My Orders,’</a:t>
            </a:r>
            <a:r>
              <a:rPr lang="en-CA" dirty="0"/>
              <a:t> Amazon isn't searching through someone's spreadsheet.”</a:t>
            </a:r>
          </a:p>
          <a:p>
            <a:r>
              <a:rPr lang="en-CA" dirty="0"/>
              <a:t>“It's querying a database.”</a:t>
            </a:r>
          </a:p>
          <a:p>
            <a:r>
              <a:rPr lang="en-CA" dirty="0"/>
              <a:t>“When you search for a product, you're querying a database.”</a:t>
            </a:r>
          </a:p>
          <a:p>
            <a:r>
              <a:rPr lang="en-CA" dirty="0"/>
              <a:t>“When you add something to your cart, information is being stored or updated in a database.”</a:t>
            </a:r>
          </a:p>
          <a:p>
            <a:r>
              <a:rPr lang="en-CA" dirty="0"/>
              <a:t>“When you check whether something is in stock — database.”</a:t>
            </a:r>
          </a:p>
          <a:p>
            <a:r>
              <a:rPr lang="en-CA" dirty="0"/>
              <a:t>“When you receive a personalized recommendation — very likely databases are involved there too.”</a:t>
            </a:r>
          </a:p>
          <a:p>
            <a:r>
              <a:rPr lang="en-CA" dirty="0"/>
              <a:t>Then:</a:t>
            </a:r>
          </a:p>
          <a:p>
            <a:r>
              <a:rPr lang="en-CA" dirty="0"/>
              <a:t>“So databases aren't some isolated technology that only database administrators care about. </a:t>
            </a:r>
            <a:r>
              <a:rPr lang="en-CA" b="1" dirty="0"/>
              <a:t>They're underneath a huge portion of the software and services we use every day.</a:t>
            </a:r>
            <a:r>
              <a:rPr lang="en-CA" dirty="0"/>
              <a:t>”</a:t>
            </a:r>
          </a:p>
          <a:p>
            <a:pPr marL="0" lvl="0" indent="0" algn="l" rtl="0">
              <a:spcBef>
                <a:spcPts val="0"/>
              </a:spcBef>
              <a:spcAft>
                <a:spcPts val="0"/>
              </a:spcAft>
              <a:buNone/>
            </a:pPr>
            <a:endParaRPr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g6116db96f5_2_1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4" name="Google Shape;234;g6116db96f5_2_1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b="1" dirty="0"/>
              <a:t>Transition to DBMS</a:t>
            </a:r>
          </a:p>
          <a:p>
            <a:r>
              <a:rPr lang="en-CA" dirty="0"/>
              <a:t>Now you can move naturally to the first diagram:</a:t>
            </a:r>
          </a:p>
          <a:p>
            <a:r>
              <a:rPr lang="en-CA" dirty="0"/>
              <a:t>“But there's an important distinction we need to make.”</a:t>
            </a:r>
          </a:p>
          <a:p>
            <a:r>
              <a:rPr lang="en-CA" dirty="0"/>
              <a:t>“A </a:t>
            </a:r>
            <a:r>
              <a:rPr lang="en-CA" b="1" dirty="0"/>
              <a:t>database</a:t>
            </a:r>
            <a:r>
              <a:rPr lang="en-CA" dirty="0"/>
              <a:t> is where the data is stored.”</a:t>
            </a:r>
          </a:p>
          <a:p>
            <a:r>
              <a:rPr lang="en-CA" dirty="0"/>
              <a:t>“A </a:t>
            </a:r>
            <a:r>
              <a:rPr lang="en-CA" b="1" dirty="0"/>
              <a:t>DBMS</a:t>
            </a:r>
            <a:r>
              <a:rPr lang="en-CA" dirty="0"/>
              <a:t>, or Database Management System, is the software that allows us to create, manage, access, and work with that data.”</a:t>
            </a:r>
          </a:p>
          <a:p>
            <a:r>
              <a:rPr lang="en-CA" dirty="0"/>
              <a:t>“Think of the database as the organized collection of information, and the DBMS as the system that lets us interact with it.”</a:t>
            </a:r>
          </a:p>
          <a:p>
            <a:r>
              <a:rPr lang="en-CA" dirty="0"/>
              <a:t>You can give them a simple analogy:</a:t>
            </a:r>
          </a:p>
          <a:p>
            <a:r>
              <a:rPr lang="en-CA" dirty="0"/>
              <a:t>“If the database is the library's collection of books, the DBMS is the system that lets you catalog the books, search for a book, check it out, update information, and manage who has access to it.”</a:t>
            </a:r>
          </a:p>
          <a:p>
            <a:r>
              <a:rPr lang="en-CA" dirty="0"/>
              <a:t>“And that's what we're going to be learning how to work with in this course.”</a:t>
            </a:r>
          </a:p>
          <a:p>
            <a:pPr marL="0" lvl="0" indent="0" algn="l" rtl="0">
              <a:spcBef>
                <a:spcPts val="0"/>
              </a:spcBef>
              <a:spcAft>
                <a:spcPts val="0"/>
              </a:spcAft>
              <a:buNone/>
            </a:pPr>
            <a:endParaRPr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6116db96f5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6116db96f5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rPr lang="en-CA" dirty="0"/>
              <a:t>“You're going to hear quite a few new terms in this course. Don't worry about memorizing all of them today.”</a:t>
            </a:r>
          </a:p>
          <a:p>
            <a:r>
              <a:rPr lang="en-CA" dirty="0"/>
              <a:t>“For now, I want you to recognize these words because we're going to keep coming back to them.”</a:t>
            </a:r>
          </a:p>
          <a:p>
            <a:r>
              <a:rPr lang="en-CA" dirty="0"/>
              <a:t>Then very briefly:</a:t>
            </a:r>
          </a:p>
          <a:p>
            <a:pPr lvl="0"/>
            <a:r>
              <a:rPr lang="en-CA" b="1" dirty="0"/>
              <a:t>Database</a:t>
            </a:r>
            <a:r>
              <a:rPr lang="en-CA" dirty="0"/>
              <a:t> — organized collection of data. </a:t>
            </a:r>
          </a:p>
          <a:p>
            <a:pPr lvl="0"/>
            <a:r>
              <a:rPr lang="en-CA" b="1" dirty="0"/>
              <a:t>DBMS</a:t>
            </a:r>
            <a:r>
              <a:rPr lang="en-CA" dirty="0"/>
              <a:t> — software used to manage the database. </a:t>
            </a:r>
          </a:p>
          <a:p>
            <a:pPr lvl="0"/>
            <a:r>
              <a:rPr lang="en-CA" b="1" dirty="0"/>
              <a:t>Business rules</a:t>
            </a:r>
            <a:r>
              <a:rPr lang="en-CA" dirty="0"/>
              <a:t> — rules describing how the organization operates and what the data needs to represent. </a:t>
            </a:r>
          </a:p>
          <a:p>
            <a:pPr lvl="0"/>
            <a:r>
              <a:rPr lang="en-CA" b="1" dirty="0"/>
              <a:t>Entities</a:t>
            </a:r>
            <a:r>
              <a:rPr lang="en-CA" dirty="0"/>
              <a:t> — things we need to keep information about, such as customers, orders, or products. </a:t>
            </a:r>
          </a:p>
          <a:p>
            <a:pPr lvl="0"/>
            <a:r>
              <a:rPr lang="en-CA" b="1" dirty="0"/>
              <a:t>Relationships</a:t>
            </a:r>
            <a:r>
              <a:rPr lang="en-CA" dirty="0"/>
              <a:t> — how those entities are connected. </a:t>
            </a:r>
          </a:p>
          <a:p>
            <a:pPr lvl="0"/>
            <a:r>
              <a:rPr lang="en-CA" b="1" dirty="0"/>
              <a:t>Entity-relationship model</a:t>
            </a:r>
            <a:r>
              <a:rPr lang="en-CA" dirty="0"/>
              <a:t> — a way of visually representing those entities and relationships. </a:t>
            </a:r>
          </a:p>
          <a:p>
            <a:pPr lvl="0"/>
            <a:r>
              <a:rPr lang="en-CA" b="1" dirty="0"/>
              <a:t>Normalization</a:t>
            </a:r>
            <a:r>
              <a:rPr lang="en-CA" dirty="0"/>
              <a:t> — organizing data to reduce unnecessary duplication and improve consistency. </a:t>
            </a:r>
          </a:p>
          <a:p>
            <a:r>
              <a:rPr lang="en-CA" dirty="0"/>
              <a:t>Then:</a:t>
            </a:r>
          </a:p>
          <a:p>
            <a:r>
              <a:rPr lang="en-CA" dirty="0"/>
              <a:t>“We're going to build these concepts one at a time. By the end, you'll be able to look at a real-world situation, figure out what information needs to be stored, determine how that information relates, and turn it into a database design.”</a:t>
            </a:r>
          </a:p>
          <a:p>
            <a:pPr marL="0" lvl="0" indent="0" algn="l" rtl="0">
              <a:spcBef>
                <a:spcPts val="0"/>
              </a:spcBef>
              <a:spcAft>
                <a:spcPts val="0"/>
              </a:spcAft>
              <a:buNone/>
            </a:pPr>
            <a:endParaRPr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Likely answers:</a:t>
            </a:r>
          </a:p>
          <a:p>
            <a:pPr lvl="0"/>
            <a:r>
              <a:rPr lang="en-CA" dirty="0"/>
              <a:t>Instagram </a:t>
            </a:r>
          </a:p>
          <a:p>
            <a:pPr lvl="0"/>
            <a:r>
              <a:rPr lang="en-CA" dirty="0"/>
              <a:t>TikTok </a:t>
            </a:r>
          </a:p>
          <a:p>
            <a:pPr lvl="0"/>
            <a:r>
              <a:rPr lang="en-CA" dirty="0"/>
              <a:t>banking </a:t>
            </a:r>
          </a:p>
          <a:p>
            <a:pPr lvl="0"/>
            <a:r>
              <a:rPr lang="en-CA" dirty="0"/>
              <a:t>Amazon </a:t>
            </a:r>
          </a:p>
          <a:p>
            <a:pPr lvl="0"/>
            <a:r>
              <a:rPr lang="en-CA" dirty="0"/>
              <a:t>Netflix </a:t>
            </a:r>
          </a:p>
          <a:p>
            <a:pPr lvl="0"/>
            <a:r>
              <a:rPr lang="en-CA" dirty="0"/>
              <a:t>Google </a:t>
            </a:r>
          </a:p>
          <a:p>
            <a:pPr lvl="0"/>
            <a:r>
              <a:rPr lang="en-CA" dirty="0"/>
              <a:t>school registration </a:t>
            </a:r>
          </a:p>
          <a:p>
            <a:pPr lvl="0"/>
            <a:r>
              <a:rPr lang="en-CA" dirty="0"/>
              <a:t>healthcare </a:t>
            </a:r>
          </a:p>
          <a:p>
            <a:pPr lvl="0"/>
            <a:r>
              <a:rPr lang="en-CA" dirty="0"/>
              <a:t>Uber </a:t>
            </a:r>
          </a:p>
          <a:p>
            <a:pPr lvl="0"/>
            <a:r>
              <a:rPr lang="en-CA" dirty="0"/>
              <a:t>Spotify </a:t>
            </a:r>
          </a:p>
          <a:p>
            <a:pPr lvl="0"/>
            <a:r>
              <a:rPr lang="en-CA" dirty="0"/>
              <a:t>email </a:t>
            </a:r>
          </a:p>
          <a:p>
            <a:r>
              <a:rPr lang="en-CA" dirty="0"/>
              <a:t>Almost every one of those systems needs to store and retrieve information about users, transactions, content, or activity.</a:t>
            </a:r>
          </a:p>
          <a:p>
            <a:r>
              <a:rPr lang="en-CA" b="1" dirty="0"/>
              <a:t>“The interesting part of databases isn't just storing data. It's figuring out how to organize information so that a computer — and the people using it — can actually make sense of it.”</a:t>
            </a:r>
            <a:endParaRPr lang="en-CA" dirty="0"/>
          </a:p>
          <a:p>
            <a:endParaRPr lang="en-CA" dirty="0"/>
          </a:p>
        </p:txBody>
      </p:sp>
      <p:sp>
        <p:nvSpPr>
          <p:cNvPr id="4" name="Slide Number Placeholder 3"/>
          <p:cNvSpPr>
            <a:spLocks noGrp="1"/>
          </p:cNvSpPr>
          <p:nvPr>
            <p:ph type="sldNum" sz="quarter" idx="5"/>
          </p:nvPr>
        </p:nvSpPr>
        <p:spPr/>
        <p:txBody>
          <a:bodyPr/>
          <a:lstStyle/>
          <a:p>
            <a:fld id="{622A85F0-2AA3-412D-B482-1445E370E3F6}" type="slidenum">
              <a:rPr lang="en-US" smtClean="0"/>
              <a:t>24</a:t>
            </a:fld>
            <a:endParaRPr lang="en-US"/>
          </a:p>
        </p:txBody>
      </p:sp>
    </p:spTree>
    <p:extLst>
      <p:ext uri="{BB962C8B-B14F-4D97-AF65-F5344CB8AC3E}">
        <p14:creationId xmlns:p14="http://schemas.microsoft.com/office/powerpoint/2010/main" val="284314561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1830438" y="2624442"/>
            <a:ext cx="8531123" cy="1471612"/>
          </a:xfrm>
        </p:spPr>
        <p:txBody>
          <a:bodyPr>
            <a:normAutofit/>
          </a:bodyPr>
          <a:lstStyle>
            <a:lvl1pPr marL="0" indent="0" algn="ctr">
              <a:buNone/>
              <a:defRPr sz="4400">
                <a:solidFill>
                  <a:schemeClr val="bg1"/>
                </a:solidFill>
              </a:defRPr>
            </a:lvl1pPr>
          </a:lstStyle>
          <a:p>
            <a:pPr lvl="0"/>
            <a:r>
              <a:rPr lang="en-US" dirty="0"/>
              <a:t>PRESENTATION TITLE</a:t>
            </a:r>
          </a:p>
        </p:txBody>
      </p:sp>
      <p:pic>
        <p:nvPicPr>
          <p:cNvPr id="3" name="Picture 4">
            <a:extLst>
              <a:ext uri="{FF2B5EF4-FFF2-40B4-BE49-F238E27FC236}">
                <a16:creationId xmlns:a16="http://schemas.microsoft.com/office/drawing/2014/main" id="{D20DFF8B-0CA2-444E-B3B8-516B41CBECB5}"/>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a:stretch/>
        </p:blipFill>
        <p:spPr bwMode="auto">
          <a:xfrm>
            <a:off x="5397231" y="745523"/>
            <a:ext cx="1168573" cy="1437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 Placeholder 5">
            <a:extLst>
              <a:ext uri="{FF2B5EF4-FFF2-40B4-BE49-F238E27FC236}">
                <a16:creationId xmlns:a16="http://schemas.microsoft.com/office/drawing/2014/main" id="{415C5819-15D5-134D-9ACE-EB35435DDD73}"/>
              </a:ext>
            </a:extLst>
          </p:cNvPr>
          <p:cNvSpPr>
            <a:spLocks noGrp="1"/>
          </p:cNvSpPr>
          <p:nvPr>
            <p:ph type="body" sz="quarter" idx="12" hasCustomPrompt="1"/>
          </p:nvPr>
        </p:nvSpPr>
        <p:spPr>
          <a:xfrm>
            <a:off x="2933914" y="4598843"/>
            <a:ext cx="6337921" cy="536921"/>
          </a:xfrm>
        </p:spPr>
        <p:txBody>
          <a:bodyPr/>
          <a:lstStyle>
            <a:lvl1pPr marL="0" indent="0" algn="ctr">
              <a:buNone/>
              <a:defRPr>
                <a:solidFill>
                  <a:schemeClr val="bg1"/>
                </a:solidFill>
              </a:defRPr>
            </a:lvl1pPr>
          </a:lstStyle>
          <a:p>
            <a:pPr lvl="0"/>
            <a:r>
              <a:rPr lang="en-US" dirty="0"/>
              <a:t>Presenter Information</a:t>
            </a:r>
          </a:p>
        </p:txBody>
      </p:sp>
    </p:spTree>
    <p:extLst>
      <p:ext uri="{BB962C8B-B14F-4D97-AF65-F5344CB8AC3E}">
        <p14:creationId xmlns:p14="http://schemas.microsoft.com/office/powerpoint/2010/main" val="6749873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4223" y="335242"/>
            <a:ext cx="10630647" cy="1069679"/>
          </a:xfrm>
        </p:spPr>
        <p:txBody>
          <a:bodyPr>
            <a:normAutofit/>
          </a:bodyPr>
          <a:lstStyle>
            <a:lvl1pPr>
              <a:defRPr sz="4400"/>
            </a:lvl1pPr>
          </a:lstStyle>
          <a:p>
            <a:r>
              <a:rPr lang="en-US" dirty="0"/>
              <a:t>CLICK TO EDIT TITLE</a:t>
            </a:r>
          </a:p>
        </p:txBody>
      </p:sp>
      <p:sp>
        <p:nvSpPr>
          <p:cNvPr id="3" name="Content Placeholder 2"/>
          <p:cNvSpPr>
            <a:spLocks noGrp="1"/>
          </p:cNvSpPr>
          <p:nvPr>
            <p:ph idx="1" hasCustomPrompt="1"/>
          </p:nvPr>
        </p:nvSpPr>
        <p:spPr>
          <a:xfrm>
            <a:off x="324224" y="1795742"/>
            <a:ext cx="10654552" cy="3511364"/>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618363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400"/>
            </a:lvl1pPr>
          </a:lstStyle>
          <a:p>
            <a:r>
              <a:rPr lang="en-US" dirty="0"/>
              <a:t>CLICK TO EDIT TITLE</a:t>
            </a:r>
          </a:p>
        </p:txBody>
      </p:sp>
      <p:sp>
        <p:nvSpPr>
          <p:cNvPr id="3" name="Content Placeholder 2"/>
          <p:cNvSpPr>
            <a:spLocks noGrp="1"/>
          </p:cNvSpPr>
          <p:nvPr>
            <p:ph sz="half" idx="1" hasCustomPrompt="1"/>
          </p:nvPr>
        </p:nvSpPr>
        <p:spPr>
          <a:xfrm>
            <a:off x="838200" y="1825625"/>
            <a:ext cx="5181600" cy="3397810"/>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hasCustomPrompt="1"/>
          </p:nvPr>
        </p:nvSpPr>
        <p:spPr>
          <a:xfrm>
            <a:off x="6172200" y="1825625"/>
            <a:ext cx="5181600" cy="3385857"/>
          </a:xfrm>
        </p:spPr>
        <p:txBody>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922223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normAutofit/>
          </a:bodyPr>
          <a:lstStyle>
            <a:lvl1pPr>
              <a:defRPr sz="4400"/>
            </a:lvl1pPr>
          </a:lstStyle>
          <a:p>
            <a:r>
              <a:rPr lang="en-US" dirty="0"/>
              <a:t>CLICK TO EDIT TITLE</a:t>
            </a:r>
          </a:p>
        </p:txBody>
      </p:sp>
    </p:spTree>
    <p:extLst>
      <p:ext uri="{BB962C8B-B14F-4D97-AF65-F5344CB8AC3E}">
        <p14:creationId xmlns:p14="http://schemas.microsoft.com/office/powerpoint/2010/main" val="14044947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897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Brea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F0B934B5-63C9-2842-AB2D-E575537010AA}"/>
              </a:ext>
            </a:extLst>
          </p:cNvPr>
          <p:cNvSpPr>
            <a:spLocks noGrp="1"/>
          </p:cNvSpPr>
          <p:nvPr>
            <p:ph type="body" sz="quarter" idx="10" hasCustomPrompt="1"/>
          </p:nvPr>
        </p:nvSpPr>
        <p:spPr>
          <a:xfrm>
            <a:off x="2919937" y="3045791"/>
            <a:ext cx="6365875" cy="928687"/>
          </a:xfrm>
        </p:spPr>
        <p:txBody>
          <a:bodyPr>
            <a:normAutofit/>
          </a:bodyPr>
          <a:lstStyle>
            <a:lvl1pPr marL="0" indent="0" algn="ctr">
              <a:buNone/>
              <a:defRPr sz="44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SECTION TITLE</a:t>
            </a:r>
          </a:p>
        </p:txBody>
      </p:sp>
    </p:spTree>
    <p:extLst>
      <p:ext uri="{BB962C8B-B14F-4D97-AF65-F5344CB8AC3E}">
        <p14:creationId xmlns:p14="http://schemas.microsoft.com/office/powerpoint/2010/main" val="70521757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Title Slide B">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7697788" y="2603500"/>
            <a:ext cx="4214812" cy="1873250"/>
          </a:xfrm>
        </p:spPr>
        <p:txBody>
          <a:bodyPr>
            <a:normAutofit/>
          </a:bodyPr>
          <a:lstStyle>
            <a:lvl1pPr marL="0" indent="0">
              <a:buNone/>
              <a:defRPr sz="2800" baseline="0"/>
            </a:lvl1pPr>
          </a:lstStyle>
          <a:p>
            <a:pPr lvl="0"/>
            <a:r>
              <a:rPr lang="en-US" dirty="0"/>
              <a:t>INSERT PRESENTATION TITLE HERE</a:t>
            </a:r>
          </a:p>
        </p:txBody>
      </p:sp>
    </p:spTree>
    <p:extLst>
      <p:ext uri="{BB962C8B-B14F-4D97-AF65-F5344CB8AC3E}">
        <p14:creationId xmlns:p14="http://schemas.microsoft.com/office/powerpoint/2010/main" val="817891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Blank for Large Graphics A">
    <p:bg>
      <p:bgPr>
        <a:solidFill>
          <a:schemeClr val="bg1"/>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271932" y="5791200"/>
            <a:ext cx="3552445" cy="746742"/>
          </a:xfrm>
          <a:prstGeom prst="rect">
            <a:avLst/>
          </a:prstGeom>
        </p:spPr>
      </p:pic>
    </p:spTree>
    <p:extLst>
      <p:ext uri="{BB962C8B-B14F-4D97-AF65-F5344CB8AC3E}">
        <p14:creationId xmlns:p14="http://schemas.microsoft.com/office/powerpoint/2010/main" val="1454246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Blank for Large Graphics B">
    <p:bg>
      <p:bgRef idx="1001">
        <a:schemeClr val="bg1"/>
      </p:bgRef>
    </p:bg>
    <p:spTree>
      <p:nvGrpSpPr>
        <p:cNvPr id="1" name=""/>
        <p:cNvGrpSpPr/>
        <p:nvPr/>
      </p:nvGrpSpPr>
      <p:grpSpPr>
        <a:xfrm>
          <a:off x="0" y="0"/>
          <a:ext cx="0" cy="0"/>
          <a:chOff x="0" y="0"/>
          <a:chExt cx="0" cy="0"/>
        </a:xfrm>
      </p:grpSpPr>
      <p:pic>
        <p:nvPicPr>
          <p:cNvPr id="4" name="Picture 4"/>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bwMode="auto">
          <a:xfrm>
            <a:off x="11209866" y="5780616"/>
            <a:ext cx="607785" cy="747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8085216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43592-B9CD-7AF8-2531-D88D3E9DBD6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C943C0C-F99B-8C9C-5380-BAC6681294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00613D1-0C16-8026-7BD4-926A51626FA2}"/>
              </a:ext>
            </a:extLst>
          </p:cNvPr>
          <p:cNvSpPr>
            <a:spLocks noGrp="1"/>
          </p:cNvSpPr>
          <p:nvPr>
            <p:ph type="dt" sz="half" idx="10"/>
          </p:nvPr>
        </p:nvSpPr>
        <p:spPr/>
        <p:txBody>
          <a:bodyPr/>
          <a:lstStyle/>
          <a:p>
            <a:fld id="{E16BFFFE-D9D4-D649-9D1F-5FA64CDC0CC2}" type="datetimeFigureOut">
              <a:rPr lang="en-US" smtClean="0"/>
              <a:t>9/1/2026</a:t>
            </a:fld>
            <a:endParaRPr lang="en-US"/>
          </a:p>
        </p:txBody>
      </p:sp>
      <p:sp>
        <p:nvSpPr>
          <p:cNvPr id="5" name="Footer Placeholder 4">
            <a:extLst>
              <a:ext uri="{FF2B5EF4-FFF2-40B4-BE49-F238E27FC236}">
                <a16:creationId xmlns:a16="http://schemas.microsoft.com/office/drawing/2014/main" id="{1755E5B1-A151-0420-61EC-F4B8FC23D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78DDD1-36BF-D966-84CD-8EE8543EB425}"/>
              </a:ext>
            </a:extLst>
          </p:cNvPr>
          <p:cNvSpPr>
            <a:spLocks noGrp="1"/>
          </p:cNvSpPr>
          <p:nvPr>
            <p:ph type="sldNum" sz="quarter" idx="12"/>
          </p:nvPr>
        </p:nvSpPr>
        <p:spPr/>
        <p:txBody>
          <a:bodyPr/>
          <a:lstStyle/>
          <a:p>
            <a:fld id="{4CFE898C-0EB9-3C44-9E25-661E8EC4CBA6}" type="slidenum">
              <a:rPr lang="en-US" smtClean="0"/>
              <a:t>‹#›</a:t>
            </a:fld>
            <a:endParaRPr lang="en-US"/>
          </a:p>
        </p:txBody>
      </p:sp>
    </p:spTree>
    <p:extLst>
      <p:ext uri="{BB962C8B-B14F-4D97-AF65-F5344CB8AC3E}">
        <p14:creationId xmlns:p14="http://schemas.microsoft.com/office/powerpoint/2010/main" val="3341069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ain point">
  <p:cSld name="Main point">
    <p:bg>
      <p:bgPr>
        <a:solidFill>
          <a:srgbClr val="353535"/>
        </a:solidFill>
        <a:effectLst/>
      </p:bgPr>
    </p:bg>
    <p:spTree>
      <p:nvGrpSpPr>
        <p:cNvPr id="1" name="Shape 44"/>
        <p:cNvGrpSpPr/>
        <p:nvPr/>
      </p:nvGrpSpPr>
      <p:grpSpPr>
        <a:xfrm>
          <a:off x="0" y="0"/>
          <a:ext cx="0" cy="0"/>
          <a:chOff x="0" y="0"/>
          <a:chExt cx="0" cy="0"/>
        </a:xfrm>
      </p:grpSpPr>
      <p:cxnSp>
        <p:nvCxnSpPr>
          <p:cNvPr id="45" name="Google Shape;45;p8"/>
          <p:cNvCxnSpPr/>
          <p:nvPr/>
        </p:nvCxnSpPr>
        <p:spPr>
          <a:xfrm>
            <a:off x="566931" y="554200"/>
            <a:ext cx="244400" cy="0"/>
          </a:xfrm>
          <a:prstGeom prst="straightConnector1">
            <a:avLst/>
          </a:prstGeom>
          <a:noFill/>
          <a:ln w="19050" cap="flat" cmpd="sng">
            <a:solidFill>
              <a:schemeClr val="lt1"/>
            </a:solidFill>
            <a:prstDash val="solid"/>
            <a:round/>
            <a:headEnd type="none" w="sm" len="sm"/>
            <a:tailEnd type="none" w="sm" len="sm"/>
          </a:ln>
        </p:spPr>
      </p:cxnSp>
      <p:sp>
        <p:nvSpPr>
          <p:cNvPr id="46" name="Google Shape;46;p8"/>
          <p:cNvSpPr txBox="1">
            <a:spLocks noGrp="1"/>
          </p:cNvSpPr>
          <p:nvPr>
            <p:ph type="title"/>
          </p:nvPr>
        </p:nvSpPr>
        <p:spPr>
          <a:xfrm>
            <a:off x="377471" y="949521"/>
            <a:ext cx="8325600" cy="5114000"/>
          </a:xfrm>
          <a:prstGeom prst="rect">
            <a:avLst/>
          </a:prstGeom>
        </p:spPr>
        <p:txBody>
          <a:bodyPr spcFirstLastPara="1" wrap="square" lIns="91425" tIns="91425" rIns="91425" bIns="91425" anchor="ctr" anchorCtr="0">
            <a:noAutofit/>
          </a:bodyPr>
          <a:lstStyle>
            <a:lvl1pPr lvl="0" rtl="0">
              <a:spcBef>
                <a:spcPts val="0"/>
              </a:spcBef>
              <a:spcAft>
                <a:spcPts val="0"/>
              </a:spcAft>
              <a:buClr>
                <a:schemeClr val="lt1"/>
              </a:buClr>
              <a:buSzPts val="4800"/>
              <a:buNone/>
              <a:defRPr sz="6400">
                <a:solidFill>
                  <a:schemeClr val="lt1"/>
                </a:solidFill>
              </a:defRPr>
            </a:lvl1pPr>
            <a:lvl2pPr lvl="1" rtl="0">
              <a:spcBef>
                <a:spcPts val="0"/>
              </a:spcBef>
              <a:spcAft>
                <a:spcPts val="0"/>
              </a:spcAft>
              <a:buClr>
                <a:schemeClr val="lt1"/>
              </a:buClr>
              <a:buSzPts val="4800"/>
              <a:buNone/>
              <a:defRPr sz="6400">
                <a:solidFill>
                  <a:schemeClr val="lt1"/>
                </a:solidFill>
              </a:defRPr>
            </a:lvl2pPr>
            <a:lvl3pPr lvl="2" rtl="0">
              <a:spcBef>
                <a:spcPts val="0"/>
              </a:spcBef>
              <a:spcAft>
                <a:spcPts val="0"/>
              </a:spcAft>
              <a:buClr>
                <a:schemeClr val="lt1"/>
              </a:buClr>
              <a:buSzPts val="4800"/>
              <a:buNone/>
              <a:defRPr sz="6400">
                <a:solidFill>
                  <a:schemeClr val="lt1"/>
                </a:solidFill>
              </a:defRPr>
            </a:lvl3pPr>
            <a:lvl4pPr lvl="3" rtl="0">
              <a:spcBef>
                <a:spcPts val="0"/>
              </a:spcBef>
              <a:spcAft>
                <a:spcPts val="0"/>
              </a:spcAft>
              <a:buClr>
                <a:schemeClr val="lt1"/>
              </a:buClr>
              <a:buSzPts val="4800"/>
              <a:buNone/>
              <a:defRPr sz="6400">
                <a:solidFill>
                  <a:schemeClr val="lt1"/>
                </a:solidFill>
              </a:defRPr>
            </a:lvl4pPr>
            <a:lvl5pPr lvl="4" rtl="0">
              <a:spcBef>
                <a:spcPts val="0"/>
              </a:spcBef>
              <a:spcAft>
                <a:spcPts val="0"/>
              </a:spcAft>
              <a:buClr>
                <a:schemeClr val="lt1"/>
              </a:buClr>
              <a:buSzPts val="4800"/>
              <a:buNone/>
              <a:defRPr sz="6400">
                <a:solidFill>
                  <a:schemeClr val="lt1"/>
                </a:solidFill>
              </a:defRPr>
            </a:lvl5pPr>
            <a:lvl6pPr lvl="5" rtl="0">
              <a:spcBef>
                <a:spcPts val="0"/>
              </a:spcBef>
              <a:spcAft>
                <a:spcPts val="0"/>
              </a:spcAft>
              <a:buClr>
                <a:schemeClr val="lt1"/>
              </a:buClr>
              <a:buSzPts val="4800"/>
              <a:buNone/>
              <a:defRPr sz="6400">
                <a:solidFill>
                  <a:schemeClr val="lt1"/>
                </a:solidFill>
              </a:defRPr>
            </a:lvl6pPr>
            <a:lvl7pPr lvl="6" rtl="0">
              <a:spcBef>
                <a:spcPts val="0"/>
              </a:spcBef>
              <a:spcAft>
                <a:spcPts val="0"/>
              </a:spcAft>
              <a:buClr>
                <a:schemeClr val="lt1"/>
              </a:buClr>
              <a:buSzPts val="4800"/>
              <a:buNone/>
              <a:defRPr sz="6400">
                <a:solidFill>
                  <a:schemeClr val="lt1"/>
                </a:solidFill>
              </a:defRPr>
            </a:lvl7pPr>
            <a:lvl8pPr lvl="7" rtl="0">
              <a:spcBef>
                <a:spcPts val="0"/>
              </a:spcBef>
              <a:spcAft>
                <a:spcPts val="0"/>
              </a:spcAft>
              <a:buClr>
                <a:schemeClr val="lt1"/>
              </a:buClr>
              <a:buSzPts val="4800"/>
              <a:buNone/>
              <a:defRPr sz="6400">
                <a:solidFill>
                  <a:schemeClr val="lt1"/>
                </a:solidFill>
              </a:defRPr>
            </a:lvl8pPr>
            <a:lvl9pPr lvl="8" rtl="0">
              <a:spcBef>
                <a:spcPts val="0"/>
              </a:spcBef>
              <a:spcAft>
                <a:spcPts val="0"/>
              </a:spcAft>
              <a:buClr>
                <a:schemeClr val="lt1"/>
              </a:buClr>
              <a:buSzPts val="4800"/>
              <a:buNone/>
              <a:defRPr sz="6400">
                <a:solidFill>
                  <a:schemeClr val="lt1"/>
                </a:solidFill>
              </a:defRPr>
            </a:lvl9pPr>
          </a:lstStyle>
          <a:p>
            <a:endParaRPr/>
          </a:p>
        </p:txBody>
      </p:sp>
      <p:sp>
        <p:nvSpPr>
          <p:cNvPr id="47" name="Google Shape;47;p8"/>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0019905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cxnSp>
        <p:nvCxnSpPr>
          <p:cNvPr id="22" name="Google Shape;22;p4"/>
          <p:cNvCxnSpPr/>
          <p:nvPr/>
        </p:nvCxnSpPr>
        <p:spPr>
          <a:xfrm>
            <a:off x="3303632" y="554200"/>
            <a:ext cx="8325600" cy="0"/>
          </a:xfrm>
          <a:prstGeom prst="straightConnector1">
            <a:avLst/>
          </a:prstGeom>
          <a:noFill/>
          <a:ln w="38100" cap="flat" cmpd="sng">
            <a:solidFill>
              <a:schemeClr val="dk2"/>
            </a:solidFill>
            <a:prstDash val="solid"/>
            <a:round/>
            <a:headEnd type="none" w="sm" len="sm"/>
            <a:tailEnd type="none" w="sm" len="sm"/>
          </a:ln>
        </p:spPr>
      </p:cxnSp>
      <p:cxnSp>
        <p:nvCxnSpPr>
          <p:cNvPr id="23" name="Google Shape;23;p4"/>
          <p:cNvCxnSpPr/>
          <p:nvPr/>
        </p:nvCxnSpPr>
        <p:spPr>
          <a:xfrm>
            <a:off x="3303632" y="6320000"/>
            <a:ext cx="8325600" cy="0"/>
          </a:xfrm>
          <a:prstGeom prst="straightConnector1">
            <a:avLst/>
          </a:prstGeom>
          <a:noFill/>
          <a:ln w="19050" cap="flat" cmpd="sng">
            <a:solidFill>
              <a:schemeClr val="dk2"/>
            </a:solidFill>
            <a:prstDash val="solid"/>
            <a:round/>
            <a:headEnd type="none" w="sm" len="sm"/>
            <a:tailEnd type="none" w="sm" len="sm"/>
          </a:ln>
        </p:spPr>
      </p:cxnSp>
      <p:cxnSp>
        <p:nvCxnSpPr>
          <p:cNvPr id="24" name="Google Shape;24;p4"/>
          <p:cNvCxnSpPr/>
          <p:nvPr/>
        </p:nvCxnSpPr>
        <p:spPr>
          <a:xfrm>
            <a:off x="566931" y="554200"/>
            <a:ext cx="244400" cy="0"/>
          </a:xfrm>
          <a:prstGeom prst="straightConnector1">
            <a:avLst/>
          </a:prstGeom>
          <a:noFill/>
          <a:ln w="19050" cap="flat" cmpd="sng">
            <a:solidFill>
              <a:schemeClr val="dk2"/>
            </a:solidFill>
            <a:prstDash val="solid"/>
            <a:round/>
            <a:headEnd type="none" w="sm" len="sm"/>
            <a:tailEnd type="none" w="sm" len="sm"/>
          </a:ln>
        </p:spPr>
      </p:cxnSp>
      <p:sp>
        <p:nvSpPr>
          <p:cNvPr id="25" name="Google Shape;25;p4"/>
          <p:cNvSpPr txBox="1">
            <a:spLocks noGrp="1"/>
          </p:cNvSpPr>
          <p:nvPr>
            <p:ph type="title"/>
          </p:nvPr>
        </p:nvSpPr>
        <p:spPr>
          <a:xfrm>
            <a:off x="3200333" y="767933"/>
            <a:ext cx="8428800" cy="8472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6" name="Google Shape;26;p4"/>
          <p:cNvSpPr txBox="1">
            <a:spLocks noGrp="1"/>
          </p:cNvSpPr>
          <p:nvPr>
            <p:ph type="body" idx="1"/>
          </p:nvPr>
        </p:nvSpPr>
        <p:spPr>
          <a:xfrm>
            <a:off x="3213483" y="2127701"/>
            <a:ext cx="8428800" cy="4003200"/>
          </a:xfrm>
          <a:prstGeom prst="rect">
            <a:avLst/>
          </a:prstGeom>
        </p:spPr>
        <p:txBody>
          <a:bodyPr spcFirstLastPara="1" wrap="square" lIns="91425" tIns="91425" rIns="91425" bIns="91425" anchor="t" anchorCtr="0">
            <a:noAutofit/>
          </a:bodyPr>
          <a:lstStyle>
            <a:lvl1pPr marL="609585" lvl="0" indent="-457189" rtl="0">
              <a:spcBef>
                <a:spcPts val="0"/>
              </a:spcBef>
              <a:spcAft>
                <a:spcPts val="0"/>
              </a:spcAft>
              <a:buSzPts val="1800"/>
              <a:buChar char="●"/>
              <a:defRPr/>
            </a:lvl1pPr>
            <a:lvl2pPr marL="1219170" lvl="1" indent="-423323" rtl="0">
              <a:spcBef>
                <a:spcPts val="2133"/>
              </a:spcBef>
              <a:spcAft>
                <a:spcPts val="0"/>
              </a:spcAft>
              <a:buSzPts val="1400"/>
              <a:buChar char="○"/>
              <a:defRPr/>
            </a:lvl2pPr>
            <a:lvl3pPr marL="1828754" lvl="2" indent="-423323" rtl="0">
              <a:spcBef>
                <a:spcPts val="2133"/>
              </a:spcBef>
              <a:spcAft>
                <a:spcPts val="0"/>
              </a:spcAft>
              <a:buSzPts val="1400"/>
              <a:buChar char="■"/>
              <a:defRPr/>
            </a:lvl3pPr>
            <a:lvl4pPr marL="2438339" lvl="3" indent="-423323" rtl="0">
              <a:spcBef>
                <a:spcPts val="2133"/>
              </a:spcBef>
              <a:spcAft>
                <a:spcPts val="0"/>
              </a:spcAft>
              <a:buSzPts val="1400"/>
              <a:buChar char="●"/>
              <a:defRPr/>
            </a:lvl4pPr>
            <a:lvl5pPr marL="3047924" lvl="4" indent="-423323" rtl="0">
              <a:spcBef>
                <a:spcPts val="2133"/>
              </a:spcBef>
              <a:spcAft>
                <a:spcPts val="0"/>
              </a:spcAft>
              <a:buSzPts val="1400"/>
              <a:buChar char="○"/>
              <a:defRPr/>
            </a:lvl5pPr>
            <a:lvl6pPr marL="3657509" lvl="5" indent="-423323" rtl="0">
              <a:spcBef>
                <a:spcPts val="2133"/>
              </a:spcBef>
              <a:spcAft>
                <a:spcPts val="0"/>
              </a:spcAft>
              <a:buSzPts val="1400"/>
              <a:buChar char="■"/>
              <a:defRPr/>
            </a:lvl6pPr>
            <a:lvl7pPr marL="4267093" lvl="6" indent="-423323" rtl="0">
              <a:spcBef>
                <a:spcPts val="2133"/>
              </a:spcBef>
              <a:spcAft>
                <a:spcPts val="0"/>
              </a:spcAft>
              <a:buSzPts val="1400"/>
              <a:buChar char="●"/>
              <a:defRPr/>
            </a:lvl7pPr>
            <a:lvl8pPr marL="4876678" lvl="7" indent="-423323" rtl="0">
              <a:spcBef>
                <a:spcPts val="2133"/>
              </a:spcBef>
              <a:spcAft>
                <a:spcPts val="0"/>
              </a:spcAft>
              <a:buSzPts val="1400"/>
              <a:buChar char="○"/>
              <a:defRPr/>
            </a:lvl8pPr>
            <a:lvl9pPr marL="5486263" lvl="8" indent="-423323" rtl="0">
              <a:spcBef>
                <a:spcPts val="2133"/>
              </a:spcBef>
              <a:spcAft>
                <a:spcPts val="2133"/>
              </a:spcAft>
              <a:buSzPts val="1400"/>
              <a:buChar char="■"/>
              <a:defRPr/>
            </a:lvl9pPr>
          </a:lstStyle>
          <a:p>
            <a:endParaRPr/>
          </a:p>
        </p:txBody>
      </p:sp>
      <p:sp>
        <p:nvSpPr>
          <p:cNvPr id="27" name="Google Shape;27;p4"/>
          <p:cNvSpPr txBox="1">
            <a:spLocks noGrp="1"/>
          </p:cNvSpPr>
          <p:nvPr>
            <p:ph type="sldNum" idx="12"/>
          </p:nvPr>
        </p:nvSpPr>
        <p:spPr>
          <a:xfrm>
            <a:off x="11330665" y="6251679"/>
            <a:ext cx="731600" cy="524800"/>
          </a:xfrm>
          <a:prstGeom prst="rect">
            <a:avLst/>
          </a:prstGeom>
        </p:spPr>
        <p:txBody>
          <a:bodyPr spcFirstLastPara="1" wrap="square" lIns="91425" tIns="91425" rIns="91425" bIns="91425" anchor="ctr" anchorCtr="0">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2276651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24224" y="335242"/>
            <a:ext cx="10515600" cy="1069679"/>
          </a:xfrm>
          <a:prstGeom prst="rect">
            <a:avLst/>
          </a:prstGeom>
        </p:spPr>
        <p:txBody>
          <a:bodyPr vert="horz" lIns="91440" tIns="45720" rIns="91440" bIns="45720" rtlCol="0" anchor="ctr">
            <a:normAutofit/>
          </a:bodyPr>
          <a:lstStyle/>
          <a:p>
            <a:r>
              <a:rPr lang="en-US" dirty="0"/>
              <a:t>CLICK TO EDIT TITLE</a:t>
            </a:r>
          </a:p>
        </p:txBody>
      </p:sp>
      <p:sp>
        <p:nvSpPr>
          <p:cNvPr id="3" name="Text Placeholder 2"/>
          <p:cNvSpPr>
            <a:spLocks noGrp="1"/>
          </p:cNvSpPr>
          <p:nvPr>
            <p:ph type="body" idx="1"/>
          </p:nvPr>
        </p:nvSpPr>
        <p:spPr>
          <a:xfrm>
            <a:off x="324224" y="1795742"/>
            <a:ext cx="10515600" cy="3511364"/>
          </a:xfrm>
          <a:prstGeom prst="rect">
            <a:avLst/>
          </a:prstGeom>
        </p:spPr>
        <p:txBody>
          <a:bodyPr vert="horz" lIns="91440" tIns="45720" rIns="91440" bIns="45720" rtlCol="0">
            <a:norm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16BFFFE-D9D4-D649-9D1F-5FA64CDC0CC2}" type="datetimeFigureOut">
              <a:rPr lang="en-US" smtClean="0"/>
              <a:t>9/1/2026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CFE898C-0EB9-3C44-9E25-661E8EC4CBA6}" type="slidenum">
              <a:rPr lang="en-US" smtClean="0"/>
              <a:t>‹#›</a:t>
            </a:fld>
            <a:endParaRPr lang="en-US"/>
          </a:p>
        </p:txBody>
      </p:sp>
      <p:pic>
        <p:nvPicPr>
          <p:cNvPr id="7" name="Picture 3" descr="ppt screen_Header_6-9_1920x1080 Wide.png"/>
          <p:cNvPicPr>
            <a:picLocks noChangeAspect="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5473171"/>
            <a:ext cx="12196659" cy="13848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264526" y="5780616"/>
            <a:ext cx="3553126" cy="7474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67979232"/>
      </p:ext>
    </p:extLst>
  </p:cSld>
  <p:clrMap bg1="lt1" tx1="dk1" bg2="lt2" tx2="dk2" accent1="accent1" accent2="accent2" accent3="accent3" accent4="accent4" accent5="accent5" accent6="accent6" hlink="hlink" folHlink="folHlink"/>
  <p:sldLayoutIdLst>
    <p:sldLayoutId id="2147483661" r:id="rId1"/>
    <p:sldLayoutId id="2147483650" r:id="rId2"/>
    <p:sldLayoutId id="2147483652" r:id="rId3"/>
    <p:sldLayoutId id="2147483654" r:id="rId4"/>
    <p:sldLayoutId id="2147483655" r:id="rId5"/>
    <p:sldLayoutId id="2147483663" r:id="rId6"/>
    <p:sldLayoutId id="2147483660" r:id="rId7"/>
    <p:sldLayoutId id="2147483662" r:id="rId8"/>
    <p:sldLayoutId id="2147483664" r:id="rId9"/>
    <p:sldLayoutId id="2147483665" r:id="rId10"/>
    <p:sldLayoutId id="2147483666" r:id="rId11"/>
    <p:sldLayoutId id="2147483667"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hyperlink" Target="http://nait.ca/nait/international/international-centre" TargetMode="External"/><Relationship Id="rId13" Type="http://schemas.openxmlformats.org/officeDocument/2006/relationships/hyperlink" Target="http://nait.ca/nait/life-at-nait/jobs-career" TargetMode="External"/><Relationship Id="rId3" Type="http://schemas.openxmlformats.org/officeDocument/2006/relationships/hyperlink" Target="http://learningservices.nait.ca" TargetMode="External"/><Relationship Id="rId7" Type="http://schemas.openxmlformats.org/officeDocument/2006/relationships/hyperlink" Target="http://nait.ca/nait/life-at-nait/health-well-being/religion-spirituality" TargetMode="External"/><Relationship Id="rId12" Type="http://schemas.openxmlformats.org/officeDocument/2006/relationships/hyperlink" Target="https://my.nait.ca/financial-aid"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nait.ca/nait/life-at-nait/health-well-being/mental-health-resources" TargetMode="External"/><Relationship Id="rId11" Type="http://schemas.openxmlformats.org/officeDocument/2006/relationships/hyperlink" Target="http://nait.ca/scholarships" TargetMode="External"/><Relationship Id="rId5" Type="http://schemas.openxmlformats.org/officeDocument/2006/relationships/hyperlink" Target="http://nait.ca/nait/life-at-nait/health-well-being/counselling-services" TargetMode="External"/><Relationship Id="rId10" Type="http://schemas.openxmlformats.org/officeDocument/2006/relationships/hyperlink" Target="https://www.nait.ca/nait/student-life/clubs-groups-community/2slgbtqia" TargetMode="External"/><Relationship Id="rId4" Type="http://schemas.openxmlformats.org/officeDocument/2006/relationships/hyperlink" Target="http://nait.ca/nait/life-at-nait/clubs-groups-community/fairness-conflict-resolution" TargetMode="External"/><Relationship Id="rId9" Type="http://schemas.openxmlformats.org/officeDocument/2006/relationships/hyperlink" Target="https://www.nait.ca/nait/student-life/clubs-groups-community/nisohkamatotan-centre" TargetMode="External"/><Relationship Id="rId14" Type="http://schemas.openxmlformats.org/officeDocument/2006/relationships/hyperlink" Target="https://www.ookslife.ca/events" TargetMode="External"/></Relationships>
</file>

<file path=ppt/slides/_rels/slide9.xml.rels><?xml version="1.0" encoding="UTF-8" standalone="yes"?>
<Relationships xmlns="http://schemas.openxmlformats.org/package/2006/relationships"><Relationship Id="rId8" Type="http://schemas.openxmlformats.org/officeDocument/2006/relationships/hyperlink" Target="http://nait.ca/nait/international/international-centre" TargetMode="External"/><Relationship Id="rId13" Type="http://schemas.openxmlformats.org/officeDocument/2006/relationships/hyperlink" Target="http://nait.ca/nait/life-at-nait/jobs-career" TargetMode="External"/><Relationship Id="rId3" Type="http://schemas.openxmlformats.org/officeDocument/2006/relationships/hyperlink" Target="http://learningservices.nait.ca" TargetMode="External"/><Relationship Id="rId7" Type="http://schemas.openxmlformats.org/officeDocument/2006/relationships/hyperlink" Target="http://nait.ca/nait/life-at-nait/health-well-being/religion-spirituality" TargetMode="External"/><Relationship Id="rId12" Type="http://schemas.openxmlformats.org/officeDocument/2006/relationships/hyperlink" Target="https://my.nait.ca/financial-aid" TargetMode="Externa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nait.ca/nait/life-at-nait/health-well-being/mental-health-resources" TargetMode="External"/><Relationship Id="rId11" Type="http://schemas.openxmlformats.org/officeDocument/2006/relationships/hyperlink" Target="http://nait.ca/scholarships" TargetMode="External"/><Relationship Id="rId5" Type="http://schemas.openxmlformats.org/officeDocument/2006/relationships/hyperlink" Target="http://nait.ca/nait/life-at-nait/health-well-being/counselling-services" TargetMode="External"/><Relationship Id="rId10" Type="http://schemas.openxmlformats.org/officeDocument/2006/relationships/hyperlink" Target="https://www.nait.ca/nait/student-life/clubs-groups-community/2slgbtqia" TargetMode="External"/><Relationship Id="rId4" Type="http://schemas.openxmlformats.org/officeDocument/2006/relationships/hyperlink" Target="http://nait.ca/nait/life-at-nait/clubs-groups-community/fairness-conflict-resolution" TargetMode="External"/><Relationship Id="rId9" Type="http://schemas.openxmlformats.org/officeDocument/2006/relationships/hyperlink" Target="https://www.nait.ca/nait/student-life/clubs-groups-community/nisohkamatotan-centre" TargetMode="External"/><Relationship Id="rId14" Type="http://schemas.openxmlformats.org/officeDocument/2006/relationships/hyperlink" Target="https://www.ookslife.ca/events" TargetMode="Externa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learningservices.nait.ca/"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www.nait.ca/nait/admissions/office-of-the-registrar/forms-and-policies"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p:cNvSpPr>
            <a:spLocks noGrp="1"/>
          </p:cNvSpPr>
          <p:nvPr>
            <p:ph type="body" sz="quarter" idx="10"/>
          </p:nvPr>
        </p:nvSpPr>
        <p:spPr>
          <a:xfrm>
            <a:off x="1830438" y="3429000"/>
            <a:ext cx="8531123" cy="1471612"/>
          </a:xfrm>
        </p:spPr>
        <p:txBody>
          <a:bodyPr>
            <a:normAutofit/>
          </a:bodyPr>
          <a:lstStyle/>
          <a:p>
            <a:r>
              <a:rPr lang="en-US" b="1" dirty="0"/>
              <a:t>Introduction to SDEV1201 </a:t>
            </a:r>
          </a:p>
        </p:txBody>
      </p:sp>
    </p:spTree>
    <p:extLst>
      <p:ext uri="{BB962C8B-B14F-4D97-AF65-F5344CB8AC3E}">
        <p14:creationId xmlns:p14="http://schemas.microsoft.com/office/powerpoint/2010/main" val="2569066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2ED6D-9A1A-4950-2C60-00F727B77C2A}"/>
              </a:ext>
            </a:extLst>
          </p:cNvPr>
          <p:cNvSpPr>
            <a:spLocks noGrp="1"/>
          </p:cNvSpPr>
          <p:nvPr>
            <p:ph type="title"/>
          </p:nvPr>
        </p:nvSpPr>
        <p:spPr/>
        <p:txBody>
          <a:bodyPr/>
          <a:lstStyle/>
          <a:p>
            <a:r>
              <a:rPr lang="en" dirty="0"/>
              <a:t>Teams How-To</a:t>
            </a:r>
            <a:endParaRPr lang="en-US" dirty="0"/>
          </a:p>
        </p:txBody>
      </p:sp>
      <p:sp>
        <p:nvSpPr>
          <p:cNvPr id="3" name="Content Placeholder 2">
            <a:extLst>
              <a:ext uri="{FF2B5EF4-FFF2-40B4-BE49-F238E27FC236}">
                <a16:creationId xmlns:a16="http://schemas.microsoft.com/office/drawing/2014/main" id="{44380628-1530-4E3F-0DF0-88556156F78E}"/>
              </a:ext>
            </a:extLst>
          </p:cNvPr>
          <p:cNvSpPr>
            <a:spLocks noGrp="1"/>
          </p:cNvSpPr>
          <p:nvPr>
            <p:ph idx="1"/>
          </p:nvPr>
        </p:nvSpPr>
        <p:spPr/>
        <p:txBody>
          <a:bodyPr>
            <a:normAutofit/>
          </a:bodyPr>
          <a:lstStyle/>
          <a:p>
            <a:pPr marL="457200" lvl="0" indent="-342900">
              <a:spcBef>
                <a:spcPts val="0"/>
              </a:spcBef>
              <a:buSzPts val="1800"/>
              <a:buChar char="●"/>
            </a:pPr>
            <a:r>
              <a:rPr lang="en-US" dirty="0"/>
              <a:t>Channels</a:t>
            </a:r>
          </a:p>
          <a:p>
            <a:pPr marL="914400" lvl="1" indent="-317500">
              <a:spcBef>
                <a:spcPts val="0"/>
              </a:spcBef>
              <a:buSzPts val="1400"/>
              <a:buChar char="○"/>
            </a:pPr>
            <a:r>
              <a:rPr lang="en-US" dirty="0"/>
              <a:t>Files</a:t>
            </a:r>
          </a:p>
          <a:p>
            <a:pPr marL="457200" lvl="0" indent="-342900">
              <a:spcBef>
                <a:spcPts val="0"/>
              </a:spcBef>
              <a:buSzPts val="1800"/>
              <a:buChar char="●"/>
            </a:pPr>
            <a:r>
              <a:rPr lang="en-US" dirty="0"/>
              <a:t>Meetings</a:t>
            </a:r>
          </a:p>
          <a:p>
            <a:pPr marL="914400" lvl="1" indent="-317500">
              <a:spcBef>
                <a:spcPts val="0"/>
              </a:spcBef>
              <a:buSzPts val="1400"/>
              <a:buChar char="○"/>
            </a:pPr>
            <a:r>
              <a:rPr lang="en-US" dirty="0"/>
              <a:t>Webcam &amp; Mic</a:t>
            </a:r>
          </a:p>
          <a:p>
            <a:pPr marL="914400" lvl="1" indent="-317500">
              <a:spcBef>
                <a:spcPts val="0"/>
              </a:spcBef>
              <a:buSzPts val="1400"/>
              <a:buChar char="○"/>
            </a:pPr>
            <a:r>
              <a:rPr lang="en-US" dirty="0"/>
              <a:t>Chat</a:t>
            </a:r>
          </a:p>
          <a:p>
            <a:pPr marL="914400" lvl="1" indent="-317500">
              <a:spcBef>
                <a:spcPts val="0"/>
              </a:spcBef>
              <a:buSzPts val="1400"/>
              <a:buChar char="○"/>
            </a:pPr>
            <a:r>
              <a:rPr lang="en-US" dirty="0"/>
              <a:t>Raise Hand / Reactions</a:t>
            </a:r>
          </a:p>
          <a:p>
            <a:pPr marL="914400" lvl="1" indent="-317500">
              <a:spcBef>
                <a:spcPts val="0"/>
              </a:spcBef>
              <a:buSzPts val="1400"/>
              <a:buChar char="○"/>
            </a:pPr>
            <a:r>
              <a:rPr lang="en-US" dirty="0"/>
              <a:t>Closed Captions</a:t>
            </a:r>
          </a:p>
          <a:p>
            <a:pPr marL="914400" lvl="1" indent="-317500">
              <a:spcBef>
                <a:spcPts val="0"/>
              </a:spcBef>
              <a:buSzPts val="1400"/>
              <a:buChar char="○"/>
            </a:pPr>
            <a:r>
              <a:rPr lang="en-US" strike="sngStrike" dirty="0"/>
              <a:t>Recordings &amp; Transcriptions</a:t>
            </a:r>
          </a:p>
          <a:p>
            <a:pPr marL="0" indent="0">
              <a:buNone/>
            </a:pPr>
            <a:endParaRPr lang="en-US" dirty="0"/>
          </a:p>
        </p:txBody>
      </p:sp>
    </p:spTree>
    <p:extLst>
      <p:ext uri="{BB962C8B-B14F-4D97-AF65-F5344CB8AC3E}">
        <p14:creationId xmlns:p14="http://schemas.microsoft.com/office/powerpoint/2010/main" val="2365956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pic>
        <p:nvPicPr>
          <p:cNvPr id="78" name="Google Shape;78;p14"/>
          <p:cNvPicPr preferRelativeResize="0"/>
          <p:nvPr/>
        </p:nvPicPr>
        <p:blipFill>
          <a:blip r:embed="rId3">
            <a:alphaModFix/>
          </a:blip>
          <a:stretch>
            <a:fillRect/>
          </a:stretch>
        </p:blipFill>
        <p:spPr>
          <a:xfrm>
            <a:off x="3259600" y="216984"/>
            <a:ext cx="5672800" cy="5724488"/>
          </a:xfrm>
          <a:prstGeom prst="rect">
            <a:avLst/>
          </a:prstGeom>
          <a:noFill/>
          <a:ln>
            <a:noFill/>
          </a:ln>
        </p:spPr>
      </p:pic>
      <p:pic>
        <p:nvPicPr>
          <p:cNvPr id="79" name="Google Shape;79;p14" descr="Piece of duct tape sticking a note to the slide"/>
          <p:cNvPicPr preferRelativeResize="0"/>
          <p:nvPr/>
        </p:nvPicPr>
        <p:blipFill rotWithShape="1">
          <a:blip r:embed="rId4">
            <a:alphaModFix/>
          </a:blip>
          <a:srcRect l="9244" t="5926" r="2118" b="10011"/>
          <a:stretch/>
        </p:blipFill>
        <p:spPr>
          <a:xfrm rot="154828">
            <a:off x="4714667" y="196401"/>
            <a:ext cx="2762667" cy="981400"/>
          </a:xfrm>
          <a:prstGeom prst="rect">
            <a:avLst/>
          </a:prstGeom>
          <a:noFill/>
          <a:ln>
            <a:noFill/>
          </a:ln>
        </p:spPr>
      </p:pic>
      <p:sp>
        <p:nvSpPr>
          <p:cNvPr id="80" name="Google Shape;80;p14"/>
          <p:cNvSpPr txBox="1"/>
          <p:nvPr/>
        </p:nvSpPr>
        <p:spPr>
          <a:xfrm>
            <a:off x="3806283" y="916529"/>
            <a:ext cx="4577200" cy="1016800"/>
          </a:xfrm>
          <a:prstGeom prst="rect">
            <a:avLst/>
          </a:prstGeom>
          <a:noFill/>
          <a:ln>
            <a:noFill/>
          </a:ln>
        </p:spPr>
        <p:txBody>
          <a:bodyPr spcFirstLastPara="1" wrap="square" lIns="121900" tIns="121900" rIns="121900" bIns="121900" anchor="b" anchorCtr="0">
            <a:noAutofit/>
          </a:bodyPr>
          <a:lstStyle/>
          <a:p>
            <a:r>
              <a:rPr lang="en" sz="4000" b="1" dirty="0">
                <a:solidFill>
                  <a:schemeClr val="accent2"/>
                </a:solidFill>
                <a:latin typeface="Raleway"/>
                <a:ea typeface="Raleway"/>
                <a:cs typeface="Raleway"/>
                <a:sym typeface="Raleway"/>
              </a:rPr>
              <a:t>Today’s agenda</a:t>
            </a:r>
            <a:endParaRPr sz="4000" b="1" dirty="0">
              <a:solidFill>
                <a:schemeClr val="accent2"/>
              </a:solidFill>
              <a:latin typeface="Raleway"/>
              <a:ea typeface="Raleway"/>
              <a:cs typeface="Raleway"/>
              <a:sym typeface="Raleway"/>
            </a:endParaRPr>
          </a:p>
        </p:txBody>
      </p:sp>
      <p:sp>
        <p:nvSpPr>
          <p:cNvPr id="81" name="Google Shape;81;p14"/>
          <p:cNvSpPr txBox="1">
            <a:spLocks noGrp="1"/>
          </p:cNvSpPr>
          <p:nvPr>
            <p:ph type="body" idx="4294967295"/>
          </p:nvPr>
        </p:nvSpPr>
        <p:spPr>
          <a:xfrm>
            <a:off x="3806283" y="1836640"/>
            <a:ext cx="4577200" cy="4437200"/>
          </a:xfrm>
          <a:prstGeom prst="rect">
            <a:avLst/>
          </a:prstGeom>
        </p:spPr>
        <p:txBody>
          <a:bodyPr spcFirstLastPara="1" vert="horz" wrap="square" lIns="121900" tIns="121900" rIns="121900" bIns="121900" rtlCol="0" anchor="t" anchorCtr="0">
            <a:normAutofit/>
          </a:bodyPr>
          <a:lstStyle/>
          <a:p>
            <a:pPr marL="609585" indent="-457189">
              <a:lnSpc>
                <a:spcPct val="115000"/>
              </a:lnSpc>
              <a:spcBef>
                <a:spcPts val="0"/>
              </a:spcBef>
              <a:buClr>
                <a:schemeClr val="dk1"/>
              </a:buClr>
              <a:buSzPts val="1800"/>
              <a:buFont typeface="Raleway"/>
              <a:buChar char="❏"/>
            </a:pPr>
            <a:r>
              <a:rPr lang="en" sz="2400" dirty="0">
                <a:latin typeface="Raleway"/>
                <a:ea typeface="Raleway"/>
                <a:cs typeface="Raleway"/>
                <a:sym typeface="Raleway"/>
              </a:rPr>
              <a:t>Introductions</a:t>
            </a:r>
            <a:endParaRPr sz="2400" dirty="0">
              <a:latin typeface="Raleway"/>
              <a:ea typeface="Raleway"/>
              <a:cs typeface="Raleway"/>
              <a:sym typeface="Raleway"/>
            </a:endParaRPr>
          </a:p>
          <a:p>
            <a:pPr marL="609585" indent="-457189">
              <a:lnSpc>
                <a:spcPct val="115000"/>
              </a:lnSpc>
              <a:spcBef>
                <a:spcPts val="1333"/>
              </a:spcBef>
              <a:buClr>
                <a:schemeClr val="dk1"/>
              </a:buClr>
              <a:buSzPts val="1800"/>
              <a:buFont typeface="Raleway"/>
              <a:buChar char="❏"/>
            </a:pPr>
            <a:r>
              <a:rPr lang="en" sz="2400" dirty="0">
                <a:latin typeface="Raleway"/>
                <a:ea typeface="Raleway"/>
                <a:cs typeface="Raleway"/>
                <a:sym typeface="Raleway"/>
              </a:rPr>
              <a:t>“Housekeeping” &amp; classroom expectations</a:t>
            </a:r>
            <a:endParaRPr sz="2400" b="1" dirty="0">
              <a:solidFill>
                <a:schemeClr val="dk1"/>
              </a:solidFill>
              <a:latin typeface="Raleway"/>
              <a:ea typeface="Raleway"/>
              <a:cs typeface="Raleway"/>
              <a:sym typeface="Raleway"/>
            </a:endParaRPr>
          </a:p>
          <a:p>
            <a:pPr marL="609585" indent="-457189">
              <a:spcBef>
                <a:spcPts val="1333"/>
              </a:spcBef>
              <a:buClr>
                <a:schemeClr val="dk1"/>
              </a:buClr>
              <a:buSzPts val="1800"/>
              <a:buFont typeface="Raleway"/>
              <a:buChar char="❏"/>
            </a:pPr>
            <a:r>
              <a:rPr lang="en" sz="2400" dirty="0">
                <a:latin typeface="Raleway"/>
                <a:ea typeface="Raleway"/>
                <a:cs typeface="Raleway"/>
                <a:sym typeface="Raleway"/>
              </a:rPr>
              <a:t>Student services &amp; resources</a:t>
            </a:r>
            <a:endParaRPr sz="2400" dirty="0">
              <a:solidFill>
                <a:schemeClr val="dk1"/>
              </a:solidFill>
              <a:latin typeface="Raleway"/>
              <a:ea typeface="Raleway"/>
              <a:cs typeface="Raleway"/>
              <a:sym typeface="Raleway"/>
            </a:endParaRPr>
          </a:p>
          <a:p>
            <a:pPr marL="609585" indent="-457189">
              <a:spcBef>
                <a:spcPts val="1333"/>
              </a:spcBef>
              <a:buClr>
                <a:schemeClr val="dk1"/>
              </a:buClr>
              <a:buSzPts val="1800"/>
              <a:buFont typeface="Raleway"/>
              <a:buChar char="❏"/>
            </a:pPr>
            <a:r>
              <a:rPr lang="en" sz="2400" dirty="0">
                <a:latin typeface="Raleway"/>
                <a:ea typeface="Raleway"/>
                <a:cs typeface="Raleway"/>
                <a:sym typeface="Raleway"/>
              </a:rPr>
              <a:t>Course outline &amp; calendar</a:t>
            </a:r>
            <a:endParaRPr sz="2400" dirty="0">
              <a:solidFill>
                <a:schemeClr val="dk1"/>
              </a:solidFill>
              <a:latin typeface="Raleway"/>
              <a:ea typeface="Raleway"/>
              <a:cs typeface="Raleway"/>
              <a:sym typeface="Raleway"/>
            </a:endParaRPr>
          </a:p>
          <a:p>
            <a:pPr marL="609585" indent="-457189">
              <a:spcBef>
                <a:spcPts val="1333"/>
              </a:spcBef>
              <a:spcAft>
                <a:spcPts val="1333"/>
              </a:spcAft>
              <a:buClr>
                <a:schemeClr val="dk1"/>
              </a:buClr>
              <a:buSzPts val="1800"/>
              <a:buFont typeface="Raleway"/>
              <a:buChar char="❏"/>
            </a:pPr>
            <a:r>
              <a:rPr lang="en" sz="2400" dirty="0">
                <a:latin typeface="Raleway"/>
                <a:ea typeface="Raleway"/>
                <a:cs typeface="Raleway"/>
                <a:sym typeface="Raleway"/>
              </a:rPr>
              <a:t>Intro to databases</a:t>
            </a:r>
            <a:endParaRPr sz="2400" dirty="0">
              <a:solidFill>
                <a:schemeClr val="dk1"/>
              </a:solidFill>
              <a:latin typeface="Raleway"/>
              <a:ea typeface="Raleway"/>
              <a:cs typeface="Raleway"/>
              <a:sym typeface="Raleway"/>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324224" y="1795742"/>
            <a:ext cx="10654552" cy="3511364"/>
          </a:xfrm>
        </p:spPr>
        <p:txBody>
          <a:bodyPr vert="horz" lIns="91440" tIns="45720" rIns="91440" bIns="45720" rtlCol="0" anchor="t">
            <a:normAutofit/>
          </a:bodyPr>
          <a:lstStyle/>
          <a:p>
            <a:r>
              <a:rPr lang="en-US" dirty="0"/>
              <a:t>Instructor: Larisa Pitchko</a:t>
            </a:r>
          </a:p>
          <a:p>
            <a:r>
              <a:rPr lang="en-US" dirty="0">
                <a:cs typeface="Arial"/>
              </a:rPr>
              <a:t>MS Teams Chat – Please include your name, SD</a:t>
            </a:r>
            <a:r>
              <a:rPr lang="en-US" dirty="0">
                <a:ea typeface="+mn-lt"/>
                <a:cs typeface="+mn-lt"/>
              </a:rPr>
              <a:t>EV 1701</a:t>
            </a:r>
            <a:r>
              <a:rPr lang="en-US" dirty="0">
                <a:cs typeface="Arial"/>
              </a:rPr>
              <a:t>, and your section (e.g., A01) in your message.</a:t>
            </a:r>
          </a:p>
          <a:p>
            <a:r>
              <a:rPr lang="en-US" dirty="0">
                <a:cs typeface="Arial"/>
              </a:rPr>
              <a:t>Chat with me on MS Teams</a:t>
            </a:r>
          </a:p>
          <a:p>
            <a:r>
              <a:rPr lang="en-US" dirty="0">
                <a:ea typeface="+mn-lt"/>
                <a:cs typeface="+mn-lt"/>
              </a:rPr>
              <a:t>Email: </a:t>
            </a:r>
            <a:r>
              <a:rPr lang="en-US" dirty="0" err="1"/>
              <a:t>larisap@</a:t>
            </a:r>
            <a:r>
              <a:rPr lang="en-US" err="1"/>
              <a:t>nait</a:t>
            </a:r>
            <a:r>
              <a:rPr lang="en-US"/>
              <a:t>.ca</a:t>
            </a:r>
            <a:endParaRPr lang="en-US" dirty="0"/>
          </a:p>
          <a:p>
            <a:endParaRPr lang="en-US" dirty="0">
              <a:cs typeface="Arial"/>
            </a:endParaRPr>
          </a:p>
        </p:txBody>
      </p:sp>
      <p:sp>
        <p:nvSpPr>
          <p:cNvPr id="5" name="Title 4"/>
          <p:cNvSpPr>
            <a:spLocks noGrp="1"/>
          </p:cNvSpPr>
          <p:nvPr>
            <p:ph type="title"/>
          </p:nvPr>
        </p:nvSpPr>
        <p:spPr/>
        <p:txBody>
          <a:bodyPr/>
          <a:lstStyle/>
          <a:p>
            <a:r>
              <a:rPr lang="en-US" dirty="0"/>
              <a:t>Welcome</a:t>
            </a:r>
          </a:p>
        </p:txBody>
      </p:sp>
    </p:spTree>
    <p:extLst>
      <p:ext uri="{BB962C8B-B14F-4D97-AF65-F5344CB8AC3E}">
        <p14:creationId xmlns:p14="http://schemas.microsoft.com/office/powerpoint/2010/main" val="1854355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711ED8-6740-39FD-4298-B33BAFB853FD}"/>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92F47E19-978E-94AA-E60B-3DBA16EB5EDF}"/>
              </a:ext>
            </a:extLst>
          </p:cNvPr>
          <p:cNvSpPr>
            <a:spLocks noGrp="1"/>
          </p:cNvSpPr>
          <p:nvPr>
            <p:ph idx="1"/>
          </p:nvPr>
        </p:nvSpPr>
        <p:spPr>
          <a:xfrm>
            <a:off x="324224" y="1404921"/>
            <a:ext cx="10654552" cy="3902185"/>
          </a:xfrm>
        </p:spPr>
        <p:txBody>
          <a:bodyPr vert="horz" lIns="91440" tIns="45720" rIns="91440" bIns="45720" rtlCol="0" anchor="t">
            <a:normAutofit fontScale="92500" lnSpcReduction="10000"/>
          </a:bodyPr>
          <a:lstStyle/>
          <a:p>
            <a:pPr marL="457200" lvl="0" indent="-342900">
              <a:spcBef>
                <a:spcPts val="0"/>
              </a:spcBef>
              <a:buSzPts val="1800"/>
              <a:buChar char="●"/>
            </a:pPr>
            <a:r>
              <a:rPr lang="en-US" dirty="0"/>
              <a:t>I expect you to </a:t>
            </a:r>
            <a:r>
              <a:rPr lang="en-US" b="1" dirty="0"/>
              <a:t>attend class</a:t>
            </a:r>
            <a:r>
              <a:rPr lang="en-US" dirty="0"/>
              <a:t>.</a:t>
            </a:r>
          </a:p>
          <a:p>
            <a:pPr marL="914400" lvl="1" indent="-317500">
              <a:spcBef>
                <a:spcPts val="0"/>
              </a:spcBef>
              <a:buSzPts val="1400"/>
              <a:buChar char="○"/>
            </a:pPr>
            <a:r>
              <a:rPr lang="en-US" dirty="0"/>
              <a:t>Please let me know if you are unable to attend a class.  You are responsible for catching up on any missed material.</a:t>
            </a:r>
          </a:p>
          <a:p>
            <a:pPr marL="914400" lvl="1" indent="-317500">
              <a:spcBef>
                <a:spcPts val="0"/>
              </a:spcBef>
              <a:buSzPts val="1400"/>
              <a:buChar char="○"/>
            </a:pPr>
            <a:endParaRPr lang="en-US" dirty="0"/>
          </a:p>
          <a:p>
            <a:pPr marL="457200" lvl="0" indent="-342900">
              <a:spcBef>
                <a:spcPts val="0"/>
              </a:spcBef>
              <a:buSzPts val="1800"/>
              <a:buChar char="●"/>
            </a:pPr>
            <a:r>
              <a:rPr lang="en-US" b="1" dirty="0"/>
              <a:t>Punctuality</a:t>
            </a:r>
            <a:r>
              <a:rPr lang="en-US" dirty="0"/>
              <a:t> is appreciated.</a:t>
            </a:r>
          </a:p>
          <a:p>
            <a:pPr marL="914400" lvl="1" indent="-317500">
              <a:spcBef>
                <a:spcPts val="0"/>
              </a:spcBef>
              <a:buSzPts val="1400"/>
              <a:buChar char="○"/>
            </a:pPr>
            <a:r>
              <a:rPr lang="en-US" dirty="0"/>
              <a:t>But I'd rather you join late than not at all.</a:t>
            </a:r>
          </a:p>
          <a:p>
            <a:pPr marL="914400" lvl="1" indent="-317500">
              <a:spcBef>
                <a:spcPts val="0"/>
              </a:spcBef>
              <a:buSzPts val="1400"/>
              <a:buChar char="○"/>
            </a:pPr>
            <a:endParaRPr lang="en-US" dirty="0"/>
          </a:p>
          <a:p>
            <a:pPr marL="457200" lvl="0" indent="-342900">
              <a:spcBef>
                <a:spcPts val="0"/>
              </a:spcBef>
              <a:buSzPts val="1800"/>
              <a:buChar char="●"/>
            </a:pPr>
            <a:r>
              <a:rPr lang="en-US" b="1" dirty="0"/>
              <a:t>Breaks</a:t>
            </a:r>
            <a:r>
              <a:rPr lang="en-US" dirty="0"/>
              <a:t> will happen every ~45 min.</a:t>
            </a:r>
          </a:p>
          <a:p>
            <a:pPr marL="914400" lvl="1" indent="-317500">
              <a:spcBef>
                <a:spcPts val="0"/>
              </a:spcBef>
              <a:buSzPts val="1400"/>
              <a:buChar char="○"/>
            </a:pPr>
            <a:r>
              <a:rPr lang="en-US" dirty="0"/>
              <a:t>Let me know if you need a break sooner!</a:t>
            </a:r>
          </a:p>
          <a:p>
            <a:pPr marL="914400" lvl="1" indent="-317500">
              <a:spcBef>
                <a:spcPts val="0"/>
              </a:spcBef>
              <a:buSzPts val="1400"/>
              <a:buChar char="○"/>
            </a:pPr>
            <a:endParaRPr lang="en-US" dirty="0"/>
          </a:p>
          <a:p>
            <a:pPr marL="457200" lvl="0" indent="-342900">
              <a:spcBef>
                <a:spcPts val="0"/>
              </a:spcBef>
              <a:buSzPts val="1800"/>
              <a:buChar char="●"/>
            </a:pPr>
            <a:r>
              <a:rPr lang="en-US" b="1" dirty="0"/>
              <a:t>Interruptions</a:t>
            </a:r>
            <a:r>
              <a:rPr lang="en-US" dirty="0"/>
              <a:t> are disruptive.</a:t>
            </a:r>
          </a:p>
          <a:p>
            <a:pPr marL="914400" lvl="1" indent="-317500">
              <a:spcBef>
                <a:spcPts val="0"/>
              </a:spcBef>
              <a:buSzPts val="1400"/>
              <a:buChar char="○"/>
            </a:pPr>
            <a:r>
              <a:rPr lang="en-US" dirty="0"/>
              <a:t>Make sure your devices are set to silent.</a:t>
            </a:r>
          </a:p>
          <a:p>
            <a:pPr marL="914400" lvl="1" indent="-317500">
              <a:spcBef>
                <a:spcPts val="0"/>
              </a:spcBef>
              <a:buSzPts val="1400"/>
              <a:buChar char="○"/>
            </a:pPr>
            <a:r>
              <a:rPr lang="en-US" dirty="0"/>
              <a:t>If you need to step out for any reason, please try to do so quietly.</a:t>
            </a:r>
          </a:p>
        </p:txBody>
      </p:sp>
      <p:sp>
        <p:nvSpPr>
          <p:cNvPr id="5" name="Title 4">
            <a:extLst>
              <a:ext uri="{FF2B5EF4-FFF2-40B4-BE49-F238E27FC236}">
                <a16:creationId xmlns:a16="http://schemas.microsoft.com/office/drawing/2014/main" id="{A4D3A5C2-9D74-5459-16B3-F342154CF37E}"/>
              </a:ext>
            </a:extLst>
          </p:cNvPr>
          <p:cNvSpPr>
            <a:spLocks noGrp="1"/>
          </p:cNvSpPr>
          <p:nvPr>
            <p:ph type="title"/>
          </p:nvPr>
        </p:nvSpPr>
        <p:spPr/>
        <p:txBody>
          <a:bodyPr/>
          <a:lstStyle/>
          <a:p>
            <a:r>
              <a:rPr lang="en-US" dirty="0"/>
              <a:t>Housekeeping: Attendance</a:t>
            </a:r>
          </a:p>
        </p:txBody>
      </p:sp>
    </p:spTree>
    <p:extLst>
      <p:ext uri="{BB962C8B-B14F-4D97-AF65-F5344CB8AC3E}">
        <p14:creationId xmlns:p14="http://schemas.microsoft.com/office/powerpoint/2010/main" val="22189076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0132AE-C381-9E91-055A-E00AC5EC804B}"/>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49F3055-66D4-1208-583C-6EBCF7017CB2}"/>
              </a:ext>
            </a:extLst>
          </p:cNvPr>
          <p:cNvSpPr>
            <a:spLocks noGrp="1"/>
          </p:cNvSpPr>
          <p:nvPr>
            <p:ph idx="1"/>
          </p:nvPr>
        </p:nvSpPr>
        <p:spPr>
          <a:xfrm>
            <a:off x="324224" y="1404921"/>
            <a:ext cx="10654552" cy="3902185"/>
          </a:xfrm>
        </p:spPr>
        <p:txBody>
          <a:bodyPr vert="horz" lIns="91440" tIns="45720" rIns="91440" bIns="45720" rtlCol="0" anchor="t">
            <a:normAutofit/>
          </a:bodyPr>
          <a:lstStyle/>
          <a:p>
            <a:pPr marL="457200" lvl="0" indent="-342900">
              <a:spcBef>
                <a:spcPts val="0"/>
              </a:spcBef>
              <a:buSzPts val="1800"/>
              <a:buChar char="●"/>
            </a:pPr>
            <a:r>
              <a:rPr lang="en-US" b="1" dirty="0"/>
              <a:t>Questions</a:t>
            </a:r>
            <a:r>
              <a:rPr lang="en-US" dirty="0"/>
              <a:t> are very welcomed!</a:t>
            </a:r>
          </a:p>
          <a:p>
            <a:pPr marL="914400" lvl="1" indent="-317500">
              <a:spcBef>
                <a:spcPts val="0"/>
              </a:spcBef>
              <a:buSzPts val="1400"/>
              <a:buChar char="○"/>
            </a:pPr>
            <a:r>
              <a:rPr lang="en-US" dirty="0"/>
              <a:t>During class: raise your hand (or use chat for online classes).</a:t>
            </a:r>
          </a:p>
          <a:p>
            <a:pPr marL="914400" lvl="1" indent="-317500">
              <a:spcBef>
                <a:spcPts val="0"/>
              </a:spcBef>
              <a:buSzPts val="1400"/>
              <a:buChar char="○"/>
            </a:pPr>
            <a:r>
              <a:rPr lang="en-US" dirty="0"/>
              <a:t>Outside of class: use Teams DM, Q&amp;A channel, or email.</a:t>
            </a:r>
          </a:p>
          <a:p>
            <a:pPr marL="914400" lvl="1" indent="-317500">
              <a:spcBef>
                <a:spcPts val="0"/>
              </a:spcBef>
              <a:buSzPts val="1400"/>
              <a:buChar char="○"/>
            </a:pPr>
            <a:r>
              <a:rPr lang="en-US" dirty="0"/>
              <a:t>If questions are out of scope (or we're short on time) I may add them to the Parking Lot.</a:t>
            </a:r>
          </a:p>
          <a:p>
            <a:pPr marL="457200" lvl="0" indent="-342900">
              <a:spcBef>
                <a:spcPts val="0"/>
              </a:spcBef>
              <a:buSzPts val="1800"/>
              <a:buChar char="●"/>
            </a:pPr>
            <a:r>
              <a:rPr lang="en-US" dirty="0"/>
              <a:t>I strive to respond to </a:t>
            </a:r>
            <a:r>
              <a:rPr lang="en-US" b="1" dirty="0"/>
              <a:t>Emails &amp; Teams Messages </a:t>
            </a:r>
            <a:r>
              <a:rPr lang="en-US" dirty="0"/>
              <a:t>within 1-2 business days.</a:t>
            </a:r>
          </a:p>
          <a:p>
            <a:pPr marL="914400" lvl="1" indent="-317500">
              <a:spcBef>
                <a:spcPts val="0"/>
              </a:spcBef>
              <a:buSzPts val="1400"/>
              <a:buChar char="○"/>
            </a:pPr>
            <a:r>
              <a:rPr lang="en-US" dirty="0"/>
              <a:t>A clear subject line usually means a quicker response.</a:t>
            </a:r>
          </a:p>
          <a:p>
            <a:pPr marL="1371600" lvl="2" indent="-317500">
              <a:spcBef>
                <a:spcPts val="0"/>
              </a:spcBef>
              <a:buSzPts val="1400"/>
              <a:buChar char="■"/>
            </a:pPr>
            <a:r>
              <a:rPr lang="en-US" dirty="0"/>
              <a:t>e.g. "DMIT 1508 Question on Lab 1" vs "homework"</a:t>
            </a:r>
          </a:p>
        </p:txBody>
      </p:sp>
      <p:sp>
        <p:nvSpPr>
          <p:cNvPr id="5" name="Title 4">
            <a:extLst>
              <a:ext uri="{FF2B5EF4-FFF2-40B4-BE49-F238E27FC236}">
                <a16:creationId xmlns:a16="http://schemas.microsoft.com/office/drawing/2014/main" id="{3FAA0EF4-4712-42C4-49AB-9971CD081D1D}"/>
              </a:ext>
            </a:extLst>
          </p:cNvPr>
          <p:cNvSpPr>
            <a:spLocks noGrp="1"/>
          </p:cNvSpPr>
          <p:nvPr>
            <p:ph type="title"/>
          </p:nvPr>
        </p:nvSpPr>
        <p:spPr/>
        <p:txBody>
          <a:bodyPr/>
          <a:lstStyle/>
          <a:p>
            <a:r>
              <a:rPr lang="en-US" dirty="0"/>
              <a:t>Housekeeping: Communication</a:t>
            </a:r>
          </a:p>
        </p:txBody>
      </p:sp>
    </p:spTree>
    <p:extLst>
      <p:ext uri="{BB962C8B-B14F-4D97-AF65-F5344CB8AC3E}">
        <p14:creationId xmlns:p14="http://schemas.microsoft.com/office/powerpoint/2010/main" val="2522691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8D092-4FCD-44DC-0F87-0DDEB8856A33}"/>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EBFAF95A-3167-AC5F-5878-9F51F9C7246C}"/>
              </a:ext>
            </a:extLst>
          </p:cNvPr>
          <p:cNvSpPr>
            <a:spLocks noGrp="1"/>
          </p:cNvSpPr>
          <p:nvPr>
            <p:ph idx="1"/>
          </p:nvPr>
        </p:nvSpPr>
        <p:spPr>
          <a:xfrm>
            <a:off x="324224" y="1404921"/>
            <a:ext cx="10654552" cy="3902185"/>
          </a:xfrm>
        </p:spPr>
        <p:txBody>
          <a:bodyPr vert="horz" lIns="91440" tIns="45720" rIns="91440" bIns="45720" rtlCol="0" anchor="t">
            <a:normAutofit/>
          </a:bodyPr>
          <a:lstStyle/>
          <a:p>
            <a:pPr marL="457200" lvl="0" indent="-342900">
              <a:spcBef>
                <a:spcPts val="0"/>
              </a:spcBef>
              <a:buClr>
                <a:srgbClr val="424242"/>
              </a:buClr>
              <a:buSzPts val="1800"/>
              <a:buFont typeface="Quicksand"/>
              <a:buChar char="●"/>
            </a:pPr>
            <a:r>
              <a:rPr lang="en-US" dirty="0">
                <a:solidFill>
                  <a:srgbClr val="424242"/>
                </a:solidFill>
                <a:latin typeface="Quicksand"/>
                <a:ea typeface="Quicksand"/>
                <a:cs typeface="Quicksand"/>
                <a:sym typeface="Quicksand"/>
              </a:rPr>
              <a:t>Nearest exit</a:t>
            </a:r>
          </a:p>
          <a:p>
            <a:pPr marL="457200" lvl="0" indent="-342900">
              <a:spcBef>
                <a:spcPts val="0"/>
              </a:spcBef>
              <a:buClr>
                <a:srgbClr val="424242"/>
              </a:buClr>
              <a:buSzPts val="1800"/>
              <a:buFont typeface="Quicksand"/>
              <a:buChar char="●"/>
            </a:pPr>
            <a:r>
              <a:rPr lang="en-US" dirty="0">
                <a:solidFill>
                  <a:srgbClr val="424242"/>
                </a:solidFill>
                <a:latin typeface="Quicksand"/>
                <a:ea typeface="Quicksand"/>
                <a:cs typeface="Quicksand"/>
                <a:sym typeface="Quicksand"/>
              </a:rPr>
              <a:t>WCs</a:t>
            </a:r>
          </a:p>
          <a:p>
            <a:pPr marL="914400" lvl="1" indent="-317500">
              <a:spcBef>
                <a:spcPts val="0"/>
              </a:spcBef>
              <a:buClr>
                <a:srgbClr val="424242"/>
              </a:buClr>
              <a:buSzPts val="1400"/>
              <a:buFont typeface="Quicksand"/>
              <a:buChar char="○"/>
            </a:pPr>
            <a:r>
              <a:rPr lang="en-US" dirty="0">
                <a:solidFill>
                  <a:srgbClr val="424242"/>
                </a:solidFill>
                <a:latin typeface="Quicksand"/>
                <a:ea typeface="Quicksand"/>
                <a:cs typeface="Quicksand"/>
                <a:sym typeface="Quicksand"/>
              </a:rPr>
              <a:t>Men's: A and B wings</a:t>
            </a:r>
          </a:p>
          <a:p>
            <a:pPr marL="914400" lvl="1" indent="-317500">
              <a:spcBef>
                <a:spcPts val="0"/>
              </a:spcBef>
              <a:buClr>
                <a:srgbClr val="424242"/>
              </a:buClr>
              <a:buSzPts val="1400"/>
              <a:buFont typeface="Quicksand"/>
              <a:buChar char="○"/>
            </a:pPr>
            <a:r>
              <a:rPr lang="en-US" dirty="0">
                <a:solidFill>
                  <a:srgbClr val="424242"/>
                </a:solidFill>
                <a:latin typeface="Quicksand"/>
                <a:ea typeface="Quicksand"/>
                <a:cs typeface="Quicksand"/>
                <a:sym typeface="Quicksand"/>
              </a:rPr>
              <a:t>Women's: B and C wings</a:t>
            </a:r>
          </a:p>
          <a:p>
            <a:pPr marL="914400" lvl="1" indent="-317500">
              <a:spcBef>
                <a:spcPts val="0"/>
              </a:spcBef>
              <a:buClr>
                <a:srgbClr val="424242"/>
              </a:buClr>
              <a:buSzPts val="1400"/>
              <a:buFont typeface="Quicksand"/>
              <a:buChar char="○"/>
            </a:pPr>
            <a:r>
              <a:rPr lang="en-US" dirty="0">
                <a:solidFill>
                  <a:srgbClr val="424242"/>
                </a:solidFill>
                <a:latin typeface="Quicksand"/>
                <a:ea typeface="Quicksand"/>
                <a:cs typeface="Quicksand"/>
                <a:sym typeface="Quicksand"/>
              </a:rPr>
              <a:t>Gender-inclusive: 1st floor (W106)</a:t>
            </a:r>
            <a:endParaRPr lang="en-US" dirty="0"/>
          </a:p>
        </p:txBody>
      </p:sp>
      <p:sp>
        <p:nvSpPr>
          <p:cNvPr id="5" name="Title 4">
            <a:extLst>
              <a:ext uri="{FF2B5EF4-FFF2-40B4-BE49-F238E27FC236}">
                <a16:creationId xmlns:a16="http://schemas.microsoft.com/office/drawing/2014/main" id="{0C8410A6-F150-C877-2555-EA302EB961BA}"/>
              </a:ext>
            </a:extLst>
          </p:cNvPr>
          <p:cNvSpPr>
            <a:spLocks noGrp="1"/>
          </p:cNvSpPr>
          <p:nvPr>
            <p:ph type="title"/>
          </p:nvPr>
        </p:nvSpPr>
        <p:spPr/>
        <p:txBody>
          <a:bodyPr/>
          <a:lstStyle/>
          <a:p>
            <a:r>
              <a:rPr lang="en-US" dirty="0"/>
              <a:t>Housekeeping: In-Person Logistics</a:t>
            </a:r>
          </a:p>
        </p:txBody>
      </p:sp>
    </p:spTree>
    <p:extLst>
      <p:ext uri="{BB962C8B-B14F-4D97-AF65-F5344CB8AC3E}">
        <p14:creationId xmlns:p14="http://schemas.microsoft.com/office/powerpoint/2010/main" val="3772893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E9E44-68C9-ABFB-A897-8C8A9E8CF639}"/>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5C37A30F-6C45-0AE2-162F-2B662C97D951}"/>
              </a:ext>
            </a:extLst>
          </p:cNvPr>
          <p:cNvSpPr>
            <a:spLocks noGrp="1"/>
          </p:cNvSpPr>
          <p:nvPr>
            <p:ph idx="1"/>
          </p:nvPr>
        </p:nvSpPr>
        <p:spPr>
          <a:xfrm>
            <a:off x="324224" y="1404921"/>
            <a:ext cx="10654552" cy="3902185"/>
          </a:xfrm>
        </p:spPr>
        <p:txBody>
          <a:bodyPr vert="horz" lIns="91440" tIns="45720" rIns="91440" bIns="45720" rtlCol="0" anchor="t">
            <a:normAutofit fontScale="92500" lnSpcReduction="10000"/>
          </a:bodyPr>
          <a:lstStyle/>
          <a:p>
            <a:pPr marL="457200" lvl="0" indent="-317500">
              <a:spcBef>
                <a:spcPts val="0"/>
              </a:spcBef>
              <a:buSzPts val="1400"/>
              <a:buChar char="●"/>
            </a:pPr>
            <a:r>
              <a:rPr lang="en-CA" u="sng" dirty="0">
                <a:hlinkClick r:id="rId3"/>
              </a:rPr>
              <a:t>Tutoring &amp; accommodations</a:t>
            </a:r>
            <a:endParaRPr lang="en-CA" u="sng" dirty="0"/>
          </a:p>
          <a:p>
            <a:pPr marL="457200" lvl="0" indent="-317500">
              <a:spcBef>
                <a:spcPts val="0"/>
              </a:spcBef>
              <a:buSzPts val="1400"/>
              <a:buChar char="●"/>
            </a:pPr>
            <a:r>
              <a:rPr lang="en-CA" u="sng" dirty="0">
                <a:hlinkClick r:id="rId4"/>
              </a:rPr>
              <a:t>Student rights &amp; responsibilities</a:t>
            </a:r>
            <a:endParaRPr lang="en-CA" u="sng" dirty="0"/>
          </a:p>
          <a:p>
            <a:pPr marL="457200" lvl="0" indent="-317500">
              <a:spcBef>
                <a:spcPts val="0"/>
              </a:spcBef>
              <a:buSzPts val="1400"/>
              <a:buChar char="●"/>
            </a:pPr>
            <a:r>
              <a:rPr lang="en-CA" u="sng" dirty="0">
                <a:hlinkClick r:id="rId5"/>
              </a:rPr>
              <a:t>Counselling</a:t>
            </a:r>
            <a:endParaRPr lang="en-CA" u="sng" dirty="0"/>
          </a:p>
          <a:p>
            <a:pPr marL="457200" lvl="0" indent="-317500">
              <a:spcBef>
                <a:spcPts val="0"/>
              </a:spcBef>
              <a:buSzPts val="1400"/>
              <a:buChar char="●"/>
            </a:pPr>
            <a:r>
              <a:rPr lang="en-CA" u="sng" dirty="0">
                <a:hlinkClick r:id="rId6"/>
              </a:rPr>
              <a:t>Mental health</a:t>
            </a:r>
            <a:endParaRPr lang="en-CA" u="sng" dirty="0"/>
          </a:p>
          <a:p>
            <a:pPr marL="457200" lvl="0" indent="-317500">
              <a:spcBef>
                <a:spcPts val="0"/>
              </a:spcBef>
              <a:buSzPts val="1400"/>
              <a:buChar char="●"/>
            </a:pPr>
            <a:r>
              <a:rPr lang="en-CA" u="sng" dirty="0">
                <a:hlinkClick r:id="rId7"/>
              </a:rPr>
              <a:t>Spiritual well-being</a:t>
            </a:r>
            <a:endParaRPr lang="en-CA" u="sng" dirty="0"/>
          </a:p>
          <a:p>
            <a:pPr marL="457200" lvl="0" indent="-317500">
              <a:spcBef>
                <a:spcPts val="0"/>
              </a:spcBef>
              <a:buSzPts val="1400"/>
              <a:buChar char="●"/>
            </a:pPr>
            <a:r>
              <a:rPr lang="en-CA" u="sng" dirty="0">
                <a:hlinkClick r:id="rId8"/>
              </a:rPr>
              <a:t>International centre</a:t>
            </a:r>
            <a:endParaRPr lang="en-CA" u="sng" dirty="0"/>
          </a:p>
          <a:p>
            <a:pPr marL="457200" lvl="0" indent="-317500">
              <a:spcBef>
                <a:spcPts val="0"/>
              </a:spcBef>
              <a:buSzPts val="1400"/>
              <a:buChar char="●"/>
            </a:pPr>
            <a:r>
              <a:rPr lang="en-CA" u="sng" dirty="0" err="1">
                <a:hlinkClick r:id="rId9"/>
              </a:rPr>
              <a:t>Nîsôhkamâtotân</a:t>
            </a:r>
            <a:r>
              <a:rPr lang="en-CA" u="sng" dirty="0">
                <a:hlinkClick r:id="rId9"/>
              </a:rPr>
              <a:t> Centre</a:t>
            </a:r>
            <a:r>
              <a:rPr lang="en-CA" u="sng" dirty="0"/>
              <a:t> </a:t>
            </a:r>
          </a:p>
          <a:p>
            <a:pPr marL="457200" lvl="0" indent="-317500">
              <a:spcBef>
                <a:spcPts val="0"/>
              </a:spcBef>
              <a:buSzPts val="1400"/>
              <a:buChar char="●"/>
            </a:pPr>
            <a:r>
              <a:rPr lang="en-CA" u="sng" dirty="0">
                <a:hlinkClick r:id="rId10"/>
              </a:rPr>
              <a:t>2SLGBTQIA+ Students</a:t>
            </a:r>
            <a:r>
              <a:rPr lang="en-CA" u="sng" dirty="0"/>
              <a:t> </a:t>
            </a:r>
          </a:p>
          <a:p>
            <a:pPr marL="457200" lvl="0" indent="-317500">
              <a:spcBef>
                <a:spcPts val="0"/>
              </a:spcBef>
              <a:buSzPts val="1400"/>
              <a:buChar char="●"/>
            </a:pPr>
            <a:r>
              <a:rPr lang="en-CA" u="sng" dirty="0">
                <a:hlinkClick r:id="rId11"/>
              </a:rPr>
              <a:t>Scholarships</a:t>
            </a:r>
            <a:endParaRPr lang="en-CA" u="sng" dirty="0"/>
          </a:p>
          <a:p>
            <a:pPr marL="457200" lvl="0" indent="-317500">
              <a:spcBef>
                <a:spcPts val="0"/>
              </a:spcBef>
              <a:buSzPts val="1400"/>
              <a:buChar char="●"/>
            </a:pPr>
            <a:r>
              <a:rPr lang="en-CA" u="sng" dirty="0">
                <a:hlinkClick r:id="rId12"/>
              </a:rPr>
              <a:t>Financial Aid</a:t>
            </a:r>
            <a:r>
              <a:rPr lang="en-CA" u="sng" dirty="0"/>
              <a:t> </a:t>
            </a:r>
          </a:p>
          <a:p>
            <a:pPr marL="457200" lvl="0" indent="-317500">
              <a:spcBef>
                <a:spcPts val="0"/>
              </a:spcBef>
              <a:buSzPts val="1400"/>
              <a:buChar char="●"/>
            </a:pPr>
            <a:r>
              <a:rPr lang="en-CA" u="sng" dirty="0">
                <a:hlinkClick r:id="rId13"/>
              </a:rPr>
              <a:t>Job postings</a:t>
            </a:r>
            <a:endParaRPr lang="en-CA" u="sng" dirty="0"/>
          </a:p>
          <a:p>
            <a:pPr marL="457200" lvl="0" indent="-317500">
              <a:spcBef>
                <a:spcPts val="0"/>
              </a:spcBef>
              <a:buSzPts val="1400"/>
              <a:buChar char="●"/>
            </a:pPr>
            <a:r>
              <a:rPr lang="en-CA" u="sng" dirty="0">
                <a:hlinkClick r:id="rId14"/>
              </a:rPr>
              <a:t>NAITSA events</a:t>
            </a:r>
            <a:endParaRPr lang="en-CA" u="sng" dirty="0"/>
          </a:p>
        </p:txBody>
      </p:sp>
      <p:sp>
        <p:nvSpPr>
          <p:cNvPr id="5" name="Title 4">
            <a:extLst>
              <a:ext uri="{FF2B5EF4-FFF2-40B4-BE49-F238E27FC236}">
                <a16:creationId xmlns:a16="http://schemas.microsoft.com/office/drawing/2014/main" id="{2475143A-808E-FA7C-99C0-8DC4E42FA09D}"/>
              </a:ext>
            </a:extLst>
          </p:cNvPr>
          <p:cNvSpPr>
            <a:spLocks noGrp="1"/>
          </p:cNvSpPr>
          <p:nvPr>
            <p:ph type="title"/>
          </p:nvPr>
        </p:nvSpPr>
        <p:spPr/>
        <p:txBody>
          <a:bodyPr/>
          <a:lstStyle/>
          <a:p>
            <a:r>
              <a:rPr lang="en-US" dirty="0"/>
              <a:t>NAIT Resources</a:t>
            </a:r>
          </a:p>
        </p:txBody>
      </p:sp>
    </p:spTree>
    <p:extLst>
      <p:ext uri="{BB962C8B-B14F-4D97-AF65-F5344CB8AC3E}">
        <p14:creationId xmlns:p14="http://schemas.microsoft.com/office/powerpoint/2010/main" val="552106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79325-0D04-B333-5B82-AD71BAA7CC56}"/>
            </a:ext>
          </a:extLst>
        </p:cNvPr>
        <p:cNvGrpSpPr/>
        <p:nvPr/>
      </p:nvGrpSpPr>
      <p:grpSpPr>
        <a:xfrm>
          <a:off x="0" y="0"/>
          <a:ext cx="0" cy="0"/>
          <a:chOff x="0" y="0"/>
          <a:chExt cx="0" cy="0"/>
        </a:xfrm>
      </p:grpSpPr>
      <p:sp>
        <p:nvSpPr>
          <p:cNvPr id="4" name="Content Placeholder 3">
            <a:extLst>
              <a:ext uri="{FF2B5EF4-FFF2-40B4-BE49-F238E27FC236}">
                <a16:creationId xmlns:a16="http://schemas.microsoft.com/office/drawing/2014/main" id="{A97FC53B-6A2F-256D-3FCA-1386620E9BE6}"/>
              </a:ext>
            </a:extLst>
          </p:cNvPr>
          <p:cNvSpPr>
            <a:spLocks noGrp="1"/>
          </p:cNvSpPr>
          <p:nvPr>
            <p:ph idx="1"/>
          </p:nvPr>
        </p:nvSpPr>
        <p:spPr>
          <a:xfrm>
            <a:off x="324224" y="1404921"/>
            <a:ext cx="10654552" cy="3902185"/>
          </a:xfrm>
        </p:spPr>
        <p:txBody>
          <a:bodyPr vert="horz" lIns="91440" tIns="45720" rIns="91440" bIns="45720" rtlCol="0" anchor="t">
            <a:normAutofit fontScale="92500" lnSpcReduction="10000"/>
          </a:bodyPr>
          <a:lstStyle/>
          <a:p>
            <a:pPr marL="457200" lvl="0" indent="-317500">
              <a:spcBef>
                <a:spcPts val="0"/>
              </a:spcBef>
              <a:buSzPts val="1400"/>
              <a:buChar char="●"/>
            </a:pPr>
            <a:r>
              <a:rPr lang="en-CA" u="sng" dirty="0">
                <a:hlinkClick r:id="rId3"/>
              </a:rPr>
              <a:t>Tutoring &amp; accommodations</a:t>
            </a:r>
            <a:endParaRPr lang="en-CA" u="sng" dirty="0"/>
          </a:p>
          <a:p>
            <a:pPr marL="457200" lvl="0" indent="-317500">
              <a:spcBef>
                <a:spcPts val="0"/>
              </a:spcBef>
              <a:buSzPts val="1400"/>
              <a:buChar char="●"/>
            </a:pPr>
            <a:r>
              <a:rPr lang="en-CA" u="sng" dirty="0">
                <a:hlinkClick r:id="rId4"/>
              </a:rPr>
              <a:t>Student rights &amp; responsibilities</a:t>
            </a:r>
            <a:endParaRPr lang="en-CA" u="sng" dirty="0"/>
          </a:p>
          <a:p>
            <a:pPr marL="457200" lvl="0" indent="-317500">
              <a:spcBef>
                <a:spcPts val="0"/>
              </a:spcBef>
              <a:buSzPts val="1400"/>
              <a:buChar char="●"/>
            </a:pPr>
            <a:r>
              <a:rPr lang="en-CA" u="sng" dirty="0">
                <a:hlinkClick r:id="rId5"/>
              </a:rPr>
              <a:t>Counselling</a:t>
            </a:r>
            <a:endParaRPr lang="en-CA" u="sng" dirty="0"/>
          </a:p>
          <a:p>
            <a:pPr marL="457200" lvl="0" indent="-317500">
              <a:spcBef>
                <a:spcPts val="0"/>
              </a:spcBef>
              <a:buSzPts val="1400"/>
              <a:buChar char="●"/>
            </a:pPr>
            <a:r>
              <a:rPr lang="en-CA" u="sng" dirty="0">
                <a:hlinkClick r:id="rId6"/>
              </a:rPr>
              <a:t>Mental health</a:t>
            </a:r>
            <a:endParaRPr lang="en-CA" u="sng" dirty="0"/>
          </a:p>
          <a:p>
            <a:pPr marL="457200" lvl="0" indent="-317500">
              <a:spcBef>
                <a:spcPts val="0"/>
              </a:spcBef>
              <a:buSzPts val="1400"/>
              <a:buChar char="●"/>
            </a:pPr>
            <a:r>
              <a:rPr lang="en-CA" u="sng" dirty="0">
                <a:hlinkClick r:id="rId7"/>
              </a:rPr>
              <a:t>Spiritual well-being</a:t>
            </a:r>
            <a:endParaRPr lang="en-CA" u="sng" dirty="0"/>
          </a:p>
          <a:p>
            <a:pPr marL="457200" lvl="0" indent="-317500">
              <a:spcBef>
                <a:spcPts val="0"/>
              </a:spcBef>
              <a:buSzPts val="1400"/>
              <a:buChar char="●"/>
            </a:pPr>
            <a:r>
              <a:rPr lang="en-CA" u="sng" dirty="0">
                <a:hlinkClick r:id="rId8"/>
              </a:rPr>
              <a:t>International centre</a:t>
            </a:r>
            <a:endParaRPr lang="en-CA" u="sng" dirty="0"/>
          </a:p>
          <a:p>
            <a:pPr marL="457200" lvl="0" indent="-317500">
              <a:spcBef>
                <a:spcPts val="0"/>
              </a:spcBef>
              <a:buSzPts val="1400"/>
              <a:buChar char="●"/>
            </a:pPr>
            <a:r>
              <a:rPr lang="en-CA" u="sng" dirty="0" err="1">
                <a:hlinkClick r:id="rId9"/>
              </a:rPr>
              <a:t>Nîsôhkamâtotân</a:t>
            </a:r>
            <a:r>
              <a:rPr lang="en-CA" u="sng" dirty="0">
                <a:hlinkClick r:id="rId9"/>
              </a:rPr>
              <a:t> Centre</a:t>
            </a:r>
            <a:r>
              <a:rPr lang="en-CA" u="sng" dirty="0"/>
              <a:t> </a:t>
            </a:r>
          </a:p>
          <a:p>
            <a:pPr marL="457200" lvl="0" indent="-317500">
              <a:spcBef>
                <a:spcPts val="0"/>
              </a:spcBef>
              <a:buSzPts val="1400"/>
              <a:buChar char="●"/>
            </a:pPr>
            <a:r>
              <a:rPr lang="en-CA" u="sng" dirty="0">
                <a:hlinkClick r:id="rId10"/>
              </a:rPr>
              <a:t>2SLGBTQIA+ Students</a:t>
            </a:r>
            <a:r>
              <a:rPr lang="en-CA" u="sng" dirty="0"/>
              <a:t> </a:t>
            </a:r>
          </a:p>
          <a:p>
            <a:pPr marL="457200" lvl="0" indent="-317500">
              <a:spcBef>
                <a:spcPts val="0"/>
              </a:spcBef>
              <a:buSzPts val="1400"/>
              <a:buChar char="●"/>
            </a:pPr>
            <a:r>
              <a:rPr lang="en-CA" u="sng" dirty="0">
                <a:hlinkClick r:id="rId11"/>
              </a:rPr>
              <a:t>Scholarships</a:t>
            </a:r>
            <a:endParaRPr lang="en-CA" u="sng" dirty="0"/>
          </a:p>
          <a:p>
            <a:pPr marL="457200" lvl="0" indent="-317500">
              <a:spcBef>
                <a:spcPts val="0"/>
              </a:spcBef>
              <a:buSzPts val="1400"/>
              <a:buChar char="●"/>
            </a:pPr>
            <a:r>
              <a:rPr lang="en-CA" u="sng" dirty="0">
                <a:hlinkClick r:id="rId12"/>
              </a:rPr>
              <a:t>Financial Aid</a:t>
            </a:r>
            <a:r>
              <a:rPr lang="en-CA" u="sng" dirty="0"/>
              <a:t> </a:t>
            </a:r>
          </a:p>
          <a:p>
            <a:pPr marL="457200" lvl="0" indent="-317500">
              <a:spcBef>
                <a:spcPts val="0"/>
              </a:spcBef>
              <a:buSzPts val="1400"/>
              <a:buChar char="●"/>
            </a:pPr>
            <a:r>
              <a:rPr lang="en-CA" u="sng" dirty="0">
                <a:hlinkClick r:id="rId13"/>
              </a:rPr>
              <a:t>Job postings</a:t>
            </a:r>
            <a:endParaRPr lang="en-CA" u="sng" dirty="0"/>
          </a:p>
          <a:p>
            <a:pPr marL="457200" lvl="0" indent="-317500">
              <a:spcBef>
                <a:spcPts val="0"/>
              </a:spcBef>
              <a:buSzPts val="1400"/>
              <a:buChar char="●"/>
            </a:pPr>
            <a:r>
              <a:rPr lang="en-CA" u="sng" dirty="0">
                <a:hlinkClick r:id="rId14"/>
              </a:rPr>
              <a:t>NAITSA events</a:t>
            </a:r>
            <a:endParaRPr lang="en-CA" u="sng" dirty="0"/>
          </a:p>
        </p:txBody>
      </p:sp>
      <p:sp>
        <p:nvSpPr>
          <p:cNvPr id="5" name="Title 4">
            <a:extLst>
              <a:ext uri="{FF2B5EF4-FFF2-40B4-BE49-F238E27FC236}">
                <a16:creationId xmlns:a16="http://schemas.microsoft.com/office/drawing/2014/main" id="{0936F9B3-8E46-B5DA-9EA2-4B383B4802B5}"/>
              </a:ext>
            </a:extLst>
          </p:cNvPr>
          <p:cNvSpPr>
            <a:spLocks noGrp="1"/>
          </p:cNvSpPr>
          <p:nvPr>
            <p:ph type="title"/>
          </p:nvPr>
        </p:nvSpPr>
        <p:spPr/>
        <p:txBody>
          <a:bodyPr/>
          <a:lstStyle/>
          <a:p>
            <a:r>
              <a:rPr lang="en-US" dirty="0"/>
              <a:t>NAIT Resources</a:t>
            </a:r>
          </a:p>
        </p:txBody>
      </p:sp>
    </p:spTree>
    <p:extLst>
      <p:ext uri="{BB962C8B-B14F-4D97-AF65-F5344CB8AC3E}">
        <p14:creationId xmlns:p14="http://schemas.microsoft.com/office/powerpoint/2010/main" val="1938176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55E6A14-155D-4C3F-A116-6D5A99418660}"/>
              </a:ext>
            </a:extLst>
          </p:cNvPr>
          <p:cNvSpPr>
            <a:spLocks noGrp="1"/>
          </p:cNvSpPr>
          <p:nvPr>
            <p:ph type="body" sz="quarter" idx="10"/>
          </p:nvPr>
        </p:nvSpPr>
        <p:spPr>
          <a:xfrm>
            <a:off x="2255908" y="3045791"/>
            <a:ext cx="7475920" cy="928687"/>
          </a:xfrm>
        </p:spPr>
        <p:txBody>
          <a:bodyPr>
            <a:normAutofit/>
          </a:bodyPr>
          <a:lstStyle/>
          <a:p>
            <a:r>
              <a:rPr lang="en-US" dirty="0"/>
              <a:t>About the Course</a:t>
            </a:r>
          </a:p>
        </p:txBody>
      </p:sp>
    </p:spTree>
    <p:extLst>
      <p:ext uri="{BB962C8B-B14F-4D97-AF65-F5344CB8AC3E}">
        <p14:creationId xmlns:p14="http://schemas.microsoft.com/office/powerpoint/2010/main" val="23999717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6B10C-7635-4DB1-B3BF-5FEEF30C20CC}"/>
              </a:ext>
            </a:extLst>
          </p:cNvPr>
          <p:cNvSpPr>
            <a:spLocks noGrp="1"/>
          </p:cNvSpPr>
          <p:nvPr>
            <p:ph type="title"/>
          </p:nvPr>
        </p:nvSpPr>
        <p:spPr/>
        <p:txBody>
          <a:bodyPr/>
          <a:lstStyle/>
          <a:p>
            <a:r>
              <a:rPr lang="en-US" b="1" dirty="0">
                <a:solidFill>
                  <a:schemeClr val="accent2"/>
                </a:solidFill>
              </a:rPr>
              <a:t>Brightspace Tour</a:t>
            </a:r>
          </a:p>
        </p:txBody>
      </p:sp>
      <p:sp>
        <p:nvSpPr>
          <p:cNvPr id="3" name="Content Placeholder 2">
            <a:extLst>
              <a:ext uri="{FF2B5EF4-FFF2-40B4-BE49-F238E27FC236}">
                <a16:creationId xmlns:a16="http://schemas.microsoft.com/office/drawing/2014/main" id="{D2D004A6-DCC7-43AF-B5D8-276335C1C8BD}"/>
              </a:ext>
            </a:extLst>
          </p:cNvPr>
          <p:cNvSpPr>
            <a:spLocks noGrp="1"/>
          </p:cNvSpPr>
          <p:nvPr>
            <p:ph idx="1"/>
          </p:nvPr>
        </p:nvSpPr>
        <p:spPr/>
        <p:txBody>
          <a:bodyPr>
            <a:normAutofit/>
          </a:bodyPr>
          <a:lstStyle/>
          <a:p>
            <a:pPr marL="457200" lvl="0" indent="-342900">
              <a:spcBef>
                <a:spcPts val="0"/>
              </a:spcBef>
              <a:buSzPts val="1800"/>
              <a:buChar char="●"/>
            </a:pPr>
            <a:r>
              <a:rPr lang="en-CA" dirty="0"/>
              <a:t>Course Info</a:t>
            </a:r>
          </a:p>
          <a:p>
            <a:pPr marL="914400" lvl="1" indent="-317500">
              <a:spcBef>
                <a:spcPts val="0"/>
              </a:spcBef>
              <a:buSzPts val="1400"/>
              <a:buChar char="○"/>
            </a:pPr>
            <a:r>
              <a:rPr lang="en-CA" dirty="0"/>
              <a:t>Course Outline</a:t>
            </a:r>
          </a:p>
          <a:p>
            <a:pPr marL="914400" lvl="1" indent="-317500">
              <a:spcBef>
                <a:spcPts val="0"/>
              </a:spcBef>
              <a:buSzPts val="1400"/>
              <a:buChar char="○"/>
            </a:pPr>
            <a:r>
              <a:rPr lang="en-CA" dirty="0"/>
              <a:t>Syllabus</a:t>
            </a:r>
          </a:p>
          <a:p>
            <a:pPr marL="914400" lvl="1" indent="-317500">
              <a:spcBef>
                <a:spcPts val="0"/>
              </a:spcBef>
              <a:buSzPts val="1400"/>
              <a:buChar char="○"/>
            </a:pPr>
            <a:r>
              <a:rPr lang="en-CA" dirty="0"/>
              <a:t>Calendar</a:t>
            </a:r>
          </a:p>
          <a:p>
            <a:pPr marL="457200" lvl="0" indent="-342900">
              <a:spcBef>
                <a:spcPts val="0"/>
              </a:spcBef>
              <a:buSzPts val="1800"/>
              <a:buChar char="●"/>
            </a:pPr>
            <a:r>
              <a:rPr lang="en-CA" dirty="0"/>
              <a:t>Resources</a:t>
            </a:r>
          </a:p>
          <a:p>
            <a:pPr marL="914400" lvl="1" indent="-317500">
              <a:spcBef>
                <a:spcPts val="0"/>
              </a:spcBef>
              <a:buSzPts val="1400"/>
              <a:buChar char="○"/>
            </a:pPr>
            <a:r>
              <a:rPr lang="en-CA" dirty="0"/>
              <a:t>Lesson Slides</a:t>
            </a:r>
          </a:p>
          <a:p>
            <a:pPr marL="914400" lvl="1" indent="-317500">
              <a:spcBef>
                <a:spcPts val="0"/>
              </a:spcBef>
              <a:buSzPts val="1400"/>
              <a:buChar char="○"/>
            </a:pPr>
            <a:r>
              <a:rPr lang="en-CA" dirty="0"/>
              <a:t>Class Examples</a:t>
            </a:r>
          </a:p>
          <a:p>
            <a:pPr marL="914400" lvl="1" indent="-317500">
              <a:spcBef>
                <a:spcPts val="0"/>
              </a:spcBef>
              <a:buSzPts val="1400"/>
              <a:buChar char="○"/>
            </a:pPr>
            <a:r>
              <a:rPr lang="en-CA" dirty="0"/>
              <a:t>GitHub page</a:t>
            </a:r>
          </a:p>
          <a:p>
            <a:pPr marL="914400" lvl="1" indent="-317500">
              <a:spcBef>
                <a:spcPts val="0"/>
              </a:spcBef>
              <a:buSzPts val="1400"/>
              <a:buChar char="○"/>
            </a:pPr>
            <a:r>
              <a:rPr lang="en-CA" dirty="0"/>
              <a:t>Readings &amp; Exercises</a:t>
            </a:r>
            <a:endParaRPr lang="en-US" dirty="0"/>
          </a:p>
        </p:txBody>
      </p:sp>
    </p:spTree>
    <p:extLst>
      <p:ext uri="{BB962C8B-B14F-4D97-AF65-F5344CB8AC3E}">
        <p14:creationId xmlns:p14="http://schemas.microsoft.com/office/powerpoint/2010/main" val="2302112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fade">
                                      <p:cBhvr>
                                        <p:cTn id="10" dur="500"/>
                                        <p:tgtEl>
                                          <p:spTgt spid="3">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Effect transition="in" filter="fade">
                                      <p:cBhvr>
                                        <p:cTn id="13" dur="500"/>
                                        <p:tgtEl>
                                          <p:spTgt spid="3">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
                                            <p:txEl>
                                              <p:pRg st="3" end="3"/>
                                            </p:txEl>
                                          </p:spTgt>
                                        </p:tgtEl>
                                        <p:attrNameLst>
                                          <p:attrName>style.visibility</p:attrName>
                                        </p:attrNameLst>
                                      </p:cBhvr>
                                      <p:to>
                                        <p:strVal val="visible"/>
                                      </p:to>
                                    </p:set>
                                    <p:animEffect transition="in" filter="fade">
                                      <p:cBhvr>
                                        <p:cTn id="16" dur="500"/>
                                        <p:tgtEl>
                                          <p:spTgt spid="3">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500"/>
                                        <p:tgtEl>
                                          <p:spTgt spid="3">
                                            <p:txEl>
                                              <p:pRg st="4" end="4"/>
                                            </p:txEl>
                                          </p:spTgt>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Effect transition="in" filter="fade">
                                      <p:cBhvr>
                                        <p:cTn id="24" dur="500"/>
                                        <p:tgtEl>
                                          <p:spTgt spid="3">
                                            <p:txEl>
                                              <p:pRg st="5" end="5"/>
                                            </p:txEl>
                                          </p:spTgt>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animEffect transition="in" filter="fade">
                                      <p:cBhvr>
                                        <p:cTn id="27" dur="500"/>
                                        <p:tgtEl>
                                          <p:spTgt spid="3">
                                            <p:txEl>
                                              <p:pRg st="6" end="6"/>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7" end="7"/>
                                            </p:txEl>
                                          </p:spTgt>
                                        </p:tgtEl>
                                        <p:attrNameLst>
                                          <p:attrName>style.visibility</p:attrName>
                                        </p:attrNameLst>
                                      </p:cBhvr>
                                      <p:to>
                                        <p:strVal val="visible"/>
                                      </p:to>
                                    </p:set>
                                    <p:animEffect transition="in" filter="fade">
                                      <p:cBhvr>
                                        <p:cTn id="30" dur="500"/>
                                        <p:tgtEl>
                                          <p:spTgt spid="3">
                                            <p:txEl>
                                              <p:pRg st="7" end="7"/>
                                            </p:txEl>
                                          </p:spTgt>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3">
                                            <p:txEl>
                                              <p:pRg st="8" end="8"/>
                                            </p:txEl>
                                          </p:spTgt>
                                        </p:tgtEl>
                                        <p:attrNameLst>
                                          <p:attrName>style.visibility</p:attrName>
                                        </p:attrNameLst>
                                      </p:cBhvr>
                                      <p:to>
                                        <p:strVal val="visible"/>
                                      </p:to>
                                    </p:set>
                                    <p:animEffect transition="in" filter="fade">
                                      <p:cBhvr>
                                        <p:cTn id="33"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8147F-68C0-8350-EE11-B6474B1B07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49238D-3096-9A89-4B4F-813741563D14}"/>
              </a:ext>
            </a:extLst>
          </p:cNvPr>
          <p:cNvSpPr>
            <a:spLocks noGrp="1"/>
          </p:cNvSpPr>
          <p:nvPr>
            <p:ph type="title"/>
          </p:nvPr>
        </p:nvSpPr>
        <p:spPr/>
        <p:txBody>
          <a:bodyPr/>
          <a:lstStyle/>
          <a:p>
            <a:r>
              <a:rPr lang="en-US" b="1" dirty="0">
                <a:solidFill>
                  <a:schemeClr val="accent2"/>
                </a:solidFill>
              </a:rPr>
              <a:t>Assessments</a:t>
            </a:r>
          </a:p>
        </p:txBody>
      </p:sp>
      <p:sp>
        <p:nvSpPr>
          <p:cNvPr id="3" name="Content Placeholder 2">
            <a:extLst>
              <a:ext uri="{FF2B5EF4-FFF2-40B4-BE49-F238E27FC236}">
                <a16:creationId xmlns:a16="http://schemas.microsoft.com/office/drawing/2014/main" id="{CAA157A2-4663-1B9A-CB78-D09BA8EA4C6F}"/>
              </a:ext>
            </a:extLst>
          </p:cNvPr>
          <p:cNvSpPr>
            <a:spLocks noGrp="1"/>
          </p:cNvSpPr>
          <p:nvPr>
            <p:ph idx="1"/>
          </p:nvPr>
        </p:nvSpPr>
        <p:spPr>
          <a:xfrm>
            <a:off x="324223" y="1795742"/>
            <a:ext cx="11584747" cy="3511364"/>
          </a:xfrm>
        </p:spPr>
        <p:txBody>
          <a:bodyPr>
            <a:normAutofit lnSpcReduction="10000"/>
          </a:bodyPr>
          <a:lstStyle/>
          <a:p>
            <a:pPr marL="0" lvl="0" indent="0">
              <a:spcBef>
                <a:spcPts val="0"/>
              </a:spcBef>
              <a:buNone/>
            </a:pPr>
            <a:r>
              <a:rPr lang="en-US" dirty="0"/>
              <a:t>Most of graded assessments in this course are </a:t>
            </a:r>
            <a:r>
              <a:rPr lang="en-US" b="1" dirty="0"/>
              <a:t>individual</a:t>
            </a:r>
            <a:r>
              <a:rPr lang="en-US" dirty="0"/>
              <a:t>. Any collaboration or duplicate submissions will be granted a score of zero &amp; reported to NAIT.</a:t>
            </a:r>
          </a:p>
          <a:p>
            <a:pPr marL="457200" lvl="0" indent="-342900">
              <a:spcBef>
                <a:spcPts val="1600"/>
              </a:spcBef>
              <a:buSzPts val="1800"/>
              <a:buChar char="●"/>
            </a:pPr>
            <a:r>
              <a:rPr lang="en-US" dirty="0"/>
              <a:t>4 Take-Home Assignment </a:t>
            </a:r>
          </a:p>
          <a:p>
            <a:pPr marL="457200" lvl="0" indent="-342900">
              <a:spcBef>
                <a:spcPts val="1600"/>
              </a:spcBef>
              <a:buSzPts val="1800"/>
              <a:buChar char="●"/>
            </a:pPr>
            <a:r>
              <a:rPr lang="en-US" dirty="0"/>
              <a:t>1 Final Group Presentation </a:t>
            </a:r>
          </a:p>
          <a:p>
            <a:pPr marL="457200" lvl="0" indent="-342900">
              <a:spcBef>
                <a:spcPts val="1600"/>
              </a:spcBef>
              <a:buSzPts val="1800"/>
              <a:buChar char="●"/>
            </a:pPr>
            <a:r>
              <a:rPr lang="en-US" dirty="0"/>
              <a:t>4 Quizzes</a:t>
            </a:r>
          </a:p>
          <a:p>
            <a:pPr marL="914400" lvl="1" indent="-317500">
              <a:spcBef>
                <a:spcPts val="0"/>
              </a:spcBef>
              <a:buSzPts val="1400"/>
              <a:buChar char="○"/>
            </a:pPr>
            <a:r>
              <a:rPr lang="en-US" dirty="0"/>
              <a:t>The quizzes in this class are timed. If you require additional time or other accommodations, please contact </a:t>
            </a:r>
            <a:r>
              <a:rPr lang="en-US" u="sng" dirty="0">
                <a:solidFill>
                  <a:schemeClr val="hlink"/>
                </a:solidFill>
                <a:hlinkClick r:id="rId3"/>
              </a:rPr>
              <a:t>learningservices.nait.ca</a:t>
            </a:r>
            <a:r>
              <a:rPr lang="en-US" dirty="0"/>
              <a:t>.</a:t>
            </a:r>
          </a:p>
        </p:txBody>
      </p:sp>
    </p:spTree>
    <p:extLst>
      <p:ext uri="{BB962C8B-B14F-4D97-AF65-F5344CB8AC3E}">
        <p14:creationId xmlns:p14="http://schemas.microsoft.com/office/powerpoint/2010/main" val="2945939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fade">
                                      <p:cBhvr>
                                        <p:cTn id="25"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733DBF-51CF-D1A9-75F9-8BD3BB4FF7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319EBB-95A1-1575-9F04-CF67F4AAFD7C}"/>
              </a:ext>
            </a:extLst>
          </p:cNvPr>
          <p:cNvSpPr>
            <a:spLocks noGrp="1"/>
          </p:cNvSpPr>
          <p:nvPr>
            <p:ph type="title"/>
          </p:nvPr>
        </p:nvSpPr>
        <p:spPr/>
        <p:txBody>
          <a:bodyPr/>
          <a:lstStyle/>
          <a:p>
            <a:r>
              <a:rPr lang="en-US" b="1" dirty="0">
                <a:solidFill>
                  <a:schemeClr val="accent2"/>
                </a:solidFill>
              </a:rPr>
              <a:t>Assessments</a:t>
            </a:r>
          </a:p>
        </p:txBody>
      </p:sp>
      <p:sp>
        <p:nvSpPr>
          <p:cNvPr id="3" name="Content Placeholder 2">
            <a:extLst>
              <a:ext uri="{FF2B5EF4-FFF2-40B4-BE49-F238E27FC236}">
                <a16:creationId xmlns:a16="http://schemas.microsoft.com/office/drawing/2014/main" id="{41141D9A-6EF1-5301-DEEC-7C588EAE9531}"/>
              </a:ext>
            </a:extLst>
          </p:cNvPr>
          <p:cNvSpPr>
            <a:spLocks noGrp="1"/>
          </p:cNvSpPr>
          <p:nvPr>
            <p:ph idx="1"/>
          </p:nvPr>
        </p:nvSpPr>
        <p:spPr>
          <a:xfrm>
            <a:off x="324223" y="1795742"/>
            <a:ext cx="10768319" cy="3511364"/>
          </a:xfrm>
        </p:spPr>
        <p:txBody>
          <a:bodyPr>
            <a:normAutofit/>
          </a:bodyPr>
          <a:lstStyle/>
          <a:p>
            <a:pPr marL="457200" lvl="0" indent="-342900">
              <a:spcBef>
                <a:spcPts val="0"/>
              </a:spcBef>
              <a:buSzPts val="1800"/>
              <a:buChar char="●"/>
            </a:pPr>
            <a:r>
              <a:rPr lang="en-US" dirty="0"/>
              <a:t>Students are responsible for </a:t>
            </a:r>
            <a:r>
              <a:rPr lang="en-US" b="1" dirty="0"/>
              <a:t>knowing and adhering to due dates </a:t>
            </a:r>
            <a:r>
              <a:rPr lang="en-US" dirty="0"/>
              <a:t>for assessments.</a:t>
            </a:r>
          </a:p>
          <a:p>
            <a:pPr marL="457200" lvl="0" indent="-342900">
              <a:spcBef>
                <a:spcPts val="0"/>
              </a:spcBef>
              <a:spcAft>
                <a:spcPts val="1600"/>
              </a:spcAft>
              <a:buSzPts val="1800"/>
              <a:buChar char="●"/>
            </a:pPr>
            <a:r>
              <a:rPr lang="en-US" dirty="0"/>
              <a:t>In this course, </a:t>
            </a:r>
            <a:r>
              <a:rPr lang="en-US" b="1" dirty="0"/>
              <a:t>generative AI is not permitted </a:t>
            </a:r>
            <a:r>
              <a:rPr lang="en-US" dirty="0"/>
              <a:t>for assessments, as they are intended to measure your ability to generate your own work. Using prohibited resources will be considered </a:t>
            </a:r>
            <a:r>
              <a:rPr lang="en-US" b="1" dirty="0"/>
              <a:t>academic misconduct </a:t>
            </a:r>
            <a:r>
              <a:rPr lang="en-US" dirty="0"/>
              <a:t>and be addressed following SR 1.3 Academic Integrity Procedure. </a:t>
            </a:r>
          </a:p>
        </p:txBody>
      </p:sp>
    </p:spTree>
    <p:extLst>
      <p:ext uri="{BB962C8B-B14F-4D97-AF65-F5344CB8AC3E}">
        <p14:creationId xmlns:p14="http://schemas.microsoft.com/office/powerpoint/2010/main" val="35816171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562A1-1600-5A91-0AB2-C1C687142A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84BAFF-1A32-94BA-170D-E0CEB06704AE}"/>
              </a:ext>
            </a:extLst>
          </p:cNvPr>
          <p:cNvSpPr>
            <a:spLocks noGrp="1"/>
          </p:cNvSpPr>
          <p:nvPr>
            <p:ph type="title"/>
          </p:nvPr>
        </p:nvSpPr>
        <p:spPr/>
        <p:txBody>
          <a:bodyPr/>
          <a:lstStyle/>
          <a:p>
            <a:r>
              <a:rPr lang="en-US" b="1" dirty="0">
                <a:solidFill>
                  <a:schemeClr val="accent2"/>
                </a:solidFill>
              </a:rPr>
              <a:t>Assignment Extension Policy</a:t>
            </a:r>
          </a:p>
        </p:txBody>
      </p:sp>
      <p:sp>
        <p:nvSpPr>
          <p:cNvPr id="3" name="Content Placeholder 2">
            <a:extLst>
              <a:ext uri="{FF2B5EF4-FFF2-40B4-BE49-F238E27FC236}">
                <a16:creationId xmlns:a16="http://schemas.microsoft.com/office/drawing/2014/main" id="{A5A64990-F313-6C40-0D2B-FEB8D824F142}"/>
              </a:ext>
            </a:extLst>
          </p:cNvPr>
          <p:cNvSpPr>
            <a:spLocks noGrp="1"/>
          </p:cNvSpPr>
          <p:nvPr>
            <p:ph idx="1"/>
          </p:nvPr>
        </p:nvSpPr>
        <p:spPr/>
        <p:txBody>
          <a:bodyPr>
            <a:normAutofit fontScale="92500" lnSpcReduction="20000"/>
          </a:bodyPr>
          <a:lstStyle/>
          <a:p>
            <a:pPr marL="457200" lvl="0" indent="-342900">
              <a:spcBef>
                <a:spcPts val="0"/>
              </a:spcBef>
              <a:buSzPts val="1800"/>
              <a:buChar char="●"/>
            </a:pPr>
            <a:r>
              <a:rPr lang="en-US" dirty="0"/>
              <a:t>Students with </a:t>
            </a:r>
            <a:r>
              <a:rPr lang="en-US" b="1" dirty="0"/>
              <a:t>accommodations</a:t>
            </a:r>
            <a:r>
              <a:rPr lang="en-US" dirty="0"/>
              <a:t> are responsible for disclosing those requirements at least 10 days in advance of any extension request.</a:t>
            </a:r>
          </a:p>
          <a:p>
            <a:pPr marL="457200" lvl="0" indent="-342900">
              <a:spcBef>
                <a:spcPts val="0"/>
              </a:spcBef>
              <a:buSzPts val="1800"/>
              <a:buChar char="●"/>
            </a:pPr>
            <a:r>
              <a:rPr lang="en-US" dirty="0"/>
              <a:t>In the case of extensions requested due to </a:t>
            </a:r>
            <a:r>
              <a:rPr lang="en-US" b="1" dirty="0"/>
              <a:t>extenuating</a:t>
            </a:r>
            <a:r>
              <a:rPr lang="en-US" dirty="0">
                <a:highlight>
                  <a:schemeClr val="accent6"/>
                </a:highlight>
              </a:rPr>
              <a:t> </a:t>
            </a:r>
            <a:r>
              <a:rPr lang="en-US" b="1" dirty="0"/>
              <a:t>circumstances</a:t>
            </a:r>
            <a:r>
              <a:rPr lang="en-US" dirty="0"/>
              <a:t> (e.g. medical emergency), notify your instructor as soon as possible, 10 days in advance where possible.</a:t>
            </a:r>
          </a:p>
          <a:p>
            <a:pPr marL="114300" lvl="0" indent="0">
              <a:spcBef>
                <a:spcPts val="0"/>
              </a:spcBef>
              <a:buSzPts val="1800"/>
              <a:buNone/>
            </a:pPr>
            <a:endParaRPr lang="en-US" dirty="0"/>
          </a:p>
          <a:p>
            <a:pPr marL="914400" lvl="1" indent="-317500">
              <a:spcBef>
                <a:spcPts val="0"/>
              </a:spcBef>
              <a:buSzPts val="1400"/>
              <a:buChar char="○"/>
            </a:pPr>
            <a:r>
              <a:rPr lang="en-US" dirty="0"/>
              <a:t>Documentation is generally required to support the request.</a:t>
            </a:r>
          </a:p>
          <a:p>
            <a:pPr marL="914400" lvl="1" indent="-317500">
              <a:spcBef>
                <a:spcPts val="0"/>
              </a:spcBef>
              <a:buSzPts val="1400"/>
              <a:buChar char="○"/>
            </a:pPr>
            <a:r>
              <a:rPr lang="en-US" dirty="0"/>
              <a:t>The request should be made in writing and sent via email.</a:t>
            </a:r>
          </a:p>
          <a:p>
            <a:pPr marL="914400" lvl="1" indent="-317500">
              <a:spcBef>
                <a:spcPts val="0"/>
              </a:spcBef>
              <a:buSzPts val="1400"/>
              <a:buChar char="○"/>
            </a:pPr>
            <a:endParaRPr lang="en-US" dirty="0"/>
          </a:p>
          <a:p>
            <a:pPr marL="457200" lvl="0" indent="-342900">
              <a:spcBef>
                <a:spcPts val="0"/>
              </a:spcBef>
              <a:buSzPts val="1800"/>
              <a:buChar char="●"/>
            </a:pPr>
            <a:r>
              <a:rPr lang="en-US" dirty="0"/>
              <a:t>For requests due to </a:t>
            </a:r>
            <a:r>
              <a:rPr lang="en-US" b="1" dirty="0"/>
              <a:t>religious observances</a:t>
            </a:r>
            <a:r>
              <a:rPr lang="en-US" dirty="0"/>
              <a:t>, students must submit a </a:t>
            </a:r>
            <a:r>
              <a:rPr lang="en-US" u="sng" dirty="0">
                <a:solidFill>
                  <a:schemeClr val="hlink"/>
                </a:solidFill>
                <a:hlinkClick r:id="rId3"/>
              </a:rPr>
              <a:t>Deferred Exam Request Form</a:t>
            </a:r>
            <a:r>
              <a:rPr lang="en-US" dirty="0"/>
              <a:t> at least 10 business days prior.</a:t>
            </a:r>
          </a:p>
        </p:txBody>
      </p:sp>
    </p:spTree>
    <p:extLst>
      <p:ext uri="{BB962C8B-B14F-4D97-AF65-F5344CB8AC3E}">
        <p14:creationId xmlns:p14="http://schemas.microsoft.com/office/powerpoint/2010/main" val="4111515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61040-60C6-3E47-86E9-4323168AE6AB}"/>
              </a:ext>
            </a:extLst>
          </p:cNvPr>
          <p:cNvSpPr>
            <a:spLocks noGrp="1"/>
          </p:cNvSpPr>
          <p:nvPr>
            <p:ph type="title"/>
          </p:nvPr>
        </p:nvSpPr>
        <p:spPr/>
        <p:txBody>
          <a:bodyPr/>
          <a:lstStyle/>
          <a:p>
            <a:r>
              <a:rPr lang="en-US" dirty="0"/>
              <a:t>About you</a:t>
            </a:r>
          </a:p>
        </p:txBody>
      </p:sp>
      <p:sp>
        <p:nvSpPr>
          <p:cNvPr id="3" name="Content Placeholder 2">
            <a:extLst>
              <a:ext uri="{FF2B5EF4-FFF2-40B4-BE49-F238E27FC236}">
                <a16:creationId xmlns:a16="http://schemas.microsoft.com/office/drawing/2014/main" id="{BA082F1D-93FD-134C-BF46-8BF690DC72A4}"/>
              </a:ext>
            </a:extLst>
          </p:cNvPr>
          <p:cNvSpPr>
            <a:spLocks noGrp="1"/>
          </p:cNvSpPr>
          <p:nvPr>
            <p:ph idx="1"/>
          </p:nvPr>
        </p:nvSpPr>
        <p:spPr/>
        <p:txBody>
          <a:bodyPr vert="horz" lIns="91440" tIns="45720" rIns="91440" bIns="45720" rtlCol="0" anchor="t">
            <a:normAutofit/>
          </a:bodyPr>
          <a:lstStyle/>
          <a:p>
            <a:pPr marL="0" lvl="0" indent="0">
              <a:spcBef>
                <a:spcPts val="0"/>
              </a:spcBef>
              <a:buNone/>
            </a:pPr>
            <a:r>
              <a:rPr lang="en-US" dirty="0"/>
              <a:t>Share as much as is comfortable!</a:t>
            </a:r>
          </a:p>
          <a:p>
            <a:pPr marL="0" lvl="0" indent="0">
              <a:spcBef>
                <a:spcPts val="1600"/>
              </a:spcBef>
              <a:buNone/>
            </a:pPr>
            <a:r>
              <a:rPr lang="en-US" dirty="0"/>
              <a:t>e.g.</a:t>
            </a:r>
          </a:p>
          <a:p>
            <a:pPr marL="457200" lvl="0" indent="-342900">
              <a:spcBef>
                <a:spcPts val="1600"/>
              </a:spcBef>
              <a:buSzPts val="1800"/>
              <a:buChar char="❏"/>
            </a:pPr>
            <a:r>
              <a:rPr lang="en-US" dirty="0"/>
              <a:t>How you're comfy being addressed</a:t>
            </a:r>
          </a:p>
          <a:p>
            <a:pPr marL="457200" lvl="0" indent="-342900">
              <a:spcBef>
                <a:spcPts val="0"/>
              </a:spcBef>
              <a:buSzPts val="1800"/>
              <a:buChar char="❏"/>
            </a:pPr>
            <a:r>
              <a:rPr lang="en-US" dirty="0"/>
              <a:t>Your hometown</a:t>
            </a:r>
          </a:p>
          <a:p>
            <a:pPr marL="457200" lvl="0" indent="-342900">
              <a:spcBef>
                <a:spcPts val="0"/>
              </a:spcBef>
              <a:buSzPts val="1800"/>
              <a:buChar char="❏"/>
            </a:pPr>
            <a:r>
              <a:rPr lang="en-US" dirty="0"/>
              <a:t>Hobbies, interests, </a:t>
            </a:r>
            <a:r>
              <a:rPr lang="en-US" dirty="0" err="1"/>
              <a:t>favourite</a:t>
            </a:r>
            <a:r>
              <a:rPr lang="en-US" dirty="0"/>
              <a:t> sports or movies, </a:t>
            </a:r>
            <a:r>
              <a:rPr lang="en-US" dirty="0" err="1"/>
              <a:t>etc</a:t>
            </a:r>
            <a:endParaRPr lang="en-US" dirty="0"/>
          </a:p>
          <a:p>
            <a:pPr marL="457200" lvl="0" indent="-342900">
              <a:spcBef>
                <a:spcPts val="0"/>
              </a:spcBef>
              <a:buSzPts val="1800"/>
              <a:buChar char="❏"/>
            </a:pPr>
            <a:r>
              <a:rPr lang="en-US" dirty="0"/>
              <a:t>If you have kids or pets</a:t>
            </a:r>
          </a:p>
        </p:txBody>
      </p:sp>
    </p:spTree>
    <p:extLst>
      <p:ext uri="{BB962C8B-B14F-4D97-AF65-F5344CB8AC3E}">
        <p14:creationId xmlns:p14="http://schemas.microsoft.com/office/powerpoint/2010/main" val="3411768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77B10-2131-AFA7-44B4-E8FCA2C89C9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450D8B-7046-40B4-1F43-472C1EDC646F}"/>
              </a:ext>
            </a:extLst>
          </p:cNvPr>
          <p:cNvSpPr>
            <a:spLocks noGrp="1"/>
          </p:cNvSpPr>
          <p:nvPr>
            <p:ph type="title"/>
          </p:nvPr>
        </p:nvSpPr>
        <p:spPr/>
        <p:txBody>
          <a:bodyPr/>
          <a:lstStyle/>
          <a:p>
            <a:r>
              <a:rPr lang="en-US" dirty="0"/>
              <a:t>About you</a:t>
            </a:r>
          </a:p>
        </p:txBody>
      </p:sp>
      <p:sp>
        <p:nvSpPr>
          <p:cNvPr id="3" name="Content Placeholder 2">
            <a:extLst>
              <a:ext uri="{FF2B5EF4-FFF2-40B4-BE49-F238E27FC236}">
                <a16:creationId xmlns:a16="http://schemas.microsoft.com/office/drawing/2014/main" id="{A148478C-317F-E9F8-7D37-10477175086E}"/>
              </a:ext>
            </a:extLst>
          </p:cNvPr>
          <p:cNvSpPr>
            <a:spLocks noGrp="1"/>
          </p:cNvSpPr>
          <p:nvPr>
            <p:ph idx="1"/>
          </p:nvPr>
        </p:nvSpPr>
        <p:spPr/>
        <p:txBody>
          <a:bodyPr vert="horz" lIns="91440" tIns="45720" rIns="91440" bIns="45720" rtlCol="0" anchor="t">
            <a:normAutofit/>
          </a:bodyPr>
          <a:lstStyle/>
          <a:p>
            <a:pPr marL="0" lvl="0" indent="0">
              <a:spcBef>
                <a:spcPts val="0"/>
              </a:spcBef>
              <a:buNone/>
            </a:pPr>
            <a:r>
              <a:rPr lang="en-US" dirty="0"/>
              <a:t>Share as much as is comfortable!</a:t>
            </a:r>
          </a:p>
          <a:p>
            <a:pPr marL="0" lvl="0" indent="0">
              <a:spcBef>
                <a:spcPts val="1600"/>
              </a:spcBef>
              <a:buNone/>
            </a:pPr>
            <a:r>
              <a:rPr lang="en-US" dirty="0"/>
              <a:t>e.g.</a:t>
            </a:r>
          </a:p>
          <a:p>
            <a:pPr marL="457200" lvl="0" indent="-342900">
              <a:spcBef>
                <a:spcPts val="1600"/>
              </a:spcBef>
              <a:buSzPts val="1800"/>
              <a:buChar char="❏"/>
            </a:pPr>
            <a:r>
              <a:rPr lang="en-US" dirty="0"/>
              <a:t>How you're comfy being addressed</a:t>
            </a:r>
          </a:p>
          <a:p>
            <a:pPr marL="457200" lvl="0" indent="-342900">
              <a:spcBef>
                <a:spcPts val="0"/>
              </a:spcBef>
              <a:buSzPts val="1800"/>
              <a:buChar char="❏"/>
            </a:pPr>
            <a:r>
              <a:rPr lang="en-US" dirty="0"/>
              <a:t>Your hometown</a:t>
            </a:r>
          </a:p>
          <a:p>
            <a:pPr marL="457200" lvl="0" indent="-342900">
              <a:spcBef>
                <a:spcPts val="0"/>
              </a:spcBef>
              <a:buSzPts val="1800"/>
              <a:buChar char="❏"/>
            </a:pPr>
            <a:r>
              <a:rPr lang="en-US" dirty="0"/>
              <a:t>Hobbies, interests, </a:t>
            </a:r>
            <a:r>
              <a:rPr lang="en-US" dirty="0" err="1"/>
              <a:t>favourite</a:t>
            </a:r>
            <a:r>
              <a:rPr lang="en-US" dirty="0"/>
              <a:t> sports or movies, </a:t>
            </a:r>
            <a:r>
              <a:rPr lang="en-US" dirty="0" err="1"/>
              <a:t>etc</a:t>
            </a:r>
            <a:endParaRPr lang="en-US" dirty="0"/>
          </a:p>
          <a:p>
            <a:pPr marL="457200" lvl="0" indent="-342900">
              <a:spcBef>
                <a:spcPts val="0"/>
              </a:spcBef>
              <a:buSzPts val="1800"/>
              <a:buChar char="❏"/>
            </a:pPr>
            <a:r>
              <a:rPr lang="en-US" dirty="0"/>
              <a:t>If you have kids or pets</a:t>
            </a:r>
          </a:p>
        </p:txBody>
      </p:sp>
    </p:spTree>
    <p:extLst>
      <p:ext uri="{BB962C8B-B14F-4D97-AF65-F5344CB8AC3E}">
        <p14:creationId xmlns:p14="http://schemas.microsoft.com/office/powerpoint/2010/main" val="4047661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0">
          <a:extLst>
            <a:ext uri="{FF2B5EF4-FFF2-40B4-BE49-F238E27FC236}">
              <a16:creationId xmlns:a16="http://schemas.microsoft.com/office/drawing/2014/main" id="{27337AD8-D615-60C0-0F64-5BD75626A9AD}"/>
            </a:ext>
          </a:extLst>
        </p:cNvPr>
        <p:cNvGrpSpPr/>
        <p:nvPr/>
      </p:nvGrpSpPr>
      <p:grpSpPr>
        <a:xfrm>
          <a:off x="0" y="0"/>
          <a:ext cx="0" cy="0"/>
          <a:chOff x="0" y="0"/>
          <a:chExt cx="0" cy="0"/>
        </a:xfrm>
      </p:grpSpPr>
      <p:sp>
        <p:nvSpPr>
          <p:cNvPr id="231" name="Google Shape;231;p39">
            <a:extLst>
              <a:ext uri="{FF2B5EF4-FFF2-40B4-BE49-F238E27FC236}">
                <a16:creationId xmlns:a16="http://schemas.microsoft.com/office/drawing/2014/main" id="{6CE30626-48D2-6E3C-0F54-A6289924B7B7}"/>
              </a:ext>
            </a:extLst>
          </p:cNvPr>
          <p:cNvSpPr txBox="1">
            <a:spLocks noGrp="1"/>
          </p:cNvSpPr>
          <p:nvPr>
            <p:ph type="body" sz="quarter" idx="10"/>
          </p:nvPr>
        </p:nvSpPr>
        <p:spPr>
          <a:xfrm>
            <a:off x="2919937" y="3045791"/>
            <a:ext cx="6365875" cy="928687"/>
          </a:xfrm>
        </p:spPr>
        <p:txBody>
          <a:bodyPr spcFirstLastPara="1" vert="horz" lIns="121900" tIns="121900" rIns="121900" bIns="121900" rtlCol="0" anchorCtr="0">
            <a:normAutofit/>
          </a:bodyPr>
          <a:lstStyle/>
          <a:p>
            <a:r>
              <a:rPr lang="en-CA" sz="3700" dirty="0"/>
              <a:t>What is a database?</a:t>
            </a:r>
          </a:p>
        </p:txBody>
      </p:sp>
    </p:spTree>
    <p:extLst>
      <p:ext uri="{BB962C8B-B14F-4D97-AF65-F5344CB8AC3E}">
        <p14:creationId xmlns:p14="http://schemas.microsoft.com/office/powerpoint/2010/main" val="348299806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sp>
        <p:nvSpPr>
          <p:cNvPr id="231" name="Google Shape;231;p39"/>
          <p:cNvSpPr txBox="1">
            <a:spLocks noGrp="1"/>
          </p:cNvSpPr>
          <p:nvPr>
            <p:ph type="body" sz="quarter" idx="10"/>
          </p:nvPr>
        </p:nvSpPr>
        <p:spPr>
          <a:xfrm>
            <a:off x="2919937" y="3045791"/>
            <a:ext cx="6365875" cy="928687"/>
          </a:xfrm>
        </p:spPr>
        <p:txBody>
          <a:bodyPr spcFirstLastPara="1" vert="horz" lIns="121900" tIns="121900" rIns="121900" bIns="121900" rtlCol="0" anchorCtr="0">
            <a:normAutofit/>
          </a:bodyPr>
          <a:lstStyle/>
          <a:p>
            <a:r>
              <a:rPr lang="en-CA" sz="3700"/>
              <a:t>Why databases?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43"/>
          <p:cNvSpPr txBox="1">
            <a:spLocks noGrp="1"/>
          </p:cNvSpPr>
          <p:nvPr>
            <p:ph type="title"/>
          </p:nvPr>
        </p:nvSpPr>
        <p:spPr>
          <a:xfrm>
            <a:off x="404400" y="548767"/>
            <a:ext cx="11360800" cy="852800"/>
          </a:xfrm>
          <a:prstGeom prst="rect">
            <a:avLst/>
          </a:prstGeom>
        </p:spPr>
        <p:txBody>
          <a:bodyPr spcFirstLastPara="1" vert="horz" wrap="square" lIns="121900" tIns="121900" rIns="121900" bIns="121900" rtlCol="0" anchor="t" anchorCtr="0">
            <a:noAutofit/>
          </a:bodyPr>
          <a:lstStyle/>
          <a:p>
            <a:pPr>
              <a:spcBef>
                <a:spcPts val="0"/>
              </a:spcBef>
            </a:pPr>
            <a:r>
              <a:rPr lang="en"/>
              <a:t>Sample ERD</a:t>
            </a:r>
            <a:endParaRPr/>
          </a:p>
        </p:txBody>
      </p:sp>
      <p:pic>
        <p:nvPicPr>
          <p:cNvPr id="254" name="Google Shape;254;p43"/>
          <p:cNvPicPr preferRelativeResize="0"/>
          <p:nvPr/>
        </p:nvPicPr>
        <p:blipFill>
          <a:blip r:embed="rId3">
            <a:alphaModFix/>
          </a:blip>
          <a:stretch>
            <a:fillRect/>
          </a:stretch>
        </p:blipFill>
        <p:spPr>
          <a:xfrm>
            <a:off x="5033867" y="214800"/>
            <a:ext cx="5730100" cy="5063782"/>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41"/>
          <p:cNvSpPr txBox="1">
            <a:spLocks noGrp="1"/>
          </p:cNvSpPr>
          <p:nvPr>
            <p:ph type="title"/>
          </p:nvPr>
        </p:nvSpPr>
        <p:spPr>
          <a:xfrm>
            <a:off x="404400" y="548767"/>
            <a:ext cx="11360800" cy="852800"/>
          </a:xfrm>
          <a:prstGeom prst="rect">
            <a:avLst/>
          </a:prstGeom>
        </p:spPr>
        <p:txBody>
          <a:bodyPr spcFirstLastPara="1" vert="horz" wrap="square" lIns="121900" tIns="121900" rIns="121900" bIns="121900" rtlCol="0" anchor="t" anchorCtr="0">
            <a:noAutofit/>
          </a:bodyPr>
          <a:lstStyle/>
          <a:p>
            <a:pPr>
              <a:spcBef>
                <a:spcPts val="0"/>
              </a:spcBef>
            </a:pPr>
            <a:r>
              <a:rPr lang="en"/>
              <a:t>The Relational DBMS</a:t>
            </a:r>
            <a:endParaRPr/>
          </a:p>
        </p:txBody>
      </p:sp>
      <p:graphicFrame>
        <p:nvGraphicFramePr>
          <p:cNvPr id="242" name="Google Shape;242;p41"/>
          <p:cNvGraphicFramePr/>
          <p:nvPr/>
        </p:nvGraphicFramePr>
        <p:xfrm>
          <a:off x="213367" y="2231367"/>
          <a:ext cx="11742867" cy="3182620"/>
        </p:xfrm>
        <a:graphic>
          <a:graphicData uri="http://schemas.openxmlformats.org/drawingml/2006/table">
            <a:tbl>
              <a:tblPr>
                <a:noFill/>
              </a:tblPr>
              <a:tblGrid>
                <a:gridCol w="1426433">
                  <a:extLst>
                    <a:ext uri="{9D8B030D-6E8A-4147-A177-3AD203B41FA5}">
                      <a16:colId xmlns:a16="http://schemas.microsoft.com/office/drawing/2014/main" val="20000"/>
                    </a:ext>
                  </a:extLst>
                </a:gridCol>
                <a:gridCol w="1516467">
                  <a:extLst>
                    <a:ext uri="{9D8B030D-6E8A-4147-A177-3AD203B41FA5}">
                      <a16:colId xmlns:a16="http://schemas.microsoft.com/office/drawing/2014/main" val="20001"/>
                    </a:ext>
                  </a:extLst>
                </a:gridCol>
                <a:gridCol w="1409600">
                  <a:extLst>
                    <a:ext uri="{9D8B030D-6E8A-4147-A177-3AD203B41FA5}">
                      <a16:colId xmlns:a16="http://schemas.microsoft.com/office/drawing/2014/main" val="20002"/>
                    </a:ext>
                  </a:extLst>
                </a:gridCol>
                <a:gridCol w="5452767">
                  <a:extLst>
                    <a:ext uri="{9D8B030D-6E8A-4147-A177-3AD203B41FA5}">
                      <a16:colId xmlns:a16="http://schemas.microsoft.com/office/drawing/2014/main" val="20003"/>
                    </a:ext>
                  </a:extLst>
                </a:gridCol>
                <a:gridCol w="1937600">
                  <a:extLst>
                    <a:ext uri="{9D8B030D-6E8A-4147-A177-3AD203B41FA5}">
                      <a16:colId xmlns:a16="http://schemas.microsoft.com/office/drawing/2014/main" val="20004"/>
                    </a:ext>
                  </a:extLst>
                </a:gridCol>
              </a:tblGrid>
              <a:tr h="1476756">
                <a:tc>
                  <a:txBody>
                    <a:bodyPr/>
                    <a:lstStyle/>
                    <a:p>
                      <a:pPr marL="0" lvl="0" indent="0" algn="ctr" rtl="0">
                        <a:lnSpc>
                          <a:spcPct val="115000"/>
                        </a:lnSpc>
                        <a:spcBef>
                          <a:spcPts val="1200"/>
                        </a:spcBef>
                        <a:spcAft>
                          <a:spcPts val="0"/>
                        </a:spcAft>
                        <a:buNone/>
                      </a:pPr>
                      <a:r>
                        <a:rPr lang="en" sz="2400" b="1">
                          <a:latin typeface="Courier New"/>
                          <a:ea typeface="Courier New"/>
                          <a:cs typeface="Courier New"/>
                          <a:sym typeface="Courier New"/>
                        </a:rPr>
                        <a:t>Customer</a:t>
                      </a:r>
                      <a:endParaRPr sz="2400" b="1">
                        <a:latin typeface="Courier New"/>
                        <a:ea typeface="Courier New"/>
                        <a:cs typeface="Courier New"/>
                        <a:sym typeface="Courier New"/>
                      </a:endParaRPr>
                    </a:p>
                    <a:p>
                      <a:pPr marL="0" lvl="0" indent="0" algn="ctr" rtl="0">
                        <a:lnSpc>
                          <a:spcPct val="115000"/>
                        </a:lnSpc>
                        <a:spcBef>
                          <a:spcPts val="1200"/>
                        </a:spcBef>
                        <a:spcAft>
                          <a:spcPts val="1200"/>
                        </a:spcAft>
                        <a:buNone/>
                      </a:pPr>
                      <a:r>
                        <a:rPr lang="en" sz="2400" b="1">
                          <a:latin typeface="Courier New"/>
                          <a:ea typeface="Courier New"/>
                          <a:cs typeface="Courier New"/>
                          <a:sym typeface="Courier New"/>
                        </a:rPr>
                        <a:t>Number</a:t>
                      </a:r>
                      <a:endParaRPr sz="2400" b="1">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b="1">
                          <a:latin typeface="Courier New"/>
                          <a:ea typeface="Courier New"/>
                          <a:cs typeface="Courier New"/>
                          <a:sym typeface="Courier New"/>
                        </a:rPr>
                        <a:t>Last Name</a:t>
                      </a:r>
                      <a:endParaRPr sz="2400" b="1">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b="1">
                          <a:latin typeface="Courier New"/>
                          <a:ea typeface="Courier New"/>
                          <a:cs typeface="Courier New"/>
                          <a:sym typeface="Courier New"/>
                        </a:rPr>
                        <a:t>First Name</a:t>
                      </a:r>
                      <a:endParaRPr sz="2400" b="1">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b="1">
                          <a:latin typeface="Courier New"/>
                          <a:ea typeface="Courier New"/>
                          <a:cs typeface="Courier New"/>
                          <a:sym typeface="Courier New"/>
                        </a:rPr>
                        <a:t>Address</a:t>
                      </a:r>
                      <a:endParaRPr sz="2400" b="1">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b="1">
                          <a:latin typeface="Courier New"/>
                          <a:ea typeface="Courier New"/>
                          <a:cs typeface="Courier New"/>
                          <a:sym typeface="Courier New"/>
                        </a:rPr>
                        <a:t>Phone</a:t>
                      </a:r>
                      <a:endParaRPr sz="2400" b="1">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0"/>
                  </a:ext>
                </a:extLst>
              </a:tr>
              <a:tr h="852932">
                <a:tc>
                  <a:txBody>
                    <a:bodyPr/>
                    <a:lstStyle/>
                    <a:p>
                      <a:pPr marL="0" lvl="0" indent="0" algn="r" rtl="0">
                        <a:lnSpc>
                          <a:spcPct val="115000"/>
                        </a:lnSpc>
                        <a:spcBef>
                          <a:spcPts val="1200"/>
                        </a:spcBef>
                        <a:spcAft>
                          <a:spcPts val="1200"/>
                        </a:spcAft>
                        <a:buNone/>
                      </a:pPr>
                      <a:r>
                        <a:rPr lang="en" sz="2400">
                          <a:latin typeface="Courier New"/>
                          <a:ea typeface="Courier New"/>
                          <a:cs typeface="Courier New"/>
                          <a:sym typeface="Courier New"/>
                        </a:rPr>
                        <a:t>100</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a:latin typeface="Courier New"/>
                          <a:ea typeface="Courier New"/>
                          <a:cs typeface="Courier New"/>
                          <a:sym typeface="Courier New"/>
                        </a:rPr>
                        <a:t>Adams</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a:latin typeface="Courier New"/>
                          <a:ea typeface="Courier New"/>
                          <a:cs typeface="Courier New"/>
                          <a:sym typeface="Courier New"/>
                        </a:rPr>
                        <a:t>Joan</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a:latin typeface="Courier New"/>
                          <a:ea typeface="Courier New"/>
                          <a:cs typeface="Courier New"/>
                          <a:sym typeface="Courier New"/>
                        </a:rPr>
                        <a:t>9825-77 Ave Edmonton Alberta T5C 8E2</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a:latin typeface="Courier New"/>
                          <a:ea typeface="Courier New"/>
                          <a:cs typeface="Courier New"/>
                          <a:sym typeface="Courier New"/>
                        </a:rPr>
                        <a:t>780-488-8712</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1"/>
                  </a:ext>
                </a:extLst>
              </a:tr>
              <a:tr h="852932">
                <a:tc>
                  <a:txBody>
                    <a:bodyPr/>
                    <a:lstStyle/>
                    <a:p>
                      <a:pPr marL="0" lvl="0" indent="0" algn="r" rtl="0">
                        <a:lnSpc>
                          <a:spcPct val="115000"/>
                        </a:lnSpc>
                        <a:spcBef>
                          <a:spcPts val="1200"/>
                        </a:spcBef>
                        <a:spcAft>
                          <a:spcPts val="1200"/>
                        </a:spcAft>
                        <a:buNone/>
                      </a:pPr>
                      <a:r>
                        <a:rPr lang="en" sz="2400">
                          <a:latin typeface="Courier New"/>
                          <a:ea typeface="Courier New"/>
                          <a:cs typeface="Courier New"/>
                          <a:sym typeface="Courier New"/>
                        </a:rPr>
                        <a:t>200</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a:latin typeface="Courier New"/>
                          <a:ea typeface="Courier New"/>
                          <a:cs typeface="Courier New"/>
                          <a:sym typeface="Courier New"/>
                        </a:rPr>
                        <a:t>Smith</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a:latin typeface="Courier New"/>
                          <a:ea typeface="Courier New"/>
                          <a:cs typeface="Courier New"/>
                          <a:sym typeface="Courier New"/>
                        </a:rPr>
                        <a:t>Miles</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a:latin typeface="Courier New"/>
                          <a:ea typeface="Courier New"/>
                          <a:cs typeface="Courier New"/>
                          <a:sym typeface="Courier New"/>
                        </a:rPr>
                        <a:t>4308-133 Ave Edmonton Alberta T5C 8E9</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tc>
                  <a:txBody>
                    <a:bodyPr/>
                    <a:lstStyle/>
                    <a:p>
                      <a:pPr marL="0" lvl="0" indent="0" algn="ctr" rtl="0">
                        <a:lnSpc>
                          <a:spcPct val="115000"/>
                        </a:lnSpc>
                        <a:spcBef>
                          <a:spcPts val="1200"/>
                        </a:spcBef>
                        <a:spcAft>
                          <a:spcPts val="1200"/>
                        </a:spcAft>
                        <a:buNone/>
                      </a:pPr>
                      <a:r>
                        <a:rPr lang="en" sz="2400">
                          <a:latin typeface="Courier New"/>
                          <a:ea typeface="Courier New"/>
                          <a:cs typeface="Courier New"/>
                          <a:sym typeface="Courier New"/>
                        </a:rPr>
                        <a:t>780-438-9523</a:t>
                      </a:r>
                      <a:endParaRPr sz="2400">
                        <a:latin typeface="Courier New"/>
                        <a:ea typeface="Courier New"/>
                        <a:cs typeface="Courier New"/>
                        <a:sym typeface="Courier New"/>
                      </a:endParaRPr>
                    </a:p>
                  </a:txBody>
                  <a:tcPr marL="12700" marR="12700" marT="12700" marB="12700">
                    <a:lnL w="9525" cap="flat" cmpd="sng">
                      <a:solidFill>
                        <a:srgbClr val="808080"/>
                      </a:solidFill>
                      <a:prstDash val="solid"/>
                      <a:round/>
                      <a:headEnd type="none" w="sm" len="sm"/>
                      <a:tailEnd type="none" w="sm" len="sm"/>
                    </a:lnL>
                    <a:lnR w="9525" cap="flat" cmpd="sng">
                      <a:solidFill>
                        <a:srgbClr val="808080"/>
                      </a:solidFill>
                      <a:prstDash val="solid"/>
                      <a:round/>
                      <a:headEnd type="none" w="sm" len="sm"/>
                      <a:tailEnd type="none" w="sm" len="sm"/>
                    </a:lnR>
                    <a:lnT w="9525" cap="flat" cmpd="sng">
                      <a:solidFill>
                        <a:srgbClr val="808080"/>
                      </a:solidFill>
                      <a:prstDash val="solid"/>
                      <a:round/>
                      <a:headEnd type="none" w="sm" len="sm"/>
                      <a:tailEnd type="none" w="sm" len="sm"/>
                    </a:lnT>
                    <a:lnB w="9525" cap="flat" cmpd="sng">
                      <a:solidFill>
                        <a:srgbClr val="808080"/>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42"/>
          <p:cNvSpPr txBox="1">
            <a:spLocks noGrp="1"/>
          </p:cNvSpPr>
          <p:nvPr>
            <p:ph type="title"/>
          </p:nvPr>
        </p:nvSpPr>
        <p:spPr>
          <a:xfrm>
            <a:off x="404400" y="548767"/>
            <a:ext cx="11360800" cy="852800"/>
          </a:xfrm>
          <a:prstGeom prst="rect">
            <a:avLst/>
          </a:prstGeom>
        </p:spPr>
        <p:txBody>
          <a:bodyPr spcFirstLastPara="1" vert="horz" wrap="square" lIns="121900" tIns="121900" rIns="121900" bIns="121900" rtlCol="0" anchor="t" anchorCtr="0">
            <a:noAutofit/>
          </a:bodyPr>
          <a:lstStyle/>
          <a:p>
            <a:pPr>
              <a:spcBef>
                <a:spcPts val="0"/>
              </a:spcBef>
            </a:pPr>
            <a:r>
              <a:rPr lang="en"/>
              <a:t>The Database Design Process</a:t>
            </a:r>
            <a:endParaRPr/>
          </a:p>
        </p:txBody>
      </p:sp>
      <p:pic>
        <p:nvPicPr>
          <p:cNvPr id="248" name="Google Shape;248;p42"/>
          <p:cNvPicPr preferRelativeResize="0"/>
          <p:nvPr/>
        </p:nvPicPr>
        <p:blipFill>
          <a:blip r:embed="rId3">
            <a:alphaModFix/>
          </a:blip>
          <a:stretch>
            <a:fillRect/>
          </a:stretch>
        </p:blipFill>
        <p:spPr>
          <a:xfrm>
            <a:off x="1097373" y="1651934"/>
            <a:ext cx="6173387" cy="377212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pic>
        <p:nvPicPr>
          <p:cNvPr id="236" name="Google Shape;236;p40"/>
          <p:cNvPicPr preferRelativeResize="0"/>
          <p:nvPr/>
        </p:nvPicPr>
        <p:blipFill>
          <a:blip r:embed="rId3">
            <a:alphaModFix/>
          </a:blip>
          <a:stretch>
            <a:fillRect/>
          </a:stretch>
        </p:blipFill>
        <p:spPr>
          <a:xfrm>
            <a:off x="2926084" y="203200"/>
            <a:ext cx="6185259" cy="5283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45"/>
          <p:cNvSpPr txBox="1">
            <a:spLocks noGrp="1"/>
          </p:cNvSpPr>
          <p:nvPr>
            <p:ph type="title"/>
          </p:nvPr>
        </p:nvSpPr>
        <p:spPr>
          <a:xfrm>
            <a:off x="3200333" y="767933"/>
            <a:ext cx="8428800" cy="847200"/>
          </a:xfrm>
          <a:prstGeom prst="rect">
            <a:avLst/>
          </a:prstGeom>
        </p:spPr>
        <p:txBody>
          <a:bodyPr spcFirstLastPara="1" vert="horz" wrap="square" lIns="121900" tIns="121900" rIns="121900" bIns="121900" rtlCol="0" anchor="t" anchorCtr="0">
            <a:noAutofit/>
          </a:bodyPr>
          <a:lstStyle/>
          <a:p>
            <a:r>
              <a:rPr lang="en" dirty="0"/>
              <a:t>Terminology so far</a:t>
            </a:r>
            <a:endParaRPr dirty="0"/>
          </a:p>
        </p:txBody>
      </p:sp>
      <p:sp>
        <p:nvSpPr>
          <p:cNvPr id="265" name="Google Shape;265;p45"/>
          <p:cNvSpPr txBox="1">
            <a:spLocks noGrp="1"/>
          </p:cNvSpPr>
          <p:nvPr>
            <p:ph type="body" idx="1"/>
          </p:nvPr>
        </p:nvSpPr>
        <p:spPr>
          <a:xfrm>
            <a:off x="3213483" y="2127701"/>
            <a:ext cx="8428800" cy="3254790"/>
          </a:xfrm>
          <a:prstGeom prst="rect">
            <a:avLst/>
          </a:prstGeom>
        </p:spPr>
        <p:txBody>
          <a:bodyPr spcFirstLastPara="1" vert="horz" wrap="square" lIns="121900" tIns="121900" rIns="121900" bIns="121900" rtlCol="0" anchor="t" anchorCtr="0">
            <a:noAutofit/>
          </a:bodyPr>
          <a:lstStyle/>
          <a:p>
            <a:pPr>
              <a:buChar char="❏"/>
            </a:pPr>
            <a:r>
              <a:rPr lang="en" dirty="0"/>
              <a:t>Database</a:t>
            </a:r>
            <a:endParaRPr dirty="0"/>
          </a:p>
          <a:p>
            <a:pPr>
              <a:buChar char="❏"/>
            </a:pPr>
            <a:r>
              <a:rPr lang="en" dirty="0"/>
              <a:t>DBMS (Database Management System)</a:t>
            </a:r>
            <a:endParaRPr dirty="0"/>
          </a:p>
          <a:p>
            <a:pPr>
              <a:buChar char="❏"/>
            </a:pPr>
            <a:r>
              <a:rPr lang="en" dirty="0"/>
              <a:t>Business rules (“requirements”)</a:t>
            </a:r>
            <a:endParaRPr dirty="0"/>
          </a:p>
          <a:p>
            <a:pPr>
              <a:buChar char="❏"/>
            </a:pPr>
            <a:r>
              <a:rPr lang="en" dirty="0"/>
              <a:t>Entities</a:t>
            </a:r>
            <a:endParaRPr dirty="0"/>
          </a:p>
          <a:p>
            <a:pPr>
              <a:buChar char="❏"/>
            </a:pPr>
            <a:r>
              <a:rPr lang="en" dirty="0"/>
              <a:t>Relationships</a:t>
            </a:r>
            <a:endParaRPr dirty="0"/>
          </a:p>
          <a:p>
            <a:pPr>
              <a:buChar char="❏"/>
            </a:pPr>
            <a:r>
              <a:rPr lang="en" dirty="0"/>
              <a:t>Entity-relationship model (or data model)</a:t>
            </a:r>
            <a:endParaRPr dirty="0"/>
          </a:p>
          <a:p>
            <a:pPr>
              <a:buChar char="❏"/>
            </a:pPr>
            <a:r>
              <a:rPr lang="en" dirty="0"/>
              <a:t>Normalization</a:t>
            </a: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E833D5D8-B367-1589-9761-368B4E0CAD74}"/>
              </a:ext>
            </a:extLst>
          </p:cNvPr>
          <p:cNvSpPr>
            <a:spLocks noGrp="1"/>
          </p:cNvSpPr>
          <p:nvPr>
            <p:ph type="body" idx="1"/>
          </p:nvPr>
        </p:nvSpPr>
        <p:spPr>
          <a:xfrm>
            <a:off x="2182705" y="2027948"/>
            <a:ext cx="8428800" cy="4003200"/>
          </a:xfrm>
        </p:spPr>
        <p:txBody>
          <a:bodyPr/>
          <a:lstStyle/>
          <a:p>
            <a:pPr marL="152396" indent="0" algn="ctr">
              <a:buNone/>
            </a:pPr>
            <a:r>
              <a:rPr lang="en-US" sz="4000" dirty="0"/>
              <a:t>“What are some databases you interacted with today without necessarily realizing it?”</a:t>
            </a:r>
            <a:endParaRPr lang="en-CA" sz="4000" dirty="0"/>
          </a:p>
        </p:txBody>
      </p:sp>
    </p:spTree>
    <p:extLst>
      <p:ext uri="{BB962C8B-B14F-4D97-AF65-F5344CB8AC3E}">
        <p14:creationId xmlns:p14="http://schemas.microsoft.com/office/powerpoint/2010/main" val="2187612784"/>
      </p:ext>
    </p:extLst>
  </p:cSld>
  <p:clrMapOvr>
    <a:masterClrMapping/>
  </p:clrMapOvr>
</p:sld>
</file>

<file path=ppt/theme/theme1.xml><?xml version="1.0" encoding="utf-8"?>
<a:theme xmlns:a="http://schemas.openxmlformats.org/drawingml/2006/main" name="Office Theme">
  <a:themeElements>
    <a:clrScheme name="NAIT Blues">
      <a:dk1>
        <a:srgbClr val="000000"/>
      </a:dk1>
      <a:lt1>
        <a:srgbClr val="FFFFFF"/>
      </a:lt1>
      <a:dk2>
        <a:srgbClr val="335B74"/>
      </a:dk2>
      <a:lt2>
        <a:srgbClr val="DFE3E5"/>
      </a:lt2>
      <a:accent1>
        <a:srgbClr val="1CADE4"/>
      </a:accent1>
      <a:accent2>
        <a:srgbClr val="00498D"/>
      </a:accent2>
      <a:accent3>
        <a:srgbClr val="8CC63F"/>
      </a:accent3>
      <a:accent4>
        <a:srgbClr val="482F91"/>
      </a:accent4>
      <a:accent5>
        <a:srgbClr val="F26E23"/>
      </a:accent5>
      <a:accent6>
        <a:srgbClr val="A9A9A9"/>
      </a:accent6>
      <a:hlink>
        <a:srgbClr val="00ACED"/>
      </a:hlink>
      <a:folHlink>
        <a:srgbClr val="00ACE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AIT Standard Powerpoint Presentation Template for NAIT Screens" id="{3BD04EBB-4171-4583-A98E-91711106D317}" vid="{263152E8-5872-4D90-B5D5-232AD3B8B37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0636a0e-6a5d-4f3a-8cec-2ed9d7e96064">
      <Terms xmlns="http://schemas.microsoft.com/office/infopath/2007/PartnerControls"/>
    </lcf76f155ced4ddcb4097134ff3c332f>
    <TaxCatchAll xmlns="28175f85-aaa6-450f-8e62-bb2d8657c111" xsi:nil="true"/>
    <DocumentType xmlns="c0636a0e-6a5d-4f3a-8cec-2ed9d7e9606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BB085E912FEB648B2192060B32B0D81" ma:contentTypeVersion="13" ma:contentTypeDescription="Create a new document." ma:contentTypeScope="" ma:versionID="86d586ee750db57df4bf82dbbd148a8d">
  <xsd:schema xmlns:xsd="http://www.w3.org/2001/XMLSchema" xmlns:xs="http://www.w3.org/2001/XMLSchema" xmlns:p="http://schemas.microsoft.com/office/2006/metadata/properties" xmlns:ns2="c0636a0e-6a5d-4f3a-8cec-2ed9d7e96064" xmlns:ns3="28175f85-aaa6-450f-8e62-bb2d8657c111" targetNamespace="http://schemas.microsoft.com/office/2006/metadata/properties" ma:root="true" ma:fieldsID="b83bdf18099a32914c9c196890c95f2f" ns2:_="" ns3:_="">
    <xsd:import namespace="c0636a0e-6a5d-4f3a-8cec-2ed9d7e96064"/>
    <xsd:import namespace="28175f85-aaa6-450f-8e62-bb2d8657c111"/>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Document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636a0e-6a5d-4f3a-8cec-2ed9d7e9606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6ce3a7a1-84a7-46f6-b9ea-52be05fcf1b3"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DocumentType" ma:index="20" nillable="true" ma:displayName="Document Type" ma:format="Dropdown" ma:internalName="DocumentType">
      <xsd:simpleType>
        <xsd:union memberTypes="dms:Text">
          <xsd:simpleType>
            <xsd:restriction base="dms:Choice">
              <xsd:enumeration value="Source of truth"/>
              <xsd:enumeration value="Archive"/>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28175f85-aaa6-450f-8e62-bb2d8657c111"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51229875-1db7-498c-8d13-35c205bc76f3}" ma:internalName="TaxCatchAll" ma:showField="CatchAllData" ma:web="28175f85-aaa6-450f-8e62-bb2d8657c11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087D08-9B7A-464C-90FA-EA923D7CBBB6}">
  <ds:schemaRefs>
    <ds:schemaRef ds:uri="http://schemas.openxmlformats.org/package/2006/metadata/core-properties"/>
    <ds:schemaRef ds:uri="http://www.w3.org/XML/1998/namespace"/>
    <ds:schemaRef ds:uri="http://schemas.microsoft.com/office/2006/metadata/properties"/>
    <ds:schemaRef ds:uri="http://schemas.microsoft.com/office/2006/documentManagement/types"/>
    <ds:schemaRef ds:uri="http://purl.org/dc/dcmitype/"/>
    <ds:schemaRef ds:uri="http://purl.org/dc/terms/"/>
    <ds:schemaRef ds:uri="52bb52fc-fb4a-47ec-96af-1ca16eda3341"/>
    <ds:schemaRef ds:uri="http://purl.org/dc/elements/1.1/"/>
    <ds:schemaRef ds:uri="http://schemas.microsoft.com/office/infopath/2007/PartnerControls"/>
    <ds:schemaRef ds:uri="0fa82ce2-b671-45ef-b5fe-18516deeba49"/>
    <ds:schemaRef ds:uri="f60468bc-9de1-4bbe-b533-c963951abe47"/>
    <ds:schemaRef ds:uri="c0636a0e-6a5d-4f3a-8cec-2ed9d7e96064"/>
    <ds:schemaRef ds:uri="28175f85-aaa6-450f-8e62-bb2d8657c111"/>
  </ds:schemaRefs>
</ds:datastoreItem>
</file>

<file path=customXml/itemProps2.xml><?xml version="1.0" encoding="utf-8"?>
<ds:datastoreItem xmlns:ds="http://schemas.openxmlformats.org/officeDocument/2006/customXml" ds:itemID="{0540F518-E7A2-492A-A586-FD4E5E750057}">
  <ds:schemaRefs>
    <ds:schemaRef ds:uri="http://schemas.microsoft.com/sharepoint/v3/contenttype/forms"/>
  </ds:schemaRefs>
</ds:datastoreItem>
</file>

<file path=customXml/itemProps3.xml><?xml version="1.0" encoding="utf-8"?>
<ds:datastoreItem xmlns:ds="http://schemas.openxmlformats.org/officeDocument/2006/customXml" ds:itemID="{6ABA5B65-9C6D-442F-9E03-5588B1ABEE4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636a0e-6a5d-4f3a-8cec-2ed9d7e96064"/>
    <ds:schemaRef ds:uri="28175f85-aaa6-450f-8e62-bb2d8657c11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NAIT Standard Powerpoint Presentation Template for NAIT Screens</Template>
  <TotalTime>67</TotalTime>
  <Words>1892</Words>
  <Application>Microsoft Office PowerPoint</Application>
  <PresentationFormat>Widescreen</PresentationFormat>
  <Paragraphs>239</Paragraphs>
  <Slides>24</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Courier New</vt:lpstr>
      <vt:lpstr>Quicksand</vt:lpstr>
      <vt:lpstr>Raleway</vt:lpstr>
      <vt:lpstr>Office Theme</vt:lpstr>
      <vt:lpstr>PowerPoint Presentation</vt:lpstr>
      <vt:lpstr>Teams How-To</vt:lpstr>
      <vt:lpstr>PowerPoint Presentation</vt:lpstr>
      <vt:lpstr>Welcome</vt:lpstr>
      <vt:lpstr>Housekeeping: Attendance</vt:lpstr>
      <vt:lpstr>Housekeeping: Communication</vt:lpstr>
      <vt:lpstr>Housekeeping: In-Person Logistics</vt:lpstr>
      <vt:lpstr>NAIT Resources</vt:lpstr>
      <vt:lpstr>NAIT Resources</vt:lpstr>
      <vt:lpstr>PowerPoint Presentation</vt:lpstr>
      <vt:lpstr>Brightspace Tour</vt:lpstr>
      <vt:lpstr>Assessments</vt:lpstr>
      <vt:lpstr>Assessments</vt:lpstr>
      <vt:lpstr>Assignment Extension Policy</vt:lpstr>
      <vt:lpstr>About you</vt:lpstr>
      <vt:lpstr>About you</vt:lpstr>
      <vt:lpstr>PowerPoint Presentation</vt:lpstr>
      <vt:lpstr>PowerPoint Presentation</vt:lpstr>
      <vt:lpstr>Sample ERD</vt:lpstr>
      <vt:lpstr>The Relational DBMS</vt:lpstr>
      <vt:lpstr>The Database Design Process</vt:lpstr>
      <vt:lpstr>PowerPoint Presentation</vt:lpstr>
      <vt:lpstr>Terminology so far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Larisa Pitchko</dc:creator>
  <cp:lastModifiedBy>Larisa Pitchko</cp:lastModifiedBy>
  <cp:revision>225</cp:revision>
  <dcterms:created xsi:type="dcterms:W3CDTF">2019-08-28T18:27:45Z</dcterms:created>
  <dcterms:modified xsi:type="dcterms:W3CDTF">2026-09-02T05:11:36Z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 Department">
    <vt:lpwstr>197;#Brand|943f07b5-0abf-4eba-9a92-bb911ec4797c</vt:lpwstr>
  </property>
  <property fmtid="{D5CDD505-2E9C-101B-9397-08002B2CF9AE}" pid="3" name="Topic">
    <vt:lpwstr>114;#NAIT Brand|56c3f36a-7bf3-46f3-a4b0-bb3df19b2675</vt:lpwstr>
  </property>
  <property fmtid="{D5CDD505-2E9C-101B-9397-08002B2CF9AE}" pid="4" name="Building">
    <vt:lpwstr/>
  </property>
  <property fmtid="{D5CDD505-2E9C-101B-9397-08002B2CF9AE}" pid="5" name="ContentTypeId">
    <vt:lpwstr>0x0101007BB085E912FEB648B2192060B32B0D81</vt:lpwstr>
  </property>
  <property fmtid="{D5CDD505-2E9C-101B-9397-08002B2CF9AE}" pid="6" name="Target Audience">
    <vt:lpwstr/>
  </property>
  <property fmtid="{D5CDD505-2E9C-101B-9397-08002B2CF9AE}" pid="7" name="_dlc_DocIdItemGuid">
    <vt:lpwstr>fb17ffeb-f9e3-4da5-8986-98ba4c89698a</vt:lpwstr>
  </property>
  <property fmtid="{D5CDD505-2E9C-101B-9397-08002B2CF9AE}" pid="8" name="PublishedDocument.Location">
    <vt:lpwstr/>
  </property>
  <property fmtid="{D5CDD505-2E9C-101B-9397-08002B2CF9AE}" pid="9" name="Program">
    <vt:lpwstr/>
  </property>
  <property fmtid="{D5CDD505-2E9C-101B-9397-08002B2CF9AE}" pid="10" name="MediaServiceImageTags">
    <vt:lpwstr/>
  </property>
  <property fmtid="{D5CDD505-2E9C-101B-9397-08002B2CF9AE}" pid="11" name="MSIP_Label_10877899-02b0-462c-b2a9-b7d15c4f96fe_Enabled">
    <vt:lpwstr>true</vt:lpwstr>
  </property>
  <property fmtid="{D5CDD505-2E9C-101B-9397-08002B2CF9AE}" pid="12" name="MSIP_Label_10877899-02b0-462c-b2a9-b7d15c4f96fe_SetDate">
    <vt:lpwstr>2025-04-25T04:19:52Z</vt:lpwstr>
  </property>
  <property fmtid="{D5CDD505-2E9C-101B-9397-08002B2CF9AE}" pid="13" name="MSIP_Label_10877899-02b0-462c-b2a9-b7d15c4f96fe_Method">
    <vt:lpwstr>Standard</vt:lpwstr>
  </property>
  <property fmtid="{D5CDD505-2E9C-101B-9397-08002B2CF9AE}" pid="14" name="MSIP_Label_10877899-02b0-462c-b2a9-b7d15c4f96fe_Name">
    <vt:lpwstr>Protected [Protected A]</vt:lpwstr>
  </property>
  <property fmtid="{D5CDD505-2E9C-101B-9397-08002B2CF9AE}" pid="15" name="MSIP_Label_10877899-02b0-462c-b2a9-b7d15c4f96fe_SiteId">
    <vt:lpwstr>5c98fb47-d3b9-4649-9d94-f88cbdd9729c</vt:lpwstr>
  </property>
  <property fmtid="{D5CDD505-2E9C-101B-9397-08002B2CF9AE}" pid="16" name="MSIP_Label_10877899-02b0-462c-b2a9-b7d15c4f96fe_ActionId">
    <vt:lpwstr>162fc8a6-e960-4808-9911-9227cb246ce1</vt:lpwstr>
  </property>
  <property fmtid="{D5CDD505-2E9C-101B-9397-08002B2CF9AE}" pid="17" name="MSIP_Label_10877899-02b0-462c-b2a9-b7d15c4f96fe_ContentBits">
    <vt:lpwstr>0</vt:lpwstr>
  </property>
  <property fmtid="{D5CDD505-2E9C-101B-9397-08002B2CF9AE}" pid="18" name="MSIP_Label_10877899-02b0-462c-b2a9-b7d15c4f96fe_Tag">
    <vt:lpwstr>10, 3, 0, 1</vt:lpwstr>
  </property>
</Properties>
</file>